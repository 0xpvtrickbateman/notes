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24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66">
              <a:alpha val="60000"/>
            </a:srgbClr>
          </a:solidFill>
          <a:ln/>
        </p:spPr>
      </p:sp>
      <p:sp>
        <p:nvSpPr>
          <p:cNvPr id="3" name="Shape 1"/>
          <p:cNvSpPr/>
          <p:nvPr/>
        </p:nvSpPr>
        <p:spPr>
          <a:xfrm>
            <a:off x="8321040" y="-1463040"/>
            <a:ext cx="5852160" cy="5852160"/>
          </a:xfrm>
          <a:prstGeom prst="ellipse">
            <a:avLst/>
          </a:prstGeom>
          <a:ln w="12700">
            <a:solidFill>
              <a:srgbClr val="006699">
                <a:alpha val="38000"/>
              </a:srgbClr>
            </a:solidFill>
            <a:prstDash val="solid"/>
          </a:ln>
        </p:spPr>
      </p:sp>
      <p:sp>
        <p:nvSpPr>
          <p:cNvPr id="4" name="Shape 2"/>
          <p:cNvSpPr/>
          <p:nvPr/>
        </p:nvSpPr>
        <p:spPr>
          <a:xfrm>
            <a:off x="9052560" y="-731520"/>
            <a:ext cx="4389120" cy="4389120"/>
          </a:xfrm>
          <a:prstGeom prst="ellipse">
            <a:avLst/>
          </a:prstGeom>
          <a:ln w="9525">
            <a:solidFill>
              <a:srgbClr val="006699">
                <a:alpha val="24000"/>
              </a:srgbClr>
            </a:solidFill>
            <a:prstDash val="solid"/>
          </a:ln>
        </p:spPr>
      </p:sp>
      <p:sp>
        <p:nvSpPr>
          <p:cNvPr id="5" name="Text 3"/>
          <p:cNvSpPr/>
          <p:nvPr/>
        </p:nvSpPr>
        <p:spPr>
          <a:xfrm>
            <a:off x="822960" y="822960"/>
            <a:ext cx="8229600" cy="292608"/>
          </a:xfrm>
          <a:prstGeom prst="rect">
            <a:avLst/>
          </a:prstGeom>
          <a:noFill/>
          <a:ln/>
        </p:spPr>
        <p:txBody>
          <a:bodyPr wrap="square" lIns="0" tIns="0" rIns="0" bIns="0" rtlCol="0" anchor="ctr"/>
          <a:lstStyle/>
          <a:p>
            <a:pPr indent="0" marL="0">
              <a:buNone/>
            </a:pPr>
            <a:r>
              <a:rPr lang="en-US" sz="1200" b="1" spc="350" kern="0" dirty="0">
                <a:solidFill>
                  <a:srgbClr val="C0392B"/>
                </a:solidFill>
                <a:latin typeface="Source Sans Pro" pitchFamily="34" charset="0"/>
                <a:ea typeface="Source Sans Pro" pitchFamily="34" charset="-122"/>
                <a:cs typeface="Source Sans Pro" pitchFamily="34" charset="-120"/>
              </a:rPr>
              <a:t>CDAO</a:t>
            </a:r>
            <a:endParaRPr lang="en-US" sz="1200" dirty="0"/>
          </a:p>
        </p:txBody>
      </p:sp>
      <p:sp>
        <p:nvSpPr>
          <p:cNvPr id="6" name="Text 4"/>
          <p:cNvSpPr/>
          <p:nvPr/>
        </p:nvSpPr>
        <p:spPr>
          <a:xfrm>
            <a:off x="777240" y="1554480"/>
            <a:ext cx="7680960" cy="2286000"/>
          </a:xfrm>
          <a:prstGeom prst="rect">
            <a:avLst/>
          </a:prstGeom>
          <a:noFill/>
          <a:ln/>
        </p:spPr>
        <p:txBody>
          <a:bodyPr wrap="square" lIns="0" tIns="0" rIns="0" bIns="0" rtlCol="0" anchor="ctr"/>
          <a:lstStyle/>
          <a:p>
            <a:pPr indent="0" marL="0">
              <a:lnSpc>
                <a:spcPts val="6200"/>
              </a:lnSpc>
              <a:buNone/>
            </a:pPr>
            <a:r>
              <a:rPr lang="en-US" sz="5800" b="1" dirty="0">
                <a:solidFill>
                  <a:srgbClr val="FFFFFF"/>
                </a:solidFill>
                <a:latin typeface="Source Sans Pro" pitchFamily="34" charset="0"/>
                <a:ea typeface="Source Sans Pro" pitchFamily="34" charset="-122"/>
                <a:cs typeface="Source Sans Pro" pitchFamily="34" charset="-120"/>
              </a:rPr>
              <a:t>AI Harnesses</a:t>
            </a:r>
            <a:endParaRPr lang="en-US" sz="5800" dirty="0"/>
          </a:p>
          <a:p>
            <a:pPr indent="0" marL="0">
              <a:lnSpc>
                <a:spcPts val="6200"/>
              </a:lnSpc>
              <a:buNone/>
            </a:pPr>
            <a:r>
              <a:rPr lang="en-US" sz="5800" b="1" dirty="0">
                <a:solidFill>
                  <a:srgbClr val="FFFFFF"/>
                </a:solidFill>
                <a:latin typeface="Source Sans Pro" pitchFamily="34" charset="0"/>
                <a:ea typeface="Source Sans Pro" pitchFamily="34" charset="-122"/>
                <a:cs typeface="Source Sans Pro" pitchFamily="34" charset="-120"/>
              </a:rPr>
              <a:t>&amp; Skills</a:t>
            </a:r>
            <a:endParaRPr lang="en-US" sz="5800" dirty="0"/>
          </a:p>
        </p:txBody>
      </p:sp>
      <p:sp>
        <p:nvSpPr>
          <p:cNvPr id="7" name="Text 5"/>
          <p:cNvSpPr/>
          <p:nvPr/>
        </p:nvSpPr>
        <p:spPr>
          <a:xfrm>
            <a:off x="822960" y="3977640"/>
            <a:ext cx="6766560" cy="457200"/>
          </a:xfrm>
          <a:prstGeom prst="rect">
            <a:avLst/>
          </a:prstGeom>
          <a:noFill/>
          <a:ln/>
        </p:spPr>
        <p:txBody>
          <a:bodyPr wrap="square" lIns="0" tIns="0" rIns="0" bIns="0" rtlCol="0" anchor="ctr"/>
          <a:lstStyle/>
          <a:p>
            <a:pPr indent="0" marL="0">
              <a:buNone/>
            </a:pPr>
            <a:r>
              <a:rPr lang="en-US" sz="1800" dirty="0">
                <a:solidFill>
                  <a:srgbClr val="D6E4EF"/>
                </a:solidFill>
                <a:latin typeface="Source Sans Pro" pitchFamily="34" charset="0"/>
                <a:ea typeface="Source Sans Pro" pitchFamily="34" charset="-122"/>
                <a:cs typeface="Source Sans Pro" pitchFamily="34" charset="-120"/>
              </a:rPr>
              <a:t>How CDAO can make Databricks AI useful, trusted, and repeatable.</a:t>
            </a:r>
            <a:endParaRPr lang="en-US" sz="1800" dirty="0"/>
          </a:p>
        </p:txBody>
      </p:sp>
      <p:sp>
        <p:nvSpPr>
          <p:cNvPr id="8" name="Shape 6"/>
          <p:cNvSpPr/>
          <p:nvPr/>
        </p:nvSpPr>
        <p:spPr>
          <a:xfrm>
            <a:off x="822960" y="4709160"/>
            <a:ext cx="2011680" cy="0"/>
          </a:xfrm>
          <a:prstGeom prst="line">
            <a:avLst/>
          </a:prstGeom>
          <a:noFill/>
          <a:ln w="25400">
            <a:solidFill>
              <a:srgbClr val="C0392B"/>
            </a:solidFill>
            <a:prstDash val="solid"/>
          </a:ln>
        </p:spPr>
      </p:sp>
      <p:sp>
        <p:nvSpPr>
          <p:cNvPr id="9" name="Text 7"/>
          <p:cNvSpPr/>
          <p:nvPr/>
        </p:nvSpPr>
        <p:spPr>
          <a:xfrm>
            <a:off x="822960" y="4892040"/>
            <a:ext cx="6949440" cy="365760"/>
          </a:xfrm>
          <a:prstGeom prst="rect">
            <a:avLst/>
          </a:prstGeom>
          <a:noFill/>
          <a:ln/>
        </p:spPr>
        <p:txBody>
          <a:bodyPr wrap="square" lIns="0" tIns="0" rIns="0" bIns="0" rtlCol="0" anchor="ctr"/>
          <a:lstStyle/>
          <a:p>
            <a:pPr indent="0" marL="0">
              <a:buNone/>
            </a:pPr>
            <a:r>
              <a:rPr lang="en-US" sz="1400" b="1" dirty="0">
                <a:solidFill>
                  <a:srgbClr val="C0392B"/>
                </a:solidFill>
                <a:latin typeface="Source Sans Pro" pitchFamily="34" charset="0"/>
                <a:ea typeface="Source Sans Pro" pitchFamily="34" charset="-122"/>
                <a:cs typeface="Source Sans Pro" pitchFamily="34" charset="-120"/>
              </a:rPr>
              <a:t>Context before capability.  </a:t>
            </a:r>
            <a:pPr indent="0" marL="0">
              <a:buNone/>
            </a:pPr>
            <a:r>
              <a:rPr lang="en-US" sz="1400" dirty="0">
                <a:solidFill>
                  <a:srgbClr val="D6E4EF"/>
                </a:solidFill>
                <a:latin typeface="Source Sans Pro" pitchFamily="34" charset="0"/>
                <a:ea typeface="Source Sans Pro" pitchFamily="34" charset="-122"/>
                <a:cs typeface="Source Sans Pro" pitchFamily="34" charset="-120"/>
              </a:rPr>
              <a:t>The platform brings the tools — we bring the meaning.</a:t>
            </a:r>
            <a:endParaRPr lang="en-US" sz="1400" dirty="0"/>
          </a:p>
        </p:txBody>
      </p:sp>
      <p:sp>
        <p:nvSpPr>
          <p:cNvPr id="10" name="Shape 8"/>
          <p:cNvSpPr/>
          <p:nvPr/>
        </p:nvSpPr>
        <p:spPr>
          <a:xfrm>
            <a:off x="8366760" y="4160520"/>
            <a:ext cx="3200400" cy="960120"/>
          </a:xfrm>
          <a:prstGeom prst="roundRect">
            <a:avLst>
              <a:gd name="adj" fmla="val 8571"/>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1" name="Text 9"/>
          <p:cNvSpPr/>
          <p:nvPr/>
        </p:nvSpPr>
        <p:spPr>
          <a:xfrm>
            <a:off x="8595360" y="4288536"/>
            <a:ext cx="2743200" cy="310896"/>
          </a:xfrm>
          <a:prstGeom prst="rect">
            <a:avLst/>
          </a:prstGeom>
          <a:noFill/>
          <a:ln/>
        </p:spPr>
        <p:txBody>
          <a:bodyPr wrap="square" lIns="0" tIns="0" rIns="0" bIns="0" rtlCol="0" anchor="ctr"/>
          <a:lstStyle/>
          <a:p>
            <a:pPr indent="0" marL="0">
              <a:buNone/>
            </a:pPr>
            <a:r>
              <a:rPr lang="en-US" sz="1500" b="1" spc="200" kern="0" dirty="0">
                <a:solidFill>
                  <a:srgbClr val="FFFFFF"/>
                </a:solidFill>
                <a:latin typeface="Source Sans Pro" pitchFamily="34" charset="0"/>
                <a:ea typeface="Source Sans Pro" pitchFamily="34" charset="-122"/>
                <a:cs typeface="Source Sans Pro" pitchFamily="34" charset="-120"/>
              </a:rPr>
              <a:t>HARNESS</a:t>
            </a:r>
            <a:endParaRPr lang="en-US" sz="1500" dirty="0"/>
          </a:p>
        </p:txBody>
      </p:sp>
      <p:sp>
        <p:nvSpPr>
          <p:cNvPr id="12" name="Text 10"/>
          <p:cNvSpPr/>
          <p:nvPr/>
        </p:nvSpPr>
        <p:spPr>
          <a:xfrm>
            <a:off x="8595360" y="4617720"/>
            <a:ext cx="2743200" cy="365760"/>
          </a:xfrm>
          <a:prstGeom prst="rect">
            <a:avLst/>
          </a:prstGeom>
          <a:noFill/>
          <a:ln/>
        </p:spPr>
        <p:txBody>
          <a:bodyPr wrap="square" lIns="0" tIns="0" rIns="0" bIns="0" rtlCol="0" anchor="ctr"/>
          <a:lstStyle/>
          <a:p>
            <a:pPr indent="0" marL="0">
              <a:buNone/>
            </a:pPr>
            <a:r>
              <a:rPr lang="en-US" sz="1150" dirty="0">
                <a:solidFill>
                  <a:srgbClr val="D6E4EF"/>
                </a:solidFill>
                <a:latin typeface="Source Sans Pro" pitchFamily="34" charset="0"/>
                <a:ea typeface="Source Sans Pro" pitchFamily="34" charset="-122"/>
                <a:cs typeface="Source Sans Pro" pitchFamily="34" charset="-120"/>
              </a:rPr>
              <a:t>definitions  •  caveats  •  examples  •  answer rules</a:t>
            </a:r>
            <a:endParaRPr lang="en-US" sz="1150" dirty="0"/>
          </a:p>
        </p:txBody>
      </p:sp>
      <p:sp>
        <p:nvSpPr>
          <p:cNvPr id="13" name="Shape 11"/>
          <p:cNvSpPr/>
          <p:nvPr/>
        </p:nvSpPr>
        <p:spPr>
          <a:xfrm>
            <a:off x="8823960" y="5120640"/>
            <a:ext cx="0" cy="292608"/>
          </a:xfrm>
          <a:prstGeom prst="line">
            <a:avLst/>
          </a:prstGeom>
          <a:noFill/>
          <a:ln w="19050">
            <a:solidFill>
              <a:srgbClr val="C0392B"/>
            </a:solidFill>
            <a:prstDash val="dash"/>
          </a:ln>
        </p:spPr>
      </p:sp>
      <p:sp>
        <p:nvSpPr>
          <p:cNvPr id="14" name="Shape 12"/>
          <p:cNvSpPr/>
          <p:nvPr/>
        </p:nvSpPr>
        <p:spPr>
          <a:xfrm>
            <a:off x="8622792" y="5413248"/>
            <a:ext cx="2688336" cy="749808"/>
          </a:xfrm>
          <a:prstGeom prst="roundRect">
            <a:avLst>
              <a:gd name="adj" fmla="val 10976"/>
            </a:avLst>
          </a:prstGeom>
          <a:solidFill>
            <a:srgbClr val="F7EAE7"/>
          </a:solidFill>
          <a:ln w="12700">
            <a:solidFill>
              <a:srgbClr val="C0392B"/>
            </a:solidFill>
            <a:prstDash val="solid"/>
          </a:ln>
          <a:effectLst>
            <a:outerShdw sx="100000" sy="100000" kx="0" ky="0" algn="bl" rotWithShape="0" blurRad="88900" dist="25400" dir="5400000">
              <a:srgbClr val="003366">
                <a:alpha val="14000"/>
              </a:srgbClr>
            </a:outerShdw>
          </a:effectLst>
        </p:spPr>
      </p:sp>
      <p:sp>
        <p:nvSpPr>
          <p:cNvPr id="15" name="Text 13"/>
          <p:cNvSpPr/>
          <p:nvPr/>
        </p:nvSpPr>
        <p:spPr>
          <a:xfrm>
            <a:off x="8823960" y="5522976"/>
            <a:ext cx="2286000" cy="274320"/>
          </a:xfrm>
          <a:prstGeom prst="rect">
            <a:avLst/>
          </a:prstGeom>
          <a:noFill/>
          <a:ln/>
        </p:spPr>
        <p:txBody>
          <a:bodyPr wrap="square" lIns="0" tIns="0" rIns="0" bIns="0" rtlCol="0" anchor="ctr"/>
          <a:lstStyle/>
          <a:p>
            <a:pPr indent="0" marL="0">
              <a:buNone/>
            </a:pPr>
            <a:r>
              <a:rPr lang="en-US" sz="1300" b="1" dirty="0">
                <a:solidFill>
                  <a:srgbClr val="003366"/>
                </a:solidFill>
                <a:latin typeface="Source Code Pro" pitchFamily="34" charset="0"/>
                <a:ea typeface="Source Code Pro" pitchFamily="34" charset="-122"/>
                <a:cs typeface="Source Code Pro" pitchFamily="34" charset="-120"/>
              </a:rPr>
              <a:t>skill.md</a:t>
            </a:r>
            <a:endParaRPr lang="en-US" sz="1300" dirty="0"/>
          </a:p>
        </p:txBody>
      </p:sp>
      <p:sp>
        <p:nvSpPr>
          <p:cNvPr id="16" name="Text 14"/>
          <p:cNvSpPr/>
          <p:nvPr/>
        </p:nvSpPr>
        <p:spPr>
          <a:xfrm>
            <a:off x="8823960" y="5797296"/>
            <a:ext cx="2286000" cy="274320"/>
          </a:xfrm>
          <a:prstGeom prst="rect">
            <a:avLst/>
          </a:prstGeom>
          <a:noFill/>
          <a:ln/>
        </p:spPr>
        <p:txBody>
          <a:bodyPr wrap="square" lIns="0" tIns="0" rIns="0" bIns="0" rtlCol="0" anchor="ctr"/>
          <a:lstStyle/>
          <a:p>
            <a:pPr indent="0" marL="0">
              <a:buNone/>
            </a:pPr>
            <a:r>
              <a:rPr lang="en-US" sz="1100" dirty="0">
                <a:solidFill>
                  <a:srgbClr val="505050"/>
                </a:solidFill>
                <a:latin typeface="Source Sans Pro" pitchFamily="34" charset="0"/>
                <a:ea typeface="Source Sans Pro" pitchFamily="34" charset="-122"/>
                <a:cs typeface="Source Sans Pro" pitchFamily="34" charset="-120"/>
              </a:rPr>
              <a:t>repeatable task recipe</a:t>
            </a:r>
            <a:endParaRPr lang="en-US" sz="1100" dirty="0"/>
          </a:p>
        </p:txBody>
      </p:sp>
      <p:sp>
        <p:nvSpPr>
          <p:cNvPr id="17" name="Shape 15"/>
          <p:cNvSpPr/>
          <p:nvPr/>
        </p:nvSpPr>
        <p:spPr>
          <a:xfrm>
            <a:off x="10954512" y="603504"/>
            <a:ext cx="822960" cy="932688"/>
          </a:xfrm>
          <a:prstGeom prst="roundRect">
            <a:avLst>
              <a:gd name="adj" fmla="val 8889"/>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1"/>
          <a:stretch>
            <a:fillRect/>
          </a:stretch>
        </p:blipFill>
        <p:spPr>
          <a:xfrm>
            <a:off x="11082528" y="601312"/>
            <a:ext cx="566928" cy="937071"/>
          </a:xfrm>
          <a:prstGeom prst="rect">
            <a:avLst/>
          </a:prstGeom>
        </p:spPr>
      </p:pic>
      <p:sp>
        <p:nvSpPr>
          <p:cNvPr id="19" name="Text 16"/>
          <p:cNvSpPr/>
          <p:nvPr/>
        </p:nvSpPr>
        <p:spPr>
          <a:xfrm>
            <a:off x="822960" y="6355080"/>
            <a:ext cx="73152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WHY WE ARE HERE</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The problem is not only “can AI answer?”</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The harder question: can it answer with the right meaning, limits, and reviewability?</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02 / 21</a:t>
            </a:r>
            <a:endParaRPr lang="en-US" sz="1000" dirty="0"/>
          </a:p>
        </p:txBody>
      </p:sp>
      <p:sp>
        <p:nvSpPr>
          <p:cNvPr id="9" name="Shape 6"/>
          <p:cNvSpPr/>
          <p:nvPr/>
        </p:nvSpPr>
        <p:spPr>
          <a:xfrm>
            <a:off x="566928" y="1874520"/>
            <a:ext cx="3401568" cy="2148840"/>
          </a:xfrm>
          <a:prstGeom prst="roundRect">
            <a:avLst>
              <a:gd name="adj" fmla="val 3830"/>
            </a:avLst>
          </a:prstGeom>
          <a:solidFill>
            <a:srgbClr val="F6E4E1"/>
          </a:solidFill>
          <a:ln w="12700">
            <a:solidFill>
              <a:srgbClr val="E7C6C0"/>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822960" y="2130552"/>
            <a:ext cx="512064" cy="512064"/>
          </a:xfrm>
          <a:prstGeom prst="ellipse">
            <a:avLst/>
          </a:prstGeom>
          <a:solidFill>
            <a:srgbClr val="962D22"/>
          </a:solidFill>
          <a:ln/>
        </p:spPr>
      </p:sp>
      <p:pic>
        <p:nvPicPr>
          <p:cNvPr id="11" name="Image 1" descr="preencoded.png">    </p:cNvPr>
          <p:cNvPicPr>
            <a:picLocks noChangeAspect="1"/>
          </p:cNvPicPr>
          <p:nvPr/>
        </p:nvPicPr>
        <p:blipFill>
          <a:blip r:embed="rId2"/>
          <a:stretch>
            <a:fillRect/>
          </a:stretch>
        </p:blipFill>
        <p:spPr>
          <a:xfrm>
            <a:off x="935614" y="2243206"/>
            <a:ext cx="286756" cy="286756"/>
          </a:xfrm>
          <a:prstGeom prst="rect">
            <a:avLst/>
          </a:prstGeom>
        </p:spPr>
      </p:pic>
      <p:sp>
        <p:nvSpPr>
          <p:cNvPr id="12" name="Text 8"/>
          <p:cNvSpPr/>
          <p:nvPr/>
        </p:nvSpPr>
        <p:spPr>
          <a:xfrm>
            <a:off x="822960" y="2788920"/>
            <a:ext cx="2889504" cy="320040"/>
          </a:xfrm>
          <a:prstGeom prst="rect">
            <a:avLst/>
          </a:prstGeom>
          <a:noFill/>
          <a:ln/>
        </p:spPr>
        <p:txBody>
          <a:bodyPr wrap="square" lIns="0" tIns="0" rIns="0" bIns="0" rtlCol="0" anchor="ctr"/>
          <a:lstStyle/>
          <a:p>
            <a:pPr indent="0" marL="0">
              <a:buNone/>
            </a:pPr>
            <a:r>
              <a:rPr lang="en-US" sz="1700" b="1" dirty="0">
                <a:solidFill>
                  <a:srgbClr val="003366"/>
                </a:solidFill>
                <a:latin typeface="Source Sans Pro" pitchFamily="34" charset="0"/>
                <a:ea typeface="Source Sans Pro" pitchFamily="34" charset="-122"/>
                <a:cs typeface="Source Sans Pro" pitchFamily="34" charset="-120"/>
              </a:rPr>
              <a:t>Without shared context</a:t>
            </a:r>
            <a:endParaRPr lang="en-US" sz="1700" dirty="0"/>
          </a:p>
        </p:txBody>
      </p:sp>
      <p:sp>
        <p:nvSpPr>
          <p:cNvPr id="13" name="Text 9"/>
          <p:cNvSpPr/>
          <p:nvPr/>
        </p:nvSpPr>
        <p:spPr>
          <a:xfrm>
            <a:off x="822960" y="3136392"/>
            <a:ext cx="2889504" cy="822960"/>
          </a:xfrm>
          <a:prstGeom prst="rect">
            <a:avLst/>
          </a:prstGeom>
          <a:noFill/>
          <a:ln/>
        </p:spPr>
        <p:txBody>
          <a:bodyPr wrap="square" lIns="0" tIns="0" rIns="0" bIns="0" rtlCol="0" anchor="ctr"/>
          <a:lstStyle/>
          <a:p>
            <a:pPr indent="0" marL="0">
              <a:lnSpc>
                <a:spcPts val="1700"/>
              </a:lnSpc>
              <a:buNone/>
            </a:pPr>
            <a:r>
              <a:rPr lang="en-US" sz="1300" dirty="0">
                <a:solidFill>
                  <a:srgbClr val="505050"/>
                </a:solidFill>
                <a:latin typeface="Source Sans Pro" pitchFamily="34" charset="0"/>
                <a:ea typeface="Source Sans Pro" pitchFamily="34" charset="-122"/>
                <a:cs typeface="Source Sans Pro" pitchFamily="34" charset="-120"/>
              </a:rPr>
              <a:t>Different teams ask the same question and get answers that look reasonable — but mean different things.</a:t>
            </a:r>
            <a:endParaRPr lang="en-US" sz="1300" dirty="0"/>
          </a:p>
        </p:txBody>
      </p:sp>
      <p:sp>
        <p:nvSpPr>
          <p:cNvPr id="14" name="Shape 10"/>
          <p:cNvSpPr/>
          <p:nvPr/>
        </p:nvSpPr>
        <p:spPr>
          <a:xfrm>
            <a:off x="4059936" y="2830068"/>
            <a:ext cx="310896" cy="237744"/>
          </a:xfrm>
          <a:prstGeom prst="rightArrow">
            <a:avLst/>
          </a:prstGeom>
          <a:solidFill>
            <a:srgbClr val="C0392B"/>
          </a:solidFill>
          <a:ln/>
        </p:spPr>
      </p:sp>
      <p:sp>
        <p:nvSpPr>
          <p:cNvPr id="15" name="Shape 11"/>
          <p:cNvSpPr/>
          <p:nvPr/>
        </p:nvSpPr>
        <p:spPr>
          <a:xfrm>
            <a:off x="4462272" y="1874520"/>
            <a:ext cx="3401568" cy="2148840"/>
          </a:xfrm>
          <a:prstGeom prst="roundRect">
            <a:avLst>
              <a:gd name="adj" fmla="val 3830"/>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6" name="Shape 12"/>
          <p:cNvSpPr/>
          <p:nvPr/>
        </p:nvSpPr>
        <p:spPr>
          <a:xfrm>
            <a:off x="4718304" y="2130552"/>
            <a:ext cx="512064" cy="512064"/>
          </a:xfrm>
          <a:prstGeom prst="ellipse">
            <a:avLst/>
          </a:prstGeom>
          <a:solidFill>
            <a:srgbClr val="003366"/>
          </a:solidFill>
          <a:ln/>
        </p:spPr>
      </p:sp>
      <p:pic>
        <p:nvPicPr>
          <p:cNvPr id="17" name="Image 2" descr="preencoded.png">    </p:cNvPr>
          <p:cNvPicPr>
            <a:picLocks noChangeAspect="1"/>
          </p:cNvPicPr>
          <p:nvPr/>
        </p:nvPicPr>
        <p:blipFill>
          <a:blip r:embed="rId3"/>
          <a:stretch>
            <a:fillRect/>
          </a:stretch>
        </p:blipFill>
        <p:spPr>
          <a:xfrm>
            <a:off x="4830958" y="2243206"/>
            <a:ext cx="286756" cy="286756"/>
          </a:xfrm>
          <a:prstGeom prst="rect">
            <a:avLst/>
          </a:prstGeom>
        </p:spPr>
      </p:pic>
      <p:sp>
        <p:nvSpPr>
          <p:cNvPr id="18" name="Text 13"/>
          <p:cNvSpPr/>
          <p:nvPr/>
        </p:nvSpPr>
        <p:spPr>
          <a:xfrm>
            <a:off x="4718304" y="2788920"/>
            <a:ext cx="2889504" cy="320040"/>
          </a:xfrm>
          <a:prstGeom prst="rect">
            <a:avLst/>
          </a:prstGeom>
          <a:noFill/>
          <a:ln/>
        </p:spPr>
        <p:txBody>
          <a:bodyPr wrap="square" lIns="0" tIns="0" rIns="0" bIns="0" rtlCol="0" anchor="ctr"/>
          <a:lstStyle/>
          <a:p>
            <a:pPr indent="0" marL="0">
              <a:buNone/>
            </a:pPr>
            <a:r>
              <a:rPr lang="en-US" sz="1700" b="1" dirty="0">
                <a:solidFill>
                  <a:srgbClr val="FFFFFF"/>
                </a:solidFill>
                <a:latin typeface="Source Sans Pro" pitchFamily="34" charset="0"/>
                <a:ea typeface="Source Sans Pro" pitchFamily="34" charset="-122"/>
                <a:cs typeface="Source Sans Pro" pitchFamily="34" charset="-120"/>
              </a:rPr>
              <a:t>With a harness</a:t>
            </a:r>
            <a:endParaRPr lang="en-US" sz="1700" dirty="0"/>
          </a:p>
        </p:txBody>
      </p:sp>
      <p:sp>
        <p:nvSpPr>
          <p:cNvPr id="19" name="Text 14"/>
          <p:cNvSpPr/>
          <p:nvPr/>
        </p:nvSpPr>
        <p:spPr>
          <a:xfrm>
            <a:off x="4718304" y="3136392"/>
            <a:ext cx="2889504" cy="822960"/>
          </a:xfrm>
          <a:prstGeom prst="rect">
            <a:avLst/>
          </a:prstGeom>
          <a:noFill/>
          <a:ln/>
        </p:spPr>
        <p:txBody>
          <a:bodyPr wrap="square" lIns="0" tIns="0" rIns="0" bIns="0" rtlCol="0" anchor="ctr"/>
          <a:lstStyle/>
          <a:p>
            <a:pPr indent="0" marL="0">
              <a:lnSpc>
                <a:spcPts val="1700"/>
              </a:lnSpc>
              <a:buNone/>
            </a:pPr>
            <a:r>
              <a:rPr lang="en-US" sz="1300" dirty="0">
                <a:solidFill>
                  <a:srgbClr val="D6E4EF"/>
                </a:solidFill>
                <a:latin typeface="Source Sans Pro" pitchFamily="34" charset="0"/>
                <a:ea typeface="Source Sans Pro" pitchFamily="34" charset="-122"/>
                <a:cs typeface="Source Sans Pro" pitchFamily="34" charset="-120"/>
              </a:rPr>
              <a:t>Definitions, caveats, examples, and answer rules travel with the data product and AI workflow.</a:t>
            </a:r>
            <a:endParaRPr lang="en-US" sz="1300" dirty="0"/>
          </a:p>
        </p:txBody>
      </p:sp>
      <p:sp>
        <p:nvSpPr>
          <p:cNvPr id="20" name="Shape 15"/>
          <p:cNvSpPr/>
          <p:nvPr/>
        </p:nvSpPr>
        <p:spPr>
          <a:xfrm>
            <a:off x="7955280" y="2830068"/>
            <a:ext cx="310896" cy="237744"/>
          </a:xfrm>
          <a:prstGeom prst="rightArrow">
            <a:avLst/>
          </a:prstGeom>
          <a:solidFill>
            <a:srgbClr val="C0392B"/>
          </a:solidFill>
          <a:ln/>
        </p:spPr>
      </p:sp>
      <p:sp>
        <p:nvSpPr>
          <p:cNvPr id="21" name="Shape 16"/>
          <p:cNvSpPr/>
          <p:nvPr/>
        </p:nvSpPr>
        <p:spPr>
          <a:xfrm>
            <a:off x="8357616" y="1874520"/>
            <a:ext cx="3401568" cy="2148840"/>
          </a:xfrm>
          <a:prstGeom prst="roundRect">
            <a:avLst>
              <a:gd name="adj" fmla="val 3830"/>
            </a:avLst>
          </a:prstGeom>
          <a:solidFill>
            <a:srgbClr val="F7EAE7"/>
          </a:solidFill>
          <a:ln w="12700">
            <a:solidFill>
              <a:srgbClr val="C0392B"/>
            </a:solidFill>
            <a:prstDash val="solid"/>
          </a:ln>
          <a:effectLst>
            <a:outerShdw sx="100000" sy="100000" kx="0" ky="0" algn="bl" rotWithShape="0" blurRad="88900" dist="25400" dir="5400000">
              <a:srgbClr val="003366">
                <a:alpha val="14000"/>
              </a:srgbClr>
            </a:outerShdw>
          </a:effectLst>
        </p:spPr>
      </p:sp>
      <p:sp>
        <p:nvSpPr>
          <p:cNvPr id="22" name="Shape 17"/>
          <p:cNvSpPr/>
          <p:nvPr/>
        </p:nvSpPr>
        <p:spPr>
          <a:xfrm>
            <a:off x="8613648" y="2130552"/>
            <a:ext cx="512064" cy="512064"/>
          </a:xfrm>
          <a:prstGeom prst="ellipse">
            <a:avLst/>
          </a:prstGeom>
          <a:solidFill>
            <a:srgbClr val="C0392B"/>
          </a:solidFill>
          <a:ln/>
        </p:spPr>
      </p:sp>
      <p:pic>
        <p:nvPicPr>
          <p:cNvPr id="23" name="Image 3" descr="preencoded.png">    </p:cNvPr>
          <p:cNvPicPr>
            <a:picLocks noChangeAspect="1"/>
          </p:cNvPicPr>
          <p:nvPr/>
        </p:nvPicPr>
        <p:blipFill>
          <a:blip r:embed="rId4"/>
          <a:stretch>
            <a:fillRect/>
          </a:stretch>
        </p:blipFill>
        <p:spPr>
          <a:xfrm>
            <a:off x="8726302" y="2243206"/>
            <a:ext cx="286756" cy="286756"/>
          </a:xfrm>
          <a:prstGeom prst="rect">
            <a:avLst/>
          </a:prstGeom>
        </p:spPr>
      </p:pic>
      <p:sp>
        <p:nvSpPr>
          <p:cNvPr id="24" name="Text 18"/>
          <p:cNvSpPr/>
          <p:nvPr/>
        </p:nvSpPr>
        <p:spPr>
          <a:xfrm>
            <a:off x="8613648" y="2788920"/>
            <a:ext cx="2889504" cy="320040"/>
          </a:xfrm>
          <a:prstGeom prst="rect">
            <a:avLst/>
          </a:prstGeom>
          <a:noFill/>
          <a:ln/>
        </p:spPr>
        <p:txBody>
          <a:bodyPr wrap="square" lIns="0" tIns="0" rIns="0" bIns="0" rtlCol="0" anchor="ctr"/>
          <a:lstStyle/>
          <a:p>
            <a:pPr indent="0" marL="0">
              <a:buNone/>
            </a:pPr>
            <a:r>
              <a:rPr lang="en-US" sz="1700" b="1" dirty="0">
                <a:solidFill>
                  <a:srgbClr val="003366"/>
                </a:solidFill>
                <a:latin typeface="Source Sans Pro" pitchFamily="34" charset="0"/>
                <a:ea typeface="Source Sans Pro" pitchFamily="34" charset="-122"/>
                <a:cs typeface="Source Sans Pro" pitchFamily="34" charset="-120"/>
              </a:rPr>
              <a:t>With skill files</a:t>
            </a:r>
            <a:endParaRPr lang="en-US" sz="1700" dirty="0"/>
          </a:p>
        </p:txBody>
      </p:sp>
      <p:sp>
        <p:nvSpPr>
          <p:cNvPr id="25" name="Text 19"/>
          <p:cNvSpPr/>
          <p:nvPr/>
        </p:nvSpPr>
        <p:spPr>
          <a:xfrm>
            <a:off x="8613648" y="3136392"/>
            <a:ext cx="2889504" cy="822960"/>
          </a:xfrm>
          <a:prstGeom prst="rect">
            <a:avLst/>
          </a:prstGeom>
          <a:noFill/>
          <a:ln/>
        </p:spPr>
        <p:txBody>
          <a:bodyPr wrap="square" lIns="0" tIns="0" rIns="0" bIns="0" rtlCol="0" anchor="ctr"/>
          <a:lstStyle/>
          <a:p>
            <a:pPr indent="0" marL="0">
              <a:lnSpc>
                <a:spcPts val="1700"/>
              </a:lnSpc>
              <a:buNone/>
            </a:pPr>
            <a:r>
              <a:rPr lang="en-US" sz="1300" dirty="0">
                <a:solidFill>
                  <a:srgbClr val="505050"/>
                </a:solidFill>
                <a:latin typeface="Source Sans Pro" pitchFamily="34" charset="0"/>
                <a:ea typeface="Source Sans Pro" pitchFamily="34" charset="-122"/>
                <a:cs typeface="Source Sans Pro" pitchFamily="34" charset="-120"/>
              </a:rPr>
              <a:t>Repeatable task recipes tell the assistant how to do one kind of work the same way, each time.</a:t>
            </a:r>
            <a:endParaRPr lang="en-US" sz="1300" dirty="0"/>
          </a:p>
        </p:txBody>
      </p:sp>
      <p:sp>
        <p:nvSpPr>
          <p:cNvPr id="26" name="Shape 20"/>
          <p:cNvSpPr/>
          <p:nvPr/>
        </p:nvSpPr>
        <p:spPr>
          <a:xfrm>
            <a:off x="566928" y="4434840"/>
            <a:ext cx="11055096" cy="1463040"/>
          </a:xfrm>
          <a:prstGeom prst="roundRect">
            <a:avLst>
              <a:gd name="adj" fmla="val 5625"/>
            </a:avLst>
          </a:prstGeom>
          <a:solidFill>
            <a:srgbClr val="EAF1F6"/>
          </a:solidFill>
          <a:ln w="12700">
            <a:solidFill>
              <a:srgbClr val="D6E4EF"/>
            </a:solidFill>
            <a:prstDash val="solid"/>
          </a:ln>
        </p:spPr>
      </p:sp>
      <p:sp>
        <p:nvSpPr>
          <p:cNvPr id="27" name="Text 21"/>
          <p:cNvSpPr/>
          <p:nvPr/>
        </p:nvSpPr>
        <p:spPr>
          <a:xfrm>
            <a:off x="868680" y="4645152"/>
            <a:ext cx="3657600" cy="256032"/>
          </a:xfrm>
          <a:prstGeom prst="rect">
            <a:avLst/>
          </a:prstGeom>
          <a:noFill/>
          <a:ln/>
        </p:spPr>
        <p:txBody>
          <a:bodyPr wrap="square" lIns="0" tIns="0" rIns="0" bIns="0" rtlCol="0" anchor="ctr"/>
          <a:lstStyle/>
          <a:p>
            <a:pPr indent="0" marL="0">
              <a:buNone/>
            </a:pPr>
            <a:r>
              <a:rPr lang="en-US" sz="1100" b="1" spc="250" kern="0" dirty="0">
                <a:solidFill>
                  <a:srgbClr val="006699"/>
                </a:solidFill>
                <a:latin typeface="Source Sans Pro" pitchFamily="34" charset="0"/>
                <a:ea typeface="Source Sans Pro" pitchFamily="34" charset="-122"/>
                <a:cs typeface="Source Sans Pro" pitchFamily="34" charset="-120"/>
              </a:rPr>
              <a:t>LEADERSHIP TAKEAWAY</a:t>
            </a:r>
            <a:endParaRPr lang="en-US" sz="1100" dirty="0"/>
          </a:p>
        </p:txBody>
      </p:sp>
      <p:sp>
        <p:nvSpPr>
          <p:cNvPr id="28" name="Text 22"/>
          <p:cNvSpPr/>
          <p:nvPr/>
        </p:nvSpPr>
        <p:spPr>
          <a:xfrm>
            <a:off x="868680" y="4937760"/>
            <a:ext cx="10424160" cy="777240"/>
          </a:xfrm>
          <a:prstGeom prst="rect">
            <a:avLst/>
          </a:prstGeom>
          <a:noFill/>
          <a:ln/>
        </p:spPr>
        <p:txBody>
          <a:bodyPr wrap="square" lIns="0" tIns="0" rIns="0" bIns="0" rtlCol="0" anchor="ctr"/>
          <a:lstStyle/>
          <a:p>
            <a:pPr indent="0" marL="0">
              <a:lnSpc>
                <a:spcPts val="2100"/>
              </a:lnSpc>
              <a:buNone/>
            </a:pPr>
            <a:r>
              <a:rPr lang="en-US" sz="1550" b="1" dirty="0">
                <a:solidFill>
                  <a:srgbClr val="003366"/>
                </a:solidFill>
                <a:latin typeface="Source Sans Pro" pitchFamily="34" charset="0"/>
                <a:ea typeface="Source Sans Pro" pitchFamily="34" charset="-122"/>
                <a:cs typeface="Source Sans Pro" pitchFamily="34" charset="-120"/>
              </a:rPr>
              <a:t>AI readiness is not waiting for one feature to unlock. It is preparing the data, metadata, examples, review process, and reusable instructions so AI is valuable the day approved capabilities arrive.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SHARED LANGUAGE</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Plain-English vocabulary first</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Six pieces leadership will hear about — in one breath each.</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03 / 21</a:t>
            </a:r>
            <a:endParaRPr lang="en-US" sz="1000" dirty="0"/>
          </a:p>
        </p:txBody>
      </p:sp>
      <p:sp>
        <p:nvSpPr>
          <p:cNvPr id="9" name="Shape 6"/>
          <p:cNvSpPr/>
          <p:nvPr/>
        </p:nvSpPr>
        <p:spPr>
          <a:xfrm>
            <a:off x="566928" y="178308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68096" y="2002536"/>
            <a:ext cx="420624" cy="420624"/>
          </a:xfrm>
          <a:prstGeom prst="ellipse">
            <a:avLst/>
          </a:prstGeom>
          <a:solidFill>
            <a:srgbClr val="003366"/>
          </a:solidFill>
          <a:ln/>
        </p:spPr>
      </p:sp>
      <p:pic>
        <p:nvPicPr>
          <p:cNvPr id="11" name="Image 1" descr="preencoded.png">    </p:cNvPr>
          <p:cNvPicPr>
            <a:picLocks noChangeAspect="1"/>
          </p:cNvPicPr>
          <p:nvPr/>
        </p:nvPicPr>
        <p:blipFill>
          <a:blip r:embed="rId2"/>
          <a:stretch>
            <a:fillRect/>
          </a:stretch>
        </p:blipFill>
        <p:spPr>
          <a:xfrm>
            <a:off x="860633" y="2095073"/>
            <a:ext cx="235549" cy="235549"/>
          </a:xfrm>
          <a:prstGeom prst="rect">
            <a:avLst/>
          </a:prstGeom>
        </p:spPr>
      </p:pic>
      <p:sp>
        <p:nvSpPr>
          <p:cNvPr id="12" name="Text 8"/>
          <p:cNvSpPr/>
          <p:nvPr/>
        </p:nvSpPr>
        <p:spPr>
          <a:xfrm>
            <a:off x="1316736" y="1984248"/>
            <a:ext cx="2615184" cy="457200"/>
          </a:xfrm>
          <a:prstGeom prst="rect">
            <a:avLst/>
          </a:prstGeom>
          <a:noFill/>
          <a:ln/>
        </p:spPr>
        <p:txBody>
          <a:bodyPr wrap="square" lIns="0" tIns="0" rIns="0" bIns="0" rtlCol="0" anchor="t"/>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LLM</a:t>
            </a:r>
            <a:endParaRPr lang="en-US" sz="1450" dirty="0"/>
          </a:p>
        </p:txBody>
      </p:sp>
      <p:sp>
        <p:nvSpPr>
          <p:cNvPr id="13" name="Text 9"/>
          <p:cNvSpPr/>
          <p:nvPr/>
        </p:nvSpPr>
        <p:spPr>
          <a:xfrm>
            <a:off x="768096" y="2496312"/>
            <a:ext cx="3127248" cy="713232"/>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A language engine that predicts and generates text or code.</a:t>
            </a:r>
            <a:endParaRPr lang="en-US" sz="1150" dirty="0"/>
          </a:p>
        </p:txBody>
      </p:sp>
      <p:sp>
        <p:nvSpPr>
          <p:cNvPr id="14" name="Shape 10"/>
          <p:cNvSpPr/>
          <p:nvPr/>
        </p:nvSpPr>
        <p:spPr>
          <a:xfrm>
            <a:off x="4325112" y="178308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5" name="Shape 11"/>
          <p:cNvSpPr/>
          <p:nvPr/>
        </p:nvSpPr>
        <p:spPr>
          <a:xfrm>
            <a:off x="4526280" y="2002536"/>
            <a:ext cx="420624" cy="420624"/>
          </a:xfrm>
          <a:prstGeom prst="ellipse">
            <a:avLst/>
          </a:prstGeom>
          <a:solidFill>
            <a:srgbClr val="003366"/>
          </a:solidFill>
          <a:ln/>
        </p:spPr>
      </p:sp>
      <p:pic>
        <p:nvPicPr>
          <p:cNvPr id="16" name="Image 2" descr="preencoded.png">    </p:cNvPr>
          <p:cNvPicPr>
            <a:picLocks noChangeAspect="1"/>
          </p:cNvPicPr>
          <p:nvPr/>
        </p:nvPicPr>
        <p:blipFill>
          <a:blip r:embed="rId3"/>
          <a:stretch>
            <a:fillRect/>
          </a:stretch>
        </p:blipFill>
        <p:spPr>
          <a:xfrm>
            <a:off x="4618817" y="2095073"/>
            <a:ext cx="235549" cy="235549"/>
          </a:xfrm>
          <a:prstGeom prst="rect">
            <a:avLst/>
          </a:prstGeom>
        </p:spPr>
      </p:pic>
      <p:sp>
        <p:nvSpPr>
          <p:cNvPr id="17" name="Text 12"/>
          <p:cNvSpPr/>
          <p:nvPr/>
        </p:nvSpPr>
        <p:spPr>
          <a:xfrm>
            <a:off x="5074920" y="1984248"/>
            <a:ext cx="2615184" cy="457200"/>
          </a:xfrm>
          <a:prstGeom prst="rect">
            <a:avLst/>
          </a:prstGeom>
          <a:noFill/>
          <a:ln/>
        </p:spPr>
        <p:txBody>
          <a:bodyPr wrap="square" lIns="0" tIns="0" rIns="0" bIns="0" rtlCol="0" anchor="t"/>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Chatbot / Assistant</a:t>
            </a:r>
            <a:endParaRPr lang="en-US" sz="1450" dirty="0"/>
          </a:p>
        </p:txBody>
      </p:sp>
      <p:sp>
        <p:nvSpPr>
          <p:cNvPr id="18" name="Text 13"/>
          <p:cNvSpPr/>
          <p:nvPr/>
        </p:nvSpPr>
        <p:spPr>
          <a:xfrm>
            <a:off x="4526280" y="2496312"/>
            <a:ext cx="3127248" cy="713232"/>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The front door a user types into. It may call tools, data, or models.</a:t>
            </a:r>
            <a:endParaRPr lang="en-US" sz="1150" dirty="0"/>
          </a:p>
        </p:txBody>
      </p:sp>
      <p:sp>
        <p:nvSpPr>
          <p:cNvPr id="19" name="Shape 14"/>
          <p:cNvSpPr/>
          <p:nvPr/>
        </p:nvSpPr>
        <p:spPr>
          <a:xfrm>
            <a:off x="8083296" y="178308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0" name="Shape 15"/>
          <p:cNvSpPr/>
          <p:nvPr/>
        </p:nvSpPr>
        <p:spPr>
          <a:xfrm>
            <a:off x="8284464" y="2002536"/>
            <a:ext cx="420624" cy="420624"/>
          </a:xfrm>
          <a:prstGeom prst="ellipse">
            <a:avLst/>
          </a:prstGeom>
          <a:solidFill>
            <a:srgbClr val="003366"/>
          </a:solidFill>
          <a:ln/>
        </p:spPr>
      </p:sp>
      <p:pic>
        <p:nvPicPr>
          <p:cNvPr id="21" name="Image 3" descr="preencoded.png">    </p:cNvPr>
          <p:cNvPicPr>
            <a:picLocks noChangeAspect="1"/>
          </p:cNvPicPr>
          <p:nvPr/>
        </p:nvPicPr>
        <p:blipFill>
          <a:blip r:embed="rId4"/>
          <a:stretch>
            <a:fillRect/>
          </a:stretch>
        </p:blipFill>
        <p:spPr>
          <a:xfrm>
            <a:off x="8377001" y="2095073"/>
            <a:ext cx="235549" cy="235549"/>
          </a:xfrm>
          <a:prstGeom prst="rect">
            <a:avLst/>
          </a:prstGeom>
        </p:spPr>
      </p:pic>
      <p:sp>
        <p:nvSpPr>
          <p:cNvPr id="22" name="Text 16"/>
          <p:cNvSpPr/>
          <p:nvPr/>
        </p:nvSpPr>
        <p:spPr>
          <a:xfrm>
            <a:off x="8833104" y="1984248"/>
            <a:ext cx="2615184" cy="457200"/>
          </a:xfrm>
          <a:prstGeom prst="rect">
            <a:avLst/>
          </a:prstGeom>
          <a:noFill/>
          <a:ln/>
        </p:spPr>
        <p:txBody>
          <a:bodyPr wrap="square" lIns="0" tIns="0" rIns="0" bIns="0" rtlCol="0" anchor="t"/>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Model Serving Endpoint</a:t>
            </a:r>
            <a:endParaRPr lang="en-US" sz="1450" dirty="0"/>
          </a:p>
        </p:txBody>
      </p:sp>
      <p:sp>
        <p:nvSpPr>
          <p:cNvPr id="23" name="Text 17"/>
          <p:cNvSpPr/>
          <p:nvPr/>
        </p:nvSpPr>
        <p:spPr>
          <a:xfrm>
            <a:off x="8284464" y="2496312"/>
            <a:ext cx="3127248" cy="713232"/>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A secure service window: an app sends a request, the endpoint returns a response.</a:t>
            </a:r>
            <a:endParaRPr lang="en-US" sz="1150" dirty="0"/>
          </a:p>
        </p:txBody>
      </p:sp>
      <p:sp>
        <p:nvSpPr>
          <p:cNvPr id="24" name="Shape 18"/>
          <p:cNvSpPr/>
          <p:nvPr/>
        </p:nvSpPr>
        <p:spPr>
          <a:xfrm>
            <a:off x="566928" y="352044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5" name="Shape 19"/>
          <p:cNvSpPr/>
          <p:nvPr/>
        </p:nvSpPr>
        <p:spPr>
          <a:xfrm>
            <a:off x="768096" y="3739896"/>
            <a:ext cx="420624" cy="420624"/>
          </a:xfrm>
          <a:prstGeom prst="ellipse">
            <a:avLst/>
          </a:prstGeom>
          <a:solidFill>
            <a:srgbClr val="003366"/>
          </a:solidFill>
          <a:ln/>
        </p:spPr>
      </p:sp>
      <p:pic>
        <p:nvPicPr>
          <p:cNvPr id="26" name="Image 4" descr="preencoded.png">    </p:cNvPr>
          <p:cNvPicPr>
            <a:picLocks noChangeAspect="1"/>
          </p:cNvPicPr>
          <p:nvPr/>
        </p:nvPicPr>
        <p:blipFill>
          <a:blip r:embed="rId5"/>
          <a:stretch>
            <a:fillRect/>
          </a:stretch>
        </p:blipFill>
        <p:spPr>
          <a:xfrm>
            <a:off x="860633" y="3832433"/>
            <a:ext cx="235549" cy="235549"/>
          </a:xfrm>
          <a:prstGeom prst="rect">
            <a:avLst/>
          </a:prstGeom>
        </p:spPr>
      </p:pic>
      <p:sp>
        <p:nvSpPr>
          <p:cNvPr id="27" name="Text 20"/>
          <p:cNvSpPr/>
          <p:nvPr/>
        </p:nvSpPr>
        <p:spPr>
          <a:xfrm>
            <a:off x="1316736" y="3721608"/>
            <a:ext cx="2615184" cy="457200"/>
          </a:xfrm>
          <a:prstGeom prst="rect">
            <a:avLst/>
          </a:prstGeom>
          <a:noFill/>
          <a:ln/>
        </p:spPr>
        <p:txBody>
          <a:bodyPr wrap="square" lIns="0" tIns="0" rIns="0" bIns="0" rtlCol="0" anchor="t"/>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Genie Space / Agent</a:t>
            </a:r>
            <a:endParaRPr lang="en-US" sz="1450" dirty="0"/>
          </a:p>
        </p:txBody>
      </p:sp>
      <p:sp>
        <p:nvSpPr>
          <p:cNvPr id="28" name="Text 21"/>
          <p:cNvSpPr/>
          <p:nvPr/>
        </p:nvSpPr>
        <p:spPr>
          <a:xfrm>
            <a:off x="768096" y="4233672"/>
            <a:ext cx="3127248" cy="713232"/>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A Databricks data Q&amp;A room for natural-language questions about governed data.</a:t>
            </a:r>
            <a:endParaRPr lang="en-US" sz="1150" dirty="0"/>
          </a:p>
        </p:txBody>
      </p:sp>
      <p:sp>
        <p:nvSpPr>
          <p:cNvPr id="29" name="Shape 22"/>
          <p:cNvSpPr/>
          <p:nvPr/>
        </p:nvSpPr>
        <p:spPr>
          <a:xfrm>
            <a:off x="4325112" y="352044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0" name="Shape 23"/>
          <p:cNvSpPr/>
          <p:nvPr/>
        </p:nvSpPr>
        <p:spPr>
          <a:xfrm>
            <a:off x="4526280" y="3739896"/>
            <a:ext cx="420624" cy="420624"/>
          </a:xfrm>
          <a:prstGeom prst="ellipse">
            <a:avLst/>
          </a:prstGeom>
          <a:solidFill>
            <a:srgbClr val="C0392B"/>
          </a:solidFill>
          <a:ln/>
        </p:spPr>
      </p:sp>
      <p:pic>
        <p:nvPicPr>
          <p:cNvPr id="31" name="Image 5" descr="preencoded.png">    </p:cNvPr>
          <p:cNvPicPr>
            <a:picLocks noChangeAspect="1"/>
          </p:cNvPicPr>
          <p:nvPr/>
        </p:nvPicPr>
        <p:blipFill>
          <a:blip r:embed="rId6"/>
          <a:stretch>
            <a:fillRect/>
          </a:stretch>
        </p:blipFill>
        <p:spPr>
          <a:xfrm>
            <a:off x="4618817" y="3832433"/>
            <a:ext cx="235549" cy="235549"/>
          </a:xfrm>
          <a:prstGeom prst="rect">
            <a:avLst/>
          </a:prstGeom>
        </p:spPr>
      </p:pic>
      <p:sp>
        <p:nvSpPr>
          <p:cNvPr id="32" name="Text 24"/>
          <p:cNvSpPr/>
          <p:nvPr/>
        </p:nvSpPr>
        <p:spPr>
          <a:xfrm>
            <a:off x="5074920" y="3721608"/>
            <a:ext cx="2615184" cy="457200"/>
          </a:xfrm>
          <a:prstGeom prst="rect">
            <a:avLst/>
          </a:prstGeom>
          <a:noFill/>
          <a:ln/>
        </p:spPr>
        <p:txBody>
          <a:bodyPr wrap="square" lIns="0" tIns="0" rIns="0" bIns="0" rtlCol="0" anchor="t"/>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Unity Catalog</a:t>
            </a:r>
            <a:endParaRPr lang="en-US" sz="1450" dirty="0"/>
          </a:p>
        </p:txBody>
      </p:sp>
      <p:sp>
        <p:nvSpPr>
          <p:cNvPr id="33" name="Text 25"/>
          <p:cNvSpPr/>
          <p:nvPr/>
        </p:nvSpPr>
        <p:spPr>
          <a:xfrm>
            <a:off x="4526280" y="4233672"/>
            <a:ext cx="3127248" cy="713232"/>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Databricks governance layer for permissions, metadata, lineage, audit, discovery.</a:t>
            </a:r>
            <a:endParaRPr lang="en-US" sz="1150" dirty="0"/>
          </a:p>
        </p:txBody>
      </p:sp>
      <p:sp>
        <p:nvSpPr>
          <p:cNvPr id="34" name="Shape 26"/>
          <p:cNvSpPr/>
          <p:nvPr/>
        </p:nvSpPr>
        <p:spPr>
          <a:xfrm>
            <a:off x="8083296" y="352044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5" name="Shape 27"/>
          <p:cNvSpPr/>
          <p:nvPr/>
        </p:nvSpPr>
        <p:spPr>
          <a:xfrm>
            <a:off x="8284464" y="3739896"/>
            <a:ext cx="420624" cy="420624"/>
          </a:xfrm>
          <a:prstGeom prst="ellipse">
            <a:avLst/>
          </a:prstGeom>
          <a:solidFill>
            <a:srgbClr val="003366"/>
          </a:solidFill>
          <a:ln/>
        </p:spPr>
      </p:sp>
      <p:pic>
        <p:nvPicPr>
          <p:cNvPr id="36" name="Image 6" descr="preencoded.png">    </p:cNvPr>
          <p:cNvPicPr>
            <a:picLocks noChangeAspect="1"/>
          </p:cNvPicPr>
          <p:nvPr/>
        </p:nvPicPr>
        <p:blipFill>
          <a:blip r:embed="rId7"/>
          <a:stretch>
            <a:fillRect/>
          </a:stretch>
        </p:blipFill>
        <p:spPr>
          <a:xfrm>
            <a:off x="8377001" y="3832433"/>
            <a:ext cx="235549" cy="235549"/>
          </a:xfrm>
          <a:prstGeom prst="rect">
            <a:avLst/>
          </a:prstGeom>
        </p:spPr>
      </p:pic>
      <p:sp>
        <p:nvSpPr>
          <p:cNvPr id="37" name="Text 28"/>
          <p:cNvSpPr/>
          <p:nvPr/>
        </p:nvSpPr>
        <p:spPr>
          <a:xfrm>
            <a:off x="8833104" y="3721608"/>
            <a:ext cx="2615184" cy="457200"/>
          </a:xfrm>
          <a:prstGeom prst="rect">
            <a:avLst/>
          </a:prstGeom>
          <a:noFill/>
          <a:ln/>
        </p:spPr>
        <p:txBody>
          <a:bodyPr wrap="square" lIns="0" tIns="0" rIns="0" bIns="0" rtlCol="0" anchor="t"/>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Data Product</a:t>
            </a:r>
            <a:endParaRPr lang="en-US" sz="1450" dirty="0"/>
          </a:p>
        </p:txBody>
      </p:sp>
      <p:sp>
        <p:nvSpPr>
          <p:cNvPr id="38" name="Text 29"/>
          <p:cNvSpPr/>
          <p:nvPr/>
        </p:nvSpPr>
        <p:spPr>
          <a:xfrm>
            <a:off x="8284464" y="4233672"/>
            <a:ext cx="3127248" cy="713232"/>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A trusted table, view, metric view, or curated, dashboard-ready dataset.</a:t>
            </a:r>
            <a:endParaRPr lang="en-US" sz="1150" dirty="0"/>
          </a:p>
        </p:txBody>
      </p:sp>
      <p:sp>
        <p:nvSpPr>
          <p:cNvPr id="39" name="Shape 30"/>
          <p:cNvSpPr/>
          <p:nvPr/>
        </p:nvSpPr>
        <p:spPr>
          <a:xfrm>
            <a:off x="566928" y="5349240"/>
            <a:ext cx="11055096" cy="566928"/>
          </a:xfrm>
          <a:prstGeom prst="roundRect">
            <a:avLst>
              <a:gd name="adj" fmla="val 14516"/>
            </a:avLst>
          </a:prstGeom>
          <a:solidFill>
            <a:srgbClr val="F7EAE7"/>
          </a:solidFill>
          <a:ln w="12700">
            <a:solidFill>
              <a:srgbClr val="C0392B"/>
            </a:solidFill>
            <a:prstDash val="solid"/>
          </a:ln>
        </p:spPr>
      </p:sp>
      <p:sp>
        <p:nvSpPr>
          <p:cNvPr id="40" name="Text 31"/>
          <p:cNvSpPr/>
          <p:nvPr/>
        </p:nvSpPr>
        <p:spPr>
          <a:xfrm>
            <a:off x="868680" y="5458968"/>
            <a:ext cx="10515600" cy="347472"/>
          </a:xfrm>
          <a:prstGeom prst="rect">
            <a:avLst/>
          </a:prstGeom>
          <a:noFill/>
          <a:ln/>
        </p:spPr>
        <p:txBody>
          <a:bodyPr wrap="square" lIns="0" tIns="0" rIns="0" bIns="0" rtlCol="0" anchor="ctr"/>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Memory hook:  </a:t>
            </a:r>
            <a:pPr indent="0" marL="0">
              <a:buNone/>
            </a:pPr>
            <a:r>
              <a:rPr lang="en-US" sz="1300" dirty="0">
                <a:solidFill>
                  <a:srgbClr val="2A2F36"/>
                </a:solidFill>
                <a:latin typeface="Source Sans Pro" pitchFamily="34" charset="0"/>
                <a:ea typeface="Source Sans Pro" pitchFamily="34" charset="-122"/>
                <a:cs typeface="Source Sans Pro" pitchFamily="34" charset="-120"/>
              </a:rPr>
              <a:t>LLM = brain   •   assistant = front desk   •   endpoint = service window   •   Genie = data Q&amp;A room</a:t>
            </a:r>
            <a:endParaRPr lang="en-US" sz="1300" dirty="0"/>
          </a:p>
        </p:txBody>
      </p:sp>
      <p:sp>
        <p:nvSpPr>
          <p:cNvPr id="41" name="Text 32"/>
          <p:cNvSpPr/>
          <p:nvPr/>
        </p:nvSpPr>
        <p:spPr>
          <a:xfrm>
            <a:off x="566928" y="5961888"/>
            <a:ext cx="10972800" cy="256032"/>
          </a:xfrm>
          <a:prstGeom prst="rect">
            <a:avLst/>
          </a:prstGeom>
          <a:noFill/>
          <a:ln/>
        </p:spPr>
        <p:txBody>
          <a:bodyPr wrap="square" lIns="0" tIns="0" rIns="0" bIns="0" rtlCol="0" anchor="ctr"/>
          <a:lstStyle/>
          <a:p>
            <a:pPr indent="0" marL="0">
              <a:buNone/>
            </a:pPr>
            <a:r>
              <a:rPr lang="en-US" sz="950" i="1" dirty="0">
                <a:solidFill>
                  <a:srgbClr val="999999"/>
                </a:solidFill>
                <a:latin typeface="Source Sans Pro" pitchFamily="34" charset="0"/>
                <a:ea typeface="Source Sans Pro" pitchFamily="34" charset="-122"/>
                <a:cs typeface="Source Sans Pro" pitchFamily="34" charset="-120"/>
              </a:rPr>
              <a:t>Databricks docs now say “Genie Agent”; many teams still say “Genie Space.” Conceptual until USCIS environment availability is confirmed.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THE PLATFORM</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The Databricks picture</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The platform provides the workbench; the harness provides the working instructions.</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04 / 21</a:t>
            </a:r>
            <a:endParaRPr lang="en-US" sz="1000" dirty="0"/>
          </a:p>
        </p:txBody>
      </p:sp>
      <p:sp>
        <p:nvSpPr>
          <p:cNvPr id="9" name="Shape 6"/>
          <p:cNvSpPr/>
          <p:nvPr/>
        </p:nvSpPr>
        <p:spPr>
          <a:xfrm>
            <a:off x="566928" y="1810512"/>
            <a:ext cx="3977640" cy="731520"/>
          </a:xfrm>
          <a:prstGeom prst="roundRect">
            <a:avLst>
              <a:gd name="adj" fmla="val 11250"/>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49808" y="1965960"/>
            <a:ext cx="402336" cy="402336"/>
          </a:xfrm>
          <a:prstGeom prst="ellipse">
            <a:avLst/>
          </a:prstGeom>
          <a:solidFill>
            <a:srgbClr val="C0392B"/>
          </a:solidFill>
          <a:ln/>
        </p:spPr>
      </p:sp>
      <p:pic>
        <p:nvPicPr>
          <p:cNvPr id="11" name="Image 1" descr="preencoded.png">    </p:cNvPr>
          <p:cNvPicPr>
            <a:picLocks noChangeAspect="1"/>
          </p:cNvPicPr>
          <p:nvPr/>
        </p:nvPicPr>
        <p:blipFill>
          <a:blip r:embed="rId2"/>
          <a:stretch>
            <a:fillRect/>
          </a:stretch>
        </p:blipFill>
        <p:spPr>
          <a:xfrm>
            <a:off x="838322" y="2054474"/>
            <a:ext cx="225308" cy="225308"/>
          </a:xfrm>
          <a:prstGeom prst="rect">
            <a:avLst/>
          </a:prstGeom>
        </p:spPr>
      </p:pic>
      <p:sp>
        <p:nvSpPr>
          <p:cNvPr id="12" name="Text 8"/>
          <p:cNvSpPr/>
          <p:nvPr/>
        </p:nvSpPr>
        <p:spPr>
          <a:xfrm>
            <a:off x="1298448" y="1920240"/>
            <a:ext cx="3108960" cy="274320"/>
          </a:xfrm>
          <a:prstGeom prst="rect">
            <a:avLst/>
          </a:prstGeom>
          <a:noFill/>
          <a:ln/>
        </p:spPr>
        <p:txBody>
          <a:bodyPr wrap="square" lIns="0" tIns="0" rIns="0" bIns="0" rtlCol="0" anchor="ctr"/>
          <a:lstStyle/>
          <a:p>
            <a:pPr indent="0" marL="0">
              <a:buNone/>
            </a:pPr>
            <a:r>
              <a:rPr lang="en-US" sz="1350" b="1" dirty="0">
                <a:solidFill>
                  <a:srgbClr val="FFFFFF"/>
                </a:solidFill>
                <a:latin typeface="Source Sans Pro" pitchFamily="34" charset="0"/>
                <a:ea typeface="Source Sans Pro" pitchFamily="34" charset="-122"/>
                <a:cs typeface="Source Sans Pro" pitchFamily="34" charset="-120"/>
              </a:rPr>
              <a:t>Unity Catalog</a:t>
            </a:r>
            <a:endParaRPr lang="en-US" sz="1350" dirty="0"/>
          </a:p>
        </p:txBody>
      </p:sp>
      <p:sp>
        <p:nvSpPr>
          <p:cNvPr id="13" name="Text 9"/>
          <p:cNvSpPr/>
          <p:nvPr/>
        </p:nvSpPr>
        <p:spPr>
          <a:xfrm>
            <a:off x="1298448" y="2194560"/>
            <a:ext cx="3108960" cy="256032"/>
          </a:xfrm>
          <a:prstGeom prst="rect">
            <a:avLst/>
          </a:prstGeom>
          <a:noFill/>
          <a:ln/>
        </p:spPr>
        <p:txBody>
          <a:bodyPr wrap="square" lIns="0" tIns="0" rIns="0" bIns="0" rtlCol="0" anchor="ctr"/>
          <a:lstStyle/>
          <a:p>
            <a:pPr indent="0" marL="0">
              <a:buNone/>
            </a:pPr>
            <a:r>
              <a:rPr lang="en-US" sz="1050" dirty="0">
                <a:solidFill>
                  <a:srgbClr val="D6E4EF"/>
                </a:solidFill>
                <a:latin typeface="Source Sans Pro" pitchFamily="34" charset="0"/>
                <a:ea typeface="Source Sans Pro" pitchFamily="34" charset="-122"/>
                <a:cs typeface="Source Sans Pro" pitchFamily="34" charset="-120"/>
              </a:rPr>
              <a:t>governed access + metadata</a:t>
            </a:r>
            <a:endParaRPr lang="en-US" sz="1050" dirty="0"/>
          </a:p>
        </p:txBody>
      </p:sp>
      <p:sp>
        <p:nvSpPr>
          <p:cNvPr id="14" name="Shape 10"/>
          <p:cNvSpPr/>
          <p:nvPr/>
        </p:nvSpPr>
        <p:spPr>
          <a:xfrm>
            <a:off x="566928" y="2642616"/>
            <a:ext cx="3977640" cy="731520"/>
          </a:xfrm>
          <a:prstGeom prst="roundRect">
            <a:avLst>
              <a:gd name="adj" fmla="val 1125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5" name="Shape 11"/>
          <p:cNvSpPr/>
          <p:nvPr/>
        </p:nvSpPr>
        <p:spPr>
          <a:xfrm>
            <a:off x="749808" y="2798064"/>
            <a:ext cx="402336" cy="402336"/>
          </a:xfrm>
          <a:prstGeom prst="ellipse">
            <a:avLst/>
          </a:prstGeom>
          <a:solidFill>
            <a:srgbClr val="003366"/>
          </a:solidFill>
          <a:ln/>
        </p:spPr>
      </p:sp>
      <p:pic>
        <p:nvPicPr>
          <p:cNvPr id="16" name="Image 2" descr="preencoded.png">    </p:cNvPr>
          <p:cNvPicPr>
            <a:picLocks noChangeAspect="1"/>
          </p:cNvPicPr>
          <p:nvPr/>
        </p:nvPicPr>
        <p:blipFill>
          <a:blip r:embed="rId3"/>
          <a:stretch>
            <a:fillRect/>
          </a:stretch>
        </p:blipFill>
        <p:spPr>
          <a:xfrm>
            <a:off x="838322" y="2886578"/>
            <a:ext cx="225308" cy="225308"/>
          </a:xfrm>
          <a:prstGeom prst="rect">
            <a:avLst/>
          </a:prstGeom>
        </p:spPr>
      </p:pic>
      <p:sp>
        <p:nvSpPr>
          <p:cNvPr id="17" name="Text 12"/>
          <p:cNvSpPr/>
          <p:nvPr/>
        </p:nvSpPr>
        <p:spPr>
          <a:xfrm>
            <a:off x="1298448" y="2752344"/>
            <a:ext cx="3108960"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Governed data products</a:t>
            </a:r>
            <a:endParaRPr lang="en-US" sz="1350" dirty="0"/>
          </a:p>
        </p:txBody>
      </p:sp>
      <p:sp>
        <p:nvSpPr>
          <p:cNvPr id="18" name="Text 13"/>
          <p:cNvSpPr/>
          <p:nvPr/>
        </p:nvSpPr>
        <p:spPr>
          <a:xfrm>
            <a:off x="1298448" y="3026664"/>
            <a:ext cx="3108960" cy="256032"/>
          </a:xfrm>
          <a:prstGeom prst="rect">
            <a:avLst/>
          </a:prstGeom>
          <a:noFill/>
          <a:ln/>
        </p:spPr>
        <p:txBody>
          <a:bodyPr wrap="square" lIns="0" tIns="0" rIns="0" bIns="0" rtlCol="0" anchor="ctr"/>
          <a:lstStyle/>
          <a:p>
            <a:pPr indent="0" marL="0">
              <a:buNone/>
            </a:pPr>
            <a:r>
              <a:rPr lang="en-US" sz="1050" dirty="0">
                <a:solidFill>
                  <a:srgbClr val="505050"/>
                </a:solidFill>
                <a:latin typeface="Source Sans Pro" pitchFamily="34" charset="0"/>
                <a:ea typeface="Source Sans Pro" pitchFamily="34" charset="-122"/>
                <a:cs typeface="Source Sans Pro" pitchFamily="34" charset="-120"/>
              </a:rPr>
              <a:t>tables • views • metrics</a:t>
            </a:r>
            <a:endParaRPr lang="en-US" sz="1050" dirty="0"/>
          </a:p>
        </p:txBody>
      </p:sp>
      <p:sp>
        <p:nvSpPr>
          <p:cNvPr id="19" name="Shape 14"/>
          <p:cNvSpPr/>
          <p:nvPr/>
        </p:nvSpPr>
        <p:spPr>
          <a:xfrm>
            <a:off x="566928" y="3474720"/>
            <a:ext cx="3977640" cy="731520"/>
          </a:xfrm>
          <a:prstGeom prst="roundRect">
            <a:avLst>
              <a:gd name="adj" fmla="val 1125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0" name="Shape 15"/>
          <p:cNvSpPr/>
          <p:nvPr/>
        </p:nvSpPr>
        <p:spPr>
          <a:xfrm>
            <a:off x="749808" y="3630168"/>
            <a:ext cx="402336" cy="402336"/>
          </a:xfrm>
          <a:prstGeom prst="ellipse">
            <a:avLst/>
          </a:prstGeom>
          <a:solidFill>
            <a:srgbClr val="003366"/>
          </a:solidFill>
          <a:ln/>
        </p:spPr>
      </p:sp>
      <p:pic>
        <p:nvPicPr>
          <p:cNvPr id="21" name="Image 3" descr="preencoded.png">    </p:cNvPr>
          <p:cNvPicPr>
            <a:picLocks noChangeAspect="1"/>
          </p:cNvPicPr>
          <p:nvPr/>
        </p:nvPicPr>
        <p:blipFill>
          <a:blip r:embed="rId4"/>
          <a:stretch>
            <a:fillRect/>
          </a:stretch>
        </p:blipFill>
        <p:spPr>
          <a:xfrm>
            <a:off x="838322" y="3718682"/>
            <a:ext cx="225308" cy="225308"/>
          </a:xfrm>
          <a:prstGeom prst="rect">
            <a:avLst/>
          </a:prstGeom>
        </p:spPr>
      </p:pic>
      <p:sp>
        <p:nvSpPr>
          <p:cNvPr id="22" name="Text 16"/>
          <p:cNvSpPr/>
          <p:nvPr/>
        </p:nvSpPr>
        <p:spPr>
          <a:xfrm>
            <a:off x="1298448" y="3584448"/>
            <a:ext cx="3108960"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Genie Space / Agent</a:t>
            </a:r>
            <a:endParaRPr lang="en-US" sz="1350" dirty="0"/>
          </a:p>
        </p:txBody>
      </p:sp>
      <p:sp>
        <p:nvSpPr>
          <p:cNvPr id="23" name="Text 17"/>
          <p:cNvSpPr/>
          <p:nvPr/>
        </p:nvSpPr>
        <p:spPr>
          <a:xfrm>
            <a:off x="1298448" y="3858768"/>
            <a:ext cx="3108960" cy="256032"/>
          </a:xfrm>
          <a:prstGeom prst="rect">
            <a:avLst/>
          </a:prstGeom>
          <a:noFill/>
          <a:ln/>
        </p:spPr>
        <p:txBody>
          <a:bodyPr wrap="square" lIns="0" tIns="0" rIns="0" bIns="0" rtlCol="0" anchor="ctr"/>
          <a:lstStyle/>
          <a:p>
            <a:pPr indent="0" marL="0">
              <a:buNone/>
            </a:pPr>
            <a:r>
              <a:rPr lang="en-US" sz="1050" dirty="0">
                <a:solidFill>
                  <a:srgbClr val="505050"/>
                </a:solidFill>
                <a:latin typeface="Source Sans Pro" pitchFamily="34" charset="0"/>
                <a:ea typeface="Source Sans Pro" pitchFamily="34" charset="-122"/>
                <a:cs typeface="Source Sans Pro" pitchFamily="34" charset="-120"/>
              </a:rPr>
              <a:t>natural-language data Q&amp;A</a:t>
            </a:r>
            <a:endParaRPr lang="en-US" sz="1050" dirty="0"/>
          </a:p>
        </p:txBody>
      </p:sp>
      <p:sp>
        <p:nvSpPr>
          <p:cNvPr id="24" name="Shape 18"/>
          <p:cNvSpPr/>
          <p:nvPr/>
        </p:nvSpPr>
        <p:spPr>
          <a:xfrm>
            <a:off x="566928" y="4306824"/>
            <a:ext cx="3977640" cy="731520"/>
          </a:xfrm>
          <a:prstGeom prst="roundRect">
            <a:avLst>
              <a:gd name="adj" fmla="val 1125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5" name="Shape 19"/>
          <p:cNvSpPr/>
          <p:nvPr/>
        </p:nvSpPr>
        <p:spPr>
          <a:xfrm>
            <a:off x="749808" y="4462272"/>
            <a:ext cx="402336" cy="402336"/>
          </a:xfrm>
          <a:prstGeom prst="ellipse">
            <a:avLst/>
          </a:prstGeom>
          <a:solidFill>
            <a:srgbClr val="003366"/>
          </a:solidFill>
          <a:ln/>
        </p:spPr>
      </p:sp>
      <p:pic>
        <p:nvPicPr>
          <p:cNvPr id="26" name="Image 4" descr="preencoded.png">    </p:cNvPr>
          <p:cNvPicPr>
            <a:picLocks noChangeAspect="1"/>
          </p:cNvPicPr>
          <p:nvPr/>
        </p:nvPicPr>
        <p:blipFill>
          <a:blip r:embed="rId5"/>
          <a:stretch>
            <a:fillRect/>
          </a:stretch>
        </p:blipFill>
        <p:spPr>
          <a:xfrm>
            <a:off x="838322" y="4550786"/>
            <a:ext cx="225308" cy="225308"/>
          </a:xfrm>
          <a:prstGeom prst="rect">
            <a:avLst/>
          </a:prstGeom>
        </p:spPr>
      </p:pic>
      <p:sp>
        <p:nvSpPr>
          <p:cNvPr id="27" name="Text 20"/>
          <p:cNvSpPr/>
          <p:nvPr/>
        </p:nvSpPr>
        <p:spPr>
          <a:xfrm>
            <a:off x="1298448" y="4416552"/>
            <a:ext cx="3108960"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Model Serving</a:t>
            </a:r>
            <a:endParaRPr lang="en-US" sz="1350" dirty="0"/>
          </a:p>
        </p:txBody>
      </p:sp>
      <p:sp>
        <p:nvSpPr>
          <p:cNvPr id="28" name="Text 21"/>
          <p:cNvSpPr/>
          <p:nvPr/>
        </p:nvSpPr>
        <p:spPr>
          <a:xfrm>
            <a:off x="1298448" y="4690872"/>
            <a:ext cx="3108960" cy="256032"/>
          </a:xfrm>
          <a:prstGeom prst="rect">
            <a:avLst/>
          </a:prstGeom>
          <a:noFill/>
          <a:ln/>
        </p:spPr>
        <p:txBody>
          <a:bodyPr wrap="square" lIns="0" tIns="0" rIns="0" bIns="0" rtlCol="0" anchor="ctr"/>
          <a:lstStyle/>
          <a:p>
            <a:pPr indent="0" marL="0">
              <a:buNone/>
            </a:pPr>
            <a:r>
              <a:rPr lang="en-US" sz="1050" dirty="0">
                <a:solidFill>
                  <a:srgbClr val="505050"/>
                </a:solidFill>
                <a:latin typeface="Source Sans Pro" pitchFamily="34" charset="0"/>
                <a:ea typeface="Source Sans Pro" pitchFamily="34" charset="-122"/>
                <a:cs typeface="Source Sans Pro" pitchFamily="34" charset="-120"/>
              </a:rPr>
              <a:t>models exposed through endpoints</a:t>
            </a:r>
            <a:endParaRPr lang="en-US" sz="1050" dirty="0"/>
          </a:p>
        </p:txBody>
      </p:sp>
      <p:sp>
        <p:nvSpPr>
          <p:cNvPr id="29" name="Shape 22"/>
          <p:cNvSpPr/>
          <p:nvPr/>
        </p:nvSpPr>
        <p:spPr>
          <a:xfrm>
            <a:off x="566928" y="5138928"/>
            <a:ext cx="3977640" cy="731520"/>
          </a:xfrm>
          <a:prstGeom prst="roundRect">
            <a:avLst>
              <a:gd name="adj" fmla="val 1125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0" name="Shape 23"/>
          <p:cNvSpPr/>
          <p:nvPr/>
        </p:nvSpPr>
        <p:spPr>
          <a:xfrm>
            <a:off x="749808" y="5294376"/>
            <a:ext cx="402336" cy="402336"/>
          </a:xfrm>
          <a:prstGeom prst="ellipse">
            <a:avLst/>
          </a:prstGeom>
          <a:solidFill>
            <a:srgbClr val="003366"/>
          </a:solidFill>
          <a:ln/>
        </p:spPr>
      </p:sp>
      <p:pic>
        <p:nvPicPr>
          <p:cNvPr id="31" name="Image 5" descr="preencoded.png">    </p:cNvPr>
          <p:cNvPicPr>
            <a:picLocks noChangeAspect="1"/>
          </p:cNvPicPr>
          <p:nvPr/>
        </p:nvPicPr>
        <p:blipFill>
          <a:blip r:embed="rId6"/>
          <a:stretch>
            <a:fillRect/>
          </a:stretch>
        </p:blipFill>
        <p:spPr>
          <a:xfrm>
            <a:off x="838322" y="5382890"/>
            <a:ext cx="225308" cy="225308"/>
          </a:xfrm>
          <a:prstGeom prst="rect">
            <a:avLst/>
          </a:prstGeom>
        </p:spPr>
      </p:pic>
      <p:sp>
        <p:nvSpPr>
          <p:cNvPr id="32" name="Text 24"/>
          <p:cNvSpPr/>
          <p:nvPr/>
        </p:nvSpPr>
        <p:spPr>
          <a:xfrm>
            <a:off x="1298448" y="5248656"/>
            <a:ext cx="3108960"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Dashboards / Apps</a:t>
            </a:r>
            <a:endParaRPr lang="en-US" sz="1350" dirty="0"/>
          </a:p>
        </p:txBody>
      </p:sp>
      <p:sp>
        <p:nvSpPr>
          <p:cNvPr id="33" name="Text 25"/>
          <p:cNvSpPr/>
          <p:nvPr/>
        </p:nvSpPr>
        <p:spPr>
          <a:xfrm>
            <a:off x="1298448" y="5522976"/>
            <a:ext cx="3108960" cy="256032"/>
          </a:xfrm>
          <a:prstGeom prst="rect">
            <a:avLst/>
          </a:prstGeom>
          <a:noFill/>
          <a:ln/>
        </p:spPr>
        <p:txBody>
          <a:bodyPr wrap="square" lIns="0" tIns="0" rIns="0" bIns="0" rtlCol="0" anchor="ctr"/>
          <a:lstStyle/>
          <a:p>
            <a:pPr indent="0" marL="0">
              <a:buNone/>
            </a:pPr>
            <a:r>
              <a:rPr lang="en-US" sz="1050" dirty="0">
                <a:solidFill>
                  <a:srgbClr val="505050"/>
                </a:solidFill>
                <a:latin typeface="Source Sans Pro" pitchFamily="34" charset="0"/>
                <a:ea typeface="Source Sans Pro" pitchFamily="34" charset="-122"/>
                <a:cs typeface="Source Sans Pro" pitchFamily="34" charset="-120"/>
              </a:rPr>
              <a:t>answers delivered to users</a:t>
            </a:r>
            <a:endParaRPr lang="en-US" sz="1050" dirty="0"/>
          </a:p>
        </p:txBody>
      </p:sp>
      <p:sp>
        <p:nvSpPr>
          <p:cNvPr id="34" name="Shape 26"/>
          <p:cNvSpPr/>
          <p:nvPr/>
        </p:nvSpPr>
        <p:spPr>
          <a:xfrm>
            <a:off x="4800600" y="3246120"/>
            <a:ext cx="685800" cy="411480"/>
          </a:xfrm>
          <a:prstGeom prst="rightArrow">
            <a:avLst/>
          </a:prstGeom>
          <a:solidFill>
            <a:srgbClr val="C0392B"/>
          </a:solidFill>
          <a:ln/>
        </p:spPr>
      </p:sp>
      <p:sp>
        <p:nvSpPr>
          <p:cNvPr id="35" name="Shape 27"/>
          <p:cNvSpPr/>
          <p:nvPr/>
        </p:nvSpPr>
        <p:spPr>
          <a:xfrm>
            <a:off x="5806440" y="2148840"/>
            <a:ext cx="3456432" cy="1036930"/>
          </a:xfrm>
          <a:prstGeom prst="roundRect">
            <a:avLst>
              <a:gd name="adj" fmla="val 7937"/>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36" name="Text 28"/>
          <p:cNvSpPr/>
          <p:nvPr/>
        </p:nvSpPr>
        <p:spPr>
          <a:xfrm>
            <a:off x="6035040" y="2276856"/>
            <a:ext cx="2999232" cy="335768"/>
          </a:xfrm>
          <a:prstGeom prst="rect">
            <a:avLst/>
          </a:prstGeom>
          <a:noFill/>
          <a:ln/>
        </p:spPr>
        <p:txBody>
          <a:bodyPr wrap="square" lIns="0" tIns="0" rIns="0" bIns="0" rtlCol="0" anchor="ctr"/>
          <a:lstStyle/>
          <a:p>
            <a:pPr indent="0" marL="0">
              <a:buNone/>
            </a:pPr>
            <a:r>
              <a:rPr lang="en-US" sz="1620" b="1" spc="200" kern="0" dirty="0">
                <a:solidFill>
                  <a:srgbClr val="FFFFFF"/>
                </a:solidFill>
                <a:latin typeface="Source Sans Pro" pitchFamily="34" charset="0"/>
                <a:ea typeface="Source Sans Pro" pitchFamily="34" charset="-122"/>
                <a:cs typeface="Source Sans Pro" pitchFamily="34" charset="-120"/>
              </a:rPr>
              <a:t>HARNESS</a:t>
            </a:r>
            <a:endParaRPr lang="en-US" sz="1620" dirty="0"/>
          </a:p>
        </p:txBody>
      </p:sp>
      <p:sp>
        <p:nvSpPr>
          <p:cNvPr id="37" name="Text 29"/>
          <p:cNvSpPr/>
          <p:nvPr/>
        </p:nvSpPr>
        <p:spPr>
          <a:xfrm>
            <a:off x="6035040" y="2642616"/>
            <a:ext cx="2999232" cy="395021"/>
          </a:xfrm>
          <a:prstGeom prst="rect">
            <a:avLst/>
          </a:prstGeom>
          <a:noFill/>
          <a:ln/>
        </p:spPr>
        <p:txBody>
          <a:bodyPr wrap="square" lIns="0" tIns="0" rIns="0" bIns="0" rtlCol="0" anchor="ctr"/>
          <a:lstStyle/>
          <a:p>
            <a:pPr indent="0" marL="0">
              <a:buNone/>
            </a:pPr>
            <a:r>
              <a:rPr lang="en-US" sz="1242" dirty="0">
                <a:solidFill>
                  <a:srgbClr val="D6E4EF"/>
                </a:solidFill>
                <a:latin typeface="Source Sans Pro" pitchFamily="34" charset="0"/>
                <a:ea typeface="Source Sans Pro" pitchFamily="34" charset="-122"/>
                <a:cs typeface="Source Sans Pro" pitchFamily="34" charset="-120"/>
              </a:rPr>
              <a:t>definitions  •  caveats  •  examples  •  answer rules</a:t>
            </a:r>
            <a:endParaRPr lang="en-US" sz="1242" dirty="0"/>
          </a:p>
        </p:txBody>
      </p:sp>
      <p:sp>
        <p:nvSpPr>
          <p:cNvPr id="38" name="Shape 30"/>
          <p:cNvSpPr/>
          <p:nvPr/>
        </p:nvSpPr>
        <p:spPr>
          <a:xfrm>
            <a:off x="6263640" y="3185770"/>
            <a:ext cx="0" cy="316017"/>
          </a:xfrm>
          <a:prstGeom prst="line">
            <a:avLst/>
          </a:prstGeom>
          <a:noFill/>
          <a:ln w="19050">
            <a:solidFill>
              <a:srgbClr val="C0392B"/>
            </a:solidFill>
            <a:prstDash val="dash"/>
          </a:ln>
        </p:spPr>
      </p:sp>
      <p:sp>
        <p:nvSpPr>
          <p:cNvPr id="39" name="Shape 31"/>
          <p:cNvSpPr/>
          <p:nvPr/>
        </p:nvSpPr>
        <p:spPr>
          <a:xfrm>
            <a:off x="6062472" y="3501786"/>
            <a:ext cx="2944368" cy="809793"/>
          </a:xfrm>
          <a:prstGeom prst="roundRect">
            <a:avLst>
              <a:gd name="adj" fmla="val 10163"/>
            </a:avLst>
          </a:prstGeom>
          <a:solidFill>
            <a:srgbClr val="F7EAE7"/>
          </a:solidFill>
          <a:ln w="12700">
            <a:solidFill>
              <a:srgbClr val="C0392B"/>
            </a:solidFill>
            <a:prstDash val="solid"/>
          </a:ln>
          <a:effectLst>
            <a:outerShdw sx="100000" sy="100000" kx="0" ky="0" algn="bl" rotWithShape="0" blurRad="88900" dist="25400" dir="5400000">
              <a:srgbClr val="003366">
                <a:alpha val="14000"/>
              </a:srgbClr>
            </a:outerShdw>
          </a:effectLst>
        </p:spPr>
      </p:sp>
      <p:sp>
        <p:nvSpPr>
          <p:cNvPr id="40" name="Text 32"/>
          <p:cNvSpPr/>
          <p:nvPr/>
        </p:nvSpPr>
        <p:spPr>
          <a:xfrm>
            <a:off x="6263640" y="3620292"/>
            <a:ext cx="2542032" cy="296266"/>
          </a:xfrm>
          <a:prstGeom prst="rect">
            <a:avLst/>
          </a:prstGeom>
          <a:noFill/>
          <a:ln/>
        </p:spPr>
        <p:txBody>
          <a:bodyPr wrap="square" lIns="0" tIns="0" rIns="0" bIns="0" rtlCol="0" anchor="ctr"/>
          <a:lstStyle/>
          <a:p>
            <a:pPr indent="0" marL="0">
              <a:buNone/>
            </a:pPr>
            <a:r>
              <a:rPr lang="en-US" sz="1404" b="1" dirty="0">
                <a:solidFill>
                  <a:srgbClr val="003366"/>
                </a:solidFill>
                <a:latin typeface="Source Code Pro" pitchFamily="34" charset="0"/>
                <a:ea typeface="Source Code Pro" pitchFamily="34" charset="-122"/>
                <a:cs typeface="Source Code Pro" pitchFamily="34" charset="-120"/>
              </a:rPr>
              <a:t>skill.md</a:t>
            </a:r>
            <a:endParaRPr lang="en-US" sz="1404" dirty="0"/>
          </a:p>
        </p:txBody>
      </p:sp>
      <p:sp>
        <p:nvSpPr>
          <p:cNvPr id="41" name="Text 33"/>
          <p:cNvSpPr/>
          <p:nvPr/>
        </p:nvSpPr>
        <p:spPr>
          <a:xfrm>
            <a:off x="6263640" y="3916558"/>
            <a:ext cx="2542032" cy="296266"/>
          </a:xfrm>
          <a:prstGeom prst="rect">
            <a:avLst/>
          </a:prstGeom>
          <a:noFill/>
          <a:ln/>
        </p:spPr>
        <p:txBody>
          <a:bodyPr wrap="square" lIns="0" tIns="0" rIns="0" bIns="0" rtlCol="0" anchor="ctr"/>
          <a:lstStyle/>
          <a:p>
            <a:pPr indent="0" marL="0">
              <a:buNone/>
            </a:pPr>
            <a:r>
              <a:rPr lang="en-US" sz="1188" dirty="0">
                <a:solidFill>
                  <a:srgbClr val="505050"/>
                </a:solidFill>
                <a:latin typeface="Source Sans Pro" pitchFamily="34" charset="0"/>
                <a:ea typeface="Source Sans Pro" pitchFamily="34" charset="-122"/>
                <a:cs typeface="Source Sans Pro" pitchFamily="34" charset="-120"/>
              </a:rPr>
              <a:t>repeatable task recipe</a:t>
            </a:r>
            <a:endParaRPr lang="en-US" sz="1188" dirty="0"/>
          </a:p>
        </p:txBody>
      </p:sp>
      <p:sp>
        <p:nvSpPr>
          <p:cNvPr id="42" name="Text 34"/>
          <p:cNvSpPr/>
          <p:nvPr/>
        </p:nvSpPr>
        <p:spPr>
          <a:xfrm>
            <a:off x="9464040" y="2286000"/>
            <a:ext cx="2240280" cy="1737360"/>
          </a:xfrm>
          <a:prstGeom prst="rect">
            <a:avLst/>
          </a:prstGeom>
          <a:noFill/>
          <a:ln/>
        </p:spPr>
        <p:txBody>
          <a:bodyPr wrap="square" lIns="0" tIns="0" rIns="0" bIns="0" rtlCol="0" anchor="ctr"/>
          <a:lstStyle/>
          <a:p>
            <a:pPr indent="0" marL="0">
              <a:lnSpc>
                <a:spcPts val="1500"/>
              </a:lnSpc>
              <a:buNone/>
            </a:pPr>
            <a:r>
              <a:rPr lang="en-US" sz="1150" dirty="0">
                <a:solidFill>
                  <a:srgbClr val="505050"/>
                </a:solidFill>
                <a:latin typeface="Source Sans Pro" pitchFamily="34" charset="0"/>
                <a:ea typeface="Source Sans Pro" pitchFamily="34" charset="-122"/>
                <a:cs typeface="Source Sans Pro" pitchFamily="34" charset="-120"/>
              </a:rPr>
              <a:t>Reusable context: definitions, caveats, data-product purpose, examples, answer rules — plus task recipes with steps and quality checks.</a:t>
            </a:r>
            <a:endParaRPr lang="en-US" sz="1150" dirty="0"/>
          </a:p>
        </p:txBody>
      </p:sp>
      <p:sp>
        <p:nvSpPr>
          <p:cNvPr id="43" name="Shape 35"/>
          <p:cNvSpPr/>
          <p:nvPr/>
        </p:nvSpPr>
        <p:spPr>
          <a:xfrm>
            <a:off x="5806440" y="4709160"/>
            <a:ext cx="5815584" cy="960120"/>
          </a:xfrm>
          <a:prstGeom prst="roundRect">
            <a:avLst>
              <a:gd name="adj" fmla="val 8571"/>
            </a:avLst>
          </a:prstGeom>
          <a:solidFill>
            <a:srgbClr val="EAF1F6"/>
          </a:solidFill>
          <a:ln w="12700">
            <a:solidFill>
              <a:srgbClr val="D6E4EF"/>
            </a:solidFill>
            <a:prstDash val="solid"/>
          </a:ln>
        </p:spPr>
      </p:sp>
      <p:sp>
        <p:nvSpPr>
          <p:cNvPr id="44" name="Text 36"/>
          <p:cNvSpPr/>
          <p:nvPr/>
        </p:nvSpPr>
        <p:spPr>
          <a:xfrm>
            <a:off x="6035040" y="4864608"/>
            <a:ext cx="5394960" cy="685800"/>
          </a:xfrm>
          <a:prstGeom prst="rect">
            <a:avLst/>
          </a:prstGeom>
          <a:noFill/>
          <a:ln/>
        </p:spPr>
        <p:txBody>
          <a:bodyPr wrap="square" lIns="0" tIns="0" rIns="0" bIns="0" rtlCol="0" anchor="ctr"/>
          <a:lstStyle/>
          <a:p>
            <a:pPr indent="0" marL="0">
              <a:lnSpc>
                <a:spcPts val="1600"/>
              </a:lnSpc>
              <a:buNone/>
            </a:pPr>
            <a:r>
              <a:rPr lang="en-US" sz="1250" b="1" dirty="0">
                <a:solidFill>
                  <a:srgbClr val="003366"/>
                </a:solidFill>
                <a:latin typeface="Source Sans Pro" pitchFamily="34" charset="0"/>
                <a:ea typeface="Source Sans Pro" pitchFamily="34" charset="-122"/>
                <a:cs typeface="Source Sans Pro" pitchFamily="34" charset="-120"/>
              </a:rPr>
              <a:t>The harness and skills do not replace Databricks. They prepare Databricks AI features to behave more consistently once enabled and approved.</a:t>
            </a:r>
            <a:endParaRPr lang="en-US" sz="1250" dirty="0"/>
          </a:p>
        </p:txBody>
      </p:sp>
      <p:sp>
        <p:nvSpPr>
          <p:cNvPr id="45" name="Text 37"/>
          <p:cNvSpPr/>
          <p:nvPr/>
        </p:nvSpPr>
        <p:spPr>
          <a:xfrm>
            <a:off x="566928" y="5961888"/>
            <a:ext cx="10972800" cy="256032"/>
          </a:xfrm>
          <a:prstGeom prst="rect">
            <a:avLst/>
          </a:prstGeom>
          <a:noFill/>
          <a:ln/>
        </p:spPr>
        <p:txBody>
          <a:bodyPr wrap="square" lIns="0" tIns="0" rIns="0" bIns="0" rtlCol="0" anchor="ctr"/>
          <a:lstStyle/>
          <a:p>
            <a:pPr indent="0" marL="0">
              <a:buNone/>
            </a:pPr>
            <a:r>
              <a:rPr lang="en-US" sz="950" i="1" dirty="0">
                <a:solidFill>
                  <a:srgbClr val="999999"/>
                </a:solidFill>
                <a:latin typeface="Source Sans Pro" pitchFamily="34" charset="0"/>
                <a:ea typeface="Source Sans Pro" pitchFamily="34" charset="-122"/>
                <a:cs typeface="Source Sans Pro" pitchFamily="34" charset="-120"/>
              </a:rPr>
              <a:t>Databricks docs: Genie is governed through Unity Catalog; Genie Agents are configured with Unity Catalog data, example SQL, instructions, and trusted assets.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GOVERNANCE FOUNDATION</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Unity Catalog: the governed library</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It controls access and metadata; the harness adds USCIS meaning.</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05 / 21</a:t>
            </a:r>
            <a:endParaRPr lang="en-US" sz="1000" dirty="0"/>
          </a:p>
        </p:txBody>
      </p:sp>
      <p:sp>
        <p:nvSpPr>
          <p:cNvPr id="9" name="Shape 6"/>
          <p:cNvSpPr/>
          <p:nvPr/>
        </p:nvSpPr>
        <p:spPr>
          <a:xfrm>
            <a:off x="566928" y="1737360"/>
            <a:ext cx="11055096" cy="512064"/>
          </a:xfrm>
          <a:prstGeom prst="roundRect">
            <a:avLst>
              <a:gd name="adj" fmla="val 16071"/>
            </a:avLst>
          </a:prstGeom>
          <a:solidFill>
            <a:srgbClr val="F7EAE7"/>
          </a:solidFill>
          <a:ln w="12700">
            <a:solidFill>
              <a:srgbClr val="C0392B"/>
            </a:solidFill>
            <a:prstDash val="solid"/>
          </a:ln>
        </p:spPr>
      </p:sp>
      <p:sp>
        <p:nvSpPr>
          <p:cNvPr id="10" name="Text 7"/>
          <p:cNvSpPr/>
          <p:nvPr/>
        </p:nvSpPr>
        <p:spPr>
          <a:xfrm>
            <a:off x="868680" y="1828800"/>
            <a:ext cx="10058400" cy="329184"/>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Memory hook:  </a:t>
            </a:r>
            <a:pPr indent="0" marL="0">
              <a:buNone/>
            </a:pPr>
            <a:r>
              <a:rPr lang="en-US" sz="1350" dirty="0">
                <a:solidFill>
                  <a:srgbClr val="2A2F36"/>
                </a:solidFill>
                <a:latin typeface="Source Sans Pro" pitchFamily="34" charset="0"/>
                <a:ea typeface="Source Sans Pro" pitchFamily="34" charset="-122"/>
                <a:cs typeface="Source Sans Pro" pitchFamily="34" charset="-120"/>
              </a:rPr>
              <a:t>library catalog  +  security desk  +  map</a:t>
            </a:r>
            <a:endParaRPr lang="en-US" sz="1350" dirty="0"/>
          </a:p>
        </p:txBody>
      </p:sp>
      <p:sp>
        <p:nvSpPr>
          <p:cNvPr id="11" name="Shape 8"/>
          <p:cNvSpPr/>
          <p:nvPr/>
        </p:nvSpPr>
        <p:spPr>
          <a:xfrm>
            <a:off x="566928" y="2450592"/>
            <a:ext cx="3529584" cy="1627632"/>
          </a:xfrm>
          <a:prstGeom prst="roundRect">
            <a:avLst>
              <a:gd name="adj" fmla="val 50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2" name="Shape 9"/>
          <p:cNvSpPr/>
          <p:nvPr/>
        </p:nvSpPr>
        <p:spPr>
          <a:xfrm>
            <a:off x="768096" y="2633472"/>
            <a:ext cx="420624" cy="420624"/>
          </a:xfrm>
          <a:prstGeom prst="ellipse">
            <a:avLst/>
          </a:prstGeom>
          <a:solidFill>
            <a:srgbClr val="003366"/>
          </a:solidFill>
          <a:ln/>
        </p:spPr>
      </p:sp>
      <p:pic>
        <p:nvPicPr>
          <p:cNvPr id="13" name="Image 1" descr="preencoded.png">    </p:cNvPr>
          <p:cNvPicPr>
            <a:picLocks noChangeAspect="1"/>
          </p:cNvPicPr>
          <p:nvPr/>
        </p:nvPicPr>
        <p:blipFill>
          <a:blip r:embed="rId2"/>
          <a:stretch>
            <a:fillRect/>
          </a:stretch>
        </p:blipFill>
        <p:spPr>
          <a:xfrm>
            <a:off x="860633" y="2726009"/>
            <a:ext cx="235549" cy="235549"/>
          </a:xfrm>
          <a:prstGeom prst="rect">
            <a:avLst/>
          </a:prstGeom>
        </p:spPr>
      </p:pic>
      <p:sp>
        <p:nvSpPr>
          <p:cNvPr id="14" name="Text 10"/>
          <p:cNvSpPr/>
          <p:nvPr/>
        </p:nvSpPr>
        <p:spPr>
          <a:xfrm>
            <a:off x="1298448" y="2633472"/>
            <a:ext cx="2615184" cy="457200"/>
          </a:xfrm>
          <a:prstGeom prst="rect">
            <a:avLst/>
          </a:prstGeom>
          <a:noFill/>
          <a:ln/>
        </p:spPr>
        <p:txBody>
          <a:bodyPr wrap="square" lIns="0" tIns="0" rIns="0" bIns="0" rtlCol="0" anchor="t"/>
          <a:lstStyle/>
          <a:p>
            <a:pPr indent="0" marL="0">
              <a:buNone/>
            </a:pPr>
            <a:r>
              <a:rPr lang="en-US" sz="1400" b="1" dirty="0">
                <a:solidFill>
                  <a:srgbClr val="003366"/>
                </a:solidFill>
                <a:latin typeface="Source Sans Pro" pitchFamily="34" charset="0"/>
                <a:ea typeface="Source Sans Pro" pitchFamily="34" charset="-122"/>
                <a:cs typeface="Source Sans Pro" pitchFamily="34" charset="-120"/>
              </a:rPr>
              <a:t>Catalogs the assets</a:t>
            </a:r>
            <a:endParaRPr lang="en-US" sz="1400" dirty="0"/>
          </a:p>
        </p:txBody>
      </p:sp>
      <p:sp>
        <p:nvSpPr>
          <p:cNvPr id="15" name="Text 11"/>
          <p:cNvSpPr/>
          <p:nvPr/>
        </p:nvSpPr>
        <p:spPr>
          <a:xfrm>
            <a:off x="768096" y="3127248"/>
            <a:ext cx="3127248" cy="868680"/>
          </a:xfrm>
          <a:prstGeom prst="rect">
            <a:avLst/>
          </a:prstGeom>
          <a:noFill/>
          <a:ln/>
        </p:spPr>
        <p:txBody>
          <a:bodyPr wrap="square" lIns="0" tIns="0" rIns="0" bIns="0" rtlCol="0" anchor="ctr"/>
          <a:lstStyle/>
          <a:p>
            <a:pPr indent="0" marL="0">
              <a:lnSpc>
                <a:spcPts val="1400"/>
              </a:lnSpc>
              <a:buNone/>
            </a:pPr>
            <a:r>
              <a:rPr lang="en-US" sz="1100" dirty="0">
                <a:solidFill>
                  <a:srgbClr val="505050"/>
                </a:solidFill>
                <a:latin typeface="Source Sans Pro" pitchFamily="34" charset="0"/>
                <a:ea typeface="Source Sans Pro" pitchFamily="34" charset="-122"/>
                <a:cs typeface="Source Sans Pro" pitchFamily="34" charset="-120"/>
              </a:rPr>
              <a:t>Organizes assets in a governed namespace (catalog.schema.object): tables, views, volumes, functions, models, services.</a:t>
            </a:r>
            <a:endParaRPr lang="en-US" sz="1100" dirty="0"/>
          </a:p>
        </p:txBody>
      </p:sp>
      <p:sp>
        <p:nvSpPr>
          <p:cNvPr id="16" name="Shape 12"/>
          <p:cNvSpPr/>
          <p:nvPr/>
        </p:nvSpPr>
        <p:spPr>
          <a:xfrm>
            <a:off x="4325112" y="2450592"/>
            <a:ext cx="3529584" cy="1627632"/>
          </a:xfrm>
          <a:prstGeom prst="roundRect">
            <a:avLst>
              <a:gd name="adj" fmla="val 50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7" name="Shape 13"/>
          <p:cNvSpPr/>
          <p:nvPr/>
        </p:nvSpPr>
        <p:spPr>
          <a:xfrm>
            <a:off x="4526280" y="2633472"/>
            <a:ext cx="420624" cy="420624"/>
          </a:xfrm>
          <a:prstGeom prst="ellipse">
            <a:avLst/>
          </a:prstGeom>
          <a:solidFill>
            <a:srgbClr val="003366"/>
          </a:solidFill>
          <a:ln/>
        </p:spPr>
      </p:sp>
      <p:pic>
        <p:nvPicPr>
          <p:cNvPr id="18" name="Image 2" descr="preencoded.png">    </p:cNvPr>
          <p:cNvPicPr>
            <a:picLocks noChangeAspect="1"/>
          </p:cNvPicPr>
          <p:nvPr/>
        </p:nvPicPr>
        <p:blipFill>
          <a:blip r:embed="rId3"/>
          <a:stretch>
            <a:fillRect/>
          </a:stretch>
        </p:blipFill>
        <p:spPr>
          <a:xfrm>
            <a:off x="4618817" y="2726009"/>
            <a:ext cx="235549" cy="235549"/>
          </a:xfrm>
          <a:prstGeom prst="rect">
            <a:avLst/>
          </a:prstGeom>
        </p:spPr>
      </p:pic>
      <p:sp>
        <p:nvSpPr>
          <p:cNvPr id="19" name="Text 14"/>
          <p:cNvSpPr/>
          <p:nvPr/>
        </p:nvSpPr>
        <p:spPr>
          <a:xfrm>
            <a:off x="5056632" y="2633472"/>
            <a:ext cx="2615184" cy="457200"/>
          </a:xfrm>
          <a:prstGeom prst="rect">
            <a:avLst/>
          </a:prstGeom>
          <a:noFill/>
          <a:ln/>
        </p:spPr>
        <p:txBody>
          <a:bodyPr wrap="square" lIns="0" tIns="0" rIns="0" bIns="0" rtlCol="0" anchor="t"/>
          <a:lstStyle/>
          <a:p>
            <a:pPr indent="0" marL="0">
              <a:buNone/>
            </a:pPr>
            <a:r>
              <a:rPr lang="en-US" sz="1400" b="1" dirty="0">
                <a:solidFill>
                  <a:srgbClr val="003366"/>
                </a:solidFill>
                <a:latin typeface="Source Sans Pro" pitchFamily="34" charset="0"/>
                <a:ea typeface="Source Sans Pro" pitchFamily="34" charset="-122"/>
                <a:cs typeface="Source Sans Pro" pitchFamily="34" charset="-120"/>
              </a:rPr>
              <a:t>Controls who uses them</a:t>
            </a:r>
            <a:endParaRPr lang="en-US" sz="1400" dirty="0"/>
          </a:p>
        </p:txBody>
      </p:sp>
      <p:sp>
        <p:nvSpPr>
          <p:cNvPr id="20" name="Text 15"/>
          <p:cNvSpPr/>
          <p:nvPr/>
        </p:nvSpPr>
        <p:spPr>
          <a:xfrm>
            <a:off x="4526280" y="3127248"/>
            <a:ext cx="3127248" cy="868680"/>
          </a:xfrm>
          <a:prstGeom prst="rect">
            <a:avLst/>
          </a:prstGeom>
          <a:noFill/>
          <a:ln/>
        </p:spPr>
        <p:txBody>
          <a:bodyPr wrap="square" lIns="0" tIns="0" rIns="0" bIns="0" rtlCol="0" anchor="ctr"/>
          <a:lstStyle/>
          <a:p>
            <a:pPr indent="0" marL="0">
              <a:lnSpc>
                <a:spcPts val="1400"/>
              </a:lnSpc>
              <a:buNone/>
            </a:pPr>
            <a:r>
              <a:rPr lang="en-US" sz="1100" dirty="0">
                <a:solidFill>
                  <a:srgbClr val="505050"/>
                </a:solidFill>
                <a:latin typeface="Source Sans Pro" pitchFamily="34" charset="0"/>
                <a:ea typeface="Source Sans Pro" pitchFamily="34" charset="-122"/>
                <a:cs typeface="Source Sans Pro" pitchFamily="34" charset="-120"/>
              </a:rPr>
              <a:t>Permissions for users, groups, and service principals. Row filters and column masks restrict what a user sees at query time.</a:t>
            </a:r>
            <a:endParaRPr lang="en-US" sz="1100" dirty="0"/>
          </a:p>
        </p:txBody>
      </p:sp>
      <p:sp>
        <p:nvSpPr>
          <p:cNvPr id="21" name="Shape 16"/>
          <p:cNvSpPr/>
          <p:nvPr/>
        </p:nvSpPr>
        <p:spPr>
          <a:xfrm>
            <a:off x="8083296" y="2450592"/>
            <a:ext cx="3529584" cy="1627632"/>
          </a:xfrm>
          <a:prstGeom prst="roundRect">
            <a:avLst>
              <a:gd name="adj" fmla="val 50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2" name="Shape 17"/>
          <p:cNvSpPr/>
          <p:nvPr/>
        </p:nvSpPr>
        <p:spPr>
          <a:xfrm>
            <a:off x="8284464" y="2633472"/>
            <a:ext cx="420624" cy="420624"/>
          </a:xfrm>
          <a:prstGeom prst="ellipse">
            <a:avLst/>
          </a:prstGeom>
          <a:solidFill>
            <a:srgbClr val="003366"/>
          </a:solidFill>
          <a:ln/>
        </p:spPr>
      </p:sp>
      <p:pic>
        <p:nvPicPr>
          <p:cNvPr id="23" name="Image 3" descr="preencoded.png">    </p:cNvPr>
          <p:cNvPicPr>
            <a:picLocks noChangeAspect="1"/>
          </p:cNvPicPr>
          <p:nvPr/>
        </p:nvPicPr>
        <p:blipFill>
          <a:blip r:embed="rId4"/>
          <a:stretch>
            <a:fillRect/>
          </a:stretch>
        </p:blipFill>
        <p:spPr>
          <a:xfrm>
            <a:off x="8377001" y="2726009"/>
            <a:ext cx="235549" cy="235549"/>
          </a:xfrm>
          <a:prstGeom prst="rect">
            <a:avLst/>
          </a:prstGeom>
        </p:spPr>
      </p:pic>
      <p:sp>
        <p:nvSpPr>
          <p:cNvPr id="24" name="Text 18"/>
          <p:cNvSpPr/>
          <p:nvPr/>
        </p:nvSpPr>
        <p:spPr>
          <a:xfrm>
            <a:off x="8814816" y="2633472"/>
            <a:ext cx="2615184" cy="457200"/>
          </a:xfrm>
          <a:prstGeom prst="rect">
            <a:avLst/>
          </a:prstGeom>
          <a:noFill/>
          <a:ln/>
        </p:spPr>
        <p:txBody>
          <a:bodyPr wrap="square" lIns="0" tIns="0" rIns="0" bIns="0" rtlCol="0" anchor="t"/>
          <a:lstStyle/>
          <a:p>
            <a:pPr indent="0" marL="0">
              <a:buNone/>
            </a:pPr>
            <a:r>
              <a:rPr lang="en-US" sz="1400" b="1" dirty="0">
                <a:solidFill>
                  <a:srgbClr val="003366"/>
                </a:solidFill>
                <a:latin typeface="Source Sans Pro" pitchFamily="34" charset="0"/>
                <a:ea typeface="Source Sans Pro" pitchFamily="34" charset="-122"/>
                <a:cs typeface="Source Sans Pro" pitchFamily="34" charset="-120"/>
              </a:rPr>
              <a:t>Tracks trust signals</a:t>
            </a:r>
            <a:endParaRPr lang="en-US" sz="1400" dirty="0"/>
          </a:p>
        </p:txBody>
      </p:sp>
      <p:sp>
        <p:nvSpPr>
          <p:cNvPr id="25" name="Text 19"/>
          <p:cNvSpPr/>
          <p:nvPr/>
        </p:nvSpPr>
        <p:spPr>
          <a:xfrm>
            <a:off x="8284464" y="3127248"/>
            <a:ext cx="3127248" cy="868680"/>
          </a:xfrm>
          <a:prstGeom prst="rect">
            <a:avLst/>
          </a:prstGeom>
          <a:noFill/>
          <a:ln/>
        </p:spPr>
        <p:txBody>
          <a:bodyPr wrap="square" lIns="0" tIns="0" rIns="0" bIns="0" rtlCol="0" anchor="ctr"/>
          <a:lstStyle/>
          <a:p>
            <a:pPr indent="0" marL="0">
              <a:lnSpc>
                <a:spcPts val="1400"/>
              </a:lnSpc>
              <a:buNone/>
            </a:pPr>
            <a:r>
              <a:rPr lang="en-US" sz="1100" dirty="0">
                <a:solidFill>
                  <a:srgbClr val="505050"/>
                </a:solidFill>
                <a:latin typeface="Source Sans Pro" pitchFamily="34" charset="0"/>
                <a:ea typeface="Source Sans Pro" pitchFamily="34" charset="-122"/>
                <a:cs typeface="Source Sans Pro" pitchFamily="34" charset="-120"/>
              </a:rPr>
              <a:t>Discovery, lineage, auditing, tags, and impact analysis across data and AI assets.</a:t>
            </a:r>
            <a:endParaRPr lang="en-US" sz="1100" dirty="0"/>
          </a:p>
        </p:txBody>
      </p:sp>
      <p:sp>
        <p:nvSpPr>
          <p:cNvPr id="26" name="Shape 20"/>
          <p:cNvSpPr/>
          <p:nvPr/>
        </p:nvSpPr>
        <p:spPr>
          <a:xfrm>
            <a:off x="566928" y="4315968"/>
            <a:ext cx="1993392" cy="777240"/>
          </a:xfrm>
          <a:prstGeom prst="roundRect">
            <a:avLst>
              <a:gd name="adj" fmla="val 10588"/>
            </a:avLst>
          </a:prstGeom>
          <a:solidFill>
            <a:srgbClr val="003366"/>
          </a:solidFill>
          <a:ln w="12700">
            <a:solidFill>
              <a:srgbClr val="003366"/>
            </a:solidFill>
            <a:prstDash val="solid"/>
          </a:ln>
        </p:spPr>
      </p:sp>
      <p:sp>
        <p:nvSpPr>
          <p:cNvPr id="27" name="Text 21"/>
          <p:cNvSpPr/>
          <p:nvPr/>
        </p:nvSpPr>
        <p:spPr>
          <a:xfrm>
            <a:off x="694944" y="4434840"/>
            <a:ext cx="173736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Source Sans Pro" pitchFamily="34" charset="0"/>
                <a:ea typeface="Source Sans Pro" pitchFamily="34" charset="-122"/>
                <a:cs typeface="Source Sans Pro" pitchFamily="34" charset="-120"/>
              </a:rPr>
              <a:t>Unity Catalog</a:t>
            </a:r>
            <a:endParaRPr lang="en-US" sz="1250" dirty="0"/>
          </a:p>
        </p:txBody>
      </p:sp>
      <p:sp>
        <p:nvSpPr>
          <p:cNvPr id="28" name="Text 22"/>
          <p:cNvSpPr/>
          <p:nvPr/>
        </p:nvSpPr>
        <p:spPr>
          <a:xfrm>
            <a:off x="658368" y="4727448"/>
            <a:ext cx="1810512" cy="256032"/>
          </a:xfrm>
          <a:prstGeom prst="rect">
            <a:avLst/>
          </a:prstGeom>
          <a:noFill/>
          <a:ln/>
        </p:spPr>
        <p:txBody>
          <a:bodyPr wrap="square" lIns="0" tIns="0" rIns="0" bIns="0" rtlCol="0" anchor="ctr"/>
          <a:lstStyle/>
          <a:p>
            <a:pPr algn="ctr" indent="0" marL="0">
              <a:buNone/>
            </a:pPr>
            <a:r>
              <a:rPr lang="en-US" sz="1000" dirty="0">
                <a:solidFill>
                  <a:srgbClr val="D6E4EF"/>
                </a:solidFill>
                <a:latin typeface="Source Sans Pro" pitchFamily="34" charset="0"/>
                <a:ea typeface="Source Sans Pro" pitchFamily="34" charset="-122"/>
                <a:cs typeface="Source Sans Pro" pitchFamily="34" charset="-120"/>
              </a:rPr>
              <a:t>governed access</a:t>
            </a:r>
            <a:endParaRPr lang="en-US" sz="1000" dirty="0"/>
          </a:p>
        </p:txBody>
      </p:sp>
      <p:sp>
        <p:nvSpPr>
          <p:cNvPr id="29" name="Shape 23"/>
          <p:cNvSpPr/>
          <p:nvPr/>
        </p:nvSpPr>
        <p:spPr>
          <a:xfrm>
            <a:off x="2606040" y="4599432"/>
            <a:ext cx="173736" cy="237744"/>
          </a:xfrm>
          <a:prstGeom prst="rightArrow">
            <a:avLst/>
          </a:prstGeom>
          <a:solidFill>
            <a:srgbClr val="C0392B"/>
          </a:solidFill>
          <a:ln/>
        </p:spPr>
      </p:sp>
      <p:sp>
        <p:nvSpPr>
          <p:cNvPr id="30" name="Shape 24"/>
          <p:cNvSpPr/>
          <p:nvPr/>
        </p:nvSpPr>
        <p:spPr>
          <a:xfrm>
            <a:off x="2834640" y="4315968"/>
            <a:ext cx="1993392" cy="777240"/>
          </a:xfrm>
          <a:prstGeom prst="roundRect">
            <a:avLst>
              <a:gd name="adj" fmla="val 10588"/>
            </a:avLst>
          </a:prstGeom>
          <a:solidFill>
            <a:srgbClr val="FFFFFF"/>
          </a:solidFill>
          <a:ln w="12700">
            <a:solidFill>
              <a:srgbClr val="D9DEE4"/>
            </a:solidFill>
            <a:prstDash val="solid"/>
          </a:ln>
        </p:spPr>
      </p:sp>
      <p:sp>
        <p:nvSpPr>
          <p:cNvPr id="31" name="Text 25"/>
          <p:cNvSpPr/>
          <p:nvPr/>
        </p:nvSpPr>
        <p:spPr>
          <a:xfrm>
            <a:off x="2962656" y="4434840"/>
            <a:ext cx="1737360" cy="274320"/>
          </a:xfrm>
          <a:prstGeom prst="rect">
            <a:avLst/>
          </a:prstGeom>
          <a:noFill/>
          <a:ln/>
        </p:spPr>
        <p:txBody>
          <a:bodyPr wrap="square" lIns="0" tIns="0" rIns="0" bIns="0" rtlCol="0" anchor="ctr"/>
          <a:lstStyle/>
          <a:p>
            <a:pPr algn="ctr" indent="0" marL="0">
              <a:buNone/>
            </a:pPr>
            <a:r>
              <a:rPr lang="en-US" sz="1250" b="1" dirty="0">
                <a:solidFill>
                  <a:srgbClr val="003366"/>
                </a:solidFill>
                <a:latin typeface="Source Sans Pro" pitchFamily="34" charset="0"/>
                <a:ea typeface="Source Sans Pro" pitchFamily="34" charset="-122"/>
                <a:cs typeface="Source Sans Pro" pitchFamily="34" charset="-120"/>
              </a:rPr>
              <a:t>Data Products</a:t>
            </a:r>
            <a:endParaRPr lang="en-US" sz="1250" dirty="0"/>
          </a:p>
        </p:txBody>
      </p:sp>
      <p:sp>
        <p:nvSpPr>
          <p:cNvPr id="32" name="Text 26"/>
          <p:cNvSpPr/>
          <p:nvPr/>
        </p:nvSpPr>
        <p:spPr>
          <a:xfrm>
            <a:off x="2926080" y="4727448"/>
            <a:ext cx="1810512" cy="256032"/>
          </a:xfrm>
          <a:prstGeom prst="rect">
            <a:avLst/>
          </a:prstGeom>
          <a:noFill/>
          <a:ln/>
        </p:spPr>
        <p:txBody>
          <a:bodyPr wrap="square" lIns="0" tIns="0" rIns="0" bIns="0" rtlCol="0" anchor="ctr"/>
          <a:lstStyle/>
          <a:p>
            <a:pPr algn="ctr" indent="0" marL="0">
              <a:buNone/>
            </a:pPr>
            <a:r>
              <a:rPr lang="en-US" sz="1000" dirty="0">
                <a:solidFill>
                  <a:srgbClr val="505050"/>
                </a:solidFill>
                <a:latin typeface="Source Sans Pro" pitchFamily="34" charset="0"/>
                <a:ea typeface="Source Sans Pro" pitchFamily="34" charset="-122"/>
                <a:cs typeface="Source Sans Pro" pitchFamily="34" charset="-120"/>
              </a:rPr>
              <a:t>approved tables</a:t>
            </a:r>
            <a:endParaRPr lang="en-US" sz="1000" dirty="0"/>
          </a:p>
        </p:txBody>
      </p:sp>
      <p:sp>
        <p:nvSpPr>
          <p:cNvPr id="33" name="Shape 27"/>
          <p:cNvSpPr/>
          <p:nvPr/>
        </p:nvSpPr>
        <p:spPr>
          <a:xfrm>
            <a:off x="4873752" y="4599432"/>
            <a:ext cx="173736" cy="237744"/>
          </a:xfrm>
          <a:prstGeom prst="rightArrow">
            <a:avLst/>
          </a:prstGeom>
          <a:solidFill>
            <a:srgbClr val="C0392B"/>
          </a:solidFill>
          <a:ln/>
        </p:spPr>
      </p:sp>
      <p:sp>
        <p:nvSpPr>
          <p:cNvPr id="34" name="Shape 28"/>
          <p:cNvSpPr/>
          <p:nvPr/>
        </p:nvSpPr>
        <p:spPr>
          <a:xfrm>
            <a:off x="5102352" y="4315968"/>
            <a:ext cx="1993392" cy="777240"/>
          </a:xfrm>
          <a:prstGeom prst="roundRect">
            <a:avLst>
              <a:gd name="adj" fmla="val 10588"/>
            </a:avLst>
          </a:prstGeom>
          <a:solidFill>
            <a:srgbClr val="F7EAE7"/>
          </a:solidFill>
          <a:ln w="12700">
            <a:solidFill>
              <a:srgbClr val="C0392B"/>
            </a:solidFill>
            <a:prstDash val="solid"/>
          </a:ln>
        </p:spPr>
      </p:sp>
      <p:sp>
        <p:nvSpPr>
          <p:cNvPr id="35" name="Text 29"/>
          <p:cNvSpPr/>
          <p:nvPr/>
        </p:nvSpPr>
        <p:spPr>
          <a:xfrm>
            <a:off x="5230368" y="4434840"/>
            <a:ext cx="1737360" cy="274320"/>
          </a:xfrm>
          <a:prstGeom prst="rect">
            <a:avLst/>
          </a:prstGeom>
          <a:noFill/>
          <a:ln/>
        </p:spPr>
        <p:txBody>
          <a:bodyPr wrap="square" lIns="0" tIns="0" rIns="0" bIns="0" rtlCol="0" anchor="ctr"/>
          <a:lstStyle/>
          <a:p>
            <a:pPr algn="ctr" indent="0" marL="0">
              <a:buNone/>
            </a:pPr>
            <a:r>
              <a:rPr lang="en-US" sz="1250" b="1" dirty="0">
                <a:solidFill>
                  <a:srgbClr val="003366"/>
                </a:solidFill>
                <a:latin typeface="Source Sans Pro" pitchFamily="34" charset="0"/>
                <a:ea typeface="Source Sans Pro" pitchFamily="34" charset="-122"/>
                <a:cs typeface="Source Sans Pro" pitchFamily="34" charset="-120"/>
              </a:rPr>
              <a:t>Harness</a:t>
            </a:r>
            <a:endParaRPr lang="en-US" sz="1250" dirty="0"/>
          </a:p>
        </p:txBody>
      </p:sp>
      <p:sp>
        <p:nvSpPr>
          <p:cNvPr id="36" name="Text 30"/>
          <p:cNvSpPr/>
          <p:nvPr/>
        </p:nvSpPr>
        <p:spPr>
          <a:xfrm>
            <a:off x="5193792" y="4727448"/>
            <a:ext cx="1810512" cy="256032"/>
          </a:xfrm>
          <a:prstGeom prst="rect">
            <a:avLst/>
          </a:prstGeom>
          <a:noFill/>
          <a:ln/>
        </p:spPr>
        <p:txBody>
          <a:bodyPr wrap="square" lIns="0" tIns="0" rIns="0" bIns="0" rtlCol="0" anchor="ctr"/>
          <a:lstStyle/>
          <a:p>
            <a:pPr algn="ctr" indent="0" marL="0">
              <a:buNone/>
            </a:pPr>
            <a:r>
              <a:rPr lang="en-US" sz="1000" dirty="0">
                <a:solidFill>
                  <a:srgbClr val="505050"/>
                </a:solidFill>
                <a:latin typeface="Source Sans Pro" pitchFamily="34" charset="0"/>
                <a:ea typeface="Source Sans Pro" pitchFamily="34" charset="-122"/>
                <a:cs typeface="Source Sans Pro" pitchFamily="34" charset="-120"/>
              </a:rPr>
              <a:t>meaning + caveats</a:t>
            </a:r>
            <a:endParaRPr lang="en-US" sz="1000" dirty="0"/>
          </a:p>
        </p:txBody>
      </p:sp>
      <p:sp>
        <p:nvSpPr>
          <p:cNvPr id="37" name="Shape 31"/>
          <p:cNvSpPr/>
          <p:nvPr/>
        </p:nvSpPr>
        <p:spPr>
          <a:xfrm>
            <a:off x="7141464" y="4599432"/>
            <a:ext cx="173736" cy="237744"/>
          </a:xfrm>
          <a:prstGeom prst="rightArrow">
            <a:avLst/>
          </a:prstGeom>
          <a:solidFill>
            <a:srgbClr val="C0392B"/>
          </a:solidFill>
          <a:ln/>
        </p:spPr>
      </p:sp>
      <p:sp>
        <p:nvSpPr>
          <p:cNvPr id="38" name="Shape 32"/>
          <p:cNvSpPr/>
          <p:nvPr/>
        </p:nvSpPr>
        <p:spPr>
          <a:xfrm>
            <a:off x="7370064" y="4315968"/>
            <a:ext cx="1993392" cy="777240"/>
          </a:xfrm>
          <a:prstGeom prst="roundRect">
            <a:avLst>
              <a:gd name="adj" fmla="val 10588"/>
            </a:avLst>
          </a:prstGeom>
          <a:solidFill>
            <a:srgbClr val="FFFFFF"/>
          </a:solidFill>
          <a:ln w="12700">
            <a:solidFill>
              <a:srgbClr val="D9DEE4"/>
            </a:solidFill>
            <a:prstDash val="solid"/>
          </a:ln>
        </p:spPr>
      </p:sp>
      <p:sp>
        <p:nvSpPr>
          <p:cNvPr id="39" name="Text 33"/>
          <p:cNvSpPr/>
          <p:nvPr/>
        </p:nvSpPr>
        <p:spPr>
          <a:xfrm>
            <a:off x="7498080" y="4434840"/>
            <a:ext cx="1737360" cy="274320"/>
          </a:xfrm>
          <a:prstGeom prst="rect">
            <a:avLst/>
          </a:prstGeom>
          <a:noFill/>
          <a:ln/>
        </p:spPr>
        <p:txBody>
          <a:bodyPr wrap="square" lIns="0" tIns="0" rIns="0" bIns="0" rtlCol="0" anchor="ctr"/>
          <a:lstStyle/>
          <a:p>
            <a:pPr algn="ctr" indent="0" marL="0">
              <a:buNone/>
            </a:pPr>
            <a:r>
              <a:rPr lang="en-US" sz="1250" b="1" dirty="0">
                <a:solidFill>
                  <a:srgbClr val="003366"/>
                </a:solidFill>
                <a:latin typeface="Source Sans Pro" pitchFamily="34" charset="0"/>
                <a:ea typeface="Source Sans Pro" pitchFamily="34" charset="-122"/>
                <a:cs typeface="Source Sans Pro" pitchFamily="34" charset="-120"/>
              </a:rPr>
              <a:t>skill.md</a:t>
            </a:r>
            <a:endParaRPr lang="en-US" sz="1250" dirty="0"/>
          </a:p>
        </p:txBody>
      </p:sp>
      <p:sp>
        <p:nvSpPr>
          <p:cNvPr id="40" name="Text 34"/>
          <p:cNvSpPr/>
          <p:nvPr/>
        </p:nvSpPr>
        <p:spPr>
          <a:xfrm>
            <a:off x="7461504" y="4727448"/>
            <a:ext cx="1810512" cy="256032"/>
          </a:xfrm>
          <a:prstGeom prst="rect">
            <a:avLst/>
          </a:prstGeom>
          <a:noFill/>
          <a:ln/>
        </p:spPr>
        <p:txBody>
          <a:bodyPr wrap="square" lIns="0" tIns="0" rIns="0" bIns="0" rtlCol="0" anchor="ctr"/>
          <a:lstStyle/>
          <a:p>
            <a:pPr algn="ctr" indent="0" marL="0">
              <a:buNone/>
            </a:pPr>
            <a:r>
              <a:rPr lang="en-US" sz="1000" dirty="0">
                <a:solidFill>
                  <a:srgbClr val="505050"/>
                </a:solidFill>
                <a:latin typeface="Source Sans Pro" pitchFamily="34" charset="0"/>
                <a:ea typeface="Source Sans Pro" pitchFamily="34" charset="-122"/>
                <a:cs typeface="Source Sans Pro" pitchFamily="34" charset="-120"/>
              </a:rPr>
              <a:t>task recipe</a:t>
            </a:r>
            <a:endParaRPr lang="en-US" sz="1000" dirty="0"/>
          </a:p>
        </p:txBody>
      </p:sp>
      <p:sp>
        <p:nvSpPr>
          <p:cNvPr id="41" name="Shape 35"/>
          <p:cNvSpPr/>
          <p:nvPr/>
        </p:nvSpPr>
        <p:spPr>
          <a:xfrm>
            <a:off x="9409176" y="4599432"/>
            <a:ext cx="173736" cy="237744"/>
          </a:xfrm>
          <a:prstGeom prst="rightArrow">
            <a:avLst/>
          </a:prstGeom>
          <a:solidFill>
            <a:srgbClr val="C0392B"/>
          </a:solidFill>
          <a:ln/>
        </p:spPr>
      </p:sp>
      <p:sp>
        <p:nvSpPr>
          <p:cNvPr id="42" name="Shape 36"/>
          <p:cNvSpPr/>
          <p:nvPr/>
        </p:nvSpPr>
        <p:spPr>
          <a:xfrm>
            <a:off x="9637776" y="4315968"/>
            <a:ext cx="1993392" cy="777240"/>
          </a:xfrm>
          <a:prstGeom prst="roundRect">
            <a:avLst>
              <a:gd name="adj" fmla="val 10588"/>
            </a:avLst>
          </a:prstGeom>
          <a:solidFill>
            <a:srgbClr val="EAF4E6"/>
          </a:solidFill>
          <a:ln w="12700">
            <a:solidFill>
              <a:srgbClr val="2E8913"/>
            </a:solidFill>
            <a:prstDash val="solid"/>
          </a:ln>
        </p:spPr>
      </p:sp>
      <p:sp>
        <p:nvSpPr>
          <p:cNvPr id="43" name="Text 37"/>
          <p:cNvSpPr/>
          <p:nvPr/>
        </p:nvSpPr>
        <p:spPr>
          <a:xfrm>
            <a:off x="9765792" y="4434840"/>
            <a:ext cx="1737360" cy="274320"/>
          </a:xfrm>
          <a:prstGeom prst="rect">
            <a:avLst/>
          </a:prstGeom>
          <a:noFill/>
          <a:ln/>
        </p:spPr>
        <p:txBody>
          <a:bodyPr wrap="square" lIns="0" tIns="0" rIns="0" bIns="0" rtlCol="0" anchor="ctr"/>
          <a:lstStyle/>
          <a:p>
            <a:pPr algn="ctr" indent="0" marL="0">
              <a:buNone/>
            </a:pPr>
            <a:r>
              <a:rPr lang="en-US" sz="1250" b="1" dirty="0">
                <a:solidFill>
                  <a:srgbClr val="003366"/>
                </a:solidFill>
                <a:latin typeface="Source Sans Pro" pitchFamily="34" charset="0"/>
                <a:ea typeface="Source Sans Pro" pitchFamily="34" charset="-122"/>
                <a:cs typeface="Source Sans Pro" pitchFamily="34" charset="-120"/>
              </a:rPr>
              <a:t>AI</a:t>
            </a:r>
            <a:endParaRPr lang="en-US" sz="1250" dirty="0"/>
          </a:p>
        </p:txBody>
      </p:sp>
      <p:sp>
        <p:nvSpPr>
          <p:cNvPr id="44" name="Text 38"/>
          <p:cNvSpPr/>
          <p:nvPr/>
        </p:nvSpPr>
        <p:spPr>
          <a:xfrm>
            <a:off x="9729216" y="4727448"/>
            <a:ext cx="1810512" cy="256032"/>
          </a:xfrm>
          <a:prstGeom prst="rect">
            <a:avLst/>
          </a:prstGeom>
          <a:noFill/>
          <a:ln/>
        </p:spPr>
        <p:txBody>
          <a:bodyPr wrap="square" lIns="0" tIns="0" rIns="0" bIns="0" rtlCol="0" anchor="ctr"/>
          <a:lstStyle/>
          <a:p>
            <a:pPr algn="ctr" indent="0" marL="0">
              <a:buNone/>
            </a:pPr>
            <a:r>
              <a:rPr lang="en-US" sz="1000" dirty="0">
                <a:solidFill>
                  <a:srgbClr val="505050"/>
                </a:solidFill>
                <a:latin typeface="Source Sans Pro" pitchFamily="34" charset="0"/>
                <a:ea typeface="Source Sans Pro" pitchFamily="34" charset="-122"/>
                <a:cs typeface="Source Sans Pro" pitchFamily="34" charset="-120"/>
              </a:rPr>
              <a:t>usable answer</a:t>
            </a:r>
            <a:endParaRPr lang="en-US" sz="1000" dirty="0"/>
          </a:p>
        </p:txBody>
      </p:sp>
      <p:sp>
        <p:nvSpPr>
          <p:cNvPr id="45" name="Shape 39"/>
          <p:cNvSpPr/>
          <p:nvPr/>
        </p:nvSpPr>
        <p:spPr>
          <a:xfrm>
            <a:off x="566928" y="5349240"/>
            <a:ext cx="11055096" cy="566928"/>
          </a:xfrm>
          <a:prstGeom prst="roundRect">
            <a:avLst>
              <a:gd name="adj" fmla="val 14516"/>
            </a:avLst>
          </a:prstGeom>
          <a:solidFill>
            <a:srgbClr val="EAF1F6"/>
          </a:solidFill>
          <a:ln w="12700">
            <a:solidFill>
              <a:srgbClr val="D6E4EF"/>
            </a:solidFill>
            <a:prstDash val="solid"/>
          </a:ln>
        </p:spPr>
      </p:sp>
      <p:sp>
        <p:nvSpPr>
          <p:cNvPr id="46" name="Text 40"/>
          <p:cNvSpPr/>
          <p:nvPr/>
        </p:nvSpPr>
        <p:spPr>
          <a:xfrm>
            <a:off x="868680" y="5431536"/>
            <a:ext cx="10515600" cy="420624"/>
          </a:xfrm>
          <a:prstGeom prst="rect">
            <a:avLst/>
          </a:prstGeom>
          <a:noFill/>
          <a:ln/>
        </p:spPr>
        <p:txBody>
          <a:bodyPr wrap="square" lIns="0" tIns="0" rIns="0" bIns="0" rtlCol="0" anchor="ctr"/>
          <a:lstStyle/>
          <a:p>
            <a:pPr indent="0" marL="0">
              <a:buNone/>
            </a:pPr>
            <a:r>
              <a:rPr lang="en-US" sz="1200" b="1" dirty="0">
                <a:solidFill>
                  <a:srgbClr val="003366"/>
                </a:solidFill>
                <a:latin typeface="Source Sans Pro" pitchFamily="34" charset="0"/>
                <a:ea typeface="Source Sans Pro" pitchFamily="34" charset="-122"/>
                <a:cs typeface="Source Sans Pro" pitchFamily="34" charset="-120"/>
              </a:rPr>
              <a:t>Important boundary:  </a:t>
            </a:r>
            <a:pPr indent="0" marL="0">
              <a:buNone/>
            </a:pPr>
            <a:r>
              <a:rPr lang="en-US" sz="1200" dirty="0">
                <a:solidFill>
                  <a:srgbClr val="2A2F36"/>
                </a:solidFill>
                <a:latin typeface="Source Sans Pro" pitchFamily="34" charset="0"/>
                <a:ea typeface="Source Sans Pro" pitchFamily="34" charset="-122"/>
                <a:cs typeface="Source Sans Pro" pitchFamily="34" charset="-120"/>
              </a:rPr>
              <a:t>Unity Catalog does not replace the harness. It governs assets and access; the harness explains local business meaning, caveats, and answer expectations.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CORE CONCEPT Nº 1</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What is an AI harness?</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The mission guidebook that travels with the AI.</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06 / 21</a:t>
            </a:r>
            <a:endParaRPr lang="en-US" sz="1000" dirty="0"/>
          </a:p>
        </p:txBody>
      </p:sp>
      <p:sp>
        <p:nvSpPr>
          <p:cNvPr id="9" name="Shape 6"/>
          <p:cNvSpPr/>
          <p:nvPr/>
        </p:nvSpPr>
        <p:spPr>
          <a:xfrm>
            <a:off x="4041648" y="2743200"/>
            <a:ext cx="4114800" cy="2194560"/>
          </a:xfrm>
          <a:prstGeom prst="roundRect">
            <a:avLst>
              <a:gd name="adj" fmla="val 3750"/>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0" name="Text 7"/>
          <p:cNvSpPr/>
          <p:nvPr/>
        </p:nvSpPr>
        <p:spPr>
          <a:xfrm>
            <a:off x="4224528" y="3063240"/>
            <a:ext cx="3749040" cy="310896"/>
          </a:xfrm>
          <a:prstGeom prst="rect">
            <a:avLst/>
          </a:prstGeom>
          <a:noFill/>
          <a:ln/>
        </p:spPr>
        <p:txBody>
          <a:bodyPr wrap="square" lIns="0" tIns="0" rIns="0" bIns="0" rtlCol="0" anchor="ctr"/>
          <a:lstStyle/>
          <a:p>
            <a:pPr algn="ctr" indent="0" marL="0">
              <a:buNone/>
            </a:pPr>
            <a:r>
              <a:rPr lang="en-US" sz="1600" b="1" spc="200" kern="0" dirty="0">
                <a:solidFill>
                  <a:srgbClr val="C0392B"/>
                </a:solidFill>
                <a:latin typeface="Source Sans Pro" pitchFamily="34" charset="0"/>
                <a:ea typeface="Source Sans Pro" pitchFamily="34" charset="-122"/>
                <a:cs typeface="Source Sans Pro" pitchFamily="34" charset="-120"/>
              </a:rPr>
              <a:t>CDAO AI HARNESS</a:t>
            </a:r>
            <a:endParaRPr lang="en-US" sz="1600" dirty="0"/>
          </a:p>
        </p:txBody>
      </p:sp>
      <p:sp>
        <p:nvSpPr>
          <p:cNvPr id="11" name="Text 8"/>
          <p:cNvSpPr/>
          <p:nvPr/>
        </p:nvSpPr>
        <p:spPr>
          <a:xfrm>
            <a:off x="4315968" y="3520440"/>
            <a:ext cx="3566160" cy="1188720"/>
          </a:xfrm>
          <a:prstGeom prst="rect">
            <a:avLst/>
          </a:prstGeom>
          <a:noFill/>
          <a:ln/>
        </p:spPr>
        <p:txBody>
          <a:bodyPr wrap="square" lIns="0" tIns="0" rIns="0" bIns="0" rtlCol="0" anchor="ctr"/>
          <a:lstStyle/>
          <a:p>
            <a:pPr algn="ctr" indent="0" marL="0">
              <a:lnSpc>
                <a:spcPts val="1700"/>
              </a:lnSpc>
              <a:buNone/>
            </a:pPr>
            <a:r>
              <a:rPr lang="en-US" sz="1250" dirty="0">
                <a:solidFill>
                  <a:srgbClr val="D6E4EF"/>
                </a:solidFill>
                <a:latin typeface="Source Sans Pro" pitchFamily="34" charset="0"/>
                <a:ea typeface="Source Sans Pro" pitchFamily="34" charset="-122"/>
                <a:cs typeface="Source Sans Pro" pitchFamily="34" charset="-120"/>
              </a:rPr>
              <a:t>definitions • caveats • approved counting logic • example questions • strong-answer patterns • review owners</a:t>
            </a:r>
            <a:endParaRPr lang="en-US" sz="1250" dirty="0"/>
          </a:p>
        </p:txBody>
      </p:sp>
      <p:sp>
        <p:nvSpPr>
          <p:cNvPr id="12" name="Shape 9"/>
          <p:cNvSpPr/>
          <p:nvPr/>
        </p:nvSpPr>
        <p:spPr>
          <a:xfrm>
            <a:off x="3401568" y="3200400"/>
            <a:ext cx="640080" cy="0"/>
          </a:xfrm>
          <a:prstGeom prst="line">
            <a:avLst/>
          </a:prstGeom>
          <a:noFill/>
          <a:ln w="19050">
            <a:solidFill>
              <a:srgbClr val="C0392B"/>
            </a:solidFill>
            <a:prstDash val="dash"/>
          </a:ln>
        </p:spPr>
      </p:sp>
      <p:sp>
        <p:nvSpPr>
          <p:cNvPr id="13" name="Shape 10"/>
          <p:cNvSpPr/>
          <p:nvPr/>
        </p:nvSpPr>
        <p:spPr>
          <a:xfrm>
            <a:off x="658368" y="2514600"/>
            <a:ext cx="2743200" cy="1371600"/>
          </a:xfrm>
          <a:prstGeom prst="roundRect">
            <a:avLst>
              <a:gd name="adj" fmla="val 6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4" name="Shape 11"/>
          <p:cNvSpPr/>
          <p:nvPr/>
        </p:nvSpPr>
        <p:spPr>
          <a:xfrm>
            <a:off x="841248" y="2679192"/>
            <a:ext cx="384048" cy="384048"/>
          </a:xfrm>
          <a:prstGeom prst="ellipse">
            <a:avLst/>
          </a:prstGeom>
          <a:solidFill>
            <a:srgbClr val="D6E4EF"/>
          </a:solidFill>
          <a:ln/>
        </p:spPr>
      </p:sp>
      <p:pic>
        <p:nvPicPr>
          <p:cNvPr id="15" name="Image 1" descr="preencoded.png">    </p:cNvPr>
          <p:cNvPicPr>
            <a:picLocks noChangeAspect="1"/>
          </p:cNvPicPr>
          <p:nvPr/>
        </p:nvPicPr>
        <p:blipFill>
          <a:blip r:embed="rId2"/>
          <a:stretch>
            <a:fillRect/>
          </a:stretch>
        </p:blipFill>
        <p:spPr>
          <a:xfrm>
            <a:off x="925739" y="2763683"/>
            <a:ext cx="215067" cy="215067"/>
          </a:xfrm>
          <a:prstGeom prst="rect">
            <a:avLst/>
          </a:prstGeom>
        </p:spPr>
      </p:pic>
      <p:sp>
        <p:nvSpPr>
          <p:cNvPr id="16" name="Text 12"/>
          <p:cNvSpPr/>
          <p:nvPr/>
        </p:nvSpPr>
        <p:spPr>
          <a:xfrm>
            <a:off x="1316736" y="2697480"/>
            <a:ext cx="1920240" cy="384048"/>
          </a:xfrm>
          <a:prstGeom prst="rect">
            <a:avLst/>
          </a:prstGeom>
          <a:noFill/>
          <a:ln/>
        </p:spPr>
        <p:txBody>
          <a:bodyPr wrap="square" lIns="0" tIns="0" rIns="0" bIns="0" rtlCol="0" anchor="t"/>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Approved meaning</a:t>
            </a:r>
            <a:endParaRPr lang="en-US" sz="1300" dirty="0"/>
          </a:p>
        </p:txBody>
      </p:sp>
      <p:sp>
        <p:nvSpPr>
          <p:cNvPr id="17" name="Text 13"/>
          <p:cNvSpPr/>
          <p:nvPr/>
        </p:nvSpPr>
        <p:spPr>
          <a:xfrm>
            <a:off x="841248" y="3136392"/>
            <a:ext cx="2377440" cy="64008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What key terms and metrics mean here.</a:t>
            </a:r>
            <a:endParaRPr lang="en-US" sz="1150" dirty="0"/>
          </a:p>
        </p:txBody>
      </p:sp>
      <p:sp>
        <p:nvSpPr>
          <p:cNvPr id="18" name="Shape 14"/>
          <p:cNvSpPr/>
          <p:nvPr/>
        </p:nvSpPr>
        <p:spPr>
          <a:xfrm>
            <a:off x="8156448" y="3200400"/>
            <a:ext cx="667512" cy="0"/>
          </a:xfrm>
          <a:prstGeom prst="line">
            <a:avLst/>
          </a:prstGeom>
          <a:noFill/>
          <a:ln w="19050">
            <a:solidFill>
              <a:srgbClr val="C0392B"/>
            </a:solidFill>
            <a:prstDash val="dash"/>
          </a:ln>
        </p:spPr>
      </p:sp>
      <p:sp>
        <p:nvSpPr>
          <p:cNvPr id="19" name="Shape 15"/>
          <p:cNvSpPr/>
          <p:nvPr/>
        </p:nvSpPr>
        <p:spPr>
          <a:xfrm>
            <a:off x="8823960" y="2514600"/>
            <a:ext cx="2743200" cy="1371600"/>
          </a:xfrm>
          <a:prstGeom prst="roundRect">
            <a:avLst>
              <a:gd name="adj" fmla="val 6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0" name="Shape 16"/>
          <p:cNvSpPr/>
          <p:nvPr/>
        </p:nvSpPr>
        <p:spPr>
          <a:xfrm>
            <a:off x="9006840" y="2679192"/>
            <a:ext cx="384048" cy="384048"/>
          </a:xfrm>
          <a:prstGeom prst="ellipse">
            <a:avLst/>
          </a:prstGeom>
          <a:solidFill>
            <a:srgbClr val="D6E4EF"/>
          </a:solidFill>
          <a:ln/>
        </p:spPr>
      </p:sp>
      <p:pic>
        <p:nvPicPr>
          <p:cNvPr id="21" name="Image 2" descr="preencoded.png">    </p:cNvPr>
          <p:cNvPicPr>
            <a:picLocks noChangeAspect="1"/>
          </p:cNvPicPr>
          <p:nvPr/>
        </p:nvPicPr>
        <p:blipFill>
          <a:blip r:embed="rId3"/>
          <a:stretch>
            <a:fillRect/>
          </a:stretch>
        </p:blipFill>
        <p:spPr>
          <a:xfrm>
            <a:off x="9091331" y="2763683"/>
            <a:ext cx="215067" cy="215067"/>
          </a:xfrm>
          <a:prstGeom prst="rect">
            <a:avLst/>
          </a:prstGeom>
        </p:spPr>
      </p:pic>
      <p:sp>
        <p:nvSpPr>
          <p:cNvPr id="22" name="Text 17"/>
          <p:cNvSpPr/>
          <p:nvPr/>
        </p:nvSpPr>
        <p:spPr>
          <a:xfrm>
            <a:off x="9482328" y="2697480"/>
            <a:ext cx="1920240" cy="384048"/>
          </a:xfrm>
          <a:prstGeom prst="rect">
            <a:avLst/>
          </a:prstGeom>
          <a:noFill/>
          <a:ln/>
        </p:spPr>
        <p:txBody>
          <a:bodyPr wrap="square" lIns="0" tIns="0" rIns="0" bIns="0" rtlCol="0" anchor="t"/>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Answer style</a:t>
            </a:r>
            <a:endParaRPr lang="en-US" sz="1300" dirty="0"/>
          </a:p>
        </p:txBody>
      </p:sp>
      <p:sp>
        <p:nvSpPr>
          <p:cNvPr id="23" name="Text 18"/>
          <p:cNvSpPr/>
          <p:nvPr/>
        </p:nvSpPr>
        <p:spPr>
          <a:xfrm>
            <a:off x="9006840" y="3136392"/>
            <a:ext cx="2377440" cy="64008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What a useful response should include.</a:t>
            </a:r>
            <a:endParaRPr lang="en-US" sz="1150" dirty="0"/>
          </a:p>
        </p:txBody>
      </p:sp>
      <p:sp>
        <p:nvSpPr>
          <p:cNvPr id="24" name="Shape 19"/>
          <p:cNvSpPr/>
          <p:nvPr/>
        </p:nvSpPr>
        <p:spPr>
          <a:xfrm>
            <a:off x="3401568" y="4754880"/>
            <a:ext cx="640080" cy="0"/>
          </a:xfrm>
          <a:prstGeom prst="line">
            <a:avLst/>
          </a:prstGeom>
          <a:noFill/>
          <a:ln w="19050">
            <a:solidFill>
              <a:srgbClr val="C0392B"/>
            </a:solidFill>
            <a:prstDash val="dash"/>
          </a:ln>
        </p:spPr>
      </p:sp>
      <p:sp>
        <p:nvSpPr>
          <p:cNvPr id="25" name="Shape 20"/>
          <p:cNvSpPr/>
          <p:nvPr/>
        </p:nvSpPr>
        <p:spPr>
          <a:xfrm>
            <a:off x="658368" y="4069080"/>
            <a:ext cx="2743200" cy="1371600"/>
          </a:xfrm>
          <a:prstGeom prst="roundRect">
            <a:avLst>
              <a:gd name="adj" fmla="val 6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6" name="Shape 21"/>
          <p:cNvSpPr/>
          <p:nvPr/>
        </p:nvSpPr>
        <p:spPr>
          <a:xfrm>
            <a:off x="841248" y="4233672"/>
            <a:ext cx="384048" cy="384048"/>
          </a:xfrm>
          <a:prstGeom prst="ellipse">
            <a:avLst/>
          </a:prstGeom>
          <a:solidFill>
            <a:srgbClr val="D6E4EF"/>
          </a:solidFill>
          <a:ln/>
        </p:spPr>
      </p:sp>
      <p:pic>
        <p:nvPicPr>
          <p:cNvPr id="27" name="Image 3" descr="preencoded.png">    </p:cNvPr>
          <p:cNvPicPr>
            <a:picLocks noChangeAspect="1"/>
          </p:cNvPicPr>
          <p:nvPr/>
        </p:nvPicPr>
        <p:blipFill>
          <a:blip r:embed="rId4"/>
          <a:stretch>
            <a:fillRect/>
          </a:stretch>
        </p:blipFill>
        <p:spPr>
          <a:xfrm>
            <a:off x="925739" y="4318163"/>
            <a:ext cx="215067" cy="215067"/>
          </a:xfrm>
          <a:prstGeom prst="rect">
            <a:avLst/>
          </a:prstGeom>
        </p:spPr>
      </p:pic>
      <p:sp>
        <p:nvSpPr>
          <p:cNvPr id="28" name="Text 22"/>
          <p:cNvSpPr/>
          <p:nvPr/>
        </p:nvSpPr>
        <p:spPr>
          <a:xfrm>
            <a:off x="1316736" y="4251960"/>
            <a:ext cx="1920240" cy="384048"/>
          </a:xfrm>
          <a:prstGeom prst="rect">
            <a:avLst/>
          </a:prstGeom>
          <a:noFill/>
          <a:ln/>
        </p:spPr>
        <p:txBody>
          <a:bodyPr wrap="square" lIns="0" tIns="0" rIns="0" bIns="0" rtlCol="0" anchor="t"/>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Use boundaries</a:t>
            </a:r>
            <a:endParaRPr lang="en-US" sz="1300" dirty="0"/>
          </a:p>
        </p:txBody>
      </p:sp>
      <p:sp>
        <p:nvSpPr>
          <p:cNvPr id="29" name="Text 23"/>
          <p:cNvSpPr/>
          <p:nvPr/>
        </p:nvSpPr>
        <p:spPr>
          <a:xfrm>
            <a:off x="841248" y="4690872"/>
            <a:ext cx="2377440" cy="64008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What the assistant should not infer or decide.</a:t>
            </a:r>
            <a:endParaRPr lang="en-US" sz="1150" dirty="0"/>
          </a:p>
        </p:txBody>
      </p:sp>
      <p:sp>
        <p:nvSpPr>
          <p:cNvPr id="30" name="Shape 24"/>
          <p:cNvSpPr/>
          <p:nvPr/>
        </p:nvSpPr>
        <p:spPr>
          <a:xfrm>
            <a:off x="8156448" y="4754880"/>
            <a:ext cx="667512" cy="0"/>
          </a:xfrm>
          <a:prstGeom prst="line">
            <a:avLst/>
          </a:prstGeom>
          <a:noFill/>
          <a:ln w="19050">
            <a:solidFill>
              <a:srgbClr val="C0392B"/>
            </a:solidFill>
            <a:prstDash val="dash"/>
          </a:ln>
        </p:spPr>
      </p:sp>
      <p:sp>
        <p:nvSpPr>
          <p:cNvPr id="31" name="Shape 25"/>
          <p:cNvSpPr/>
          <p:nvPr/>
        </p:nvSpPr>
        <p:spPr>
          <a:xfrm>
            <a:off x="8823960" y="4069080"/>
            <a:ext cx="2743200" cy="1371600"/>
          </a:xfrm>
          <a:prstGeom prst="roundRect">
            <a:avLst>
              <a:gd name="adj" fmla="val 6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2" name="Shape 26"/>
          <p:cNvSpPr/>
          <p:nvPr/>
        </p:nvSpPr>
        <p:spPr>
          <a:xfrm>
            <a:off x="9006840" y="4233672"/>
            <a:ext cx="384048" cy="384048"/>
          </a:xfrm>
          <a:prstGeom prst="ellipse">
            <a:avLst/>
          </a:prstGeom>
          <a:solidFill>
            <a:srgbClr val="D6E4EF"/>
          </a:solidFill>
          <a:ln/>
        </p:spPr>
      </p:sp>
      <p:pic>
        <p:nvPicPr>
          <p:cNvPr id="33" name="Image 4" descr="preencoded.png">    </p:cNvPr>
          <p:cNvPicPr>
            <a:picLocks noChangeAspect="1"/>
          </p:cNvPicPr>
          <p:nvPr/>
        </p:nvPicPr>
        <p:blipFill>
          <a:blip r:embed="rId5"/>
          <a:stretch>
            <a:fillRect/>
          </a:stretch>
        </p:blipFill>
        <p:spPr>
          <a:xfrm>
            <a:off x="9091331" y="4318163"/>
            <a:ext cx="215067" cy="215067"/>
          </a:xfrm>
          <a:prstGeom prst="rect">
            <a:avLst/>
          </a:prstGeom>
        </p:spPr>
      </p:pic>
      <p:sp>
        <p:nvSpPr>
          <p:cNvPr id="34" name="Text 27"/>
          <p:cNvSpPr/>
          <p:nvPr/>
        </p:nvSpPr>
        <p:spPr>
          <a:xfrm>
            <a:off x="9482328" y="4251960"/>
            <a:ext cx="1920240" cy="384048"/>
          </a:xfrm>
          <a:prstGeom prst="rect">
            <a:avLst/>
          </a:prstGeom>
          <a:noFill/>
          <a:ln/>
        </p:spPr>
        <p:txBody>
          <a:bodyPr wrap="square" lIns="0" tIns="0" rIns="0" bIns="0" rtlCol="0" anchor="t"/>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Examples</a:t>
            </a:r>
            <a:endParaRPr lang="en-US" sz="1300" dirty="0"/>
          </a:p>
        </p:txBody>
      </p:sp>
      <p:sp>
        <p:nvSpPr>
          <p:cNvPr id="35" name="Text 28"/>
          <p:cNvSpPr/>
          <p:nvPr/>
        </p:nvSpPr>
        <p:spPr>
          <a:xfrm>
            <a:off x="9006840" y="4690872"/>
            <a:ext cx="2377440" cy="64008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Good questions and strong-answer patterns.</a:t>
            </a:r>
            <a:endParaRPr lang="en-US" sz="1150" dirty="0"/>
          </a:p>
        </p:txBody>
      </p:sp>
      <p:sp>
        <p:nvSpPr>
          <p:cNvPr id="36" name="Text 29"/>
          <p:cNvSpPr/>
          <p:nvPr/>
        </p:nvSpPr>
        <p:spPr>
          <a:xfrm>
            <a:off x="566928" y="5806440"/>
            <a:ext cx="11055096" cy="365760"/>
          </a:xfrm>
          <a:prstGeom prst="rect">
            <a:avLst/>
          </a:prstGeom>
          <a:noFill/>
          <a:ln/>
        </p:spPr>
        <p:txBody>
          <a:bodyPr wrap="square" lIns="0" tIns="0" rIns="0" bIns="0" rtlCol="0" anchor="ctr"/>
          <a:lstStyle/>
          <a:p>
            <a:pPr algn="ctr" indent="0" marL="0">
              <a:buNone/>
            </a:pPr>
            <a:r>
              <a:rPr lang="en-US" sz="1700" b="1" i="1" dirty="0">
                <a:solidFill>
                  <a:srgbClr val="006699"/>
                </a:solidFill>
                <a:latin typeface="Source Sans Pro" pitchFamily="34" charset="0"/>
                <a:ea typeface="Source Sans Pro" pitchFamily="34" charset="-122"/>
                <a:cs typeface="Source Sans Pro" pitchFamily="34" charset="-120"/>
              </a:rPr>
              <a:t>The harness does not answer by itself. It prepares the AI to answer better.</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THE DIFFERENCE IT MAKES</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Why a harness matters</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The same words can mean different things without context.</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07 / 21</a:t>
            </a:r>
            <a:endParaRPr lang="en-US" sz="1000" dirty="0"/>
          </a:p>
        </p:txBody>
      </p:sp>
      <p:sp>
        <p:nvSpPr>
          <p:cNvPr id="9" name="Shape 6"/>
          <p:cNvSpPr/>
          <p:nvPr/>
        </p:nvSpPr>
        <p:spPr>
          <a:xfrm>
            <a:off x="3127248" y="1755648"/>
            <a:ext cx="5943600" cy="566928"/>
          </a:xfrm>
          <a:prstGeom prst="roundRect">
            <a:avLst>
              <a:gd name="adj" fmla="val 14516"/>
            </a:avLst>
          </a:prstGeom>
          <a:solidFill>
            <a:srgbClr val="003366"/>
          </a:solidFill>
          <a:ln w="12700">
            <a:solidFill>
              <a:srgbClr val="003366"/>
            </a:solidFill>
            <a:prstDash val="solid"/>
          </a:ln>
        </p:spPr>
      </p:sp>
      <p:sp>
        <p:nvSpPr>
          <p:cNvPr id="10" name="Text 7"/>
          <p:cNvSpPr/>
          <p:nvPr/>
        </p:nvSpPr>
        <p:spPr>
          <a:xfrm>
            <a:off x="3127248" y="1856232"/>
            <a:ext cx="5943600" cy="365760"/>
          </a:xfrm>
          <a:prstGeom prst="rect">
            <a:avLst/>
          </a:prstGeom>
          <a:noFill/>
          <a:ln/>
        </p:spPr>
        <p:txBody>
          <a:bodyPr wrap="square" lIns="0" tIns="0" rIns="0" bIns="0" rtlCol="0" anchor="ctr"/>
          <a:lstStyle/>
          <a:p>
            <a:pPr algn="ctr" indent="0" marL="0">
              <a:buNone/>
            </a:pPr>
            <a:r>
              <a:rPr lang="en-US" sz="1600" b="1" i="1" dirty="0">
                <a:solidFill>
                  <a:srgbClr val="FFFFFF"/>
                </a:solidFill>
                <a:latin typeface="Source Sans Pro" pitchFamily="34" charset="0"/>
                <a:ea typeface="Source Sans Pro" pitchFamily="34" charset="-122"/>
                <a:cs typeface="Source Sans Pro" pitchFamily="34" charset="-120"/>
              </a:rPr>
              <a:t>“Why did workload change this month?”</a:t>
            </a:r>
            <a:endParaRPr lang="en-US" sz="1600" dirty="0"/>
          </a:p>
        </p:txBody>
      </p:sp>
      <p:sp>
        <p:nvSpPr>
          <p:cNvPr id="11" name="Shape 8"/>
          <p:cNvSpPr/>
          <p:nvPr/>
        </p:nvSpPr>
        <p:spPr>
          <a:xfrm>
            <a:off x="566928" y="2606040"/>
            <a:ext cx="5394960" cy="2377440"/>
          </a:xfrm>
          <a:prstGeom prst="roundRect">
            <a:avLst>
              <a:gd name="adj" fmla="val 3462"/>
            </a:avLst>
          </a:prstGeom>
          <a:solidFill>
            <a:srgbClr val="F6E4E1"/>
          </a:solidFill>
          <a:ln w="12700">
            <a:solidFill>
              <a:srgbClr val="E7C6C0"/>
            </a:solidFill>
            <a:prstDash val="solid"/>
          </a:ln>
          <a:effectLst>
            <a:outerShdw sx="100000" sy="100000" kx="0" ky="0" algn="bl" rotWithShape="0" blurRad="88900" dist="25400" dir="5400000">
              <a:srgbClr val="003366">
                <a:alpha val="14000"/>
              </a:srgbClr>
            </a:outerShdw>
          </a:effectLst>
        </p:spPr>
      </p:sp>
      <p:sp>
        <p:nvSpPr>
          <p:cNvPr id="12" name="Shape 9"/>
          <p:cNvSpPr/>
          <p:nvPr/>
        </p:nvSpPr>
        <p:spPr>
          <a:xfrm>
            <a:off x="822960" y="2834640"/>
            <a:ext cx="438912" cy="438912"/>
          </a:xfrm>
          <a:prstGeom prst="ellipse">
            <a:avLst/>
          </a:prstGeom>
          <a:solidFill>
            <a:srgbClr val="962D22"/>
          </a:solidFill>
          <a:ln/>
        </p:spPr>
      </p:sp>
      <p:pic>
        <p:nvPicPr>
          <p:cNvPr id="13" name="Image 1" descr="preencoded.png">    </p:cNvPr>
          <p:cNvPicPr>
            <a:picLocks noChangeAspect="1"/>
          </p:cNvPicPr>
          <p:nvPr/>
        </p:nvPicPr>
        <p:blipFill>
          <a:blip r:embed="rId2"/>
          <a:stretch>
            <a:fillRect/>
          </a:stretch>
        </p:blipFill>
        <p:spPr>
          <a:xfrm>
            <a:off x="919521" y="2931201"/>
            <a:ext cx="245791" cy="245791"/>
          </a:xfrm>
          <a:prstGeom prst="rect">
            <a:avLst/>
          </a:prstGeom>
        </p:spPr>
      </p:pic>
      <p:sp>
        <p:nvSpPr>
          <p:cNvPr id="14" name="Text 10"/>
          <p:cNvSpPr/>
          <p:nvPr/>
        </p:nvSpPr>
        <p:spPr>
          <a:xfrm>
            <a:off x="1389888" y="2889504"/>
            <a:ext cx="4297680" cy="320040"/>
          </a:xfrm>
          <a:prstGeom prst="rect">
            <a:avLst/>
          </a:prstGeom>
          <a:noFill/>
          <a:ln/>
        </p:spPr>
        <p:txBody>
          <a:bodyPr wrap="square" lIns="0" tIns="0" rIns="0" bIns="0" rtlCol="0" anchor="ctr"/>
          <a:lstStyle/>
          <a:p>
            <a:pPr indent="0" marL="0">
              <a:buNone/>
            </a:pPr>
            <a:r>
              <a:rPr lang="en-US" sz="1550" b="1" dirty="0">
                <a:solidFill>
                  <a:srgbClr val="962D22"/>
                </a:solidFill>
                <a:latin typeface="Source Sans Pro" pitchFamily="34" charset="0"/>
                <a:ea typeface="Source Sans Pro" pitchFamily="34" charset="-122"/>
                <a:cs typeface="Source Sans Pro" pitchFamily="34" charset="-120"/>
              </a:rPr>
              <a:t>Without a harness</a:t>
            </a:r>
            <a:endParaRPr lang="en-US" sz="1550" dirty="0"/>
          </a:p>
        </p:txBody>
      </p:sp>
      <p:sp>
        <p:nvSpPr>
          <p:cNvPr id="15" name="Text 11"/>
          <p:cNvSpPr/>
          <p:nvPr/>
        </p:nvSpPr>
        <p:spPr>
          <a:xfrm>
            <a:off x="841248" y="3401568"/>
            <a:ext cx="4846320" cy="320040"/>
          </a:xfrm>
          <a:prstGeom prst="rect">
            <a:avLst/>
          </a:prstGeom>
          <a:noFill/>
          <a:ln/>
        </p:spPr>
        <p:txBody>
          <a:bodyPr wrap="square" lIns="0" tIns="0" rIns="0" bIns="0" rtlCol="0" anchor="ctr"/>
          <a:lstStyle/>
          <a:p>
            <a:pPr indent="0" marL="0">
              <a:buNone/>
            </a:pPr>
            <a:r>
              <a:rPr lang="en-US" sz="1300" dirty="0">
                <a:solidFill>
                  <a:srgbClr val="2A2F36"/>
                </a:solidFill>
                <a:latin typeface="Source Code Pro" pitchFamily="34" charset="0"/>
                <a:ea typeface="Source Code Pro" pitchFamily="34" charset="-122"/>
                <a:cs typeface="Source Code Pro" pitchFamily="34" charset="-120"/>
              </a:rPr>
              <a:t>“Workload increased this month.”</a:t>
            </a:r>
            <a:endParaRPr lang="en-US" sz="1300" dirty="0"/>
          </a:p>
        </p:txBody>
      </p:sp>
      <p:sp>
        <p:nvSpPr>
          <p:cNvPr id="16" name="Text 12"/>
          <p:cNvSpPr/>
          <p:nvPr/>
        </p:nvSpPr>
        <p:spPr>
          <a:xfrm>
            <a:off x="841248" y="3822192"/>
            <a:ext cx="4846320" cy="1005840"/>
          </a:xfrm>
          <a:prstGeom prst="rect">
            <a:avLst/>
          </a:prstGeom>
          <a:noFill/>
          <a:ln/>
        </p:spPr>
        <p:txBody>
          <a:bodyPr wrap="square" lIns="0" tIns="0" rIns="0" bIns="0" rtlCol="0" anchor="ctr"/>
          <a:lstStyle/>
          <a:p>
            <a:pPr indent="0" marL="0">
              <a:lnSpc>
                <a:spcPts val="1700"/>
              </a:lnSpc>
              <a:buNone/>
            </a:pPr>
            <a:r>
              <a:rPr lang="en-US" sz="1300" dirty="0">
                <a:solidFill>
                  <a:srgbClr val="505050"/>
                </a:solidFill>
                <a:latin typeface="Source Sans Pro" pitchFamily="34" charset="0"/>
                <a:ea typeface="Source Sans Pro" pitchFamily="34" charset="-122"/>
                <a:cs typeface="Source Sans Pro" pitchFamily="34" charset="-120"/>
              </a:rPr>
              <a:t>May be true — but it misses the definition, comparison period, workload mix, reporting lag, and caveats.</a:t>
            </a:r>
            <a:endParaRPr lang="en-US" sz="1300" dirty="0"/>
          </a:p>
        </p:txBody>
      </p:sp>
      <p:sp>
        <p:nvSpPr>
          <p:cNvPr id="17" name="Shape 13"/>
          <p:cNvSpPr/>
          <p:nvPr/>
        </p:nvSpPr>
        <p:spPr>
          <a:xfrm>
            <a:off x="6236208" y="2606040"/>
            <a:ext cx="5394960" cy="2377440"/>
          </a:xfrm>
          <a:prstGeom prst="roundRect">
            <a:avLst>
              <a:gd name="adj" fmla="val 3462"/>
            </a:avLst>
          </a:prstGeom>
          <a:solidFill>
            <a:srgbClr val="EAF4E6"/>
          </a:solidFill>
          <a:ln w="12700">
            <a:solidFill>
              <a:srgbClr val="2E8913"/>
            </a:solidFill>
            <a:prstDash val="solid"/>
          </a:ln>
          <a:effectLst>
            <a:outerShdw sx="100000" sy="100000" kx="0" ky="0" algn="bl" rotWithShape="0" blurRad="88900" dist="25400" dir="5400000">
              <a:srgbClr val="003366">
                <a:alpha val="14000"/>
              </a:srgbClr>
            </a:outerShdw>
          </a:effectLst>
        </p:spPr>
      </p:sp>
      <p:sp>
        <p:nvSpPr>
          <p:cNvPr id="18" name="Shape 14"/>
          <p:cNvSpPr/>
          <p:nvPr/>
        </p:nvSpPr>
        <p:spPr>
          <a:xfrm>
            <a:off x="6492240" y="2834640"/>
            <a:ext cx="438912" cy="438912"/>
          </a:xfrm>
          <a:prstGeom prst="ellipse">
            <a:avLst/>
          </a:prstGeom>
          <a:solidFill>
            <a:srgbClr val="2E8913"/>
          </a:solidFill>
          <a:ln/>
        </p:spPr>
      </p:sp>
      <p:pic>
        <p:nvPicPr>
          <p:cNvPr id="19" name="Image 2" descr="preencoded.png">    </p:cNvPr>
          <p:cNvPicPr>
            <a:picLocks noChangeAspect="1"/>
          </p:cNvPicPr>
          <p:nvPr/>
        </p:nvPicPr>
        <p:blipFill>
          <a:blip r:embed="rId3"/>
          <a:stretch>
            <a:fillRect/>
          </a:stretch>
        </p:blipFill>
        <p:spPr>
          <a:xfrm>
            <a:off x="6588801" y="2931201"/>
            <a:ext cx="245791" cy="245791"/>
          </a:xfrm>
          <a:prstGeom prst="rect">
            <a:avLst/>
          </a:prstGeom>
        </p:spPr>
      </p:pic>
      <p:sp>
        <p:nvSpPr>
          <p:cNvPr id="20" name="Text 15"/>
          <p:cNvSpPr/>
          <p:nvPr/>
        </p:nvSpPr>
        <p:spPr>
          <a:xfrm>
            <a:off x="7059168" y="2889504"/>
            <a:ext cx="4297680" cy="320040"/>
          </a:xfrm>
          <a:prstGeom prst="rect">
            <a:avLst/>
          </a:prstGeom>
          <a:noFill/>
          <a:ln/>
        </p:spPr>
        <p:txBody>
          <a:bodyPr wrap="square" lIns="0" tIns="0" rIns="0" bIns="0" rtlCol="0" anchor="ctr"/>
          <a:lstStyle/>
          <a:p>
            <a:pPr indent="0" marL="0">
              <a:buNone/>
            </a:pPr>
            <a:r>
              <a:rPr lang="en-US" sz="1550" b="1" dirty="0">
                <a:solidFill>
                  <a:srgbClr val="2E8913"/>
                </a:solidFill>
                <a:latin typeface="Source Sans Pro" pitchFamily="34" charset="0"/>
                <a:ea typeface="Source Sans Pro" pitchFamily="34" charset="-122"/>
                <a:cs typeface="Source Sans Pro" pitchFamily="34" charset="-120"/>
              </a:rPr>
              <a:t>With a harness</a:t>
            </a:r>
            <a:endParaRPr lang="en-US" sz="1550" dirty="0"/>
          </a:p>
        </p:txBody>
      </p:sp>
      <p:sp>
        <p:nvSpPr>
          <p:cNvPr id="21" name="Text 16"/>
          <p:cNvSpPr/>
          <p:nvPr/>
        </p:nvSpPr>
        <p:spPr>
          <a:xfrm>
            <a:off x="6510528" y="3401568"/>
            <a:ext cx="4892040" cy="1371600"/>
          </a:xfrm>
          <a:prstGeom prst="rect">
            <a:avLst/>
          </a:prstGeom>
          <a:noFill/>
          <a:ln/>
        </p:spPr>
        <p:txBody>
          <a:bodyPr wrap="square" lIns="0" tIns="0" rIns="0" bIns="0" rtlCol="0" anchor="ctr"/>
          <a:lstStyle/>
          <a:p>
            <a:pPr indent="0" marL="0">
              <a:lnSpc>
                <a:spcPts val="1700"/>
              </a:lnSpc>
              <a:buNone/>
            </a:pPr>
            <a:r>
              <a:rPr lang="en-US" sz="1250" dirty="0">
                <a:solidFill>
                  <a:srgbClr val="2A2F36"/>
                </a:solidFill>
                <a:latin typeface="Source Code Pro" pitchFamily="34" charset="0"/>
                <a:ea typeface="Source Code Pro" pitchFamily="34" charset="-122"/>
                <a:cs typeface="Source Code Pro" pitchFamily="34" charset="-120"/>
              </a:rPr>
              <a:t>“Under the approved definition, the metric changed. Before interpreting, check the date window, form mix, refresh timing, and known caveats.”</a:t>
            </a:r>
            <a:endParaRPr lang="en-US" sz="1250" dirty="0"/>
          </a:p>
        </p:txBody>
      </p:sp>
      <p:sp>
        <p:nvSpPr>
          <p:cNvPr id="22" name="Shape 17"/>
          <p:cNvSpPr/>
          <p:nvPr/>
        </p:nvSpPr>
        <p:spPr>
          <a:xfrm>
            <a:off x="566928" y="5257800"/>
            <a:ext cx="11055096" cy="658368"/>
          </a:xfrm>
          <a:prstGeom prst="roundRect">
            <a:avLst>
              <a:gd name="adj" fmla="val 12500"/>
            </a:avLst>
          </a:prstGeom>
          <a:solidFill>
            <a:srgbClr val="EAF1F6"/>
          </a:solidFill>
          <a:ln w="12700">
            <a:solidFill>
              <a:srgbClr val="D6E4EF"/>
            </a:solidFill>
            <a:prstDash val="solid"/>
          </a:ln>
        </p:spPr>
      </p:sp>
      <p:sp>
        <p:nvSpPr>
          <p:cNvPr id="23" name="Text 18"/>
          <p:cNvSpPr/>
          <p:nvPr/>
        </p:nvSpPr>
        <p:spPr>
          <a:xfrm>
            <a:off x="868680" y="5413248"/>
            <a:ext cx="10515600" cy="365760"/>
          </a:xfrm>
          <a:prstGeom prst="rect">
            <a:avLst/>
          </a:prstGeom>
          <a:noFill/>
          <a:ln/>
        </p:spPr>
        <p:txBody>
          <a:bodyPr wrap="square" lIns="0" tIns="0" rIns="0" bIns="0" rtlCol="0" anchor="ctr"/>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The goal is not to replace the analyst. The goal is to make the first answer safer, clearer, and easier to review.</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ANATOMY</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What goes inside a harness?</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Short enough to use, clear enough to review.</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08 / 21</a:t>
            </a:r>
            <a:endParaRPr lang="en-US" sz="1000" dirty="0"/>
          </a:p>
        </p:txBody>
      </p:sp>
      <p:sp>
        <p:nvSpPr>
          <p:cNvPr id="9" name="Shape 6"/>
          <p:cNvSpPr/>
          <p:nvPr/>
        </p:nvSpPr>
        <p:spPr>
          <a:xfrm>
            <a:off x="566928" y="1828800"/>
            <a:ext cx="5394960" cy="914400"/>
          </a:xfrm>
          <a:prstGeom prst="roundRect">
            <a:avLst>
              <a:gd name="adj" fmla="val 9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68096" y="2057400"/>
            <a:ext cx="457200" cy="457200"/>
          </a:xfrm>
          <a:prstGeom prst="ellipse">
            <a:avLst/>
          </a:prstGeom>
          <a:solidFill>
            <a:srgbClr val="C0392B"/>
          </a:solidFill>
          <a:ln/>
        </p:spPr>
      </p:sp>
      <p:sp>
        <p:nvSpPr>
          <p:cNvPr id="11" name="Text 8"/>
          <p:cNvSpPr/>
          <p:nvPr/>
        </p:nvSpPr>
        <p:spPr>
          <a:xfrm>
            <a:off x="768096" y="2057400"/>
            <a:ext cx="457200" cy="457200"/>
          </a:xfrm>
          <a:prstGeom prst="rect">
            <a:avLst/>
          </a:prstGeom>
          <a:noFill/>
          <a:ln/>
        </p:spPr>
        <p:txBody>
          <a:bodyPr wrap="square" lIns="0" tIns="0" rIns="0" bIns="0" rtlCol="0" anchor="ctr"/>
          <a:lstStyle/>
          <a:p>
            <a:pPr algn="ctr" indent="0" marL="0">
              <a:buNone/>
            </a:pPr>
            <a:r>
              <a:rPr lang="en-US" sz="1800" b="1" dirty="0">
                <a:solidFill>
                  <a:srgbClr val="003366"/>
                </a:solidFill>
                <a:latin typeface="Source Sans Pro" pitchFamily="34" charset="0"/>
                <a:ea typeface="Source Sans Pro" pitchFamily="34" charset="-122"/>
                <a:cs typeface="Source Sans Pro" pitchFamily="34" charset="-120"/>
              </a:rPr>
              <a:t>1</a:t>
            </a:r>
            <a:endParaRPr lang="en-US" sz="1800" dirty="0"/>
          </a:p>
        </p:txBody>
      </p:sp>
      <p:sp>
        <p:nvSpPr>
          <p:cNvPr id="12" name="Text 9"/>
          <p:cNvSpPr/>
          <p:nvPr/>
        </p:nvSpPr>
        <p:spPr>
          <a:xfrm>
            <a:off x="1389888" y="1975104"/>
            <a:ext cx="4389120" cy="292608"/>
          </a:xfrm>
          <a:prstGeom prst="rect">
            <a:avLst/>
          </a:prstGeom>
          <a:noFill/>
          <a:ln/>
        </p:spPr>
        <p:txBody>
          <a:bodyPr wrap="square" lIns="0" tIns="0" rIns="0" bIns="0" rtlCol="0" anchor="ctr"/>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Business purpose</a:t>
            </a:r>
            <a:endParaRPr lang="en-US" sz="1450" dirty="0"/>
          </a:p>
        </p:txBody>
      </p:sp>
      <p:sp>
        <p:nvSpPr>
          <p:cNvPr id="13" name="Text 10"/>
          <p:cNvSpPr/>
          <p:nvPr/>
        </p:nvSpPr>
        <p:spPr>
          <a:xfrm>
            <a:off x="1389888" y="2286000"/>
            <a:ext cx="4389120" cy="365760"/>
          </a:xfrm>
          <a:prstGeom prst="rect">
            <a:avLst/>
          </a:prstGeom>
          <a:noFill/>
          <a:ln/>
        </p:spPr>
        <p:txBody>
          <a:bodyPr wrap="square" lIns="0" tIns="0" rIns="0" bIns="0" rtlCol="0" anchor="ctr"/>
          <a:lstStyle/>
          <a:p>
            <a:pPr indent="0" marL="0">
              <a:buNone/>
            </a:pPr>
            <a:r>
              <a:rPr lang="en-US" sz="1200" dirty="0">
                <a:solidFill>
                  <a:srgbClr val="505050"/>
                </a:solidFill>
                <a:latin typeface="Source Sans Pro" pitchFamily="34" charset="0"/>
                <a:ea typeface="Source Sans Pro" pitchFamily="34" charset="-122"/>
                <a:cs typeface="Source Sans Pro" pitchFamily="34" charset="-120"/>
              </a:rPr>
              <a:t>What problem are we helping users answer?</a:t>
            </a:r>
            <a:endParaRPr lang="en-US" sz="1200" dirty="0"/>
          </a:p>
        </p:txBody>
      </p:sp>
      <p:sp>
        <p:nvSpPr>
          <p:cNvPr id="14" name="Shape 11"/>
          <p:cNvSpPr/>
          <p:nvPr/>
        </p:nvSpPr>
        <p:spPr>
          <a:xfrm>
            <a:off x="566928" y="2907792"/>
            <a:ext cx="5394960" cy="914400"/>
          </a:xfrm>
          <a:prstGeom prst="roundRect">
            <a:avLst>
              <a:gd name="adj" fmla="val 9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5" name="Shape 12"/>
          <p:cNvSpPr/>
          <p:nvPr/>
        </p:nvSpPr>
        <p:spPr>
          <a:xfrm>
            <a:off x="768096" y="3136392"/>
            <a:ext cx="457200" cy="457200"/>
          </a:xfrm>
          <a:prstGeom prst="ellipse">
            <a:avLst/>
          </a:prstGeom>
          <a:solidFill>
            <a:srgbClr val="C0392B"/>
          </a:solidFill>
          <a:ln/>
        </p:spPr>
      </p:sp>
      <p:sp>
        <p:nvSpPr>
          <p:cNvPr id="16" name="Text 13"/>
          <p:cNvSpPr/>
          <p:nvPr/>
        </p:nvSpPr>
        <p:spPr>
          <a:xfrm>
            <a:off x="768096" y="3136392"/>
            <a:ext cx="457200" cy="457200"/>
          </a:xfrm>
          <a:prstGeom prst="rect">
            <a:avLst/>
          </a:prstGeom>
          <a:noFill/>
          <a:ln/>
        </p:spPr>
        <p:txBody>
          <a:bodyPr wrap="square" lIns="0" tIns="0" rIns="0" bIns="0" rtlCol="0" anchor="ctr"/>
          <a:lstStyle/>
          <a:p>
            <a:pPr algn="ctr" indent="0" marL="0">
              <a:buNone/>
            </a:pPr>
            <a:r>
              <a:rPr lang="en-US" sz="1800" b="1" dirty="0">
                <a:solidFill>
                  <a:srgbClr val="003366"/>
                </a:solidFill>
                <a:latin typeface="Source Sans Pro" pitchFamily="34" charset="0"/>
                <a:ea typeface="Source Sans Pro" pitchFamily="34" charset="-122"/>
                <a:cs typeface="Source Sans Pro" pitchFamily="34" charset="-120"/>
              </a:rPr>
              <a:t>2</a:t>
            </a:r>
            <a:endParaRPr lang="en-US" sz="1800" dirty="0"/>
          </a:p>
        </p:txBody>
      </p:sp>
      <p:sp>
        <p:nvSpPr>
          <p:cNvPr id="17" name="Text 14"/>
          <p:cNvSpPr/>
          <p:nvPr/>
        </p:nvSpPr>
        <p:spPr>
          <a:xfrm>
            <a:off x="1389888" y="3054096"/>
            <a:ext cx="4389120" cy="292608"/>
          </a:xfrm>
          <a:prstGeom prst="rect">
            <a:avLst/>
          </a:prstGeom>
          <a:noFill/>
          <a:ln/>
        </p:spPr>
        <p:txBody>
          <a:bodyPr wrap="square" lIns="0" tIns="0" rIns="0" bIns="0" rtlCol="0" anchor="ctr"/>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Trusted data products</a:t>
            </a:r>
            <a:endParaRPr lang="en-US" sz="1450" dirty="0"/>
          </a:p>
        </p:txBody>
      </p:sp>
      <p:sp>
        <p:nvSpPr>
          <p:cNvPr id="18" name="Text 15"/>
          <p:cNvSpPr/>
          <p:nvPr/>
        </p:nvSpPr>
        <p:spPr>
          <a:xfrm>
            <a:off x="1389888" y="3364992"/>
            <a:ext cx="4389120" cy="365760"/>
          </a:xfrm>
          <a:prstGeom prst="rect">
            <a:avLst/>
          </a:prstGeom>
          <a:noFill/>
          <a:ln/>
        </p:spPr>
        <p:txBody>
          <a:bodyPr wrap="square" lIns="0" tIns="0" rIns="0" bIns="0" rtlCol="0" anchor="ctr"/>
          <a:lstStyle/>
          <a:p>
            <a:pPr indent="0" marL="0">
              <a:buNone/>
            </a:pPr>
            <a:r>
              <a:rPr lang="en-US" sz="1200" dirty="0">
                <a:solidFill>
                  <a:srgbClr val="505050"/>
                </a:solidFill>
                <a:latin typeface="Source Sans Pro" pitchFamily="34" charset="0"/>
                <a:ea typeface="Source Sans Pro" pitchFamily="34" charset="-122"/>
                <a:cs typeface="Source Sans Pro" pitchFamily="34" charset="-120"/>
              </a:rPr>
              <a:t>Which tables, views, or metrics are in scope?</a:t>
            </a:r>
            <a:endParaRPr lang="en-US" sz="1200" dirty="0"/>
          </a:p>
        </p:txBody>
      </p:sp>
      <p:sp>
        <p:nvSpPr>
          <p:cNvPr id="19" name="Shape 16"/>
          <p:cNvSpPr/>
          <p:nvPr/>
        </p:nvSpPr>
        <p:spPr>
          <a:xfrm>
            <a:off x="566928" y="3986784"/>
            <a:ext cx="5394960" cy="914400"/>
          </a:xfrm>
          <a:prstGeom prst="roundRect">
            <a:avLst>
              <a:gd name="adj" fmla="val 9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0" name="Shape 17"/>
          <p:cNvSpPr/>
          <p:nvPr/>
        </p:nvSpPr>
        <p:spPr>
          <a:xfrm>
            <a:off x="768096" y="4215384"/>
            <a:ext cx="457200" cy="457200"/>
          </a:xfrm>
          <a:prstGeom prst="ellipse">
            <a:avLst/>
          </a:prstGeom>
          <a:solidFill>
            <a:srgbClr val="C0392B"/>
          </a:solidFill>
          <a:ln/>
        </p:spPr>
      </p:sp>
      <p:sp>
        <p:nvSpPr>
          <p:cNvPr id="21" name="Text 18"/>
          <p:cNvSpPr/>
          <p:nvPr/>
        </p:nvSpPr>
        <p:spPr>
          <a:xfrm>
            <a:off x="768096" y="4215384"/>
            <a:ext cx="457200" cy="457200"/>
          </a:xfrm>
          <a:prstGeom prst="rect">
            <a:avLst/>
          </a:prstGeom>
          <a:noFill/>
          <a:ln/>
        </p:spPr>
        <p:txBody>
          <a:bodyPr wrap="square" lIns="0" tIns="0" rIns="0" bIns="0" rtlCol="0" anchor="ctr"/>
          <a:lstStyle/>
          <a:p>
            <a:pPr algn="ctr" indent="0" marL="0">
              <a:buNone/>
            </a:pPr>
            <a:r>
              <a:rPr lang="en-US" sz="1800" b="1" dirty="0">
                <a:solidFill>
                  <a:srgbClr val="003366"/>
                </a:solidFill>
                <a:latin typeface="Source Sans Pro" pitchFamily="34" charset="0"/>
                <a:ea typeface="Source Sans Pro" pitchFamily="34" charset="-122"/>
                <a:cs typeface="Source Sans Pro" pitchFamily="34" charset="-120"/>
              </a:rPr>
              <a:t>3</a:t>
            </a:r>
            <a:endParaRPr lang="en-US" sz="1800" dirty="0"/>
          </a:p>
        </p:txBody>
      </p:sp>
      <p:sp>
        <p:nvSpPr>
          <p:cNvPr id="22" name="Text 19"/>
          <p:cNvSpPr/>
          <p:nvPr/>
        </p:nvSpPr>
        <p:spPr>
          <a:xfrm>
            <a:off x="1389888" y="4133088"/>
            <a:ext cx="4389120" cy="292608"/>
          </a:xfrm>
          <a:prstGeom prst="rect">
            <a:avLst/>
          </a:prstGeom>
          <a:noFill/>
          <a:ln/>
        </p:spPr>
        <p:txBody>
          <a:bodyPr wrap="square" lIns="0" tIns="0" rIns="0" bIns="0" rtlCol="0" anchor="ctr"/>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Definitions</a:t>
            </a:r>
            <a:endParaRPr lang="en-US" sz="1450" dirty="0"/>
          </a:p>
        </p:txBody>
      </p:sp>
      <p:sp>
        <p:nvSpPr>
          <p:cNvPr id="23" name="Text 20"/>
          <p:cNvSpPr/>
          <p:nvPr/>
        </p:nvSpPr>
        <p:spPr>
          <a:xfrm>
            <a:off x="1389888" y="4443984"/>
            <a:ext cx="4389120" cy="365760"/>
          </a:xfrm>
          <a:prstGeom prst="rect">
            <a:avLst/>
          </a:prstGeom>
          <a:noFill/>
          <a:ln/>
        </p:spPr>
        <p:txBody>
          <a:bodyPr wrap="square" lIns="0" tIns="0" rIns="0" bIns="0" rtlCol="0" anchor="ctr"/>
          <a:lstStyle/>
          <a:p>
            <a:pPr indent="0" marL="0">
              <a:buNone/>
            </a:pPr>
            <a:r>
              <a:rPr lang="en-US" sz="1200" dirty="0">
                <a:solidFill>
                  <a:srgbClr val="505050"/>
                </a:solidFill>
                <a:latin typeface="Source Sans Pro" pitchFamily="34" charset="0"/>
                <a:ea typeface="Source Sans Pro" pitchFamily="34" charset="-122"/>
                <a:cs typeface="Source Sans Pro" pitchFamily="34" charset="-120"/>
              </a:rPr>
              <a:t>What do key terms and counts mean?</a:t>
            </a:r>
            <a:endParaRPr lang="en-US" sz="1200" dirty="0"/>
          </a:p>
        </p:txBody>
      </p:sp>
      <p:sp>
        <p:nvSpPr>
          <p:cNvPr id="24" name="Shape 21"/>
          <p:cNvSpPr/>
          <p:nvPr/>
        </p:nvSpPr>
        <p:spPr>
          <a:xfrm>
            <a:off x="6236208" y="1828800"/>
            <a:ext cx="5394960" cy="914400"/>
          </a:xfrm>
          <a:prstGeom prst="roundRect">
            <a:avLst>
              <a:gd name="adj" fmla="val 9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5" name="Shape 22"/>
          <p:cNvSpPr/>
          <p:nvPr/>
        </p:nvSpPr>
        <p:spPr>
          <a:xfrm>
            <a:off x="6437376" y="2057400"/>
            <a:ext cx="457200" cy="457200"/>
          </a:xfrm>
          <a:prstGeom prst="ellipse">
            <a:avLst/>
          </a:prstGeom>
          <a:solidFill>
            <a:srgbClr val="C0392B"/>
          </a:solidFill>
          <a:ln/>
        </p:spPr>
      </p:sp>
      <p:sp>
        <p:nvSpPr>
          <p:cNvPr id="26" name="Text 23"/>
          <p:cNvSpPr/>
          <p:nvPr/>
        </p:nvSpPr>
        <p:spPr>
          <a:xfrm>
            <a:off x="6437376" y="2057400"/>
            <a:ext cx="457200" cy="457200"/>
          </a:xfrm>
          <a:prstGeom prst="rect">
            <a:avLst/>
          </a:prstGeom>
          <a:noFill/>
          <a:ln/>
        </p:spPr>
        <p:txBody>
          <a:bodyPr wrap="square" lIns="0" tIns="0" rIns="0" bIns="0" rtlCol="0" anchor="ctr"/>
          <a:lstStyle/>
          <a:p>
            <a:pPr algn="ctr" indent="0" marL="0">
              <a:buNone/>
            </a:pPr>
            <a:r>
              <a:rPr lang="en-US" sz="1800" b="1" dirty="0">
                <a:solidFill>
                  <a:srgbClr val="003366"/>
                </a:solidFill>
                <a:latin typeface="Source Sans Pro" pitchFamily="34" charset="0"/>
                <a:ea typeface="Source Sans Pro" pitchFamily="34" charset="-122"/>
                <a:cs typeface="Source Sans Pro" pitchFamily="34" charset="-120"/>
              </a:rPr>
              <a:t>4</a:t>
            </a:r>
            <a:endParaRPr lang="en-US" sz="1800" dirty="0"/>
          </a:p>
        </p:txBody>
      </p:sp>
      <p:sp>
        <p:nvSpPr>
          <p:cNvPr id="27" name="Text 24"/>
          <p:cNvSpPr/>
          <p:nvPr/>
        </p:nvSpPr>
        <p:spPr>
          <a:xfrm>
            <a:off x="7059168" y="1975104"/>
            <a:ext cx="4389120" cy="292608"/>
          </a:xfrm>
          <a:prstGeom prst="rect">
            <a:avLst/>
          </a:prstGeom>
          <a:noFill/>
          <a:ln/>
        </p:spPr>
        <p:txBody>
          <a:bodyPr wrap="square" lIns="0" tIns="0" rIns="0" bIns="0" rtlCol="0" anchor="ctr"/>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Caveats</a:t>
            </a:r>
            <a:endParaRPr lang="en-US" sz="1450" dirty="0"/>
          </a:p>
        </p:txBody>
      </p:sp>
      <p:sp>
        <p:nvSpPr>
          <p:cNvPr id="28" name="Text 25"/>
          <p:cNvSpPr/>
          <p:nvPr/>
        </p:nvSpPr>
        <p:spPr>
          <a:xfrm>
            <a:off x="7059168" y="2286000"/>
            <a:ext cx="4389120" cy="365760"/>
          </a:xfrm>
          <a:prstGeom prst="rect">
            <a:avLst/>
          </a:prstGeom>
          <a:noFill/>
          <a:ln/>
        </p:spPr>
        <p:txBody>
          <a:bodyPr wrap="square" lIns="0" tIns="0" rIns="0" bIns="0" rtlCol="0" anchor="ctr"/>
          <a:lstStyle/>
          <a:p>
            <a:pPr indent="0" marL="0">
              <a:buNone/>
            </a:pPr>
            <a:r>
              <a:rPr lang="en-US" sz="1200" dirty="0">
                <a:solidFill>
                  <a:srgbClr val="505050"/>
                </a:solidFill>
                <a:latin typeface="Source Sans Pro" pitchFamily="34" charset="0"/>
                <a:ea typeface="Source Sans Pro" pitchFamily="34" charset="-122"/>
                <a:cs typeface="Source Sans Pro" pitchFamily="34" charset="-120"/>
              </a:rPr>
              <a:t>What limits, lag, or quality issues matter?</a:t>
            </a:r>
            <a:endParaRPr lang="en-US" sz="1200" dirty="0"/>
          </a:p>
        </p:txBody>
      </p:sp>
      <p:sp>
        <p:nvSpPr>
          <p:cNvPr id="29" name="Shape 26"/>
          <p:cNvSpPr/>
          <p:nvPr/>
        </p:nvSpPr>
        <p:spPr>
          <a:xfrm>
            <a:off x="6236208" y="2907792"/>
            <a:ext cx="5394960" cy="914400"/>
          </a:xfrm>
          <a:prstGeom prst="roundRect">
            <a:avLst>
              <a:gd name="adj" fmla="val 9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0" name="Shape 27"/>
          <p:cNvSpPr/>
          <p:nvPr/>
        </p:nvSpPr>
        <p:spPr>
          <a:xfrm>
            <a:off x="6437376" y="3136392"/>
            <a:ext cx="457200" cy="457200"/>
          </a:xfrm>
          <a:prstGeom prst="ellipse">
            <a:avLst/>
          </a:prstGeom>
          <a:solidFill>
            <a:srgbClr val="C0392B"/>
          </a:solidFill>
          <a:ln/>
        </p:spPr>
      </p:sp>
      <p:sp>
        <p:nvSpPr>
          <p:cNvPr id="31" name="Text 28"/>
          <p:cNvSpPr/>
          <p:nvPr/>
        </p:nvSpPr>
        <p:spPr>
          <a:xfrm>
            <a:off x="6437376" y="3136392"/>
            <a:ext cx="457200" cy="457200"/>
          </a:xfrm>
          <a:prstGeom prst="rect">
            <a:avLst/>
          </a:prstGeom>
          <a:noFill/>
          <a:ln/>
        </p:spPr>
        <p:txBody>
          <a:bodyPr wrap="square" lIns="0" tIns="0" rIns="0" bIns="0" rtlCol="0" anchor="ctr"/>
          <a:lstStyle/>
          <a:p>
            <a:pPr algn="ctr" indent="0" marL="0">
              <a:buNone/>
            </a:pPr>
            <a:r>
              <a:rPr lang="en-US" sz="1800" b="1" dirty="0">
                <a:solidFill>
                  <a:srgbClr val="003366"/>
                </a:solidFill>
                <a:latin typeface="Source Sans Pro" pitchFamily="34" charset="0"/>
                <a:ea typeface="Source Sans Pro" pitchFamily="34" charset="-122"/>
                <a:cs typeface="Source Sans Pro" pitchFamily="34" charset="-120"/>
              </a:rPr>
              <a:t>5</a:t>
            </a:r>
            <a:endParaRPr lang="en-US" sz="1800" dirty="0"/>
          </a:p>
        </p:txBody>
      </p:sp>
      <p:sp>
        <p:nvSpPr>
          <p:cNvPr id="32" name="Text 29"/>
          <p:cNvSpPr/>
          <p:nvPr/>
        </p:nvSpPr>
        <p:spPr>
          <a:xfrm>
            <a:off x="7059168" y="3054096"/>
            <a:ext cx="4389120" cy="292608"/>
          </a:xfrm>
          <a:prstGeom prst="rect">
            <a:avLst/>
          </a:prstGeom>
          <a:noFill/>
          <a:ln/>
        </p:spPr>
        <p:txBody>
          <a:bodyPr wrap="square" lIns="0" tIns="0" rIns="0" bIns="0" rtlCol="0" anchor="ctr"/>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Answer expectations</a:t>
            </a:r>
            <a:endParaRPr lang="en-US" sz="1450" dirty="0"/>
          </a:p>
        </p:txBody>
      </p:sp>
      <p:sp>
        <p:nvSpPr>
          <p:cNvPr id="33" name="Text 30"/>
          <p:cNvSpPr/>
          <p:nvPr/>
        </p:nvSpPr>
        <p:spPr>
          <a:xfrm>
            <a:off x="7059168" y="3364992"/>
            <a:ext cx="4389120" cy="365760"/>
          </a:xfrm>
          <a:prstGeom prst="rect">
            <a:avLst/>
          </a:prstGeom>
          <a:noFill/>
          <a:ln/>
        </p:spPr>
        <p:txBody>
          <a:bodyPr wrap="square" lIns="0" tIns="0" rIns="0" bIns="0" rtlCol="0" anchor="ctr"/>
          <a:lstStyle/>
          <a:p>
            <a:pPr indent="0" marL="0">
              <a:buNone/>
            </a:pPr>
            <a:r>
              <a:rPr lang="en-US" sz="1200" dirty="0">
                <a:solidFill>
                  <a:srgbClr val="505050"/>
                </a:solidFill>
                <a:latin typeface="Source Sans Pro" pitchFamily="34" charset="0"/>
                <a:ea typeface="Source Sans Pro" pitchFamily="34" charset="-122"/>
                <a:cs typeface="Source Sans Pro" pitchFamily="34" charset="-120"/>
              </a:rPr>
              <a:t>What should a good answer include?</a:t>
            </a:r>
            <a:endParaRPr lang="en-US" sz="1200" dirty="0"/>
          </a:p>
        </p:txBody>
      </p:sp>
      <p:sp>
        <p:nvSpPr>
          <p:cNvPr id="34" name="Shape 31"/>
          <p:cNvSpPr/>
          <p:nvPr/>
        </p:nvSpPr>
        <p:spPr>
          <a:xfrm>
            <a:off x="6236208" y="3986784"/>
            <a:ext cx="5394960" cy="914400"/>
          </a:xfrm>
          <a:prstGeom prst="roundRect">
            <a:avLst>
              <a:gd name="adj" fmla="val 9000"/>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5" name="Shape 32"/>
          <p:cNvSpPr/>
          <p:nvPr/>
        </p:nvSpPr>
        <p:spPr>
          <a:xfrm>
            <a:off x="6437376" y="4215384"/>
            <a:ext cx="457200" cy="457200"/>
          </a:xfrm>
          <a:prstGeom prst="ellipse">
            <a:avLst/>
          </a:prstGeom>
          <a:solidFill>
            <a:srgbClr val="C0392B"/>
          </a:solidFill>
          <a:ln/>
        </p:spPr>
      </p:sp>
      <p:sp>
        <p:nvSpPr>
          <p:cNvPr id="36" name="Text 33"/>
          <p:cNvSpPr/>
          <p:nvPr/>
        </p:nvSpPr>
        <p:spPr>
          <a:xfrm>
            <a:off x="6437376" y="4215384"/>
            <a:ext cx="457200" cy="457200"/>
          </a:xfrm>
          <a:prstGeom prst="rect">
            <a:avLst/>
          </a:prstGeom>
          <a:noFill/>
          <a:ln/>
        </p:spPr>
        <p:txBody>
          <a:bodyPr wrap="square" lIns="0" tIns="0" rIns="0" bIns="0" rtlCol="0" anchor="ctr"/>
          <a:lstStyle/>
          <a:p>
            <a:pPr algn="ctr" indent="0" marL="0">
              <a:buNone/>
            </a:pPr>
            <a:r>
              <a:rPr lang="en-US" sz="1800" b="1" dirty="0">
                <a:solidFill>
                  <a:srgbClr val="003366"/>
                </a:solidFill>
                <a:latin typeface="Source Sans Pro" pitchFamily="34" charset="0"/>
                <a:ea typeface="Source Sans Pro" pitchFamily="34" charset="-122"/>
                <a:cs typeface="Source Sans Pro" pitchFamily="34" charset="-120"/>
              </a:rPr>
              <a:t>6</a:t>
            </a:r>
            <a:endParaRPr lang="en-US" sz="1800" dirty="0"/>
          </a:p>
        </p:txBody>
      </p:sp>
      <p:sp>
        <p:nvSpPr>
          <p:cNvPr id="37" name="Text 34"/>
          <p:cNvSpPr/>
          <p:nvPr/>
        </p:nvSpPr>
        <p:spPr>
          <a:xfrm>
            <a:off x="7059168" y="4133088"/>
            <a:ext cx="4389120" cy="292608"/>
          </a:xfrm>
          <a:prstGeom prst="rect">
            <a:avLst/>
          </a:prstGeom>
          <a:noFill/>
          <a:ln/>
        </p:spPr>
        <p:txBody>
          <a:bodyPr wrap="square" lIns="0" tIns="0" rIns="0" bIns="0" rtlCol="0" anchor="ctr"/>
          <a:lstStyle/>
          <a:p>
            <a:pPr indent="0" marL="0">
              <a:buNone/>
            </a:pPr>
            <a:r>
              <a:rPr lang="en-US" sz="1450" b="1" dirty="0">
                <a:solidFill>
                  <a:srgbClr val="003366"/>
                </a:solidFill>
                <a:latin typeface="Source Sans Pro" pitchFamily="34" charset="0"/>
                <a:ea typeface="Source Sans Pro" pitchFamily="34" charset="-122"/>
                <a:cs typeface="Source Sans Pro" pitchFamily="34" charset="-120"/>
              </a:rPr>
              <a:t>Review ownership</a:t>
            </a:r>
            <a:endParaRPr lang="en-US" sz="1450" dirty="0"/>
          </a:p>
        </p:txBody>
      </p:sp>
      <p:sp>
        <p:nvSpPr>
          <p:cNvPr id="38" name="Text 35"/>
          <p:cNvSpPr/>
          <p:nvPr/>
        </p:nvSpPr>
        <p:spPr>
          <a:xfrm>
            <a:off x="7059168" y="4443984"/>
            <a:ext cx="4389120" cy="365760"/>
          </a:xfrm>
          <a:prstGeom prst="rect">
            <a:avLst/>
          </a:prstGeom>
          <a:noFill/>
          <a:ln/>
        </p:spPr>
        <p:txBody>
          <a:bodyPr wrap="square" lIns="0" tIns="0" rIns="0" bIns="0" rtlCol="0" anchor="ctr"/>
          <a:lstStyle/>
          <a:p>
            <a:pPr indent="0" marL="0">
              <a:buNone/>
            </a:pPr>
            <a:r>
              <a:rPr lang="en-US" sz="1200" dirty="0">
                <a:solidFill>
                  <a:srgbClr val="505050"/>
                </a:solidFill>
                <a:latin typeface="Source Sans Pro" pitchFamily="34" charset="0"/>
                <a:ea typeface="Source Sans Pro" pitchFamily="34" charset="-122"/>
                <a:cs typeface="Source Sans Pro" pitchFamily="34" charset="-120"/>
              </a:rPr>
              <a:t>Who validates meaning and usage?</a:t>
            </a:r>
            <a:endParaRPr lang="en-US" sz="1200" dirty="0"/>
          </a:p>
        </p:txBody>
      </p:sp>
      <p:sp>
        <p:nvSpPr>
          <p:cNvPr id="39" name="Shape 36"/>
          <p:cNvSpPr/>
          <p:nvPr/>
        </p:nvSpPr>
        <p:spPr>
          <a:xfrm>
            <a:off x="566928" y="5193792"/>
            <a:ext cx="11055096" cy="713232"/>
          </a:xfrm>
          <a:prstGeom prst="roundRect">
            <a:avLst>
              <a:gd name="adj" fmla="val 11538"/>
            </a:avLst>
          </a:prstGeom>
          <a:solidFill>
            <a:srgbClr val="003366"/>
          </a:solidFill>
          <a:ln w="12700">
            <a:solidFill>
              <a:srgbClr val="003366"/>
            </a:solidFill>
            <a:prstDash val="solid"/>
          </a:ln>
        </p:spPr>
      </p:sp>
      <p:sp>
        <p:nvSpPr>
          <p:cNvPr id="40" name="Text 37"/>
          <p:cNvSpPr/>
          <p:nvPr/>
        </p:nvSpPr>
        <p:spPr>
          <a:xfrm>
            <a:off x="868680" y="5376672"/>
            <a:ext cx="10515600" cy="365760"/>
          </a:xfrm>
          <a:prstGeom prst="rect">
            <a:avLst/>
          </a:prstGeom>
          <a:noFill/>
          <a:ln/>
        </p:spPr>
        <p:txBody>
          <a:bodyPr wrap="square" lIns="0" tIns="0" rIns="0" bIns="0" rtlCol="0" anchor="ctr"/>
          <a:lstStyle/>
          <a:p>
            <a:pPr indent="0" marL="0">
              <a:buNone/>
            </a:pPr>
            <a:r>
              <a:rPr lang="en-US" sz="1400" b="1" spc="200" kern="0" dirty="0">
                <a:solidFill>
                  <a:srgbClr val="C0392B"/>
                </a:solidFill>
                <a:latin typeface="Source Sans Pro" pitchFamily="34" charset="0"/>
                <a:ea typeface="Source Sans Pro" pitchFamily="34" charset="-122"/>
                <a:cs typeface="Source Sans Pro" pitchFamily="34" charset="-120"/>
              </a:rPr>
              <a:t>DESIGN RULE   </a:t>
            </a:r>
            <a:pPr indent="0" marL="0">
              <a:buNone/>
            </a:pPr>
            <a:r>
              <a:rPr lang="en-US" sz="1400" dirty="0">
                <a:solidFill>
                  <a:srgbClr val="FFFFFF"/>
                </a:solidFill>
                <a:latin typeface="Source Sans Pro" pitchFamily="34" charset="0"/>
                <a:ea typeface="Source Sans Pro" pitchFamily="34" charset="-122"/>
                <a:cs typeface="Source Sans Pro" pitchFamily="34" charset="-120"/>
              </a:rPr>
              <a:t>Build it as a human-readable playbook first. Technical forms can come later.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THE BUILD</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How to build a harness</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Six practical steps — no overengineering required.</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09 / 21</a:t>
            </a:r>
            <a:endParaRPr lang="en-US" sz="1000" dirty="0"/>
          </a:p>
        </p:txBody>
      </p:sp>
      <p:sp>
        <p:nvSpPr>
          <p:cNvPr id="9" name="Shape 6"/>
          <p:cNvSpPr/>
          <p:nvPr/>
        </p:nvSpPr>
        <p:spPr>
          <a:xfrm>
            <a:off x="566928" y="187452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68096" y="2057400"/>
            <a:ext cx="420624" cy="420624"/>
          </a:xfrm>
          <a:prstGeom prst="ellipse">
            <a:avLst/>
          </a:prstGeom>
          <a:solidFill>
            <a:srgbClr val="003366"/>
          </a:solidFill>
          <a:ln/>
        </p:spPr>
      </p:sp>
      <p:pic>
        <p:nvPicPr>
          <p:cNvPr id="11" name="Image 1" descr="preencoded.png">    </p:cNvPr>
          <p:cNvPicPr>
            <a:picLocks noChangeAspect="1"/>
          </p:cNvPicPr>
          <p:nvPr/>
        </p:nvPicPr>
        <p:blipFill>
          <a:blip r:embed="rId2"/>
          <a:stretch>
            <a:fillRect/>
          </a:stretch>
        </p:blipFill>
        <p:spPr>
          <a:xfrm>
            <a:off x="860633" y="2149937"/>
            <a:ext cx="235549" cy="235549"/>
          </a:xfrm>
          <a:prstGeom prst="rect">
            <a:avLst/>
          </a:prstGeom>
        </p:spPr>
      </p:pic>
      <p:sp>
        <p:nvSpPr>
          <p:cNvPr id="12" name="Text 8"/>
          <p:cNvSpPr/>
          <p:nvPr/>
        </p:nvSpPr>
        <p:spPr>
          <a:xfrm>
            <a:off x="1298448" y="2093976"/>
            <a:ext cx="2615184" cy="384048"/>
          </a:xfrm>
          <a:prstGeom prst="rect">
            <a:avLst/>
          </a:prstGeom>
          <a:noFill/>
          <a:ln/>
        </p:spPr>
        <p:txBody>
          <a:bodyPr wrap="square" lIns="0" tIns="0" rIns="0" bIns="0" rtlCol="0" anchor="t"/>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1.  Pick one use case</a:t>
            </a:r>
            <a:endParaRPr lang="en-US" sz="1350" dirty="0"/>
          </a:p>
        </p:txBody>
      </p:sp>
      <p:sp>
        <p:nvSpPr>
          <p:cNvPr id="13" name="Text 9"/>
          <p:cNvSpPr/>
          <p:nvPr/>
        </p:nvSpPr>
        <p:spPr>
          <a:xfrm>
            <a:off x="768096" y="2551176"/>
            <a:ext cx="3127248"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One familiar, low-risk data product or dashboard question.</a:t>
            </a:r>
            <a:endParaRPr lang="en-US" sz="1150" dirty="0"/>
          </a:p>
        </p:txBody>
      </p:sp>
      <p:sp>
        <p:nvSpPr>
          <p:cNvPr id="14" name="Shape 10"/>
          <p:cNvSpPr/>
          <p:nvPr/>
        </p:nvSpPr>
        <p:spPr>
          <a:xfrm>
            <a:off x="4114800" y="2496312"/>
            <a:ext cx="182880" cy="237744"/>
          </a:xfrm>
          <a:prstGeom prst="rightArrow">
            <a:avLst/>
          </a:prstGeom>
          <a:solidFill>
            <a:srgbClr val="C0392B"/>
          </a:solidFill>
          <a:ln/>
        </p:spPr>
      </p:sp>
      <p:sp>
        <p:nvSpPr>
          <p:cNvPr id="15" name="Shape 11"/>
          <p:cNvSpPr/>
          <p:nvPr/>
        </p:nvSpPr>
        <p:spPr>
          <a:xfrm>
            <a:off x="4325112" y="187452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6" name="Shape 12"/>
          <p:cNvSpPr/>
          <p:nvPr/>
        </p:nvSpPr>
        <p:spPr>
          <a:xfrm>
            <a:off x="4526280" y="2057400"/>
            <a:ext cx="420624" cy="420624"/>
          </a:xfrm>
          <a:prstGeom prst="ellipse">
            <a:avLst/>
          </a:prstGeom>
          <a:solidFill>
            <a:srgbClr val="003366"/>
          </a:solidFill>
          <a:ln/>
        </p:spPr>
      </p:sp>
      <p:pic>
        <p:nvPicPr>
          <p:cNvPr id="17" name="Image 2" descr="preencoded.png">    </p:cNvPr>
          <p:cNvPicPr>
            <a:picLocks noChangeAspect="1"/>
          </p:cNvPicPr>
          <p:nvPr/>
        </p:nvPicPr>
        <p:blipFill>
          <a:blip r:embed="rId3"/>
          <a:stretch>
            <a:fillRect/>
          </a:stretch>
        </p:blipFill>
        <p:spPr>
          <a:xfrm>
            <a:off x="4618817" y="2149937"/>
            <a:ext cx="235549" cy="235549"/>
          </a:xfrm>
          <a:prstGeom prst="rect">
            <a:avLst/>
          </a:prstGeom>
        </p:spPr>
      </p:pic>
      <p:sp>
        <p:nvSpPr>
          <p:cNvPr id="18" name="Text 13"/>
          <p:cNvSpPr/>
          <p:nvPr/>
        </p:nvSpPr>
        <p:spPr>
          <a:xfrm>
            <a:off x="5056632" y="2093976"/>
            <a:ext cx="2615184" cy="384048"/>
          </a:xfrm>
          <a:prstGeom prst="rect">
            <a:avLst/>
          </a:prstGeom>
          <a:noFill/>
          <a:ln/>
        </p:spPr>
        <p:txBody>
          <a:bodyPr wrap="square" lIns="0" tIns="0" rIns="0" bIns="0" rtlCol="0" anchor="t"/>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2.  Name the reviewers</a:t>
            </a:r>
            <a:endParaRPr lang="en-US" sz="1350" dirty="0"/>
          </a:p>
        </p:txBody>
      </p:sp>
      <p:sp>
        <p:nvSpPr>
          <p:cNvPr id="19" name="Text 14"/>
          <p:cNvSpPr/>
          <p:nvPr/>
        </p:nvSpPr>
        <p:spPr>
          <a:xfrm>
            <a:off x="4526280" y="2551176"/>
            <a:ext cx="3127248"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A data steward plus an analytics validator.</a:t>
            </a:r>
            <a:endParaRPr lang="en-US" sz="1150" dirty="0"/>
          </a:p>
        </p:txBody>
      </p:sp>
      <p:sp>
        <p:nvSpPr>
          <p:cNvPr id="20" name="Shape 15"/>
          <p:cNvSpPr/>
          <p:nvPr/>
        </p:nvSpPr>
        <p:spPr>
          <a:xfrm>
            <a:off x="7872984" y="2496312"/>
            <a:ext cx="182880" cy="237744"/>
          </a:xfrm>
          <a:prstGeom prst="rightArrow">
            <a:avLst/>
          </a:prstGeom>
          <a:solidFill>
            <a:srgbClr val="C0392B"/>
          </a:solidFill>
          <a:ln/>
        </p:spPr>
      </p:sp>
      <p:sp>
        <p:nvSpPr>
          <p:cNvPr id="21" name="Shape 16"/>
          <p:cNvSpPr/>
          <p:nvPr/>
        </p:nvSpPr>
        <p:spPr>
          <a:xfrm>
            <a:off x="8083296" y="187452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2" name="Shape 17"/>
          <p:cNvSpPr/>
          <p:nvPr/>
        </p:nvSpPr>
        <p:spPr>
          <a:xfrm>
            <a:off x="8284464" y="2057400"/>
            <a:ext cx="420624" cy="420624"/>
          </a:xfrm>
          <a:prstGeom prst="ellipse">
            <a:avLst/>
          </a:prstGeom>
          <a:solidFill>
            <a:srgbClr val="003366"/>
          </a:solidFill>
          <a:ln/>
        </p:spPr>
      </p:sp>
      <p:pic>
        <p:nvPicPr>
          <p:cNvPr id="23" name="Image 3" descr="preencoded.png">    </p:cNvPr>
          <p:cNvPicPr>
            <a:picLocks noChangeAspect="1"/>
          </p:cNvPicPr>
          <p:nvPr/>
        </p:nvPicPr>
        <p:blipFill>
          <a:blip r:embed="rId4"/>
          <a:stretch>
            <a:fillRect/>
          </a:stretch>
        </p:blipFill>
        <p:spPr>
          <a:xfrm>
            <a:off x="8377001" y="2149937"/>
            <a:ext cx="235549" cy="235549"/>
          </a:xfrm>
          <a:prstGeom prst="rect">
            <a:avLst/>
          </a:prstGeom>
        </p:spPr>
      </p:pic>
      <p:sp>
        <p:nvSpPr>
          <p:cNvPr id="24" name="Text 18"/>
          <p:cNvSpPr/>
          <p:nvPr/>
        </p:nvSpPr>
        <p:spPr>
          <a:xfrm>
            <a:off x="8814816" y="2093976"/>
            <a:ext cx="2615184" cy="384048"/>
          </a:xfrm>
          <a:prstGeom prst="rect">
            <a:avLst/>
          </a:prstGeom>
          <a:noFill/>
          <a:ln/>
        </p:spPr>
        <p:txBody>
          <a:bodyPr wrap="square" lIns="0" tIns="0" rIns="0" bIns="0" rtlCol="0" anchor="t"/>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3.  Write the meaning</a:t>
            </a:r>
            <a:endParaRPr lang="en-US" sz="1350" dirty="0"/>
          </a:p>
        </p:txBody>
      </p:sp>
      <p:sp>
        <p:nvSpPr>
          <p:cNvPr id="25" name="Text 19"/>
          <p:cNvSpPr/>
          <p:nvPr/>
        </p:nvSpPr>
        <p:spPr>
          <a:xfrm>
            <a:off x="8284464" y="2551176"/>
            <a:ext cx="3127248"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Definitions, caveats, scope, owners, refresh timing.</a:t>
            </a:r>
            <a:endParaRPr lang="en-US" sz="1150" dirty="0"/>
          </a:p>
        </p:txBody>
      </p:sp>
      <p:sp>
        <p:nvSpPr>
          <p:cNvPr id="26" name="Shape 20"/>
          <p:cNvSpPr/>
          <p:nvPr/>
        </p:nvSpPr>
        <p:spPr>
          <a:xfrm>
            <a:off x="566928" y="356616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7" name="Shape 21"/>
          <p:cNvSpPr/>
          <p:nvPr/>
        </p:nvSpPr>
        <p:spPr>
          <a:xfrm>
            <a:off x="768096" y="3749040"/>
            <a:ext cx="420624" cy="420624"/>
          </a:xfrm>
          <a:prstGeom prst="ellipse">
            <a:avLst/>
          </a:prstGeom>
          <a:solidFill>
            <a:srgbClr val="006699"/>
          </a:solidFill>
          <a:ln/>
        </p:spPr>
      </p:sp>
      <p:pic>
        <p:nvPicPr>
          <p:cNvPr id="28" name="Image 4" descr="preencoded.png">    </p:cNvPr>
          <p:cNvPicPr>
            <a:picLocks noChangeAspect="1"/>
          </p:cNvPicPr>
          <p:nvPr/>
        </p:nvPicPr>
        <p:blipFill>
          <a:blip r:embed="rId5"/>
          <a:stretch>
            <a:fillRect/>
          </a:stretch>
        </p:blipFill>
        <p:spPr>
          <a:xfrm>
            <a:off x="860633" y="3841577"/>
            <a:ext cx="235549" cy="235549"/>
          </a:xfrm>
          <a:prstGeom prst="rect">
            <a:avLst/>
          </a:prstGeom>
        </p:spPr>
      </p:pic>
      <p:sp>
        <p:nvSpPr>
          <p:cNvPr id="29" name="Text 22"/>
          <p:cNvSpPr/>
          <p:nvPr/>
        </p:nvSpPr>
        <p:spPr>
          <a:xfrm>
            <a:off x="1298448" y="3785616"/>
            <a:ext cx="2615184" cy="384048"/>
          </a:xfrm>
          <a:prstGeom prst="rect">
            <a:avLst/>
          </a:prstGeom>
          <a:noFill/>
          <a:ln/>
        </p:spPr>
        <p:txBody>
          <a:bodyPr wrap="square" lIns="0" tIns="0" rIns="0" bIns="0" rtlCol="0" anchor="t"/>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4.  Add examples</a:t>
            </a:r>
            <a:endParaRPr lang="en-US" sz="1350" dirty="0"/>
          </a:p>
        </p:txBody>
      </p:sp>
      <p:sp>
        <p:nvSpPr>
          <p:cNvPr id="30" name="Text 23"/>
          <p:cNvSpPr/>
          <p:nvPr/>
        </p:nvSpPr>
        <p:spPr>
          <a:xfrm>
            <a:off x="768096" y="4242816"/>
            <a:ext cx="3127248"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Good questions, bad questions, strong-answer examples.</a:t>
            </a:r>
            <a:endParaRPr lang="en-US" sz="1150" dirty="0"/>
          </a:p>
        </p:txBody>
      </p:sp>
      <p:sp>
        <p:nvSpPr>
          <p:cNvPr id="31" name="Shape 24"/>
          <p:cNvSpPr/>
          <p:nvPr/>
        </p:nvSpPr>
        <p:spPr>
          <a:xfrm>
            <a:off x="4114800" y="4187952"/>
            <a:ext cx="182880" cy="237744"/>
          </a:xfrm>
          <a:prstGeom prst="rightArrow">
            <a:avLst/>
          </a:prstGeom>
          <a:solidFill>
            <a:srgbClr val="C0392B"/>
          </a:solidFill>
          <a:ln/>
        </p:spPr>
      </p:sp>
      <p:sp>
        <p:nvSpPr>
          <p:cNvPr id="32" name="Shape 25"/>
          <p:cNvSpPr/>
          <p:nvPr/>
        </p:nvSpPr>
        <p:spPr>
          <a:xfrm>
            <a:off x="4325112" y="356616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3" name="Shape 26"/>
          <p:cNvSpPr/>
          <p:nvPr/>
        </p:nvSpPr>
        <p:spPr>
          <a:xfrm>
            <a:off x="4526280" y="3749040"/>
            <a:ext cx="420624" cy="420624"/>
          </a:xfrm>
          <a:prstGeom prst="ellipse">
            <a:avLst/>
          </a:prstGeom>
          <a:solidFill>
            <a:srgbClr val="006699"/>
          </a:solidFill>
          <a:ln/>
        </p:spPr>
      </p:sp>
      <p:pic>
        <p:nvPicPr>
          <p:cNvPr id="34" name="Image 5" descr="preencoded.png">    </p:cNvPr>
          <p:cNvPicPr>
            <a:picLocks noChangeAspect="1"/>
          </p:cNvPicPr>
          <p:nvPr/>
        </p:nvPicPr>
        <p:blipFill>
          <a:blip r:embed="rId6"/>
          <a:stretch>
            <a:fillRect/>
          </a:stretch>
        </p:blipFill>
        <p:spPr>
          <a:xfrm>
            <a:off x="4618817" y="3841577"/>
            <a:ext cx="235549" cy="235549"/>
          </a:xfrm>
          <a:prstGeom prst="rect">
            <a:avLst/>
          </a:prstGeom>
        </p:spPr>
      </p:pic>
      <p:sp>
        <p:nvSpPr>
          <p:cNvPr id="35" name="Text 27"/>
          <p:cNvSpPr/>
          <p:nvPr/>
        </p:nvSpPr>
        <p:spPr>
          <a:xfrm>
            <a:off x="5056632" y="3785616"/>
            <a:ext cx="2615184" cy="384048"/>
          </a:xfrm>
          <a:prstGeom prst="rect">
            <a:avLst/>
          </a:prstGeom>
          <a:noFill/>
          <a:ln/>
        </p:spPr>
        <p:txBody>
          <a:bodyPr wrap="square" lIns="0" tIns="0" rIns="0" bIns="0" rtlCol="0" anchor="t"/>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5.  Test it</a:t>
            </a:r>
            <a:endParaRPr lang="en-US" sz="1350" dirty="0"/>
          </a:p>
        </p:txBody>
      </p:sp>
      <p:sp>
        <p:nvSpPr>
          <p:cNvPr id="36" name="Text 28"/>
          <p:cNvSpPr/>
          <p:nvPr/>
        </p:nvSpPr>
        <p:spPr>
          <a:xfrm>
            <a:off x="4526280" y="4242816"/>
            <a:ext cx="3127248"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Ask 10 benchmark questions; compare expected answers.</a:t>
            </a:r>
            <a:endParaRPr lang="en-US" sz="1150" dirty="0"/>
          </a:p>
        </p:txBody>
      </p:sp>
      <p:sp>
        <p:nvSpPr>
          <p:cNvPr id="37" name="Shape 29"/>
          <p:cNvSpPr/>
          <p:nvPr/>
        </p:nvSpPr>
        <p:spPr>
          <a:xfrm>
            <a:off x="7872984" y="4187952"/>
            <a:ext cx="182880" cy="237744"/>
          </a:xfrm>
          <a:prstGeom prst="rightArrow">
            <a:avLst/>
          </a:prstGeom>
          <a:solidFill>
            <a:srgbClr val="C0392B"/>
          </a:solidFill>
          <a:ln/>
        </p:spPr>
      </p:sp>
      <p:sp>
        <p:nvSpPr>
          <p:cNvPr id="38" name="Shape 30"/>
          <p:cNvSpPr/>
          <p:nvPr/>
        </p:nvSpPr>
        <p:spPr>
          <a:xfrm>
            <a:off x="8083296" y="3566160"/>
            <a:ext cx="3529584" cy="1481328"/>
          </a:xfrm>
          <a:prstGeom prst="roundRect">
            <a:avLst>
              <a:gd name="adj" fmla="val 555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9" name="Shape 31"/>
          <p:cNvSpPr/>
          <p:nvPr/>
        </p:nvSpPr>
        <p:spPr>
          <a:xfrm>
            <a:off x="8284464" y="3749040"/>
            <a:ext cx="420624" cy="420624"/>
          </a:xfrm>
          <a:prstGeom prst="ellipse">
            <a:avLst/>
          </a:prstGeom>
          <a:solidFill>
            <a:srgbClr val="006699"/>
          </a:solidFill>
          <a:ln/>
        </p:spPr>
      </p:sp>
      <p:pic>
        <p:nvPicPr>
          <p:cNvPr id="40" name="Image 6" descr="preencoded.png">    </p:cNvPr>
          <p:cNvPicPr>
            <a:picLocks noChangeAspect="1"/>
          </p:cNvPicPr>
          <p:nvPr/>
        </p:nvPicPr>
        <p:blipFill>
          <a:blip r:embed="rId7"/>
          <a:stretch>
            <a:fillRect/>
          </a:stretch>
        </p:blipFill>
        <p:spPr>
          <a:xfrm>
            <a:off x="8377001" y="3841577"/>
            <a:ext cx="235549" cy="235549"/>
          </a:xfrm>
          <a:prstGeom prst="rect">
            <a:avLst/>
          </a:prstGeom>
        </p:spPr>
      </p:pic>
      <p:sp>
        <p:nvSpPr>
          <p:cNvPr id="41" name="Text 32"/>
          <p:cNvSpPr/>
          <p:nvPr/>
        </p:nvSpPr>
        <p:spPr>
          <a:xfrm>
            <a:off x="8814816" y="3785616"/>
            <a:ext cx="2615184" cy="384048"/>
          </a:xfrm>
          <a:prstGeom prst="rect">
            <a:avLst/>
          </a:prstGeom>
          <a:noFill/>
          <a:ln/>
        </p:spPr>
        <p:txBody>
          <a:bodyPr wrap="square" lIns="0" tIns="0" rIns="0" bIns="0" rtlCol="0" anchor="t"/>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6.  Version it</a:t>
            </a:r>
            <a:endParaRPr lang="en-US" sz="1350" dirty="0"/>
          </a:p>
        </p:txBody>
      </p:sp>
      <p:sp>
        <p:nvSpPr>
          <p:cNvPr id="42" name="Text 33"/>
          <p:cNvSpPr/>
          <p:nvPr/>
        </p:nvSpPr>
        <p:spPr>
          <a:xfrm>
            <a:off x="8284464" y="4242816"/>
            <a:ext cx="3127248"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Store, review, revise, and reuse the playbook.</a:t>
            </a:r>
            <a:endParaRPr lang="en-US" sz="1150" dirty="0"/>
          </a:p>
        </p:txBody>
      </p:sp>
      <p:sp>
        <p:nvSpPr>
          <p:cNvPr id="43" name="Shape 34"/>
          <p:cNvSpPr/>
          <p:nvPr/>
        </p:nvSpPr>
        <p:spPr>
          <a:xfrm>
            <a:off x="566928" y="5394960"/>
            <a:ext cx="11055096" cy="548640"/>
          </a:xfrm>
          <a:prstGeom prst="roundRect">
            <a:avLst>
              <a:gd name="adj" fmla="val 15000"/>
            </a:avLst>
          </a:prstGeom>
          <a:solidFill>
            <a:srgbClr val="EAF4E6"/>
          </a:solidFill>
          <a:ln w="12700">
            <a:solidFill>
              <a:srgbClr val="2E8913"/>
            </a:solidFill>
            <a:prstDash val="solid"/>
          </a:ln>
        </p:spPr>
      </p:sp>
      <p:sp>
        <p:nvSpPr>
          <p:cNvPr id="44" name="Text 35"/>
          <p:cNvSpPr/>
          <p:nvPr/>
        </p:nvSpPr>
        <p:spPr>
          <a:xfrm>
            <a:off x="868680" y="5495544"/>
            <a:ext cx="10515600" cy="347472"/>
          </a:xfrm>
          <a:prstGeom prst="rect">
            <a:avLst/>
          </a:prstGeom>
          <a:noFill/>
          <a:ln/>
        </p:spPr>
        <p:txBody>
          <a:bodyPr wrap="square" lIns="0" tIns="0" rIns="0" bIns="0" rtlCol="0" anchor="ctr"/>
          <a:lstStyle/>
          <a:p>
            <a:pPr indent="0" marL="0">
              <a:buNone/>
            </a:pPr>
            <a:r>
              <a:rPr lang="en-US" sz="1350" b="1" dirty="0">
                <a:solidFill>
                  <a:srgbClr val="2E8913"/>
                </a:solidFill>
                <a:latin typeface="Source Sans Pro" pitchFamily="34" charset="0"/>
                <a:ea typeface="Source Sans Pro" pitchFamily="34" charset="-122"/>
                <a:cs typeface="Source Sans Pro" pitchFamily="34" charset="-120"/>
              </a:rPr>
              <a:t>Output:  </a:t>
            </a:r>
            <a:pPr indent="0" marL="0">
              <a:buNone/>
            </a:pPr>
            <a:r>
              <a:rPr lang="en-US" sz="1350" b="1" dirty="0">
                <a:solidFill>
                  <a:srgbClr val="2A2F36"/>
                </a:solidFill>
                <a:latin typeface="Source Sans Pro" pitchFamily="34" charset="0"/>
                <a:ea typeface="Source Sans Pro" pitchFamily="34" charset="-122"/>
                <a:cs typeface="Source Sans Pro" pitchFamily="34" charset="-120"/>
              </a:rPr>
              <a:t>one reviewed harness page  +  benchmark questions  +  a decision on what to scale.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WORKED EXAMPLE</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Harness example: one safe pattern</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A generic metric question keeps the concept non-sensitive.</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10 / 21</a:t>
            </a:r>
            <a:endParaRPr lang="en-US" sz="1000" dirty="0"/>
          </a:p>
        </p:txBody>
      </p:sp>
      <p:sp>
        <p:nvSpPr>
          <p:cNvPr id="9" name="Shape 6"/>
          <p:cNvSpPr/>
          <p:nvPr/>
        </p:nvSpPr>
        <p:spPr>
          <a:xfrm>
            <a:off x="566928" y="1810512"/>
            <a:ext cx="5074920" cy="4041648"/>
          </a:xfrm>
          <a:prstGeom prst="roundRect">
            <a:avLst>
              <a:gd name="adj" fmla="val 2036"/>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566928" y="1810512"/>
            <a:ext cx="5074920" cy="566928"/>
          </a:xfrm>
          <a:prstGeom prst="roundRect">
            <a:avLst>
              <a:gd name="adj" fmla="val 14516"/>
            </a:avLst>
          </a:prstGeom>
          <a:solidFill>
            <a:srgbClr val="003366"/>
          </a:solidFill>
          <a:ln/>
        </p:spPr>
      </p:sp>
      <p:sp>
        <p:nvSpPr>
          <p:cNvPr id="11" name="Text 8"/>
          <p:cNvSpPr/>
          <p:nvPr/>
        </p:nvSpPr>
        <p:spPr>
          <a:xfrm>
            <a:off x="822960" y="1947672"/>
            <a:ext cx="4572000" cy="292608"/>
          </a:xfrm>
          <a:prstGeom prst="rect">
            <a:avLst/>
          </a:prstGeom>
          <a:noFill/>
          <a:ln/>
        </p:spPr>
        <p:txBody>
          <a:bodyPr wrap="square" lIns="0" tIns="0" rIns="0" bIns="0" rtlCol="0" anchor="ctr"/>
          <a:lstStyle/>
          <a:p>
            <a:pPr indent="0" marL="0">
              <a:buNone/>
            </a:pPr>
            <a:r>
              <a:rPr lang="en-US" sz="1250" b="1" spc="150" kern="0" dirty="0">
                <a:solidFill>
                  <a:srgbClr val="C0392B"/>
                </a:solidFill>
                <a:latin typeface="Source Sans Pro" pitchFamily="34" charset="0"/>
                <a:ea typeface="Source Sans Pro" pitchFamily="34" charset="-122"/>
                <a:cs typeface="Source Sans Pro" pitchFamily="34" charset="-120"/>
              </a:rPr>
              <a:t>EXAMPLE HARNESS — WORKLOAD TREND</a:t>
            </a:r>
            <a:endParaRPr lang="en-US" sz="1250" dirty="0"/>
          </a:p>
        </p:txBody>
      </p:sp>
      <p:sp>
        <p:nvSpPr>
          <p:cNvPr id="12" name="Text 9"/>
          <p:cNvSpPr/>
          <p:nvPr/>
        </p:nvSpPr>
        <p:spPr>
          <a:xfrm>
            <a:off x="841248" y="2542032"/>
            <a:ext cx="1463040" cy="274320"/>
          </a:xfrm>
          <a:prstGeom prst="rect">
            <a:avLst/>
          </a:prstGeom>
          <a:noFill/>
          <a:ln/>
        </p:spPr>
        <p:txBody>
          <a:bodyPr wrap="square" lIns="0" tIns="0" rIns="0" bIns="0" rtlCol="0" anchor="ctr"/>
          <a:lstStyle/>
          <a:p>
            <a:pPr indent="0" marL="0">
              <a:buNone/>
            </a:pPr>
            <a:r>
              <a:rPr lang="en-US" sz="1050" b="1" spc="150" kern="0" dirty="0">
                <a:solidFill>
                  <a:srgbClr val="006699"/>
                </a:solidFill>
                <a:latin typeface="Source Sans Pro" pitchFamily="34" charset="0"/>
                <a:ea typeface="Source Sans Pro" pitchFamily="34" charset="-122"/>
                <a:cs typeface="Source Sans Pro" pitchFamily="34" charset="-120"/>
              </a:rPr>
              <a:t>PURPOSE</a:t>
            </a:r>
            <a:endParaRPr lang="en-US" sz="1050" dirty="0"/>
          </a:p>
        </p:txBody>
      </p:sp>
      <p:sp>
        <p:nvSpPr>
          <p:cNvPr id="13" name="Text 10"/>
          <p:cNvSpPr/>
          <p:nvPr/>
        </p:nvSpPr>
        <p:spPr>
          <a:xfrm>
            <a:off x="2331720" y="2542032"/>
            <a:ext cx="3108960" cy="713232"/>
          </a:xfrm>
          <a:prstGeom prst="rect">
            <a:avLst/>
          </a:prstGeom>
          <a:noFill/>
          <a:ln/>
        </p:spPr>
        <p:txBody>
          <a:bodyPr wrap="square" lIns="0" tIns="0" rIns="0" bIns="0" rtlCol="0" anchor="ctr"/>
          <a:lstStyle/>
          <a:p>
            <a:pPr indent="0" marL="0">
              <a:lnSpc>
                <a:spcPts val="1450"/>
              </a:lnSpc>
              <a:buNone/>
            </a:pPr>
            <a:r>
              <a:rPr lang="en-US" sz="1150" dirty="0">
                <a:solidFill>
                  <a:srgbClr val="2A2F36"/>
                </a:solidFill>
                <a:latin typeface="Source Sans Pro" pitchFamily="34" charset="0"/>
                <a:ea typeface="Source Sans Pro" pitchFamily="34" charset="-122"/>
                <a:cs typeface="Source Sans Pro" pitchFamily="34" charset="-120"/>
              </a:rPr>
              <a:t>Explain why a workload metric changed over time.</a:t>
            </a:r>
            <a:endParaRPr lang="en-US" sz="1150" dirty="0"/>
          </a:p>
        </p:txBody>
      </p:sp>
      <p:sp>
        <p:nvSpPr>
          <p:cNvPr id="14" name="Shape 11"/>
          <p:cNvSpPr/>
          <p:nvPr/>
        </p:nvSpPr>
        <p:spPr>
          <a:xfrm>
            <a:off x="841248" y="3209544"/>
            <a:ext cx="4526280" cy="0"/>
          </a:xfrm>
          <a:prstGeom prst="line">
            <a:avLst/>
          </a:prstGeom>
          <a:noFill/>
          <a:ln w="9525">
            <a:solidFill>
              <a:srgbClr val="D9DEE4"/>
            </a:solidFill>
            <a:prstDash val="solid"/>
          </a:ln>
        </p:spPr>
      </p:sp>
      <p:sp>
        <p:nvSpPr>
          <p:cNvPr id="15" name="Text 12"/>
          <p:cNvSpPr/>
          <p:nvPr/>
        </p:nvSpPr>
        <p:spPr>
          <a:xfrm>
            <a:off x="841248" y="3319272"/>
            <a:ext cx="1463040" cy="274320"/>
          </a:xfrm>
          <a:prstGeom prst="rect">
            <a:avLst/>
          </a:prstGeom>
          <a:noFill/>
          <a:ln/>
        </p:spPr>
        <p:txBody>
          <a:bodyPr wrap="square" lIns="0" tIns="0" rIns="0" bIns="0" rtlCol="0" anchor="ctr"/>
          <a:lstStyle/>
          <a:p>
            <a:pPr indent="0" marL="0">
              <a:buNone/>
            </a:pPr>
            <a:r>
              <a:rPr lang="en-US" sz="1050" b="1" spc="150" kern="0" dirty="0">
                <a:solidFill>
                  <a:srgbClr val="006699"/>
                </a:solidFill>
                <a:latin typeface="Source Sans Pro" pitchFamily="34" charset="0"/>
                <a:ea typeface="Source Sans Pro" pitchFamily="34" charset="-122"/>
                <a:cs typeface="Source Sans Pro" pitchFamily="34" charset="-120"/>
              </a:rPr>
              <a:t>DATA SCOPE</a:t>
            </a:r>
            <a:endParaRPr lang="en-US" sz="1050" dirty="0"/>
          </a:p>
        </p:txBody>
      </p:sp>
      <p:sp>
        <p:nvSpPr>
          <p:cNvPr id="16" name="Text 13"/>
          <p:cNvSpPr/>
          <p:nvPr/>
        </p:nvSpPr>
        <p:spPr>
          <a:xfrm>
            <a:off x="2331720" y="3319272"/>
            <a:ext cx="3108960" cy="713232"/>
          </a:xfrm>
          <a:prstGeom prst="rect">
            <a:avLst/>
          </a:prstGeom>
          <a:noFill/>
          <a:ln/>
        </p:spPr>
        <p:txBody>
          <a:bodyPr wrap="square" lIns="0" tIns="0" rIns="0" bIns="0" rtlCol="0" anchor="ctr"/>
          <a:lstStyle/>
          <a:p>
            <a:pPr indent="0" marL="0">
              <a:lnSpc>
                <a:spcPts val="1450"/>
              </a:lnSpc>
              <a:buNone/>
            </a:pPr>
            <a:r>
              <a:rPr lang="en-US" sz="1150" dirty="0">
                <a:solidFill>
                  <a:srgbClr val="2A2F36"/>
                </a:solidFill>
                <a:latin typeface="Source Sans Pro" pitchFamily="34" charset="0"/>
                <a:ea typeface="Source Sans Pro" pitchFamily="34" charset="-122"/>
                <a:cs typeface="Source Sans Pro" pitchFamily="34" charset="-120"/>
              </a:rPr>
              <a:t>One governed data product or dashboard-ready dataset.</a:t>
            </a:r>
            <a:endParaRPr lang="en-US" sz="1150" dirty="0"/>
          </a:p>
        </p:txBody>
      </p:sp>
      <p:sp>
        <p:nvSpPr>
          <p:cNvPr id="17" name="Shape 14"/>
          <p:cNvSpPr/>
          <p:nvPr/>
        </p:nvSpPr>
        <p:spPr>
          <a:xfrm>
            <a:off x="841248" y="3986784"/>
            <a:ext cx="4526280" cy="0"/>
          </a:xfrm>
          <a:prstGeom prst="line">
            <a:avLst/>
          </a:prstGeom>
          <a:noFill/>
          <a:ln w="9525">
            <a:solidFill>
              <a:srgbClr val="D9DEE4"/>
            </a:solidFill>
            <a:prstDash val="solid"/>
          </a:ln>
        </p:spPr>
      </p:sp>
      <p:sp>
        <p:nvSpPr>
          <p:cNvPr id="18" name="Text 15"/>
          <p:cNvSpPr/>
          <p:nvPr/>
        </p:nvSpPr>
        <p:spPr>
          <a:xfrm>
            <a:off x="841248" y="4096512"/>
            <a:ext cx="1463040" cy="274320"/>
          </a:xfrm>
          <a:prstGeom prst="rect">
            <a:avLst/>
          </a:prstGeom>
          <a:noFill/>
          <a:ln/>
        </p:spPr>
        <p:txBody>
          <a:bodyPr wrap="square" lIns="0" tIns="0" rIns="0" bIns="0" rtlCol="0" anchor="ctr"/>
          <a:lstStyle/>
          <a:p>
            <a:pPr indent="0" marL="0">
              <a:buNone/>
            </a:pPr>
            <a:r>
              <a:rPr lang="en-US" sz="1050" b="1" spc="150" kern="0" dirty="0">
                <a:solidFill>
                  <a:srgbClr val="006699"/>
                </a:solidFill>
                <a:latin typeface="Source Sans Pro" pitchFamily="34" charset="0"/>
                <a:ea typeface="Source Sans Pro" pitchFamily="34" charset="-122"/>
                <a:cs typeface="Source Sans Pro" pitchFamily="34" charset="-120"/>
              </a:rPr>
              <a:t>DEFINITIONS</a:t>
            </a:r>
            <a:endParaRPr lang="en-US" sz="1050" dirty="0"/>
          </a:p>
        </p:txBody>
      </p:sp>
      <p:sp>
        <p:nvSpPr>
          <p:cNvPr id="19" name="Text 16"/>
          <p:cNvSpPr/>
          <p:nvPr/>
        </p:nvSpPr>
        <p:spPr>
          <a:xfrm>
            <a:off x="2331720" y="4096512"/>
            <a:ext cx="3108960" cy="713232"/>
          </a:xfrm>
          <a:prstGeom prst="rect">
            <a:avLst/>
          </a:prstGeom>
          <a:noFill/>
          <a:ln/>
        </p:spPr>
        <p:txBody>
          <a:bodyPr wrap="square" lIns="0" tIns="0" rIns="0" bIns="0" rtlCol="0" anchor="ctr"/>
          <a:lstStyle/>
          <a:p>
            <a:pPr indent="0" marL="0">
              <a:lnSpc>
                <a:spcPts val="1450"/>
              </a:lnSpc>
              <a:buNone/>
            </a:pPr>
            <a:r>
              <a:rPr lang="en-US" sz="1150" dirty="0">
                <a:solidFill>
                  <a:srgbClr val="2A2F36"/>
                </a:solidFill>
                <a:latin typeface="Source Sans Pro" pitchFamily="34" charset="0"/>
                <a:ea typeface="Source Sans Pro" pitchFamily="34" charset="-122"/>
                <a:cs typeface="Source Sans Pro" pitchFamily="34" charset="-120"/>
              </a:rPr>
              <a:t>Workload, received, completed, pending, cycle time.</a:t>
            </a:r>
            <a:endParaRPr lang="en-US" sz="1150" dirty="0"/>
          </a:p>
        </p:txBody>
      </p:sp>
      <p:sp>
        <p:nvSpPr>
          <p:cNvPr id="20" name="Shape 17"/>
          <p:cNvSpPr/>
          <p:nvPr/>
        </p:nvSpPr>
        <p:spPr>
          <a:xfrm>
            <a:off x="841248" y="4764024"/>
            <a:ext cx="4526280" cy="0"/>
          </a:xfrm>
          <a:prstGeom prst="line">
            <a:avLst/>
          </a:prstGeom>
          <a:noFill/>
          <a:ln w="9525">
            <a:solidFill>
              <a:srgbClr val="D9DEE4"/>
            </a:solidFill>
            <a:prstDash val="solid"/>
          </a:ln>
        </p:spPr>
      </p:sp>
      <p:sp>
        <p:nvSpPr>
          <p:cNvPr id="21" name="Text 18"/>
          <p:cNvSpPr/>
          <p:nvPr/>
        </p:nvSpPr>
        <p:spPr>
          <a:xfrm>
            <a:off x="841248" y="4873752"/>
            <a:ext cx="1463040" cy="274320"/>
          </a:xfrm>
          <a:prstGeom prst="rect">
            <a:avLst/>
          </a:prstGeom>
          <a:noFill/>
          <a:ln/>
        </p:spPr>
        <p:txBody>
          <a:bodyPr wrap="square" lIns="0" tIns="0" rIns="0" bIns="0" rtlCol="0" anchor="ctr"/>
          <a:lstStyle/>
          <a:p>
            <a:pPr indent="0" marL="0">
              <a:buNone/>
            </a:pPr>
            <a:r>
              <a:rPr lang="en-US" sz="1050" b="1" spc="150" kern="0" dirty="0">
                <a:solidFill>
                  <a:srgbClr val="006699"/>
                </a:solidFill>
                <a:latin typeface="Source Sans Pro" pitchFamily="34" charset="0"/>
                <a:ea typeface="Source Sans Pro" pitchFamily="34" charset="-122"/>
                <a:cs typeface="Source Sans Pro" pitchFamily="34" charset="-120"/>
              </a:rPr>
              <a:t>CAVEATS</a:t>
            </a:r>
            <a:endParaRPr lang="en-US" sz="1050" dirty="0"/>
          </a:p>
        </p:txBody>
      </p:sp>
      <p:sp>
        <p:nvSpPr>
          <p:cNvPr id="22" name="Text 19"/>
          <p:cNvSpPr/>
          <p:nvPr/>
        </p:nvSpPr>
        <p:spPr>
          <a:xfrm>
            <a:off x="2331720" y="4873752"/>
            <a:ext cx="3108960" cy="713232"/>
          </a:xfrm>
          <a:prstGeom prst="rect">
            <a:avLst/>
          </a:prstGeom>
          <a:noFill/>
          <a:ln/>
        </p:spPr>
        <p:txBody>
          <a:bodyPr wrap="square" lIns="0" tIns="0" rIns="0" bIns="0" rtlCol="0" anchor="ctr"/>
          <a:lstStyle/>
          <a:p>
            <a:pPr indent="0" marL="0">
              <a:lnSpc>
                <a:spcPts val="1450"/>
              </a:lnSpc>
              <a:buNone/>
            </a:pPr>
            <a:r>
              <a:rPr lang="en-US" sz="1150" dirty="0">
                <a:solidFill>
                  <a:srgbClr val="2A2F36"/>
                </a:solidFill>
                <a:latin typeface="Source Sans Pro" pitchFamily="34" charset="0"/>
                <a:ea typeface="Source Sans Pro" pitchFamily="34" charset="-122"/>
                <a:cs typeface="Source Sans Pro" pitchFamily="34" charset="-120"/>
              </a:rPr>
              <a:t>Reporting lag, refresh time, workload mix, form grouping, data-quality notes.</a:t>
            </a:r>
            <a:endParaRPr lang="en-US" sz="1150" dirty="0"/>
          </a:p>
        </p:txBody>
      </p:sp>
      <p:sp>
        <p:nvSpPr>
          <p:cNvPr id="23" name="Shape 20"/>
          <p:cNvSpPr/>
          <p:nvPr/>
        </p:nvSpPr>
        <p:spPr>
          <a:xfrm>
            <a:off x="5989320" y="1810512"/>
            <a:ext cx="5632704" cy="4041648"/>
          </a:xfrm>
          <a:prstGeom prst="roundRect">
            <a:avLst>
              <a:gd name="adj" fmla="val 2036"/>
            </a:avLst>
          </a:prstGeom>
          <a:solidFill>
            <a:srgbClr val="EAF1F6"/>
          </a:solidFill>
          <a:ln w="12700">
            <a:solidFill>
              <a:srgbClr val="D6E4EF"/>
            </a:solidFill>
            <a:prstDash val="solid"/>
          </a:ln>
          <a:effectLst>
            <a:outerShdw sx="100000" sy="100000" kx="0" ky="0" algn="bl" rotWithShape="0" blurRad="88900" dist="25400" dir="5400000">
              <a:srgbClr val="003366">
                <a:alpha val="14000"/>
              </a:srgbClr>
            </a:outerShdw>
          </a:effectLst>
        </p:spPr>
      </p:sp>
      <p:sp>
        <p:nvSpPr>
          <p:cNvPr id="24" name="Text 21"/>
          <p:cNvSpPr/>
          <p:nvPr/>
        </p:nvSpPr>
        <p:spPr>
          <a:xfrm>
            <a:off x="6263640" y="1993392"/>
            <a:ext cx="5120640" cy="274320"/>
          </a:xfrm>
          <a:prstGeom prst="rect">
            <a:avLst/>
          </a:prstGeom>
          <a:noFill/>
          <a:ln/>
        </p:spPr>
        <p:txBody>
          <a:bodyPr wrap="square" lIns="0" tIns="0" rIns="0" bIns="0" rtlCol="0" anchor="ctr"/>
          <a:lstStyle/>
          <a:p>
            <a:pPr indent="0" marL="0">
              <a:buNone/>
            </a:pPr>
            <a:r>
              <a:rPr lang="en-US" sz="1250" b="1" spc="150" kern="0" dirty="0">
                <a:solidFill>
                  <a:srgbClr val="003366"/>
                </a:solidFill>
                <a:latin typeface="Source Sans Pro" pitchFamily="34" charset="0"/>
                <a:ea typeface="Source Sans Pro" pitchFamily="34" charset="-122"/>
                <a:cs typeface="Source Sans Pro" pitchFamily="34" charset="-120"/>
              </a:rPr>
              <a:t>HARNESS ANSWER EXPECTATIONS</a:t>
            </a:r>
            <a:endParaRPr lang="en-US" sz="1250" dirty="0"/>
          </a:p>
        </p:txBody>
      </p:sp>
      <p:pic>
        <p:nvPicPr>
          <p:cNvPr id="25" name="Image 1" descr="preencoded.png">    </p:cNvPr>
          <p:cNvPicPr>
            <a:picLocks noChangeAspect="1"/>
          </p:cNvPicPr>
          <p:nvPr/>
        </p:nvPicPr>
        <p:blipFill>
          <a:blip r:embed="rId2"/>
          <a:stretch>
            <a:fillRect/>
          </a:stretch>
        </p:blipFill>
        <p:spPr>
          <a:xfrm>
            <a:off x="6309360" y="2423160"/>
            <a:ext cx="237744" cy="237744"/>
          </a:xfrm>
          <a:prstGeom prst="rect">
            <a:avLst/>
          </a:prstGeom>
        </p:spPr>
      </p:pic>
      <p:sp>
        <p:nvSpPr>
          <p:cNvPr id="26" name="Text 22"/>
          <p:cNvSpPr/>
          <p:nvPr/>
        </p:nvSpPr>
        <p:spPr>
          <a:xfrm>
            <a:off x="6656832" y="2395728"/>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1. Start with the plain-English answer.</a:t>
            </a:r>
            <a:endParaRPr lang="en-US" sz="1250" dirty="0"/>
          </a:p>
        </p:txBody>
      </p:sp>
      <p:pic>
        <p:nvPicPr>
          <p:cNvPr id="27" name="Image 2" descr="preencoded.png">    </p:cNvPr>
          <p:cNvPicPr>
            <a:picLocks noChangeAspect="1"/>
          </p:cNvPicPr>
          <p:nvPr/>
        </p:nvPicPr>
        <p:blipFill>
          <a:blip r:embed="rId3"/>
          <a:stretch>
            <a:fillRect/>
          </a:stretch>
        </p:blipFill>
        <p:spPr>
          <a:xfrm>
            <a:off x="6309360" y="2843784"/>
            <a:ext cx="237744" cy="237744"/>
          </a:xfrm>
          <a:prstGeom prst="rect">
            <a:avLst/>
          </a:prstGeom>
        </p:spPr>
      </p:pic>
      <p:sp>
        <p:nvSpPr>
          <p:cNvPr id="28" name="Text 23"/>
          <p:cNvSpPr/>
          <p:nvPr/>
        </p:nvSpPr>
        <p:spPr>
          <a:xfrm>
            <a:off x="6656832" y="2816352"/>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2. State the approved metric definition.</a:t>
            </a:r>
            <a:endParaRPr lang="en-US" sz="1250" dirty="0"/>
          </a:p>
        </p:txBody>
      </p:sp>
      <p:pic>
        <p:nvPicPr>
          <p:cNvPr id="29" name="Image 3" descr="preencoded.png">    </p:cNvPr>
          <p:cNvPicPr>
            <a:picLocks noChangeAspect="1"/>
          </p:cNvPicPr>
          <p:nvPr/>
        </p:nvPicPr>
        <p:blipFill>
          <a:blip r:embed="rId4"/>
          <a:stretch>
            <a:fillRect/>
          </a:stretch>
        </p:blipFill>
        <p:spPr>
          <a:xfrm>
            <a:off x="6309360" y="3264408"/>
            <a:ext cx="237744" cy="237744"/>
          </a:xfrm>
          <a:prstGeom prst="rect">
            <a:avLst/>
          </a:prstGeom>
        </p:spPr>
      </p:pic>
      <p:sp>
        <p:nvSpPr>
          <p:cNvPr id="30" name="Text 24"/>
          <p:cNvSpPr/>
          <p:nvPr/>
        </p:nvSpPr>
        <p:spPr>
          <a:xfrm>
            <a:off x="6656832" y="3236976"/>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3. Compare the same date windows.</a:t>
            </a:r>
            <a:endParaRPr lang="en-US" sz="1250" dirty="0"/>
          </a:p>
        </p:txBody>
      </p:sp>
      <p:pic>
        <p:nvPicPr>
          <p:cNvPr id="31" name="Image 4" descr="preencoded.png">    </p:cNvPr>
          <p:cNvPicPr>
            <a:picLocks noChangeAspect="1"/>
          </p:cNvPicPr>
          <p:nvPr/>
        </p:nvPicPr>
        <p:blipFill>
          <a:blip r:embed="rId5"/>
          <a:stretch>
            <a:fillRect/>
          </a:stretch>
        </p:blipFill>
        <p:spPr>
          <a:xfrm>
            <a:off x="6309360" y="3685032"/>
            <a:ext cx="237744" cy="237744"/>
          </a:xfrm>
          <a:prstGeom prst="rect">
            <a:avLst/>
          </a:prstGeom>
        </p:spPr>
      </p:pic>
      <p:sp>
        <p:nvSpPr>
          <p:cNvPr id="32" name="Text 25"/>
          <p:cNvSpPr/>
          <p:nvPr/>
        </p:nvSpPr>
        <p:spPr>
          <a:xfrm>
            <a:off x="6656832" y="3657600"/>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4. Check refresh timing and reporting lag.</a:t>
            </a:r>
            <a:endParaRPr lang="en-US" sz="1250" dirty="0"/>
          </a:p>
        </p:txBody>
      </p:sp>
      <p:pic>
        <p:nvPicPr>
          <p:cNvPr id="33" name="Image 5" descr="preencoded.png">    </p:cNvPr>
          <p:cNvPicPr>
            <a:picLocks noChangeAspect="1"/>
          </p:cNvPicPr>
          <p:nvPr/>
        </p:nvPicPr>
        <p:blipFill>
          <a:blip r:embed="rId6"/>
          <a:stretch>
            <a:fillRect/>
          </a:stretch>
        </p:blipFill>
        <p:spPr>
          <a:xfrm>
            <a:off x="6309360" y="4105656"/>
            <a:ext cx="237744" cy="237744"/>
          </a:xfrm>
          <a:prstGeom prst="rect">
            <a:avLst/>
          </a:prstGeom>
        </p:spPr>
      </p:pic>
      <p:sp>
        <p:nvSpPr>
          <p:cNvPr id="34" name="Text 26"/>
          <p:cNvSpPr/>
          <p:nvPr/>
        </p:nvSpPr>
        <p:spPr>
          <a:xfrm>
            <a:off x="6656832" y="4078224"/>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5. Mention workload mix before implying cause.</a:t>
            </a:r>
            <a:endParaRPr lang="en-US" sz="1250" dirty="0"/>
          </a:p>
        </p:txBody>
      </p:sp>
      <p:pic>
        <p:nvPicPr>
          <p:cNvPr id="35" name="Image 6" descr="preencoded.png">    </p:cNvPr>
          <p:cNvPicPr>
            <a:picLocks noChangeAspect="1"/>
          </p:cNvPicPr>
          <p:nvPr/>
        </p:nvPicPr>
        <p:blipFill>
          <a:blip r:embed="rId7"/>
          <a:stretch>
            <a:fillRect/>
          </a:stretch>
        </p:blipFill>
        <p:spPr>
          <a:xfrm>
            <a:off x="6309360" y="4526280"/>
            <a:ext cx="237744" cy="237744"/>
          </a:xfrm>
          <a:prstGeom prst="rect">
            <a:avLst/>
          </a:prstGeom>
        </p:spPr>
      </p:pic>
      <p:sp>
        <p:nvSpPr>
          <p:cNvPr id="36" name="Text 27"/>
          <p:cNvSpPr/>
          <p:nvPr/>
        </p:nvSpPr>
        <p:spPr>
          <a:xfrm>
            <a:off x="6656832" y="4498848"/>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6. Offer one useful next check.</a:t>
            </a:r>
            <a:endParaRPr lang="en-US" sz="1250" dirty="0"/>
          </a:p>
        </p:txBody>
      </p:sp>
      <p:pic>
        <p:nvPicPr>
          <p:cNvPr id="37" name="Image 7" descr="preencoded.png">    </p:cNvPr>
          <p:cNvPicPr>
            <a:picLocks noChangeAspect="1"/>
          </p:cNvPicPr>
          <p:nvPr/>
        </p:nvPicPr>
        <p:blipFill>
          <a:blip r:embed="rId8"/>
          <a:stretch>
            <a:fillRect/>
          </a:stretch>
        </p:blipFill>
        <p:spPr>
          <a:xfrm>
            <a:off x="6309360" y="4946904"/>
            <a:ext cx="237744" cy="237744"/>
          </a:xfrm>
          <a:prstGeom prst="rect">
            <a:avLst/>
          </a:prstGeom>
        </p:spPr>
      </p:pic>
      <p:sp>
        <p:nvSpPr>
          <p:cNvPr id="38" name="Text 28"/>
          <p:cNvSpPr/>
          <p:nvPr/>
        </p:nvSpPr>
        <p:spPr>
          <a:xfrm>
            <a:off x="6656832" y="4919472"/>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7. Avoid adjudicative conclusions.</a:t>
            </a:r>
            <a:endParaRPr lang="en-US" sz="1250" dirty="0"/>
          </a:p>
        </p:txBody>
      </p:sp>
      <p:pic>
        <p:nvPicPr>
          <p:cNvPr id="39" name="Image 8" descr="preencoded.png">    </p:cNvPr>
          <p:cNvPicPr>
            <a:picLocks noChangeAspect="1"/>
          </p:cNvPicPr>
          <p:nvPr/>
        </p:nvPicPr>
        <p:blipFill>
          <a:blip r:embed="rId9"/>
          <a:stretch>
            <a:fillRect/>
          </a:stretch>
        </p:blipFill>
        <p:spPr>
          <a:xfrm>
            <a:off x="6309360" y="5367528"/>
            <a:ext cx="237744" cy="237744"/>
          </a:xfrm>
          <a:prstGeom prst="rect">
            <a:avLst/>
          </a:prstGeom>
        </p:spPr>
      </p:pic>
      <p:sp>
        <p:nvSpPr>
          <p:cNvPr id="40" name="Text 29"/>
          <p:cNvSpPr/>
          <p:nvPr/>
        </p:nvSpPr>
        <p:spPr>
          <a:xfrm>
            <a:off x="6656832" y="5340096"/>
            <a:ext cx="4846320" cy="329184"/>
          </a:xfrm>
          <a:prstGeom prst="rect">
            <a:avLst/>
          </a:prstGeom>
          <a:noFill/>
          <a:ln/>
        </p:spPr>
        <p:txBody>
          <a:bodyPr wrap="square" lIns="0" tIns="0" rIns="0" bIns="0" rtlCol="0" anchor="ctr"/>
          <a:lstStyle/>
          <a:p>
            <a:pPr indent="0" marL="0">
              <a:buNone/>
            </a:pPr>
            <a:r>
              <a:rPr lang="en-US" sz="1250" dirty="0">
                <a:solidFill>
                  <a:srgbClr val="2A2F36"/>
                </a:solidFill>
                <a:latin typeface="Source Sans Pro" pitchFamily="34" charset="0"/>
                <a:ea typeface="Source Sans Pro" pitchFamily="34" charset="-122"/>
                <a:cs typeface="Source Sans Pro" pitchFamily="34" charset="-120"/>
              </a:rPr>
              <a:t>8. Say when confidence is limited.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CORE CONCEPT Nº 2</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What is a skill.md file?</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A reusable recipe for one kind of work.</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11 / 21</a:t>
            </a:r>
            <a:endParaRPr lang="en-US" sz="1000" dirty="0"/>
          </a:p>
        </p:txBody>
      </p:sp>
      <p:sp>
        <p:nvSpPr>
          <p:cNvPr id="9" name="Shape 6"/>
          <p:cNvSpPr/>
          <p:nvPr/>
        </p:nvSpPr>
        <p:spPr>
          <a:xfrm>
            <a:off x="566928" y="1828800"/>
            <a:ext cx="5577840" cy="3977640"/>
          </a:xfrm>
          <a:prstGeom prst="roundRect">
            <a:avLst>
              <a:gd name="adj" fmla="val 2069"/>
            </a:avLst>
          </a:prstGeom>
          <a:solidFill>
            <a:srgbClr val="10233F"/>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68096" y="1993392"/>
            <a:ext cx="118872" cy="118872"/>
          </a:xfrm>
          <a:prstGeom prst="ellipse">
            <a:avLst/>
          </a:prstGeom>
          <a:solidFill>
            <a:srgbClr val="C0392B"/>
          </a:solidFill>
          <a:ln/>
        </p:spPr>
      </p:sp>
      <p:sp>
        <p:nvSpPr>
          <p:cNvPr id="11" name="Shape 8"/>
          <p:cNvSpPr/>
          <p:nvPr/>
        </p:nvSpPr>
        <p:spPr>
          <a:xfrm>
            <a:off x="987552" y="1993392"/>
            <a:ext cx="118872" cy="118872"/>
          </a:xfrm>
          <a:prstGeom prst="ellipse">
            <a:avLst/>
          </a:prstGeom>
          <a:solidFill>
            <a:srgbClr val="006699"/>
          </a:solidFill>
          <a:ln/>
        </p:spPr>
      </p:sp>
      <p:sp>
        <p:nvSpPr>
          <p:cNvPr id="12" name="Shape 9"/>
          <p:cNvSpPr/>
          <p:nvPr/>
        </p:nvSpPr>
        <p:spPr>
          <a:xfrm>
            <a:off x="1207008" y="1993392"/>
            <a:ext cx="118872" cy="118872"/>
          </a:xfrm>
          <a:prstGeom prst="ellipse">
            <a:avLst/>
          </a:prstGeom>
          <a:solidFill>
            <a:srgbClr val="999999"/>
          </a:solidFill>
          <a:ln/>
        </p:spPr>
      </p:sp>
      <p:sp>
        <p:nvSpPr>
          <p:cNvPr id="13" name="Text 10"/>
          <p:cNvSpPr/>
          <p:nvPr/>
        </p:nvSpPr>
        <p:spPr>
          <a:xfrm>
            <a:off x="1481328" y="1938528"/>
            <a:ext cx="4480560" cy="237744"/>
          </a:xfrm>
          <a:prstGeom prst="rect">
            <a:avLst/>
          </a:prstGeom>
          <a:noFill/>
          <a:ln/>
        </p:spPr>
        <p:txBody>
          <a:bodyPr wrap="square" lIns="0" tIns="0" rIns="0" bIns="0" rtlCol="0" anchor="ctr"/>
          <a:lstStyle/>
          <a:p>
            <a:pPr indent="0" marL="0">
              <a:buNone/>
            </a:pPr>
            <a:r>
              <a:rPr lang="en-US" sz="1050" dirty="0">
                <a:solidFill>
                  <a:srgbClr val="999999"/>
                </a:solidFill>
                <a:latin typeface="Source Code Pro" pitchFamily="34" charset="0"/>
                <a:ea typeface="Source Code Pro" pitchFamily="34" charset="-122"/>
                <a:cs typeface="Source Code Pro" pitchFamily="34" charset="-120"/>
              </a:rPr>
              <a:t>explain_metric_change / skill.md</a:t>
            </a:r>
            <a:endParaRPr lang="en-US" sz="1050" dirty="0"/>
          </a:p>
        </p:txBody>
      </p:sp>
      <p:sp>
        <p:nvSpPr>
          <p:cNvPr id="14" name="Text 11"/>
          <p:cNvSpPr/>
          <p:nvPr/>
        </p:nvSpPr>
        <p:spPr>
          <a:xfrm>
            <a:off x="804672" y="2267712"/>
            <a:ext cx="5102352" cy="3337560"/>
          </a:xfrm>
          <a:prstGeom prst="rect">
            <a:avLst/>
          </a:prstGeom>
          <a:noFill/>
          <a:ln/>
        </p:spPr>
        <p:txBody>
          <a:bodyPr wrap="square" lIns="0" tIns="0" rIns="0" bIns="0" rtlCol="0" anchor="t"/>
          <a:lstStyle/>
          <a:p>
            <a:pPr indent="0" marL="0">
              <a:lnSpc>
                <a:spcPts val="1550"/>
              </a:lnSpc>
              <a:buNone/>
            </a:pPr>
            <a:endParaRPr lang="en-US" sz="1150" dirty="0"/>
          </a:p>
        </p:txBody>
      </p:sp>
      <p:sp>
        <p:nvSpPr>
          <p:cNvPr id="15" name="Text 12"/>
          <p:cNvSpPr/>
          <p:nvPr/>
        </p:nvSpPr>
        <p:spPr>
          <a:xfrm>
            <a:off x="804672" y="2286000"/>
            <a:ext cx="5120640" cy="3383280"/>
          </a:xfrm>
          <a:prstGeom prst="rect">
            <a:avLst/>
          </a:prstGeom>
          <a:noFill/>
          <a:ln/>
        </p:spPr>
        <p:txBody>
          <a:bodyPr wrap="square" lIns="0" tIns="0" rIns="0" bIns="0" rtlCol="0" anchor="t"/>
          <a:lstStyle/>
          <a:p>
            <a:pPr indent="0" marL="0">
              <a:lnSpc>
                <a:spcPts val="1700"/>
              </a:lnSpc>
              <a:buNone/>
            </a:pPr>
            <a:r>
              <a:rPr lang="en-US" sz="1200" dirty="0">
                <a:solidFill>
                  <a:srgbClr val="7E93AE"/>
                </a:solidFill>
                <a:latin typeface="Source Code Pro" pitchFamily="34" charset="0"/>
                <a:ea typeface="Source Code Pro" pitchFamily="34" charset="-122"/>
                <a:cs typeface="Source Code Pro" pitchFamily="34" charset="-120"/>
              </a:rPr>
              <a:t>---
</a:t>
            </a:r>
            <a:pPr indent="0" marL="0">
              <a:lnSpc>
                <a:spcPts val="1700"/>
              </a:lnSpc>
              <a:buNone/>
            </a:pPr>
            <a:r>
              <a:rPr lang="en-US" sz="1200" b="1" dirty="0">
                <a:solidFill>
                  <a:srgbClr val="C0392B"/>
                </a:solidFill>
                <a:latin typeface="Source Code Pro" pitchFamily="34" charset="0"/>
                <a:ea typeface="Source Code Pro" pitchFamily="34" charset="-122"/>
                <a:cs typeface="Source Code Pro" pitchFamily="34" charset="-120"/>
              </a:rPr>
              <a:t>name:</a:t>
            </a:r>
            <a:pPr indent="0" marL="0">
              <a:lnSpc>
                <a:spcPts val="1700"/>
              </a:lnSpc>
              <a:buNone/>
            </a:pPr>
            <a:r>
              <a:rPr lang="en-US" sz="1200" dirty="0">
                <a:solidFill>
                  <a:srgbClr val="FFFFFF"/>
                </a:solidFill>
                <a:latin typeface="Source Code Pro" pitchFamily="34" charset="0"/>
                <a:ea typeface="Source Code Pro" pitchFamily="34" charset="-122"/>
                <a:cs typeface="Source Code Pro" pitchFamily="34" charset="-120"/>
              </a:rPr>
              <a:t> explain_metric_change
</a:t>
            </a:r>
            <a:pPr indent="0" marL="0">
              <a:lnSpc>
                <a:spcPts val="1700"/>
              </a:lnSpc>
              <a:buNone/>
            </a:pPr>
            <a:r>
              <a:rPr lang="en-US" sz="1200" b="1" dirty="0">
                <a:solidFill>
                  <a:srgbClr val="C0392B"/>
                </a:solidFill>
                <a:latin typeface="Source Code Pro" pitchFamily="34" charset="0"/>
                <a:ea typeface="Source Code Pro" pitchFamily="34" charset="-122"/>
                <a:cs typeface="Source Code Pro" pitchFamily="34" charset="-120"/>
              </a:rPr>
              <a:t>description:</a:t>
            </a:r>
            <a:pPr indent="0" marL="0">
              <a:lnSpc>
                <a:spcPts val="1700"/>
              </a:lnSpc>
              <a:buNone/>
            </a:pPr>
            <a:r>
              <a:rPr lang="en-US" sz="1200" dirty="0">
                <a:solidFill>
                  <a:srgbClr val="D6E4EF"/>
                </a:solidFill>
                <a:latin typeface="Source Code Pro" pitchFamily="34" charset="0"/>
                <a:ea typeface="Source Code Pro" pitchFamily="34" charset="-122"/>
                <a:cs typeface="Source Code Pro" pitchFamily="34" charset="-120"/>
              </a:rPr>
              <a:t> Use when asked why a metric changed.
</a:t>
            </a:r>
            <a:pPr indent="0" marL="0">
              <a:lnSpc>
                <a:spcPts val="1700"/>
              </a:lnSpc>
              <a:buNone/>
            </a:pPr>
            <a:r>
              <a:rPr lang="en-US" sz="1200" dirty="0">
                <a:solidFill>
                  <a:srgbClr val="7E93AE"/>
                </a:solidFill>
                <a:latin typeface="Source Code Pro" pitchFamily="34" charset="0"/>
                <a:ea typeface="Source Code Pro" pitchFamily="34" charset="-122"/>
                <a:cs typeface="Source Code Pro" pitchFamily="34" charset="-120"/>
              </a:rPr>
              <a:t>---
</a:t>
            </a:r>
            <a:pPr indent="0" marL="0">
              <a:lnSpc>
                <a:spcPts val="1700"/>
              </a:lnSpc>
              <a:buNone/>
            </a:pPr>
            <a:r>
              <a:rPr lang="en-US" sz="1200" b="1" dirty="0">
                <a:solidFill>
                  <a:srgbClr val="FFFFFF"/>
                </a:solidFill>
                <a:latin typeface="Source Code Pro" pitchFamily="34" charset="0"/>
                <a:ea typeface="Source Code Pro" pitchFamily="34" charset="-122"/>
                <a:cs typeface="Source Code Pro" pitchFamily="34" charset="-120"/>
              </a:rPr>
              <a:t>Before answering:
</a:t>
            </a:r>
            <a:pPr indent="0" marL="0">
              <a:lnSpc>
                <a:spcPts val="1700"/>
              </a:lnSpc>
              <a:buNone/>
            </a:pPr>
            <a:r>
              <a:rPr lang="en-US" sz="1200" dirty="0">
                <a:solidFill>
                  <a:srgbClr val="D6E4EF"/>
                </a:solidFill>
                <a:latin typeface="Source Code Pro" pitchFamily="34" charset="0"/>
                <a:ea typeface="Source Code Pro" pitchFamily="34" charset="-122"/>
                <a:cs typeface="Source Code Pro" pitchFamily="34" charset="-120"/>
              </a:rPr>
              <a:t>1. Confirm the metric and data product.
2. Read the approved definition from the harness.
3. Compare the same date windows.
4. Check lag, mix, and known caveats.
5. State confidence and next check.
</a:t>
            </a:r>
            <a:pPr indent="0" marL="0">
              <a:lnSpc>
                <a:spcPts val="1700"/>
              </a:lnSpc>
              <a:buNone/>
            </a:pPr>
            <a:r>
              <a:rPr lang="en-US" sz="1200" b="1" dirty="0">
                <a:solidFill>
                  <a:srgbClr val="E8B9B0"/>
                </a:solidFill>
                <a:latin typeface="Source Code Pro" pitchFamily="34" charset="0"/>
                <a:ea typeface="Source Code Pro" pitchFamily="34" charset="-122"/>
                <a:cs typeface="Source Code Pro" pitchFamily="34" charset="-120"/>
              </a:rPr>
              <a:t>Never make adjudicative decisions.</a:t>
            </a:r>
            <a:endParaRPr lang="en-US" sz="1200" dirty="0"/>
          </a:p>
        </p:txBody>
      </p:sp>
      <p:sp>
        <p:nvSpPr>
          <p:cNvPr id="16" name="Shape 13"/>
          <p:cNvSpPr/>
          <p:nvPr/>
        </p:nvSpPr>
        <p:spPr>
          <a:xfrm>
            <a:off x="6537960" y="1828800"/>
            <a:ext cx="5074920" cy="2834640"/>
          </a:xfrm>
          <a:prstGeom prst="roundRect">
            <a:avLst>
              <a:gd name="adj" fmla="val 2903"/>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7" name="Text 14"/>
          <p:cNvSpPr/>
          <p:nvPr/>
        </p:nvSpPr>
        <p:spPr>
          <a:xfrm>
            <a:off x="6812280" y="2029968"/>
            <a:ext cx="4572000" cy="256032"/>
          </a:xfrm>
          <a:prstGeom prst="rect">
            <a:avLst/>
          </a:prstGeom>
          <a:noFill/>
          <a:ln/>
        </p:spPr>
        <p:txBody>
          <a:bodyPr wrap="square" lIns="0" tIns="0" rIns="0" bIns="0" rtlCol="0" anchor="ctr"/>
          <a:lstStyle/>
          <a:p>
            <a:pPr indent="0" marL="0">
              <a:buNone/>
            </a:pPr>
            <a:r>
              <a:rPr lang="en-US" sz="1100" b="1" spc="200" kern="0" dirty="0">
                <a:solidFill>
                  <a:srgbClr val="006699"/>
                </a:solidFill>
                <a:latin typeface="Source Sans Pro" pitchFamily="34" charset="0"/>
                <a:ea typeface="Source Sans Pro" pitchFamily="34" charset="-122"/>
                <a:cs typeface="Source Sans Pro" pitchFamily="34" charset="-120"/>
              </a:rPr>
              <a:t>PLAIN-ENGLISH DEFINITION</a:t>
            </a:r>
            <a:endParaRPr lang="en-US" sz="1100" dirty="0"/>
          </a:p>
        </p:txBody>
      </p:sp>
      <p:sp>
        <p:nvSpPr>
          <p:cNvPr id="18" name="Text 15"/>
          <p:cNvSpPr/>
          <p:nvPr/>
        </p:nvSpPr>
        <p:spPr>
          <a:xfrm>
            <a:off x="6812280" y="2359152"/>
            <a:ext cx="4526280" cy="685800"/>
          </a:xfrm>
          <a:prstGeom prst="rect">
            <a:avLst/>
          </a:prstGeom>
          <a:noFill/>
          <a:ln/>
        </p:spPr>
        <p:txBody>
          <a:bodyPr wrap="square" lIns="0" tIns="0" rIns="0" bIns="0" rtlCol="0" anchor="ctr"/>
          <a:lstStyle/>
          <a:p>
            <a:pPr indent="0" marL="0">
              <a:lnSpc>
                <a:spcPts val="1800"/>
              </a:lnSpc>
              <a:buNone/>
            </a:pPr>
            <a:r>
              <a:rPr lang="en-US" sz="1350" dirty="0">
                <a:solidFill>
                  <a:srgbClr val="2A2F36"/>
                </a:solidFill>
                <a:latin typeface="Source Sans Pro" pitchFamily="34" charset="0"/>
                <a:ea typeface="Source Sans Pro" pitchFamily="34" charset="-122"/>
                <a:cs typeface="Source Sans Pro" pitchFamily="34" charset="-120"/>
              </a:rPr>
              <a:t>A skill.md file is a small Markdown instruction file that explains how to perform one specific task consistently.</a:t>
            </a:r>
            <a:endParaRPr lang="en-US" sz="1350" dirty="0"/>
          </a:p>
        </p:txBody>
      </p:sp>
      <p:sp>
        <p:nvSpPr>
          <p:cNvPr id="19" name="Text 16"/>
          <p:cNvSpPr/>
          <p:nvPr/>
        </p:nvSpPr>
        <p:spPr>
          <a:xfrm>
            <a:off x="6812280" y="3154680"/>
            <a:ext cx="4526280" cy="1371600"/>
          </a:xfrm>
          <a:prstGeom prst="rect">
            <a:avLst/>
          </a:prstGeom>
          <a:noFill/>
          <a:ln/>
        </p:spPr>
        <p:txBody>
          <a:bodyPr wrap="square" lIns="0" tIns="0" rIns="0" bIns="0" rtlCol="0" anchor="ctr"/>
          <a:lstStyle/>
          <a:p>
            <a:pPr indent="0" marL="0">
              <a:lnSpc>
                <a:spcPts val="1700"/>
              </a:lnSpc>
              <a:spcAft>
                <a:spcPts val="800"/>
              </a:spcAft>
              <a:buNone/>
            </a:pPr>
            <a:r>
              <a:rPr lang="en-US" sz="1250" dirty="0">
                <a:solidFill>
                  <a:srgbClr val="505050"/>
                </a:solidFill>
                <a:latin typeface="Source Sans Pro" pitchFamily="34" charset="0"/>
                <a:ea typeface="Source Sans Pro" pitchFamily="34" charset="-122"/>
                <a:cs typeface="Source Sans Pro" pitchFamily="34" charset="-120"/>
              </a:rPr>
              <a:t>It can be used by people, AI assistants, or future app workflows.
</a:t>
            </a:r>
            <a:endParaRPr lang="en-US" sz="1250" dirty="0"/>
          </a:p>
          <a:p>
            <a:pPr indent="0" marL="0">
              <a:lnSpc>
                <a:spcPts val="1700"/>
              </a:lnSpc>
              <a:spcAft>
                <a:spcPts val="800"/>
              </a:spcAft>
              <a:buNone/>
            </a:pPr>
            <a:r>
              <a:rPr lang="en-US" sz="1250" dirty="0">
                <a:solidFill>
                  <a:srgbClr val="505050"/>
                </a:solidFill>
                <a:latin typeface="Source Sans Pro" pitchFamily="34" charset="0"/>
                <a:ea typeface="Source Sans Pro" pitchFamily="34" charset="-122"/>
                <a:cs typeface="Source Sans Pro" pitchFamily="34" charset="-120"/>
              </a:rPr>
              <a:t>It is not automatically a Databricks feature unless connected to an approved workflow.</a:t>
            </a:r>
            <a:endParaRPr lang="en-US" sz="1250" dirty="0"/>
          </a:p>
        </p:txBody>
      </p:sp>
      <p:sp>
        <p:nvSpPr>
          <p:cNvPr id="20" name="Shape 17"/>
          <p:cNvSpPr/>
          <p:nvPr/>
        </p:nvSpPr>
        <p:spPr>
          <a:xfrm>
            <a:off x="6537960" y="4892040"/>
            <a:ext cx="5074920" cy="914400"/>
          </a:xfrm>
          <a:prstGeom prst="roundRect">
            <a:avLst>
              <a:gd name="adj" fmla="val 9000"/>
            </a:avLst>
          </a:prstGeom>
          <a:solidFill>
            <a:srgbClr val="F7EAE7"/>
          </a:solidFill>
          <a:ln w="12700">
            <a:solidFill>
              <a:srgbClr val="C0392B"/>
            </a:solidFill>
            <a:prstDash val="solid"/>
          </a:ln>
        </p:spPr>
      </p:sp>
      <p:sp>
        <p:nvSpPr>
          <p:cNvPr id="21" name="Text 18"/>
          <p:cNvSpPr/>
          <p:nvPr/>
        </p:nvSpPr>
        <p:spPr>
          <a:xfrm>
            <a:off x="6784848" y="5056632"/>
            <a:ext cx="4617720" cy="621792"/>
          </a:xfrm>
          <a:prstGeom prst="rect">
            <a:avLst/>
          </a:prstGeom>
          <a:noFill/>
          <a:ln/>
        </p:spPr>
        <p:txBody>
          <a:bodyPr wrap="square" lIns="0" tIns="0" rIns="0" bIns="0" rtlCol="0" anchor="ctr"/>
          <a:lstStyle/>
          <a:p>
            <a:pPr indent="0" marL="0">
              <a:lnSpc>
                <a:spcPts val="1900"/>
              </a:lnSpc>
              <a:buNone/>
            </a:pPr>
            <a:r>
              <a:rPr lang="en-US" sz="1450" b="1" i="1" dirty="0">
                <a:solidFill>
                  <a:srgbClr val="003366"/>
                </a:solidFill>
                <a:latin typeface="Source Sans Pro" pitchFamily="34" charset="0"/>
                <a:ea typeface="Source Sans Pro" pitchFamily="34" charset="-122"/>
                <a:cs typeface="Source Sans Pro" pitchFamily="34" charset="-120"/>
              </a:rPr>
              <a:t>The harness says what the world means. The skill says how to do one job in that world.</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KEEP THEM STRAIGHT</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Harness vs. skill.md</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They work together — but they are not the same thing.</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12 / 21</a:t>
            </a:r>
            <a:endParaRPr lang="en-US" sz="1000" dirty="0"/>
          </a:p>
        </p:txBody>
      </p:sp>
      <p:sp>
        <p:nvSpPr>
          <p:cNvPr id="9" name="Shape 6"/>
          <p:cNvSpPr/>
          <p:nvPr/>
        </p:nvSpPr>
        <p:spPr>
          <a:xfrm>
            <a:off x="566928" y="1828800"/>
            <a:ext cx="5394960" cy="3383280"/>
          </a:xfrm>
          <a:prstGeom prst="roundRect">
            <a:avLst>
              <a:gd name="adj" fmla="val 2432"/>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841248" y="2103120"/>
            <a:ext cx="493776" cy="493776"/>
          </a:xfrm>
          <a:prstGeom prst="ellipse">
            <a:avLst/>
          </a:prstGeom>
          <a:solidFill>
            <a:srgbClr val="C0392B"/>
          </a:solidFill>
          <a:ln/>
        </p:spPr>
      </p:sp>
      <p:pic>
        <p:nvPicPr>
          <p:cNvPr id="11" name="Image 1" descr="preencoded.png">    </p:cNvPr>
          <p:cNvPicPr>
            <a:picLocks noChangeAspect="1"/>
          </p:cNvPicPr>
          <p:nvPr/>
        </p:nvPicPr>
        <p:blipFill>
          <a:blip r:embed="rId2"/>
          <a:stretch>
            <a:fillRect/>
          </a:stretch>
        </p:blipFill>
        <p:spPr>
          <a:xfrm>
            <a:off x="949879" y="2211751"/>
            <a:ext cx="276515" cy="276515"/>
          </a:xfrm>
          <a:prstGeom prst="rect">
            <a:avLst/>
          </a:prstGeom>
        </p:spPr>
      </p:pic>
      <p:sp>
        <p:nvSpPr>
          <p:cNvPr id="12" name="Text 8"/>
          <p:cNvSpPr/>
          <p:nvPr/>
        </p:nvSpPr>
        <p:spPr>
          <a:xfrm>
            <a:off x="1481328" y="2176272"/>
            <a:ext cx="4297680" cy="365760"/>
          </a:xfrm>
          <a:prstGeom prst="rect">
            <a:avLst/>
          </a:prstGeom>
          <a:noFill/>
          <a:ln/>
        </p:spPr>
        <p:txBody>
          <a:bodyPr wrap="square" lIns="0" tIns="0" rIns="0" bIns="0" rtlCol="0" anchor="ctr"/>
          <a:lstStyle/>
          <a:p>
            <a:pPr indent="0" marL="0">
              <a:buNone/>
            </a:pPr>
            <a:r>
              <a:rPr lang="en-US" sz="1650" b="1" dirty="0">
                <a:solidFill>
                  <a:srgbClr val="FFFFFF"/>
                </a:solidFill>
                <a:latin typeface="Source Sans Pro" pitchFamily="34" charset="0"/>
                <a:ea typeface="Source Sans Pro" pitchFamily="34" charset="-122"/>
                <a:cs typeface="Source Sans Pro" pitchFamily="34" charset="-120"/>
              </a:rPr>
              <a:t>Harness = shared world model</a:t>
            </a:r>
            <a:endParaRPr lang="en-US" sz="1650" dirty="0"/>
          </a:p>
        </p:txBody>
      </p:sp>
      <p:sp>
        <p:nvSpPr>
          <p:cNvPr id="13" name="Text 9"/>
          <p:cNvSpPr/>
          <p:nvPr/>
        </p:nvSpPr>
        <p:spPr>
          <a:xfrm>
            <a:off x="859536" y="2788920"/>
            <a:ext cx="4754880" cy="292608"/>
          </a:xfrm>
          <a:prstGeom prst="rect">
            <a:avLst/>
          </a:prstGeom>
          <a:noFill/>
          <a:ln/>
        </p:spPr>
        <p:txBody>
          <a:bodyPr wrap="square" lIns="0" tIns="0" rIns="0" bIns="0" rtlCol="0" anchor="ctr"/>
          <a:lstStyle/>
          <a:p>
            <a:pPr indent="0" marL="0">
              <a:buNone/>
            </a:pPr>
            <a:r>
              <a:rPr lang="en-US" sz="1300" b="1" dirty="0">
                <a:solidFill>
                  <a:srgbClr val="C0392B"/>
                </a:solidFill>
                <a:latin typeface="Source Sans Pro" pitchFamily="34" charset="0"/>
                <a:ea typeface="Source Sans Pro" pitchFamily="34" charset="-122"/>
                <a:cs typeface="Source Sans Pro" pitchFamily="34" charset="-120"/>
              </a:rPr>
              <a:t>Defines the data topic.</a:t>
            </a:r>
            <a:endParaRPr lang="en-US" sz="1300" dirty="0"/>
          </a:p>
        </p:txBody>
      </p:sp>
      <p:sp>
        <p:nvSpPr>
          <p:cNvPr id="14" name="Text 10"/>
          <p:cNvSpPr/>
          <p:nvPr/>
        </p:nvSpPr>
        <p:spPr>
          <a:xfrm>
            <a:off x="859536" y="3127248"/>
            <a:ext cx="4754880" cy="914400"/>
          </a:xfrm>
          <a:prstGeom prst="rect">
            <a:avLst/>
          </a:prstGeom>
          <a:noFill/>
          <a:ln/>
        </p:spPr>
        <p:txBody>
          <a:bodyPr wrap="square" lIns="0" tIns="0" rIns="0" bIns="0" rtlCol="0" anchor="ctr"/>
          <a:lstStyle/>
          <a:p>
            <a:pPr indent="0" marL="0">
              <a:lnSpc>
                <a:spcPts val="1700"/>
              </a:lnSpc>
              <a:buNone/>
            </a:pPr>
            <a:r>
              <a:rPr lang="en-US" sz="1250" dirty="0">
                <a:solidFill>
                  <a:srgbClr val="D6E4EF"/>
                </a:solidFill>
                <a:latin typeface="Source Sans Pro" pitchFamily="34" charset="0"/>
                <a:ea typeface="Source Sans Pro" pitchFamily="34" charset="-122"/>
                <a:cs typeface="Source Sans Pro" pitchFamily="34" charset="-120"/>
              </a:rPr>
              <a:t>Approved terms, caveats, data-product scope, examples, owners, benchmark questions, and answer expectations.</a:t>
            </a:r>
            <a:endParaRPr lang="en-US" sz="1250" dirty="0"/>
          </a:p>
        </p:txBody>
      </p:sp>
      <p:sp>
        <p:nvSpPr>
          <p:cNvPr id="15" name="Text 11"/>
          <p:cNvSpPr/>
          <p:nvPr/>
        </p:nvSpPr>
        <p:spPr>
          <a:xfrm>
            <a:off x="859536" y="4480560"/>
            <a:ext cx="4754880" cy="457200"/>
          </a:xfrm>
          <a:prstGeom prst="rect">
            <a:avLst/>
          </a:prstGeom>
          <a:noFill/>
          <a:ln/>
        </p:spPr>
        <p:txBody>
          <a:bodyPr wrap="square" lIns="0" tIns="0" rIns="0" bIns="0" rtlCol="0" anchor="ctr"/>
          <a:lstStyle/>
          <a:p>
            <a:pPr indent="0" marL="0">
              <a:buNone/>
            </a:pPr>
            <a:r>
              <a:rPr lang="en-US" sz="1300" b="1" dirty="0">
                <a:solidFill>
                  <a:srgbClr val="C0392B"/>
                </a:solidFill>
                <a:latin typeface="Source Sans Pro" pitchFamily="34" charset="0"/>
                <a:ea typeface="Source Sans Pro" pitchFamily="34" charset="-122"/>
                <a:cs typeface="Source Sans Pro" pitchFamily="34" charset="-120"/>
              </a:rPr>
              <a:t>Best analogy:  </a:t>
            </a:r>
            <a:pPr indent="0" marL="0">
              <a:buNone/>
            </a:pPr>
            <a:r>
              <a:rPr lang="en-US" sz="1300" dirty="0">
                <a:solidFill>
                  <a:srgbClr val="FFFFFF"/>
                </a:solidFill>
                <a:latin typeface="Source Sans Pro" pitchFamily="34" charset="0"/>
                <a:ea typeface="Source Sans Pro" pitchFamily="34" charset="-122"/>
                <a:cs typeface="Source Sans Pro" pitchFamily="34" charset="-120"/>
              </a:rPr>
              <a:t>a guidebook or operating manual.</a:t>
            </a:r>
            <a:endParaRPr lang="en-US" sz="1300" dirty="0"/>
          </a:p>
        </p:txBody>
      </p:sp>
      <p:sp>
        <p:nvSpPr>
          <p:cNvPr id="16" name="Shape 12"/>
          <p:cNvSpPr/>
          <p:nvPr/>
        </p:nvSpPr>
        <p:spPr>
          <a:xfrm>
            <a:off x="6236208" y="1828800"/>
            <a:ext cx="5394960" cy="3383280"/>
          </a:xfrm>
          <a:prstGeom prst="roundRect">
            <a:avLst>
              <a:gd name="adj" fmla="val 2432"/>
            </a:avLst>
          </a:prstGeom>
          <a:solidFill>
            <a:srgbClr val="F7EAE7"/>
          </a:solidFill>
          <a:ln w="12700">
            <a:solidFill>
              <a:srgbClr val="C0392B"/>
            </a:solidFill>
            <a:prstDash val="solid"/>
          </a:ln>
          <a:effectLst>
            <a:outerShdw sx="100000" sy="100000" kx="0" ky="0" algn="bl" rotWithShape="0" blurRad="88900" dist="25400" dir="5400000">
              <a:srgbClr val="003366">
                <a:alpha val="14000"/>
              </a:srgbClr>
            </a:outerShdw>
          </a:effectLst>
        </p:spPr>
      </p:sp>
      <p:sp>
        <p:nvSpPr>
          <p:cNvPr id="17" name="Shape 13"/>
          <p:cNvSpPr/>
          <p:nvPr/>
        </p:nvSpPr>
        <p:spPr>
          <a:xfrm>
            <a:off x="6510528" y="2103120"/>
            <a:ext cx="493776" cy="493776"/>
          </a:xfrm>
          <a:prstGeom prst="ellipse">
            <a:avLst/>
          </a:prstGeom>
          <a:solidFill>
            <a:srgbClr val="003366"/>
          </a:solidFill>
          <a:ln/>
        </p:spPr>
      </p:sp>
      <p:pic>
        <p:nvPicPr>
          <p:cNvPr id="18" name="Image 2" descr="preencoded.png">    </p:cNvPr>
          <p:cNvPicPr>
            <a:picLocks noChangeAspect="1"/>
          </p:cNvPicPr>
          <p:nvPr/>
        </p:nvPicPr>
        <p:blipFill>
          <a:blip r:embed="rId3"/>
          <a:stretch>
            <a:fillRect/>
          </a:stretch>
        </p:blipFill>
        <p:spPr>
          <a:xfrm>
            <a:off x="6619159" y="2211751"/>
            <a:ext cx="276515" cy="276515"/>
          </a:xfrm>
          <a:prstGeom prst="rect">
            <a:avLst/>
          </a:prstGeom>
        </p:spPr>
      </p:pic>
      <p:sp>
        <p:nvSpPr>
          <p:cNvPr id="19" name="Text 14"/>
          <p:cNvSpPr/>
          <p:nvPr/>
        </p:nvSpPr>
        <p:spPr>
          <a:xfrm>
            <a:off x="7150608" y="2176272"/>
            <a:ext cx="4297680" cy="365760"/>
          </a:xfrm>
          <a:prstGeom prst="rect">
            <a:avLst/>
          </a:prstGeom>
          <a:noFill/>
          <a:ln/>
        </p:spPr>
        <p:txBody>
          <a:bodyPr wrap="square" lIns="0" tIns="0" rIns="0" bIns="0" rtlCol="0" anchor="ctr"/>
          <a:lstStyle/>
          <a:p>
            <a:pPr indent="0" marL="0">
              <a:buNone/>
            </a:pPr>
            <a:r>
              <a:rPr lang="en-US" sz="1650" b="1" dirty="0">
                <a:solidFill>
                  <a:srgbClr val="003366"/>
                </a:solidFill>
                <a:latin typeface="Source Sans Pro" pitchFamily="34" charset="0"/>
                <a:ea typeface="Source Sans Pro" pitchFamily="34" charset="-122"/>
                <a:cs typeface="Source Sans Pro" pitchFamily="34" charset="-120"/>
              </a:rPr>
              <a:t>skill.md = task recipe</a:t>
            </a:r>
            <a:endParaRPr lang="en-US" sz="1650" dirty="0"/>
          </a:p>
        </p:txBody>
      </p:sp>
      <p:sp>
        <p:nvSpPr>
          <p:cNvPr id="20" name="Text 15"/>
          <p:cNvSpPr/>
          <p:nvPr/>
        </p:nvSpPr>
        <p:spPr>
          <a:xfrm>
            <a:off x="6528816" y="2788920"/>
            <a:ext cx="4754880" cy="292608"/>
          </a:xfrm>
          <a:prstGeom prst="rect">
            <a:avLst/>
          </a:prstGeom>
          <a:noFill/>
          <a:ln/>
        </p:spPr>
        <p:txBody>
          <a:bodyPr wrap="square" lIns="0" tIns="0" rIns="0" bIns="0" rtlCol="0" anchor="ctr"/>
          <a:lstStyle/>
          <a:p>
            <a:pPr indent="0" marL="0">
              <a:buNone/>
            </a:pPr>
            <a:r>
              <a:rPr lang="en-US" sz="1300" b="1" dirty="0">
                <a:solidFill>
                  <a:srgbClr val="006699"/>
                </a:solidFill>
                <a:latin typeface="Source Sans Pro" pitchFamily="34" charset="0"/>
                <a:ea typeface="Source Sans Pro" pitchFamily="34" charset="-122"/>
                <a:cs typeface="Source Sans Pro" pitchFamily="34" charset="-120"/>
              </a:rPr>
              <a:t>Defines one repeatable job.</a:t>
            </a:r>
            <a:endParaRPr lang="en-US" sz="1300" dirty="0"/>
          </a:p>
        </p:txBody>
      </p:sp>
      <p:sp>
        <p:nvSpPr>
          <p:cNvPr id="21" name="Text 16"/>
          <p:cNvSpPr/>
          <p:nvPr/>
        </p:nvSpPr>
        <p:spPr>
          <a:xfrm>
            <a:off x="6528816" y="3127248"/>
            <a:ext cx="4754880" cy="914400"/>
          </a:xfrm>
          <a:prstGeom prst="rect">
            <a:avLst/>
          </a:prstGeom>
          <a:noFill/>
          <a:ln/>
        </p:spPr>
        <p:txBody>
          <a:bodyPr wrap="square" lIns="0" tIns="0" rIns="0" bIns="0" rtlCol="0" anchor="ctr"/>
          <a:lstStyle/>
          <a:p>
            <a:pPr indent="0" marL="0">
              <a:lnSpc>
                <a:spcPts val="1700"/>
              </a:lnSpc>
              <a:buNone/>
            </a:pPr>
            <a:r>
              <a:rPr lang="en-US" sz="1250" dirty="0">
                <a:solidFill>
                  <a:srgbClr val="2A2F36"/>
                </a:solidFill>
                <a:latin typeface="Source Sans Pro" pitchFamily="34" charset="0"/>
                <a:ea typeface="Source Sans Pro" pitchFamily="34" charset="-122"/>
                <a:cs typeface="Source Sans Pro" pitchFamily="34" charset="-120"/>
              </a:rPr>
              <a:t>Trigger, steps, quality checks, guardrails, and completion criteria.</a:t>
            </a:r>
            <a:endParaRPr lang="en-US" sz="1250" dirty="0"/>
          </a:p>
        </p:txBody>
      </p:sp>
      <p:sp>
        <p:nvSpPr>
          <p:cNvPr id="22" name="Text 17"/>
          <p:cNvSpPr/>
          <p:nvPr/>
        </p:nvSpPr>
        <p:spPr>
          <a:xfrm>
            <a:off x="6528816" y="4480560"/>
            <a:ext cx="4754880" cy="457200"/>
          </a:xfrm>
          <a:prstGeom prst="rect">
            <a:avLst/>
          </a:prstGeom>
          <a:noFill/>
          <a:ln/>
        </p:spPr>
        <p:txBody>
          <a:bodyPr wrap="square" lIns="0" tIns="0" rIns="0" bIns="0" rtlCol="0" anchor="ctr"/>
          <a:lstStyle/>
          <a:p>
            <a:pPr indent="0" marL="0">
              <a:buNone/>
            </a:pPr>
            <a:r>
              <a:rPr lang="en-US" sz="1300" b="1" dirty="0">
                <a:solidFill>
                  <a:srgbClr val="006699"/>
                </a:solidFill>
                <a:latin typeface="Source Sans Pro" pitchFamily="34" charset="0"/>
                <a:ea typeface="Source Sans Pro" pitchFamily="34" charset="-122"/>
                <a:cs typeface="Source Sans Pro" pitchFamily="34" charset="-120"/>
              </a:rPr>
              <a:t>Best analogy:  </a:t>
            </a:r>
            <a:pPr indent="0" marL="0">
              <a:buNone/>
            </a:pPr>
            <a:r>
              <a:rPr lang="en-US" sz="1300" dirty="0">
                <a:solidFill>
                  <a:srgbClr val="2A2F36"/>
                </a:solidFill>
                <a:latin typeface="Source Sans Pro" pitchFamily="34" charset="0"/>
                <a:ea typeface="Source Sans Pro" pitchFamily="34" charset="-122"/>
                <a:cs typeface="Source Sans Pro" pitchFamily="34" charset="-120"/>
              </a:rPr>
              <a:t>a recipe card or SOP.</a:t>
            </a:r>
            <a:endParaRPr lang="en-US" sz="1300" dirty="0"/>
          </a:p>
        </p:txBody>
      </p:sp>
      <p:sp>
        <p:nvSpPr>
          <p:cNvPr id="23" name="Shape 18"/>
          <p:cNvSpPr/>
          <p:nvPr/>
        </p:nvSpPr>
        <p:spPr>
          <a:xfrm>
            <a:off x="566928" y="5440680"/>
            <a:ext cx="11055096" cy="566928"/>
          </a:xfrm>
          <a:prstGeom prst="roundRect">
            <a:avLst>
              <a:gd name="adj" fmla="val 14516"/>
            </a:avLst>
          </a:prstGeom>
          <a:solidFill>
            <a:srgbClr val="EAF1F6"/>
          </a:solidFill>
          <a:ln w="12700">
            <a:solidFill>
              <a:srgbClr val="D6E4EF"/>
            </a:solidFill>
            <a:prstDash val="solid"/>
          </a:ln>
        </p:spPr>
      </p:sp>
      <p:sp>
        <p:nvSpPr>
          <p:cNvPr id="24" name="Text 19"/>
          <p:cNvSpPr/>
          <p:nvPr/>
        </p:nvSpPr>
        <p:spPr>
          <a:xfrm>
            <a:off x="868680" y="5541264"/>
            <a:ext cx="10515600" cy="365760"/>
          </a:xfrm>
          <a:prstGeom prst="rect">
            <a:avLst/>
          </a:prstGeom>
          <a:noFill/>
          <a:ln/>
        </p:spPr>
        <p:txBody>
          <a:bodyPr wrap="square" lIns="0" tIns="0" rIns="0" bIns="0" rtlCol="0" anchor="ctr"/>
          <a:lstStyle/>
          <a:p>
            <a:pPr indent="0" marL="0">
              <a:buNone/>
            </a:pPr>
            <a:r>
              <a:rPr lang="en-US" sz="1400" b="1" dirty="0">
                <a:solidFill>
                  <a:srgbClr val="006699"/>
                </a:solidFill>
                <a:latin typeface="Source Sans Pro" pitchFamily="34" charset="0"/>
                <a:ea typeface="Source Sans Pro" pitchFamily="34" charset="-122"/>
                <a:cs typeface="Source Sans Pro" pitchFamily="34" charset="-120"/>
              </a:rPr>
              <a:t>Together:  </a:t>
            </a:r>
            <a:pPr indent="0" marL="0">
              <a:buNone/>
            </a:pPr>
            <a:r>
              <a:rPr lang="en-US" sz="1400" b="1" dirty="0">
                <a:solidFill>
                  <a:srgbClr val="003366"/>
                </a:solidFill>
                <a:latin typeface="Source Sans Pro" pitchFamily="34" charset="0"/>
                <a:ea typeface="Source Sans Pro" pitchFamily="34" charset="-122"/>
                <a:cs typeface="Source Sans Pro" pitchFamily="34" charset="-120"/>
              </a:rPr>
              <a:t>the harness gives the assistant context; the skill gives the assistant process.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THE BUILD</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How to build a skill.md file</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Five questions make a skill clear enough to reuse.</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13 / 21</a:t>
            </a:r>
            <a:endParaRPr lang="en-US" sz="1000" dirty="0"/>
          </a:p>
        </p:txBody>
      </p:sp>
      <p:sp>
        <p:nvSpPr>
          <p:cNvPr id="9" name="Shape 6"/>
          <p:cNvSpPr/>
          <p:nvPr/>
        </p:nvSpPr>
        <p:spPr>
          <a:xfrm>
            <a:off x="566928" y="1810512"/>
            <a:ext cx="2084832" cy="1691640"/>
          </a:xfrm>
          <a:prstGeom prst="roundRect">
            <a:avLst>
              <a:gd name="adj" fmla="val 4865"/>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49808" y="1993392"/>
            <a:ext cx="402336" cy="402336"/>
          </a:xfrm>
          <a:prstGeom prst="ellipse">
            <a:avLst/>
          </a:prstGeom>
          <a:solidFill>
            <a:srgbClr val="003366"/>
          </a:solidFill>
          <a:ln/>
        </p:spPr>
      </p:sp>
      <p:pic>
        <p:nvPicPr>
          <p:cNvPr id="11" name="Image 1" descr="preencoded.png">    </p:cNvPr>
          <p:cNvPicPr>
            <a:picLocks noChangeAspect="1"/>
          </p:cNvPicPr>
          <p:nvPr/>
        </p:nvPicPr>
        <p:blipFill>
          <a:blip r:embed="rId2"/>
          <a:stretch>
            <a:fillRect/>
          </a:stretch>
        </p:blipFill>
        <p:spPr>
          <a:xfrm>
            <a:off x="838322" y="2081906"/>
            <a:ext cx="225308" cy="225308"/>
          </a:xfrm>
          <a:prstGeom prst="rect">
            <a:avLst/>
          </a:prstGeom>
        </p:spPr>
      </p:pic>
      <p:sp>
        <p:nvSpPr>
          <p:cNvPr id="12" name="Text 8"/>
          <p:cNvSpPr/>
          <p:nvPr/>
        </p:nvSpPr>
        <p:spPr>
          <a:xfrm>
            <a:off x="749808" y="2505456"/>
            <a:ext cx="1719072"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Trigger</a:t>
            </a:r>
            <a:endParaRPr lang="en-US" sz="1350" dirty="0"/>
          </a:p>
        </p:txBody>
      </p:sp>
      <p:sp>
        <p:nvSpPr>
          <p:cNvPr id="13" name="Text 9"/>
          <p:cNvSpPr/>
          <p:nvPr/>
        </p:nvSpPr>
        <p:spPr>
          <a:xfrm>
            <a:off x="749808" y="2798064"/>
            <a:ext cx="1719072" cy="621792"/>
          </a:xfrm>
          <a:prstGeom prst="rect">
            <a:avLst/>
          </a:prstGeom>
          <a:noFill/>
          <a:ln/>
        </p:spPr>
        <p:txBody>
          <a:bodyPr wrap="square" lIns="0" tIns="0" rIns="0" bIns="0" rtlCol="0" anchor="ctr"/>
          <a:lstStyle/>
          <a:p>
            <a:pPr indent="0" marL="0">
              <a:lnSpc>
                <a:spcPts val="1350"/>
              </a:lnSpc>
              <a:buNone/>
            </a:pPr>
            <a:r>
              <a:rPr lang="en-US" sz="1050" dirty="0">
                <a:solidFill>
                  <a:srgbClr val="505050"/>
                </a:solidFill>
                <a:latin typeface="Source Sans Pro" pitchFamily="34" charset="0"/>
                <a:ea typeface="Source Sans Pro" pitchFamily="34" charset="-122"/>
                <a:cs typeface="Source Sans Pro" pitchFamily="34" charset="-120"/>
              </a:rPr>
              <a:t>When should this skill be used?</a:t>
            </a:r>
            <a:endParaRPr lang="en-US" sz="1050" dirty="0"/>
          </a:p>
        </p:txBody>
      </p:sp>
      <p:sp>
        <p:nvSpPr>
          <p:cNvPr id="14" name="Shape 10"/>
          <p:cNvSpPr/>
          <p:nvPr/>
        </p:nvSpPr>
        <p:spPr>
          <a:xfrm>
            <a:off x="2665476" y="2542032"/>
            <a:ext cx="146304" cy="237744"/>
          </a:xfrm>
          <a:prstGeom prst="rightArrow">
            <a:avLst/>
          </a:prstGeom>
          <a:solidFill>
            <a:srgbClr val="C0392B"/>
          </a:solidFill>
          <a:ln/>
        </p:spPr>
      </p:sp>
      <p:sp>
        <p:nvSpPr>
          <p:cNvPr id="15" name="Shape 11"/>
          <p:cNvSpPr/>
          <p:nvPr/>
        </p:nvSpPr>
        <p:spPr>
          <a:xfrm>
            <a:off x="2825496" y="1810512"/>
            <a:ext cx="2084832" cy="1691640"/>
          </a:xfrm>
          <a:prstGeom prst="roundRect">
            <a:avLst>
              <a:gd name="adj" fmla="val 4865"/>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6" name="Shape 12"/>
          <p:cNvSpPr/>
          <p:nvPr/>
        </p:nvSpPr>
        <p:spPr>
          <a:xfrm>
            <a:off x="3008376" y="1993392"/>
            <a:ext cx="402336" cy="402336"/>
          </a:xfrm>
          <a:prstGeom prst="ellipse">
            <a:avLst/>
          </a:prstGeom>
          <a:solidFill>
            <a:srgbClr val="003366"/>
          </a:solidFill>
          <a:ln/>
        </p:spPr>
      </p:sp>
      <p:pic>
        <p:nvPicPr>
          <p:cNvPr id="17" name="Image 2" descr="preencoded.png">    </p:cNvPr>
          <p:cNvPicPr>
            <a:picLocks noChangeAspect="1"/>
          </p:cNvPicPr>
          <p:nvPr/>
        </p:nvPicPr>
        <p:blipFill>
          <a:blip r:embed="rId3"/>
          <a:stretch>
            <a:fillRect/>
          </a:stretch>
        </p:blipFill>
        <p:spPr>
          <a:xfrm>
            <a:off x="3096890" y="2081906"/>
            <a:ext cx="225308" cy="225308"/>
          </a:xfrm>
          <a:prstGeom prst="rect">
            <a:avLst/>
          </a:prstGeom>
        </p:spPr>
      </p:pic>
      <p:sp>
        <p:nvSpPr>
          <p:cNvPr id="18" name="Text 13"/>
          <p:cNvSpPr/>
          <p:nvPr/>
        </p:nvSpPr>
        <p:spPr>
          <a:xfrm>
            <a:off x="3008376" y="2505456"/>
            <a:ext cx="1719072"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Inputs</a:t>
            </a:r>
            <a:endParaRPr lang="en-US" sz="1350" dirty="0"/>
          </a:p>
        </p:txBody>
      </p:sp>
      <p:sp>
        <p:nvSpPr>
          <p:cNvPr id="19" name="Text 14"/>
          <p:cNvSpPr/>
          <p:nvPr/>
        </p:nvSpPr>
        <p:spPr>
          <a:xfrm>
            <a:off x="3008376" y="2798064"/>
            <a:ext cx="1719072" cy="621792"/>
          </a:xfrm>
          <a:prstGeom prst="rect">
            <a:avLst/>
          </a:prstGeom>
          <a:noFill/>
          <a:ln/>
        </p:spPr>
        <p:txBody>
          <a:bodyPr wrap="square" lIns="0" tIns="0" rIns="0" bIns="0" rtlCol="0" anchor="ctr"/>
          <a:lstStyle/>
          <a:p>
            <a:pPr indent="0" marL="0">
              <a:lnSpc>
                <a:spcPts val="1350"/>
              </a:lnSpc>
              <a:buNone/>
            </a:pPr>
            <a:r>
              <a:rPr lang="en-US" sz="1050" dirty="0">
                <a:solidFill>
                  <a:srgbClr val="505050"/>
                </a:solidFill>
                <a:latin typeface="Source Sans Pro" pitchFamily="34" charset="0"/>
                <a:ea typeface="Source Sans Pro" pitchFamily="34" charset="-122"/>
                <a:cs typeface="Source Sans Pro" pitchFamily="34" charset="-120"/>
              </a:rPr>
              <a:t>What information must be available?</a:t>
            </a:r>
            <a:endParaRPr lang="en-US" sz="1050" dirty="0"/>
          </a:p>
        </p:txBody>
      </p:sp>
      <p:sp>
        <p:nvSpPr>
          <p:cNvPr id="20" name="Shape 15"/>
          <p:cNvSpPr/>
          <p:nvPr/>
        </p:nvSpPr>
        <p:spPr>
          <a:xfrm>
            <a:off x="4924044" y="2542032"/>
            <a:ext cx="146304" cy="237744"/>
          </a:xfrm>
          <a:prstGeom prst="rightArrow">
            <a:avLst/>
          </a:prstGeom>
          <a:solidFill>
            <a:srgbClr val="C0392B"/>
          </a:solidFill>
          <a:ln/>
        </p:spPr>
      </p:sp>
      <p:sp>
        <p:nvSpPr>
          <p:cNvPr id="21" name="Shape 16"/>
          <p:cNvSpPr/>
          <p:nvPr/>
        </p:nvSpPr>
        <p:spPr>
          <a:xfrm>
            <a:off x="5084064" y="1810512"/>
            <a:ext cx="2084832" cy="1691640"/>
          </a:xfrm>
          <a:prstGeom prst="roundRect">
            <a:avLst>
              <a:gd name="adj" fmla="val 4865"/>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2" name="Shape 17"/>
          <p:cNvSpPr/>
          <p:nvPr/>
        </p:nvSpPr>
        <p:spPr>
          <a:xfrm>
            <a:off x="5266944" y="1993392"/>
            <a:ext cx="402336" cy="402336"/>
          </a:xfrm>
          <a:prstGeom prst="ellipse">
            <a:avLst/>
          </a:prstGeom>
          <a:solidFill>
            <a:srgbClr val="003366"/>
          </a:solidFill>
          <a:ln/>
        </p:spPr>
      </p:sp>
      <p:pic>
        <p:nvPicPr>
          <p:cNvPr id="23" name="Image 3" descr="preencoded.png">    </p:cNvPr>
          <p:cNvPicPr>
            <a:picLocks noChangeAspect="1"/>
          </p:cNvPicPr>
          <p:nvPr/>
        </p:nvPicPr>
        <p:blipFill>
          <a:blip r:embed="rId4"/>
          <a:stretch>
            <a:fillRect/>
          </a:stretch>
        </p:blipFill>
        <p:spPr>
          <a:xfrm>
            <a:off x="5355458" y="2081906"/>
            <a:ext cx="225308" cy="225308"/>
          </a:xfrm>
          <a:prstGeom prst="rect">
            <a:avLst/>
          </a:prstGeom>
        </p:spPr>
      </p:pic>
      <p:sp>
        <p:nvSpPr>
          <p:cNvPr id="24" name="Text 18"/>
          <p:cNvSpPr/>
          <p:nvPr/>
        </p:nvSpPr>
        <p:spPr>
          <a:xfrm>
            <a:off x="5266944" y="2505456"/>
            <a:ext cx="1719072"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Steps</a:t>
            </a:r>
            <a:endParaRPr lang="en-US" sz="1350" dirty="0"/>
          </a:p>
        </p:txBody>
      </p:sp>
      <p:sp>
        <p:nvSpPr>
          <p:cNvPr id="25" name="Text 19"/>
          <p:cNvSpPr/>
          <p:nvPr/>
        </p:nvSpPr>
        <p:spPr>
          <a:xfrm>
            <a:off x="5266944" y="2798064"/>
            <a:ext cx="1719072" cy="621792"/>
          </a:xfrm>
          <a:prstGeom prst="rect">
            <a:avLst/>
          </a:prstGeom>
          <a:noFill/>
          <a:ln/>
        </p:spPr>
        <p:txBody>
          <a:bodyPr wrap="square" lIns="0" tIns="0" rIns="0" bIns="0" rtlCol="0" anchor="ctr"/>
          <a:lstStyle/>
          <a:p>
            <a:pPr indent="0" marL="0">
              <a:lnSpc>
                <a:spcPts val="1350"/>
              </a:lnSpc>
              <a:buNone/>
            </a:pPr>
            <a:r>
              <a:rPr lang="en-US" sz="1050" dirty="0">
                <a:solidFill>
                  <a:srgbClr val="505050"/>
                </a:solidFill>
                <a:latin typeface="Source Sans Pro" pitchFamily="34" charset="0"/>
                <a:ea typeface="Source Sans Pro" pitchFamily="34" charset="-122"/>
                <a:cs typeface="Source Sans Pro" pitchFamily="34" charset="-120"/>
              </a:rPr>
              <a:t>What happens first, second, third?</a:t>
            </a:r>
            <a:endParaRPr lang="en-US" sz="1050" dirty="0"/>
          </a:p>
        </p:txBody>
      </p:sp>
      <p:sp>
        <p:nvSpPr>
          <p:cNvPr id="26" name="Shape 20"/>
          <p:cNvSpPr/>
          <p:nvPr/>
        </p:nvSpPr>
        <p:spPr>
          <a:xfrm>
            <a:off x="7182612" y="2542032"/>
            <a:ext cx="146304" cy="237744"/>
          </a:xfrm>
          <a:prstGeom prst="rightArrow">
            <a:avLst/>
          </a:prstGeom>
          <a:solidFill>
            <a:srgbClr val="C0392B"/>
          </a:solidFill>
          <a:ln/>
        </p:spPr>
      </p:sp>
      <p:sp>
        <p:nvSpPr>
          <p:cNvPr id="27" name="Shape 21"/>
          <p:cNvSpPr/>
          <p:nvPr/>
        </p:nvSpPr>
        <p:spPr>
          <a:xfrm>
            <a:off x="7342632" y="1810512"/>
            <a:ext cx="2084832" cy="1691640"/>
          </a:xfrm>
          <a:prstGeom prst="roundRect">
            <a:avLst>
              <a:gd name="adj" fmla="val 4865"/>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8" name="Shape 22"/>
          <p:cNvSpPr/>
          <p:nvPr/>
        </p:nvSpPr>
        <p:spPr>
          <a:xfrm>
            <a:off x="7525512" y="1993392"/>
            <a:ext cx="402336" cy="402336"/>
          </a:xfrm>
          <a:prstGeom prst="ellipse">
            <a:avLst/>
          </a:prstGeom>
          <a:solidFill>
            <a:srgbClr val="003366"/>
          </a:solidFill>
          <a:ln/>
        </p:spPr>
      </p:sp>
      <p:pic>
        <p:nvPicPr>
          <p:cNvPr id="29" name="Image 4" descr="preencoded.png">    </p:cNvPr>
          <p:cNvPicPr>
            <a:picLocks noChangeAspect="1"/>
          </p:cNvPicPr>
          <p:nvPr/>
        </p:nvPicPr>
        <p:blipFill>
          <a:blip r:embed="rId5"/>
          <a:stretch>
            <a:fillRect/>
          </a:stretch>
        </p:blipFill>
        <p:spPr>
          <a:xfrm>
            <a:off x="7614026" y="2081906"/>
            <a:ext cx="225308" cy="225308"/>
          </a:xfrm>
          <a:prstGeom prst="rect">
            <a:avLst/>
          </a:prstGeom>
        </p:spPr>
      </p:pic>
      <p:sp>
        <p:nvSpPr>
          <p:cNvPr id="30" name="Text 23"/>
          <p:cNvSpPr/>
          <p:nvPr/>
        </p:nvSpPr>
        <p:spPr>
          <a:xfrm>
            <a:off x="7525512" y="2505456"/>
            <a:ext cx="1719072"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Quality bar</a:t>
            </a:r>
            <a:endParaRPr lang="en-US" sz="1350" dirty="0"/>
          </a:p>
        </p:txBody>
      </p:sp>
      <p:sp>
        <p:nvSpPr>
          <p:cNvPr id="31" name="Text 24"/>
          <p:cNvSpPr/>
          <p:nvPr/>
        </p:nvSpPr>
        <p:spPr>
          <a:xfrm>
            <a:off x="7525512" y="2798064"/>
            <a:ext cx="1719072" cy="621792"/>
          </a:xfrm>
          <a:prstGeom prst="rect">
            <a:avLst/>
          </a:prstGeom>
          <a:noFill/>
          <a:ln/>
        </p:spPr>
        <p:txBody>
          <a:bodyPr wrap="square" lIns="0" tIns="0" rIns="0" bIns="0" rtlCol="0" anchor="ctr"/>
          <a:lstStyle/>
          <a:p>
            <a:pPr indent="0" marL="0">
              <a:lnSpc>
                <a:spcPts val="1350"/>
              </a:lnSpc>
              <a:buNone/>
            </a:pPr>
            <a:r>
              <a:rPr lang="en-US" sz="1050" dirty="0">
                <a:solidFill>
                  <a:srgbClr val="505050"/>
                </a:solidFill>
                <a:latin typeface="Source Sans Pro" pitchFamily="34" charset="0"/>
                <a:ea typeface="Source Sans Pro" pitchFamily="34" charset="-122"/>
                <a:cs typeface="Source Sans Pro" pitchFamily="34" charset="-120"/>
              </a:rPr>
              <a:t>How do we know the output is good enough?</a:t>
            </a:r>
            <a:endParaRPr lang="en-US" sz="1050" dirty="0"/>
          </a:p>
        </p:txBody>
      </p:sp>
      <p:sp>
        <p:nvSpPr>
          <p:cNvPr id="32" name="Shape 25"/>
          <p:cNvSpPr/>
          <p:nvPr/>
        </p:nvSpPr>
        <p:spPr>
          <a:xfrm>
            <a:off x="9441180" y="2542032"/>
            <a:ext cx="146304" cy="237744"/>
          </a:xfrm>
          <a:prstGeom prst="rightArrow">
            <a:avLst/>
          </a:prstGeom>
          <a:solidFill>
            <a:srgbClr val="C0392B"/>
          </a:solidFill>
          <a:ln/>
        </p:spPr>
      </p:sp>
      <p:sp>
        <p:nvSpPr>
          <p:cNvPr id="33" name="Shape 26"/>
          <p:cNvSpPr/>
          <p:nvPr/>
        </p:nvSpPr>
        <p:spPr>
          <a:xfrm>
            <a:off x="9601200" y="1810512"/>
            <a:ext cx="2084832" cy="1691640"/>
          </a:xfrm>
          <a:prstGeom prst="roundRect">
            <a:avLst>
              <a:gd name="adj" fmla="val 4865"/>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4" name="Shape 27"/>
          <p:cNvSpPr/>
          <p:nvPr/>
        </p:nvSpPr>
        <p:spPr>
          <a:xfrm>
            <a:off x="9784080" y="1993392"/>
            <a:ext cx="402336" cy="402336"/>
          </a:xfrm>
          <a:prstGeom prst="ellipse">
            <a:avLst/>
          </a:prstGeom>
          <a:solidFill>
            <a:srgbClr val="003366"/>
          </a:solidFill>
          <a:ln/>
        </p:spPr>
      </p:sp>
      <p:pic>
        <p:nvPicPr>
          <p:cNvPr id="35" name="Image 5" descr="preencoded.png">    </p:cNvPr>
          <p:cNvPicPr>
            <a:picLocks noChangeAspect="1"/>
          </p:cNvPicPr>
          <p:nvPr/>
        </p:nvPicPr>
        <p:blipFill>
          <a:blip r:embed="rId6"/>
          <a:stretch>
            <a:fillRect/>
          </a:stretch>
        </p:blipFill>
        <p:spPr>
          <a:xfrm>
            <a:off x="9872594" y="2081906"/>
            <a:ext cx="225308" cy="225308"/>
          </a:xfrm>
          <a:prstGeom prst="rect">
            <a:avLst/>
          </a:prstGeom>
        </p:spPr>
      </p:pic>
      <p:sp>
        <p:nvSpPr>
          <p:cNvPr id="36" name="Text 28"/>
          <p:cNvSpPr/>
          <p:nvPr/>
        </p:nvSpPr>
        <p:spPr>
          <a:xfrm>
            <a:off x="9784080" y="2505456"/>
            <a:ext cx="1719072" cy="274320"/>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Guardrails</a:t>
            </a:r>
            <a:endParaRPr lang="en-US" sz="1350" dirty="0"/>
          </a:p>
        </p:txBody>
      </p:sp>
      <p:sp>
        <p:nvSpPr>
          <p:cNvPr id="37" name="Text 29"/>
          <p:cNvSpPr/>
          <p:nvPr/>
        </p:nvSpPr>
        <p:spPr>
          <a:xfrm>
            <a:off x="9784080" y="2798064"/>
            <a:ext cx="1719072" cy="621792"/>
          </a:xfrm>
          <a:prstGeom prst="rect">
            <a:avLst/>
          </a:prstGeom>
          <a:noFill/>
          <a:ln/>
        </p:spPr>
        <p:txBody>
          <a:bodyPr wrap="square" lIns="0" tIns="0" rIns="0" bIns="0" rtlCol="0" anchor="ctr"/>
          <a:lstStyle/>
          <a:p>
            <a:pPr indent="0" marL="0">
              <a:lnSpc>
                <a:spcPts val="1350"/>
              </a:lnSpc>
              <a:buNone/>
            </a:pPr>
            <a:r>
              <a:rPr lang="en-US" sz="1050" dirty="0">
                <a:solidFill>
                  <a:srgbClr val="505050"/>
                </a:solidFill>
                <a:latin typeface="Source Sans Pro" pitchFamily="34" charset="0"/>
                <a:ea typeface="Source Sans Pro" pitchFamily="34" charset="-122"/>
                <a:cs typeface="Source Sans Pro" pitchFamily="34" charset="-120"/>
              </a:rPr>
              <a:t>What must the assistant not do?</a:t>
            </a:r>
            <a:endParaRPr lang="en-US" sz="1050" dirty="0"/>
          </a:p>
        </p:txBody>
      </p:sp>
      <p:sp>
        <p:nvSpPr>
          <p:cNvPr id="38" name="Shape 30"/>
          <p:cNvSpPr/>
          <p:nvPr/>
        </p:nvSpPr>
        <p:spPr>
          <a:xfrm>
            <a:off x="566928" y="3749040"/>
            <a:ext cx="11055096" cy="2148840"/>
          </a:xfrm>
          <a:prstGeom prst="roundRect">
            <a:avLst>
              <a:gd name="adj" fmla="val 3830"/>
            </a:avLst>
          </a:prstGeom>
          <a:solidFill>
            <a:srgbClr val="10233F"/>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39" name="Shape 31"/>
          <p:cNvSpPr/>
          <p:nvPr/>
        </p:nvSpPr>
        <p:spPr>
          <a:xfrm>
            <a:off x="786384" y="3913632"/>
            <a:ext cx="118872" cy="118872"/>
          </a:xfrm>
          <a:prstGeom prst="ellipse">
            <a:avLst/>
          </a:prstGeom>
          <a:solidFill>
            <a:srgbClr val="C0392B"/>
          </a:solidFill>
          <a:ln/>
        </p:spPr>
      </p:sp>
      <p:sp>
        <p:nvSpPr>
          <p:cNvPr id="40" name="Shape 32"/>
          <p:cNvSpPr/>
          <p:nvPr/>
        </p:nvSpPr>
        <p:spPr>
          <a:xfrm>
            <a:off x="1005840" y="3913632"/>
            <a:ext cx="118872" cy="118872"/>
          </a:xfrm>
          <a:prstGeom prst="ellipse">
            <a:avLst/>
          </a:prstGeom>
          <a:solidFill>
            <a:srgbClr val="006699"/>
          </a:solidFill>
          <a:ln/>
        </p:spPr>
      </p:sp>
      <p:sp>
        <p:nvSpPr>
          <p:cNvPr id="41" name="Shape 33"/>
          <p:cNvSpPr/>
          <p:nvPr/>
        </p:nvSpPr>
        <p:spPr>
          <a:xfrm>
            <a:off x="1225296" y="3913632"/>
            <a:ext cx="118872" cy="118872"/>
          </a:xfrm>
          <a:prstGeom prst="ellipse">
            <a:avLst/>
          </a:prstGeom>
          <a:solidFill>
            <a:srgbClr val="999999"/>
          </a:solidFill>
          <a:ln/>
        </p:spPr>
      </p:sp>
      <p:sp>
        <p:nvSpPr>
          <p:cNvPr id="42" name="Text 34"/>
          <p:cNvSpPr/>
          <p:nvPr/>
        </p:nvSpPr>
        <p:spPr>
          <a:xfrm>
            <a:off x="1554480" y="3867912"/>
            <a:ext cx="2743200" cy="219456"/>
          </a:xfrm>
          <a:prstGeom prst="rect">
            <a:avLst/>
          </a:prstGeom>
          <a:noFill/>
          <a:ln/>
        </p:spPr>
        <p:txBody>
          <a:bodyPr wrap="square" lIns="0" tIns="0" rIns="0" bIns="0" rtlCol="0" anchor="ctr"/>
          <a:lstStyle/>
          <a:p>
            <a:pPr indent="0" marL="0">
              <a:buNone/>
            </a:pPr>
            <a:r>
              <a:rPr lang="en-US" sz="1050" dirty="0">
                <a:solidFill>
                  <a:srgbClr val="999999"/>
                </a:solidFill>
                <a:latin typeface="Source Code Pro" pitchFamily="34" charset="0"/>
                <a:ea typeface="Source Code Pro" pitchFamily="34" charset="-122"/>
                <a:cs typeface="Source Code Pro" pitchFamily="34" charset="-120"/>
              </a:rPr>
              <a:t>skill skeleton</a:t>
            </a:r>
            <a:endParaRPr lang="en-US" sz="1050" dirty="0"/>
          </a:p>
        </p:txBody>
      </p:sp>
      <p:sp>
        <p:nvSpPr>
          <p:cNvPr id="43" name="Text 35"/>
          <p:cNvSpPr/>
          <p:nvPr/>
        </p:nvSpPr>
        <p:spPr>
          <a:xfrm>
            <a:off x="868680" y="4224528"/>
            <a:ext cx="10424160" cy="1554480"/>
          </a:xfrm>
          <a:prstGeom prst="rect">
            <a:avLst/>
          </a:prstGeom>
          <a:noFill/>
          <a:ln/>
        </p:spPr>
        <p:txBody>
          <a:bodyPr wrap="square" lIns="0" tIns="0" rIns="0" bIns="0" rtlCol="0" anchor="t"/>
          <a:lstStyle/>
          <a:p>
            <a:pPr indent="0" marL="0">
              <a:lnSpc>
                <a:spcPts val="1800"/>
              </a:lnSpc>
              <a:buNone/>
            </a:pPr>
            <a:r>
              <a:rPr lang="en-US" sz="1250" dirty="0">
                <a:solidFill>
                  <a:srgbClr val="7E93AE"/>
                </a:solidFill>
                <a:latin typeface="Source Code Pro" pitchFamily="34" charset="0"/>
                <a:ea typeface="Source Code Pro" pitchFamily="34" charset="-122"/>
                <a:cs typeface="Source Code Pro" pitchFamily="34" charset="-120"/>
              </a:rPr>
              <a:t>---
</a:t>
            </a:r>
            <a:pPr indent="0" marL="0">
              <a:lnSpc>
                <a:spcPts val="1800"/>
              </a:lnSpc>
              <a:buNone/>
            </a:pPr>
            <a:r>
              <a:rPr lang="en-US" sz="1250" b="1" dirty="0">
                <a:solidFill>
                  <a:srgbClr val="C0392B"/>
                </a:solidFill>
                <a:latin typeface="Source Code Pro" pitchFamily="34" charset="0"/>
                <a:ea typeface="Source Code Pro" pitchFamily="34" charset="-122"/>
                <a:cs typeface="Source Code Pro" pitchFamily="34" charset="-120"/>
              </a:rPr>
              <a:t>name:</a:t>
            </a:r>
            <a:pPr indent="0" marL="0">
              <a:lnSpc>
                <a:spcPts val="1800"/>
              </a:lnSpc>
              <a:buNone/>
            </a:pPr>
            <a:r>
              <a:rPr lang="en-US" sz="1250" dirty="0">
                <a:solidFill>
                  <a:srgbClr val="FFFFFF"/>
                </a:solidFill>
                <a:latin typeface="Source Code Pro" pitchFamily="34" charset="0"/>
                <a:ea typeface="Source Code Pro" pitchFamily="34" charset="-122"/>
                <a:cs typeface="Source Code Pro" pitchFamily="34" charset="-120"/>
              </a:rPr>
              <a:t> &lt;task-name&gt;      </a:t>
            </a:r>
            <a:pPr indent="0" marL="0">
              <a:lnSpc>
                <a:spcPts val="1800"/>
              </a:lnSpc>
              <a:buNone/>
            </a:pPr>
            <a:r>
              <a:rPr lang="en-US" sz="1250" b="1" dirty="0">
                <a:solidFill>
                  <a:srgbClr val="C0392B"/>
                </a:solidFill>
                <a:latin typeface="Source Code Pro" pitchFamily="34" charset="0"/>
                <a:ea typeface="Source Code Pro" pitchFamily="34" charset="-122"/>
                <a:cs typeface="Source Code Pro" pitchFamily="34" charset="-120"/>
              </a:rPr>
              <a:t>description:</a:t>
            </a:r>
            <a:pPr indent="0" marL="0">
              <a:lnSpc>
                <a:spcPts val="1800"/>
              </a:lnSpc>
              <a:buNone/>
            </a:pPr>
            <a:r>
              <a:rPr lang="en-US" sz="1250" dirty="0">
                <a:solidFill>
                  <a:srgbClr val="D6E4EF"/>
                </a:solidFill>
                <a:latin typeface="Source Code Pro" pitchFamily="34" charset="0"/>
                <a:ea typeface="Source Code Pro" pitchFamily="34" charset="-122"/>
                <a:cs typeface="Source Code Pro" pitchFamily="34" charset="-120"/>
              </a:rPr>
              <a:t> Use when &lt;trigger&gt;.
</a:t>
            </a:r>
            <a:pPr indent="0" marL="0">
              <a:lnSpc>
                <a:spcPts val="1800"/>
              </a:lnSpc>
              <a:buNone/>
            </a:pPr>
            <a:r>
              <a:rPr lang="en-US" sz="1250" dirty="0">
                <a:solidFill>
                  <a:srgbClr val="7E93AE"/>
                </a:solidFill>
                <a:latin typeface="Source Code Pro" pitchFamily="34" charset="0"/>
                <a:ea typeface="Source Code Pro" pitchFamily="34" charset="-122"/>
                <a:cs typeface="Source Code Pro" pitchFamily="34" charset="-120"/>
              </a:rPr>
              <a:t>---
</a:t>
            </a:r>
            <a:pPr indent="0" marL="0">
              <a:lnSpc>
                <a:spcPts val="1800"/>
              </a:lnSpc>
              <a:buNone/>
            </a:pPr>
            <a:r>
              <a:rPr lang="en-US" sz="1250" b="1" dirty="0">
                <a:solidFill>
                  <a:srgbClr val="C0392B"/>
                </a:solidFill>
                <a:latin typeface="Source Code Pro" pitchFamily="34" charset="0"/>
                <a:ea typeface="Source Code Pro" pitchFamily="34" charset="-122"/>
                <a:cs typeface="Source Code Pro" pitchFamily="34" charset="-120"/>
              </a:rPr>
              <a:t>Goal:</a:t>
            </a:r>
            <a:pPr indent="0" marL="0">
              <a:lnSpc>
                <a:spcPts val="1800"/>
              </a:lnSpc>
              <a:buNone/>
            </a:pPr>
            <a:r>
              <a:rPr lang="en-US" sz="1250" dirty="0">
                <a:solidFill>
                  <a:srgbClr val="D6E4EF"/>
                </a:solidFill>
                <a:latin typeface="Source Code Pro" pitchFamily="34" charset="0"/>
                <a:ea typeface="Source Code Pro" pitchFamily="34" charset="-122"/>
                <a:cs typeface="Source Code Pro" pitchFamily="34" charset="-120"/>
              </a:rPr>
              <a:t>        one sentence
</a:t>
            </a:r>
            <a:pPr indent="0" marL="0">
              <a:lnSpc>
                <a:spcPts val="1800"/>
              </a:lnSpc>
              <a:buNone/>
            </a:pPr>
            <a:r>
              <a:rPr lang="en-US" sz="1250" b="1" dirty="0">
                <a:solidFill>
                  <a:srgbClr val="C0392B"/>
                </a:solidFill>
                <a:latin typeface="Source Code Pro" pitchFamily="34" charset="0"/>
                <a:ea typeface="Source Code Pro" pitchFamily="34" charset="-122"/>
                <a:cs typeface="Source Code Pro" pitchFamily="34" charset="-120"/>
              </a:rPr>
              <a:t>Steps:</a:t>
            </a:r>
            <a:pPr indent="0" marL="0">
              <a:lnSpc>
                <a:spcPts val="1800"/>
              </a:lnSpc>
              <a:buNone/>
            </a:pPr>
            <a:r>
              <a:rPr lang="en-US" sz="1250" dirty="0">
                <a:solidFill>
                  <a:srgbClr val="D6E4EF"/>
                </a:solidFill>
                <a:latin typeface="Source Code Pro" pitchFamily="34" charset="0"/>
                <a:ea typeface="Source Code Pro" pitchFamily="34" charset="-122"/>
                <a:cs typeface="Source Code Pro" pitchFamily="34" charset="-120"/>
              </a:rPr>
              <a:t>       ordered list with completion checks
</a:t>
            </a:r>
            <a:pPr indent="0" marL="0">
              <a:lnSpc>
                <a:spcPts val="1800"/>
              </a:lnSpc>
              <a:buNone/>
            </a:pPr>
            <a:r>
              <a:rPr lang="en-US" sz="1250" b="1" dirty="0">
                <a:solidFill>
                  <a:srgbClr val="C0392B"/>
                </a:solidFill>
                <a:latin typeface="Source Code Pro" pitchFamily="34" charset="0"/>
                <a:ea typeface="Source Code Pro" pitchFamily="34" charset="-122"/>
                <a:cs typeface="Source Code Pro" pitchFamily="34" charset="-120"/>
              </a:rPr>
              <a:t>Guardrails:</a:t>
            </a:r>
            <a:pPr indent="0" marL="0">
              <a:lnSpc>
                <a:spcPts val="1800"/>
              </a:lnSpc>
              <a:buNone/>
            </a:pPr>
            <a:r>
              <a:rPr lang="en-US" sz="1250" dirty="0">
                <a:solidFill>
                  <a:srgbClr val="D6E4EF"/>
                </a:solidFill>
                <a:latin typeface="Source Code Pro" pitchFamily="34" charset="0"/>
                <a:ea typeface="Source Code Pro" pitchFamily="34" charset="-122"/>
                <a:cs typeface="Source Code Pro" pitchFamily="34" charset="-120"/>
              </a:rPr>
              <a:t>  what to avoid — and what to do instead
</a:t>
            </a:r>
            <a:pPr indent="0" marL="0">
              <a:lnSpc>
                <a:spcPts val="1800"/>
              </a:lnSpc>
              <a:buNone/>
            </a:pPr>
            <a:r>
              <a:rPr lang="en-US" sz="1250" b="1" dirty="0">
                <a:solidFill>
                  <a:srgbClr val="C0392B"/>
                </a:solidFill>
                <a:latin typeface="Source Code Pro" pitchFamily="34" charset="0"/>
                <a:ea typeface="Source Code Pro" pitchFamily="34" charset="-122"/>
                <a:cs typeface="Source Code Pro" pitchFamily="34" charset="-120"/>
              </a:rPr>
              <a:t>References:</a:t>
            </a:r>
            <a:pPr indent="0" marL="0">
              <a:lnSpc>
                <a:spcPts val="1800"/>
              </a:lnSpc>
              <a:buNone/>
            </a:pPr>
            <a:r>
              <a:rPr lang="en-US" sz="1250" dirty="0">
                <a:solidFill>
                  <a:srgbClr val="D6E4EF"/>
                </a:solidFill>
                <a:latin typeface="Source Code Pro" pitchFamily="34" charset="0"/>
                <a:ea typeface="Source Code Pro" pitchFamily="34" charset="-122"/>
                <a:cs typeface="Source Code Pro" pitchFamily="34" charset="-120"/>
              </a:rPr>
              <a:t>  harness page or glossary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PROOF FROM THE FIELD</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Public skill examples: what we can learn</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Good skills are small, specific, and repeatable.</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14 / 21</a:t>
            </a:r>
            <a:endParaRPr lang="en-US" sz="1000" dirty="0"/>
          </a:p>
        </p:txBody>
      </p:sp>
      <p:sp>
        <p:nvSpPr>
          <p:cNvPr id="9" name="Shape 6"/>
          <p:cNvSpPr/>
          <p:nvPr/>
        </p:nvSpPr>
        <p:spPr>
          <a:xfrm>
            <a:off x="566928" y="1828800"/>
            <a:ext cx="3529584" cy="3063240"/>
          </a:xfrm>
          <a:prstGeom prst="roundRect">
            <a:avLst>
              <a:gd name="adj" fmla="val 268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68096" y="2048256"/>
            <a:ext cx="1554480" cy="402336"/>
          </a:xfrm>
          <a:prstGeom prst="roundRect">
            <a:avLst>
              <a:gd name="adj" fmla="val 18182"/>
            </a:avLst>
          </a:prstGeom>
          <a:solidFill>
            <a:srgbClr val="10233F"/>
          </a:solidFill>
          <a:ln/>
        </p:spPr>
      </p:sp>
      <p:sp>
        <p:nvSpPr>
          <p:cNvPr id="11" name="Text 8"/>
          <p:cNvSpPr/>
          <p:nvPr/>
        </p:nvSpPr>
        <p:spPr>
          <a:xfrm>
            <a:off x="768096" y="2093976"/>
            <a:ext cx="1554480" cy="310896"/>
          </a:xfrm>
          <a:prstGeom prst="rect">
            <a:avLst/>
          </a:prstGeom>
          <a:noFill/>
          <a:ln/>
        </p:spPr>
        <p:txBody>
          <a:bodyPr wrap="square" lIns="0" tIns="0" rIns="0" bIns="0" rtlCol="0" anchor="ctr"/>
          <a:lstStyle/>
          <a:p>
            <a:pPr algn="ctr" indent="0" marL="0">
              <a:buNone/>
            </a:pPr>
            <a:r>
              <a:rPr lang="en-US" sz="1300" b="1" dirty="0">
                <a:solidFill>
                  <a:srgbClr val="C0392B"/>
                </a:solidFill>
                <a:latin typeface="Source Code Pro" pitchFamily="34" charset="0"/>
                <a:ea typeface="Source Code Pro" pitchFamily="34" charset="-122"/>
                <a:cs typeface="Source Code Pro" pitchFamily="34" charset="-120"/>
              </a:rPr>
              <a:t>/grill-me</a:t>
            </a:r>
            <a:endParaRPr lang="en-US" sz="1300" dirty="0"/>
          </a:p>
        </p:txBody>
      </p:sp>
      <p:sp>
        <p:nvSpPr>
          <p:cNvPr id="12" name="Text 9"/>
          <p:cNvSpPr/>
          <p:nvPr/>
        </p:nvSpPr>
        <p:spPr>
          <a:xfrm>
            <a:off x="768096" y="2651760"/>
            <a:ext cx="3127248" cy="658368"/>
          </a:xfrm>
          <a:prstGeom prst="rect">
            <a:avLst/>
          </a:prstGeom>
          <a:noFill/>
          <a:ln/>
        </p:spPr>
        <p:txBody>
          <a:bodyPr wrap="square" lIns="0" tIns="0" rIns="0" bIns="0" rtlCol="0" anchor="ctr"/>
          <a:lstStyle/>
          <a:p>
            <a:pPr indent="0" marL="0">
              <a:lnSpc>
                <a:spcPts val="1700"/>
              </a:lnSpc>
              <a:buNone/>
            </a:pPr>
            <a:r>
              <a:rPr lang="en-US" sz="1350" b="1" dirty="0">
                <a:solidFill>
                  <a:srgbClr val="003366"/>
                </a:solidFill>
                <a:latin typeface="Source Sans Pro" pitchFamily="34" charset="0"/>
                <a:ea typeface="Source Sans Pro" pitchFamily="34" charset="-122"/>
                <a:cs typeface="Source Sans Pro" pitchFamily="34" charset="-120"/>
              </a:rPr>
              <a:t>Interview the user until the plan is clear.</a:t>
            </a:r>
            <a:endParaRPr lang="en-US" sz="1350" dirty="0"/>
          </a:p>
        </p:txBody>
      </p:sp>
      <p:sp>
        <p:nvSpPr>
          <p:cNvPr id="13" name="Shape 10"/>
          <p:cNvSpPr/>
          <p:nvPr/>
        </p:nvSpPr>
        <p:spPr>
          <a:xfrm>
            <a:off x="768096" y="3401568"/>
            <a:ext cx="3127248" cy="0"/>
          </a:xfrm>
          <a:prstGeom prst="line">
            <a:avLst/>
          </a:prstGeom>
          <a:noFill/>
          <a:ln w="9525">
            <a:solidFill>
              <a:srgbClr val="D9DEE4"/>
            </a:solidFill>
            <a:prstDash val="solid"/>
          </a:ln>
        </p:spPr>
      </p:sp>
      <p:sp>
        <p:nvSpPr>
          <p:cNvPr id="14" name="Text 11"/>
          <p:cNvSpPr/>
          <p:nvPr/>
        </p:nvSpPr>
        <p:spPr>
          <a:xfrm>
            <a:off x="768096" y="3529584"/>
            <a:ext cx="2743200" cy="237744"/>
          </a:xfrm>
          <a:prstGeom prst="rect">
            <a:avLst/>
          </a:prstGeom>
          <a:noFill/>
          <a:ln/>
        </p:spPr>
        <p:txBody>
          <a:bodyPr wrap="square" lIns="0" tIns="0" rIns="0" bIns="0" rtlCol="0" anchor="ctr"/>
          <a:lstStyle/>
          <a:p>
            <a:pPr indent="0" marL="0">
              <a:buNone/>
            </a:pPr>
            <a:r>
              <a:rPr lang="en-US" sz="1000" b="1" spc="200" kern="0" dirty="0">
                <a:solidFill>
                  <a:srgbClr val="006699"/>
                </a:solidFill>
                <a:latin typeface="Source Sans Pro" pitchFamily="34" charset="0"/>
                <a:ea typeface="Source Sans Pro" pitchFamily="34" charset="-122"/>
                <a:cs typeface="Source Sans Pro" pitchFamily="34" charset="-120"/>
              </a:rPr>
              <a:t>CDAO ADAPTATION</a:t>
            </a:r>
            <a:endParaRPr lang="en-US" sz="1000" dirty="0"/>
          </a:p>
        </p:txBody>
      </p:sp>
      <p:sp>
        <p:nvSpPr>
          <p:cNvPr id="15" name="Text 12"/>
          <p:cNvSpPr/>
          <p:nvPr/>
        </p:nvSpPr>
        <p:spPr>
          <a:xfrm>
            <a:off x="768096" y="3803904"/>
            <a:ext cx="3127248" cy="960120"/>
          </a:xfrm>
          <a:prstGeom prst="rect">
            <a:avLst/>
          </a:prstGeom>
          <a:noFill/>
          <a:ln/>
        </p:spPr>
        <p:txBody>
          <a:bodyPr wrap="square" lIns="0" tIns="0" rIns="0" bIns="0" rtlCol="0" anchor="ctr"/>
          <a:lstStyle/>
          <a:p>
            <a:pPr indent="0" marL="0">
              <a:lnSpc>
                <a:spcPts val="1550"/>
              </a:lnSpc>
              <a:buNone/>
            </a:pPr>
            <a:r>
              <a:rPr lang="en-US" sz="1200" dirty="0">
                <a:solidFill>
                  <a:srgbClr val="505050"/>
                </a:solidFill>
                <a:latin typeface="Source Sans Pro" pitchFamily="34" charset="0"/>
                <a:ea typeface="Source Sans Pro" pitchFamily="34" charset="-122"/>
                <a:cs typeface="Source Sans Pro" pitchFamily="34" charset="-120"/>
              </a:rPr>
              <a:t>Clarify a data request before building the dashboard, query, or harness.</a:t>
            </a:r>
            <a:endParaRPr lang="en-US" sz="1200" dirty="0"/>
          </a:p>
        </p:txBody>
      </p:sp>
      <p:sp>
        <p:nvSpPr>
          <p:cNvPr id="16" name="Shape 13"/>
          <p:cNvSpPr/>
          <p:nvPr/>
        </p:nvSpPr>
        <p:spPr>
          <a:xfrm>
            <a:off x="4325112" y="1828800"/>
            <a:ext cx="3529584" cy="3063240"/>
          </a:xfrm>
          <a:prstGeom prst="roundRect">
            <a:avLst>
              <a:gd name="adj" fmla="val 268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7" name="Shape 14"/>
          <p:cNvSpPr/>
          <p:nvPr/>
        </p:nvSpPr>
        <p:spPr>
          <a:xfrm>
            <a:off x="4526280" y="2048256"/>
            <a:ext cx="1554480" cy="402336"/>
          </a:xfrm>
          <a:prstGeom prst="roundRect">
            <a:avLst>
              <a:gd name="adj" fmla="val 18182"/>
            </a:avLst>
          </a:prstGeom>
          <a:solidFill>
            <a:srgbClr val="10233F"/>
          </a:solidFill>
          <a:ln/>
        </p:spPr>
      </p:sp>
      <p:sp>
        <p:nvSpPr>
          <p:cNvPr id="18" name="Text 15"/>
          <p:cNvSpPr/>
          <p:nvPr/>
        </p:nvSpPr>
        <p:spPr>
          <a:xfrm>
            <a:off x="4526280" y="2093976"/>
            <a:ext cx="1554480" cy="310896"/>
          </a:xfrm>
          <a:prstGeom prst="rect">
            <a:avLst/>
          </a:prstGeom>
          <a:noFill/>
          <a:ln/>
        </p:spPr>
        <p:txBody>
          <a:bodyPr wrap="square" lIns="0" tIns="0" rIns="0" bIns="0" rtlCol="0" anchor="ctr"/>
          <a:lstStyle/>
          <a:p>
            <a:pPr algn="ctr" indent="0" marL="0">
              <a:buNone/>
            </a:pPr>
            <a:r>
              <a:rPr lang="en-US" sz="1300" b="1" dirty="0">
                <a:solidFill>
                  <a:srgbClr val="C0392B"/>
                </a:solidFill>
                <a:latin typeface="Source Code Pro" pitchFamily="34" charset="0"/>
                <a:ea typeface="Source Code Pro" pitchFamily="34" charset="-122"/>
                <a:cs typeface="Source Code Pro" pitchFamily="34" charset="-120"/>
              </a:rPr>
              <a:t>/to-prd</a:t>
            </a:r>
            <a:endParaRPr lang="en-US" sz="1300" dirty="0"/>
          </a:p>
        </p:txBody>
      </p:sp>
      <p:sp>
        <p:nvSpPr>
          <p:cNvPr id="19" name="Text 16"/>
          <p:cNvSpPr/>
          <p:nvPr/>
        </p:nvSpPr>
        <p:spPr>
          <a:xfrm>
            <a:off x="4526280" y="2651760"/>
            <a:ext cx="3127248" cy="658368"/>
          </a:xfrm>
          <a:prstGeom prst="rect">
            <a:avLst/>
          </a:prstGeom>
          <a:noFill/>
          <a:ln/>
        </p:spPr>
        <p:txBody>
          <a:bodyPr wrap="square" lIns="0" tIns="0" rIns="0" bIns="0" rtlCol="0" anchor="ctr"/>
          <a:lstStyle/>
          <a:p>
            <a:pPr indent="0" marL="0">
              <a:lnSpc>
                <a:spcPts val="1700"/>
              </a:lnSpc>
              <a:buNone/>
            </a:pPr>
            <a:r>
              <a:rPr lang="en-US" sz="1350" b="1" dirty="0">
                <a:solidFill>
                  <a:srgbClr val="003366"/>
                </a:solidFill>
                <a:latin typeface="Source Sans Pro" pitchFamily="34" charset="0"/>
                <a:ea typeface="Source Sans Pro" pitchFamily="34" charset="-122"/>
                <a:cs typeface="Source Sans Pro" pitchFamily="34" charset="-120"/>
              </a:rPr>
              <a:t>Turn conversation into a structured requirement.</a:t>
            </a:r>
            <a:endParaRPr lang="en-US" sz="1350" dirty="0"/>
          </a:p>
        </p:txBody>
      </p:sp>
      <p:sp>
        <p:nvSpPr>
          <p:cNvPr id="20" name="Shape 17"/>
          <p:cNvSpPr/>
          <p:nvPr/>
        </p:nvSpPr>
        <p:spPr>
          <a:xfrm>
            <a:off x="4526280" y="3401568"/>
            <a:ext cx="3127248" cy="0"/>
          </a:xfrm>
          <a:prstGeom prst="line">
            <a:avLst/>
          </a:prstGeom>
          <a:noFill/>
          <a:ln w="9525">
            <a:solidFill>
              <a:srgbClr val="D9DEE4"/>
            </a:solidFill>
            <a:prstDash val="solid"/>
          </a:ln>
        </p:spPr>
      </p:sp>
      <p:sp>
        <p:nvSpPr>
          <p:cNvPr id="21" name="Text 18"/>
          <p:cNvSpPr/>
          <p:nvPr/>
        </p:nvSpPr>
        <p:spPr>
          <a:xfrm>
            <a:off x="4526280" y="3529584"/>
            <a:ext cx="2743200" cy="237744"/>
          </a:xfrm>
          <a:prstGeom prst="rect">
            <a:avLst/>
          </a:prstGeom>
          <a:noFill/>
          <a:ln/>
        </p:spPr>
        <p:txBody>
          <a:bodyPr wrap="square" lIns="0" tIns="0" rIns="0" bIns="0" rtlCol="0" anchor="ctr"/>
          <a:lstStyle/>
          <a:p>
            <a:pPr indent="0" marL="0">
              <a:buNone/>
            </a:pPr>
            <a:r>
              <a:rPr lang="en-US" sz="1000" b="1" spc="200" kern="0" dirty="0">
                <a:solidFill>
                  <a:srgbClr val="006699"/>
                </a:solidFill>
                <a:latin typeface="Source Sans Pro" pitchFamily="34" charset="0"/>
                <a:ea typeface="Source Sans Pro" pitchFamily="34" charset="-122"/>
                <a:cs typeface="Source Sans Pro" pitchFamily="34" charset="-120"/>
              </a:rPr>
              <a:t>CDAO ADAPTATION</a:t>
            </a:r>
            <a:endParaRPr lang="en-US" sz="1000" dirty="0"/>
          </a:p>
        </p:txBody>
      </p:sp>
      <p:sp>
        <p:nvSpPr>
          <p:cNvPr id="22" name="Text 19"/>
          <p:cNvSpPr/>
          <p:nvPr/>
        </p:nvSpPr>
        <p:spPr>
          <a:xfrm>
            <a:off x="4526280" y="3803904"/>
            <a:ext cx="3127248" cy="960120"/>
          </a:xfrm>
          <a:prstGeom prst="rect">
            <a:avLst/>
          </a:prstGeom>
          <a:noFill/>
          <a:ln/>
        </p:spPr>
        <p:txBody>
          <a:bodyPr wrap="square" lIns="0" tIns="0" rIns="0" bIns="0" rtlCol="0" anchor="ctr"/>
          <a:lstStyle/>
          <a:p>
            <a:pPr indent="0" marL="0">
              <a:lnSpc>
                <a:spcPts val="1550"/>
              </a:lnSpc>
              <a:buNone/>
            </a:pPr>
            <a:r>
              <a:rPr lang="en-US" sz="1200" dirty="0">
                <a:solidFill>
                  <a:srgbClr val="505050"/>
                </a:solidFill>
                <a:latin typeface="Source Sans Pro" pitchFamily="34" charset="0"/>
                <a:ea typeface="Source Sans Pro" pitchFamily="34" charset="-122"/>
                <a:cs typeface="Source Sans Pro" pitchFamily="34" charset="-120"/>
              </a:rPr>
              <a:t>Convert a stakeholder discussion into a data-product brief or Jira epic.</a:t>
            </a:r>
            <a:endParaRPr lang="en-US" sz="1200" dirty="0"/>
          </a:p>
        </p:txBody>
      </p:sp>
      <p:sp>
        <p:nvSpPr>
          <p:cNvPr id="23" name="Shape 20"/>
          <p:cNvSpPr/>
          <p:nvPr/>
        </p:nvSpPr>
        <p:spPr>
          <a:xfrm>
            <a:off x="8083296" y="1828800"/>
            <a:ext cx="3529584" cy="3063240"/>
          </a:xfrm>
          <a:prstGeom prst="roundRect">
            <a:avLst>
              <a:gd name="adj" fmla="val 268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4" name="Shape 21"/>
          <p:cNvSpPr/>
          <p:nvPr/>
        </p:nvSpPr>
        <p:spPr>
          <a:xfrm>
            <a:off x="8284464" y="2048256"/>
            <a:ext cx="1554480" cy="402336"/>
          </a:xfrm>
          <a:prstGeom prst="roundRect">
            <a:avLst>
              <a:gd name="adj" fmla="val 18182"/>
            </a:avLst>
          </a:prstGeom>
          <a:solidFill>
            <a:srgbClr val="10233F"/>
          </a:solidFill>
          <a:ln/>
        </p:spPr>
      </p:sp>
      <p:sp>
        <p:nvSpPr>
          <p:cNvPr id="25" name="Text 22"/>
          <p:cNvSpPr/>
          <p:nvPr/>
        </p:nvSpPr>
        <p:spPr>
          <a:xfrm>
            <a:off x="8284464" y="2093976"/>
            <a:ext cx="1554480" cy="310896"/>
          </a:xfrm>
          <a:prstGeom prst="rect">
            <a:avLst/>
          </a:prstGeom>
          <a:noFill/>
          <a:ln/>
        </p:spPr>
        <p:txBody>
          <a:bodyPr wrap="square" lIns="0" tIns="0" rIns="0" bIns="0" rtlCol="0" anchor="ctr"/>
          <a:lstStyle/>
          <a:p>
            <a:pPr algn="ctr" indent="0" marL="0">
              <a:buNone/>
            </a:pPr>
            <a:r>
              <a:rPr lang="en-US" sz="1300" b="1" dirty="0">
                <a:solidFill>
                  <a:srgbClr val="C0392B"/>
                </a:solidFill>
                <a:latin typeface="Source Code Pro" pitchFamily="34" charset="0"/>
                <a:ea typeface="Source Code Pro" pitchFamily="34" charset="-122"/>
                <a:cs typeface="Source Code Pro" pitchFamily="34" charset="-120"/>
              </a:rPr>
              <a:t>/tdd</a:t>
            </a:r>
            <a:endParaRPr lang="en-US" sz="1300" dirty="0"/>
          </a:p>
        </p:txBody>
      </p:sp>
      <p:sp>
        <p:nvSpPr>
          <p:cNvPr id="26" name="Text 23"/>
          <p:cNvSpPr/>
          <p:nvPr/>
        </p:nvSpPr>
        <p:spPr>
          <a:xfrm>
            <a:off x="8284464" y="2651760"/>
            <a:ext cx="3127248" cy="658368"/>
          </a:xfrm>
          <a:prstGeom prst="rect">
            <a:avLst/>
          </a:prstGeom>
          <a:noFill/>
          <a:ln/>
        </p:spPr>
        <p:txBody>
          <a:bodyPr wrap="square" lIns="0" tIns="0" rIns="0" bIns="0" rtlCol="0" anchor="ctr"/>
          <a:lstStyle/>
          <a:p>
            <a:pPr indent="0" marL="0">
              <a:lnSpc>
                <a:spcPts val="1700"/>
              </a:lnSpc>
              <a:buNone/>
            </a:pPr>
            <a:r>
              <a:rPr lang="en-US" sz="1350" b="1" dirty="0">
                <a:solidFill>
                  <a:srgbClr val="003366"/>
                </a:solidFill>
                <a:latin typeface="Source Sans Pro" pitchFamily="34" charset="0"/>
                <a:ea typeface="Source Sans Pro" pitchFamily="34" charset="-122"/>
                <a:cs typeface="Source Sans Pro" pitchFamily="34" charset="-120"/>
              </a:rPr>
              <a:t>Use a red → green feedback loop.</a:t>
            </a:r>
            <a:endParaRPr lang="en-US" sz="1350" dirty="0"/>
          </a:p>
        </p:txBody>
      </p:sp>
      <p:sp>
        <p:nvSpPr>
          <p:cNvPr id="27" name="Shape 24"/>
          <p:cNvSpPr/>
          <p:nvPr/>
        </p:nvSpPr>
        <p:spPr>
          <a:xfrm>
            <a:off x="8284464" y="3401568"/>
            <a:ext cx="3127248" cy="0"/>
          </a:xfrm>
          <a:prstGeom prst="line">
            <a:avLst/>
          </a:prstGeom>
          <a:noFill/>
          <a:ln w="9525">
            <a:solidFill>
              <a:srgbClr val="D9DEE4"/>
            </a:solidFill>
            <a:prstDash val="solid"/>
          </a:ln>
        </p:spPr>
      </p:sp>
      <p:sp>
        <p:nvSpPr>
          <p:cNvPr id="28" name="Text 25"/>
          <p:cNvSpPr/>
          <p:nvPr/>
        </p:nvSpPr>
        <p:spPr>
          <a:xfrm>
            <a:off x="8284464" y="3529584"/>
            <a:ext cx="2743200" cy="237744"/>
          </a:xfrm>
          <a:prstGeom prst="rect">
            <a:avLst/>
          </a:prstGeom>
          <a:noFill/>
          <a:ln/>
        </p:spPr>
        <p:txBody>
          <a:bodyPr wrap="square" lIns="0" tIns="0" rIns="0" bIns="0" rtlCol="0" anchor="ctr"/>
          <a:lstStyle/>
          <a:p>
            <a:pPr indent="0" marL="0">
              <a:buNone/>
            </a:pPr>
            <a:r>
              <a:rPr lang="en-US" sz="1000" b="1" spc="200" kern="0" dirty="0">
                <a:solidFill>
                  <a:srgbClr val="006699"/>
                </a:solidFill>
                <a:latin typeface="Source Sans Pro" pitchFamily="34" charset="0"/>
                <a:ea typeface="Source Sans Pro" pitchFamily="34" charset="-122"/>
                <a:cs typeface="Source Sans Pro" pitchFamily="34" charset="-120"/>
              </a:rPr>
              <a:t>CDAO ADAPTATION</a:t>
            </a:r>
            <a:endParaRPr lang="en-US" sz="1000" dirty="0"/>
          </a:p>
        </p:txBody>
      </p:sp>
      <p:sp>
        <p:nvSpPr>
          <p:cNvPr id="29" name="Text 26"/>
          <p:cNvSpPr/>
          <p:nvPr/>
        </p:nvSpPr>
        <p:spPr>
          <a:xfrm>
            <a:off x="8284464" y="3803904"/>
            <a:ext cx="3127248" cy="960120"/>
          </a:xfrm>
          <a:prstGeom prst="rect">
            <a:avLst/>
          </a:prstGeom>
          <a:noFill/>
          <a:ln/>
        </p:spPr>
        <p:txBody>
          <a:bodyPr wrap="square" lIns="0" tIns="0" rIns="0" bIns="0" rtlCol="0" anchor="ctr"/>
          <a:lstStyle/>
          <a:p>
            <a:pPr indent="0" marL="0">
              <a:lnSpc>
                <a:spcPts val="1550"/>
              </a:lnSpc>
              <a:buNone/>
            </a:pPr>
            <a:r>
              <a:rPr lang="en-US" sz="1200" dirty="0">
                <a:solidFill>
                  <a:srgbClr val="505050"/>
                </a:solidFill>
                <a:latin typeface="Source Sans Pro" pitchFamily="34" charset="0"/>
                <a:ea typeface="Source Sans Pro" pitchFamily="34" charset="-122"/>
                <a:cs typeface="Source Sans Pro" pitchFamily="34" charset="-120"/>
              </a:rPr>
              <a:t>Write benchmark questions and expected answers before broad AI use.</a:t>
            </a:r>
            <a:endParaRPr lang="en-US" sz="1200" dirty="0"/>
          </a:p>
        </p:txBody>
      </p:sp>
      <p:sp>
        <p:nvSpPr>
          <p:cNvPr id="30" name="Shape 27"/>
          <p:cNvSpPr/>
          <p:nvPr/>
        </p:nvSpPr>
        <p:spPr>
          <a:xfrm>
            <a:off x="566928" y="5120640"/>
            <a:ext cx="11055096" cy="566928"/>
          </a:xfrm>
          <a:prstGeom prst="roundRect">
            <a:avLst>
              <a:gd name="adj" fmla="val 14516"/>
            </a:avLst>
          </a:prstGeom>
          <a:solidFill>
            <a:srgbClr val="F7EAE7"/>
          </a:solidFill>
          <a:ln w="12700">
            <a:solidFill>
              <a:srgbClr val="C0392B"/>
            </a:solidFill>
            <a:prstDash val="solid"/>
          </a:ln>
        </p:spPr>
      </p:sp>
      <p:sp>
        <p:nvSpPr>
          <p:cNvPr id="31" name="Text 28"/>
          <p:cNvSpPr/>
          <p:nvPr/>
        </p:nvSpPr>
        <p:spPr>
          <a:xfrm>
            <a:off x="868680" y="5221224"/>
            <a:ext cx="10515600" cy="365760"/>
          </a:xfrm>
          <a:prstGeom prst="rect">
            <a:avLst/>
          </a:prstGeom>
          <a:noFill/>
          <a:ln/>
        </p:spPr>
        <p:txBody>
          <a:bodyPr wrap="square" lIns="0" tIns="0" rIns="0" bIns="0" rtlCol="0" anchor="ctr"/>
          <a:lstStyle/>
          <a:p>
            <a:pPr indent="0" marL="0">
              <a:buNone/>
            </a:pPr>
            <a:r>
              <a:rPr lang="en-US" sz="1400" b="1" dirty="0">
                <a:solidFill>
                  <a:srgbClr val="003366"/>
                </a:solidFill>
                <a:latin typeface="Source Sans Pro" pitchFamily="34" charset="0"/>
                <a:ea typeface="Source Sans Pro" pitchFamily="34" charset="-122"/>
                <a:cs typeface="Source Sans Pro" pitchFamily="34" charset="-120"/>
              </a:rPr>
              <a:t>Lesson for leadership:  </a:t>
            </a:r>
            <a:pPr indent="0" marL="0">
              <a:buNone/>
            </a:pPr>
            <a:r>
              <a:rPr lang="en-US" sz="1400" b="1" dirty="0">
                <a:solidFill>
                  <a:srgbClr val="2A2F36"/>
                </a:solidFill>
                <a:latin typeface="Source Sans Pro" pitchFamily="34" charset="0"/>
                <a:ea typeface="Source Sans Pro" pitchFamily="34" charset="-122"/>
                <a:cs typeface="Source Sans Pro" pitchFamily="34" charset="-120"/>
              </a:rPr>
              <a:t>skill files do not need to be big. They need to be precise.</a:t>
            </a:r>
            <a:endParaRPr lang="en-US" sz="1400" dirty="0"/>
          </a:p>
        </p:txBody>
      </p:sp>
      <p:sp>
        <p:nvSpPr>
          <p:cNvPr id="32" name="Text 29"/>
          <p:cNvSpPr/>
          <p:nvPr/>
        </p:nvSpPr>
        <p:spPr>
          <a:xfrm>
            <a:off x="566928" y="5779008"/>
            <a:ext cx="10972800" cy="256032"/>
          </a:xfrm>
          <a:prstGeom prst="rect">
            <a:avLst/>
          </a:prstGeom>
          <a:noFill/>
          <a:ln/>
        </p:spPr>
        <p:txBody>
          <a:bodyPr wrap="square" lIns="0" tIns="0" rIns="0" bIns="0" rtlCol="0" anchor="ctr"/>
          <a:lstStyle/>
          <a:p>
            <a:pPr indent="0" marL="0">
              <a:buNone/>
            </a:pPr>
            <a:r>
              <a:rPr lang="en-US" sz="950" i="1" dirty="0">
                <a:solidFill>
                  <a:srgbClr val="999999"/>
                </a:solidFill>
                <a:latin typeface="Source Sans Pro" pitchFamily="34" charset="0"/>
                <a:ea typeface="Source Sans Pro" pitchFamily="34" charset="-122"/>
                <a:cs typeface="Source Sans Pro" pitchFamily="34" charset="-120"/>
              </a:rPr>
              <a:t>Public reference: Matt Pocock’s skills repository and AI Hero article on agent skills. Adapt every example to USCIS governance before use.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WORKED EXAMPLE</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Example skill: clarify a data request</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How a skill file helps before any SQL is written.</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15 / 21</a:t>
            </a:r>
            <a:endParaRPr lang="en-US" sz="1000" dirty="0"/>
          </a:p>
        </p:txBody>
      </p:sp>
      <p:sp>
        <p:nvSpPr>
          <p:cNvPr id="9" name="Shape 6"/>
          <p:cNvSpPr/>
          <p:nvPr/>
        </p:nvSpPr>
        <p:spPr>
          <a:xfrm>
            <a:off x="566928" y="1828800"/>
            <a:ext cx="5989320" cy="3977640"/>
          </a:xfrm>
          <a:prstGeom prst="roundRect">
            <a:avLst>
              <a:gd name="adj" fmla="val 2069"/>
            </a:avLst>
          </a:prstGeom>
          <a:solidFill>
            <a:srgbClr val="10233F"/>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86384" y="1993392"/>
            <a:ext cx="118872" cy="118872"/>
          </a:xfrm>
          <a:prstGeom prst="ellipse">
            <a:avLst/>
          </a:prstGeom>
          <a:solidFill>
            <a:srgbClr val="C0392B"/>
          </a:solidFill>
          <a:ln/>
        </p:spPr>
      </p:sp>
      <p:sp>
        <p:nvSpPr>
          <p:cNvPr id="11" name="Shape 8"/>
          <p:cNvSpPr/>
          <p:nvPr/>
        </p:nvSpPr>
        <p:spPr>
          <a:xfrm>
            <a:off x="1005840" y="1993392"/>
            <a:ext cx="118872" cy="118872"/>
          </a:xfrm>
          <a:prstGeom prst="ellipse">
            <a:avLst/>
          </a:prstGeom>
          <a:solidFill>
            <a:srgbClr val="006699"/>
          </a:solidFill>
          <a:ln/>
        </p:spPr>
      </p:sp>
      <p:sp>
        <p:nvSpPr>
          <p:cNvPr id="12" name="Shape 9"/>
          <p:cNvSpPr/>
          <p:nvPr/>
        </p:nvSpPr>
        <p:spPr>
          <a:xfrm>
            <a:off x="1225296" y="1993392"/>
            <a:ext cx="118872" cy="118872"/>
          </a:xfrm>
          <a:prstGeom prst="ellipse">
            <a:avLst/>
          </a:prstGeom>
          <a:solidFill>
            <a:srgbClr val="999999"/>
          </a:solidFill>
          <a:ln/>
        </p:spPr>
      </p:sp>
      <p:sp>
        <p:nvSpPr>
          <p:cNvPr id="13" name="Text 10"/>
          <p:cNvSpPr/>
          <p:nvPr/>
        </p:nvSpPr>
        <p:spPr>
          <a:xfrm>
            <a:off x="1554480" y="1947672"/>
            <a:ext cx="3657600" cy="219456"/>
          </a:xfrm>
          <a:prstGeom prst="rect">
            <a:avLst/>
          </a:prstGeom>
          <a:noFill/>
          <a:ln/>
        </p:spPr>
        <p:txBody>
          <a:bodyPr wrap="square" lIns="0" tIns="0" rIns="0" bIns="0" rtlCol="0" anchor="ctr"/>
          <a:lstStyle/>
          <a:p>
            <a:pPr indent="0" marL="0">
              <a:buNone/>
            </a:pPr>
            <a:r>
              <a:rPr lang="en-US" sz="1050" dirty="0">
                <a:solidFill>
                  <a:srgbClr val="999999"/>
                </a:solidFill>
                <a:latin typeface="Source Code Pro" pitchFamily="34" charset="0"/>
                <a:ea typeface="Source Code Pro" pitchFamily="34" charset="-122"/>
                <a:cs typeface="Source Code Pro" pitchFamily="34" charset="-120"/>
              </a:rPr>
              <a:t>clarify_data_request / skill.md</a:t>
            </a:r>
            <a:endParaRPr lang="en-US" sz="1050" dirty="0"/>
          </a:p>
        </p:txBody>
      </p:sp>
      <p:sp>
        <p:nvSpPr>
          <p:cNvPr id="14" name="Text 11"/>
          <p:cNvSpPr/>
          <p:nvPr/>
        </p:nvSpPr>
        <p:spPr>
          <a:xfrm>
            <a:off x="822960" y="2286000"/>
            <a:ext cx="5486400" cy="3383280"/>
          </a:xfrm>
          <a:prstGeom prst="rect">
            <a:avLst/>
          </a:prstGeom>
          <a:noFill/>
          <a:ln/>
        </p:spPr>
        <p:txBody>
          <a:bodyPr wrap="square" lIns="0" tIns="0" rIns="0" bIns="0" rtlCol="0" anchor="t"/>
          <a:lstStyle/>
          <a:p>
            <a:pPr indent="0" marL="0">
              <a:lnSpc>
                <a:spcPts val="1550"/>
              </a:lnSpc>
              <a:buNone/>
            </a:pPr>
            <a:r>
              <a:rPr lang="en-US" sz="1150" dirty="0">
                <a:solidFill>
                  <a:srgbClr val="7E93AE"/>
                </a:solidFill>
                <a:latin typeface="Source Code Pro" pitchFamily="34" charset="0"/>
                <a:ea typeface="Source Code Pro" pitchFamily="34" charset="-122"/>
                <a:cs typeface="Source Code Pro" pitchFamily="34" charset="-120"/>
              </a:rPr>
              <a:t>---
</a:t>
            </a:r>
            <a:pPr indent="0" marL="0">
              <a:lnSpc>
                <a:spcPts val="1550"/>
              </a:lnSpc>
              <a:buNone/>
            </a:pPr>
            <a:r>
              <a:rPr lang="en-US" sz="1150" b="1" dirty="0">
                <a:solidFill>
                  <a:srgbClr val="C0392B"/>
                </a:solidFill>
                <a:latin typeface="Source Code Pro" pitchFamily="34" charset="0"/>
                <a:ea typeface="Source Code Pro" pitchFamily="34" charset="-122"/>
                <a:cs typeface="Source Code Pro" pitchFamily="34" charset="-120"/>
              </a:rPr>
              <a:t>name:</a:t>
            </a:r>
            <a:pPr indent="0" marL="0">
              <a:lnSpc>
                <a:spcPts val="1550"/>
              </a:lnSpc>
              <a:buNone/>
            </a:pPr>
            <a:r>
              <a:rPr lang="en-US" sz="1150" dirty="0">
                <a:solidFill>
                  <a:srgbClr val="FFFFFF"/>
                </a:solidFill>
                <a:latin typeface="Source Code Pro" pitchFamily="34" charset="0"/>
                <a:ea typeface="Source Code Pro" pitchFamily="34" charset="-122"/>
                <a:cs typeface="Source Code Pro" pitchFamily="34" charset="-120"/>
              </a:rPr>
              <a:t> clarify_data_request
</a:t>
            </a:r>
            <a:pPr indent="0" marL="0">
              <a:lnSpc>
                <a:spcPts val="1550"/>
              </a:lnSpc>
              <a:buNone/>
            </a:pPr>
            <a:r>
              <a:rPr lang="en-US" sz="1150" b="1" dirty="0">
                <a:solidFill>
                  <a:srgbClr val="C0392B"/>
                </a:solidFill>
                <a:latin typeface="Source Code Pro" pitchFamily="34" charset="0"/>
                <a:ea typeface="Source Code Pro" pitchFamily="34" charset="-122"/>
                <a:cs typeface="Source Code Pro" pitchFamily="34" charset="-120"/>
              </a:rPr>
              <a:t>description:</a:t>
            </a:r>
            <a:pPr indent="0" marL="0">
              <a:lnSpc>
                <a:spcPts val="1550"/>
              </a:lnSpc>
              <a:buNone/>
            </a:pPr>
            <a:r>
              <a:rPr lang="en-US" sz="1150" dirty="0">
                <a:solidFill>
                  <a:srgbClr val="D6E4EF"/>
                </a:solidFill>
                <a:latin typeface="Source Code Pro" pitchFamily="34" charset="0"/>
                <a:ea typeface="Source Code Pro" pitchFamily="34" charset="-122"/>
                <a:cs typeface="Source Code Pro" pitchFamily="34" charset="-120"/>
              </a:rPr>
              <a:t> Use when a request is ambiguous.
</a:t>
            </a:r>
            <a:pPr indent="0" marL="0">
              <a:lnSpc>
                <a:spcPts val="1550"/>
              </a:lnSpc>
              <a:buNone/>
            </a:pPr>
            <a:r>
              <a:rPr lang="en-US" sz="1150" dirty="0">
                <a:solidFill>
                  <a:srgbClr val="7E93AE"/>
                </a:solidFill>
                <a:latin typeface="Source Code Pro" pitchFamily="34" charset="0"/>
                <a:ea typeface="Source Code Pro" pitchFamily="34" charset="-122"/>
                <a:cs typeface="Source Code Pro" pitchFamily="34" charset="-120"/>
              </a:rPr>
              <a:t>---
</a:t>
            </a:r>
            <a:pPr indent="0" marL="0">
              <a:lnSpc>
                <a:spcPts val="1550"/>
              </a:lnSpc>
              <a:buNone/>
            </a:pPr>
            <a:r>
              <a:rPr lang="en-US" sz="1150" b="1" dirty="0">
                <a:solidFill>
                  <a:srgbClr val="C0392B"/>
                </a:solidFill>
                <a:latin typeface="Source Code Pro" pitchFamily="34" charset="0"/>
                <a:ea typeface="Source Code Pro" pitchFamily="34" charset="-122"/>
                <a:cs typeface="Source Code Pro" pitchFamily="34" charset="-120"/>
              </a:rPr>
              <a:t>Goal:</a:t>
            </a:r>
            <a:pPr indent="0" marL="0">
              <a:lnSpc>
                <a:spcPts val="1550"/>
              </a:lnSpc>
              <a:buNone/>
            </a:pPr>
            <a:r>
              <a:rPr lang="en-US" sz="1150" dirty="0">
                <a:solidFill>
                  <a:srgbClr val="D6E4EF"/>
                </a:solidFill>
                <a:latin typeface="Source Code Pro" pitchFamily="34" charset="0"/>
                <a:ea typeface="Source Code Pro" pitchFamily="34" charset="-122"/>
                <a:cs typeface="Source Code Pro" pitchFamily="34" charset="-120"/>
              </a:rPr>
              <a:t> reach shared understanding before analysis.
</a:t>
            </a:r>
            <a:pPr indent="0" marL="0">
              <a:lnSpc>
                <a:spcPts val="1550"/>
              </a:lnSpc>
              <a:buNone/>
            </a:pPr>
            <a:r>
              <a:rPr lang="en-US" sz="1150" b="1" dirty="0">
                <a:solidFill>
                  <a:srgbClr val="FFFFFF"/>
                </a:solidFill>
                <a:latin typeface="Source Code Pro" pitchFamily="34" charset="0"/>
                <a:ea typeface="Source Code Pro" pitchFamily="34" charset="-122"/>
                <a:cs typeface="Source Code Pro" pitchFamily="34" charset="-120"/>
              </a:rPr>
              <a:t>Steps:
</a:t>
            </a:r>
            <a:pPr indent="0" marL="0">
              <a:lnSpc>
                <a:spcPts val="1550"/>
              </a:lnSpc>
              <a:buNone/>
            </a:pPr>
            <a:r>
              <a:rPr lang="en-US" sz="1150" dirty="0">
                <a:solidFill>
                  <a:srgbClr val="D6E4EF"/>
                </a:solidFill>
                <a:latin typeface="Source Code Pro" pitchFamily="34" charset="0"/>
                <a:ea typeface="Source Code Pro" pitchFamily="34" charset="-122"/>
                <a:cs typeface="Source Code Pro" pitchFamily="34" charset="-120"/>
              </a:rPr>
              <a:t>1. Restate the request in plain language.
2. Ask for target audience and decision need.
3. Identify metric, date range, grouping, data product.
4. Ask which caveats must be included.
5. Stop when the request is a clear task.
</a:t>
            </a:r>
            <a:pPr indent="0" marL="0">
              <a:lnSpc>
                <a:spcPts val="1550"/>
              </a:lnSpc>
              <a:buNone/>
            </a:pPr>
            <a:r>
              <a:rPr lang="en-US" sz="1150" b="1" dirty="0">
                <a:solidFill>
                  <a:srgbClr val="C0392B"/>
                </a:solidFill>
                <a:latin typeface="Source Code Pro" pitchFamily="34" charset="0"/>
                <a:ea typeface="Source Code Pro" pitchFamily="34" charset="-122"/>
                <a:cs typeface="Source Code Pro" pitchFamily="34" charset="-120"/>
              </a:rPr>
              <a:t>Output:</a:t>
            </a:r>
            <a:pPr indent="0" marL="0">
              <a:lnSpc>
                <a:spcPts val="1550"/>
              </a:lnSpc>
              <a:buNone/>
            </a:pPr>
            <a:r>
              <a:rPr lang="en-US" sz="1150" dirty="0">
                <a:solidFill>
                  <a:srgbClr val="D6E4EF"/>
                </a:solidFill>
                <a:latin typeface="Source Code Pro" pitchFamily="34" charset="0"/>
                <a:ea typeface="Source Code Pro" pitchFamily="34" charset="-122"/>
                <a:cs typeface="Source Code Pro" pitchFamily="34" charset="-120"/>
              </a:rPr>
              <a:t> short problem statement + open questions.</a:t>
            </a:r>
            <a:endParaRPr lang="en-US" sz="1150" dirty="0"/>
          </a:p>
        </p:txBody>
      </p:sp>
      <p:sp>
        <p:nvSpPr>
          <p:cNvPr id="15" name="Shape 12"/>
          <p:cNvSpPr/>
          <p:nvPr/>
        </p:nvSpPr>
        <p:spPr>
          <a:xfrm>
            <a:off x="6858000" y="1828800"/>
            <a:ext cx="4754880" cy="1234440"/>
          </a:xfrm>
          <a:prstGeom prst="roundRect">
            <a:avLst>
              <a:gd name="adj" fmla="val 6667"/>
            </a:avLst>
          </a:prstGeom>
          <a:solidFill>
            <a:srgbClr val="EAF1F6"/>
          </a:solidFill>
          <a:ln w="12700">
            <a:solidFill>
              <a:srgbClr val="D6E4EF"/>
            </a:solidFill>
            <a:prstDash val="solid"/>
          </a:ln>
          <a:effectLst>
            <a:outerShdw sx="100000" sy="100000" kx="0" ky="0" algn="bl" rotWithShape="0" blurRad="88900" dist="25400" dir="5400000">
              <a:srgbClr val="003366">
                <a:alpha val="14000"/>
              </a:srgbClr>
            </a:outerShdw>
          </a:effectLst>
        </p:spPr>
      </p:sp>
      <p:sp>
        <p:nvSpPr>
          <p:cNvPr id="16" name="Shape 13"/>
          <p:cNvSpPr/>
          <p:nvPr/>
        </p:nvSpPr>
        <p:spPr>
          <a:xfrm>
            <a:off x="7040880" y="2011680"/>
            <a:ext cx="384048" cy="384048"/>
          </a:xfrm>
          <a:prstGeom prst="ellipse">
            <a:avLst/>
          </a:prstGeom>
          <a:solidFill>
            <a:srgbClr val="003366"/>
          </a:solidFill>
          <a:ln/>
        </p:spPr>
      </p:sp>
      <p:pic>
        <p:nvPicPr>
          <p:cNvPr id="17" name="Image 1" descr="preencoded.png">    </p:cNvPr>
          <p:cNvPicPr>
            <a:picLocks noChangeAspect="1"/>
          </p:cNvPicPr>
          <p:nvPr/>
        </p:nvPicPr>
        <p:blipFill>
          <a:blip r:embed="rId2"/>
          <a:stretch>
            <a:fillRect/>
          </a:stretch>
        </p:blipFill>
        <p:spPr>
          <a:xfrm>
            <a:off x="7125371" y="2096171"/>
            <a:ext cx="215067" cy="215067"/>
          </a:xfrm>
          <a:prstGeom prst="rect">
            <a:avLst/>
          </a:prstGeom>
        </p:spPr>
      </p:pic>
      <p:sp>
        <p:nvSpPr>
          <p:cNvPr id="18" name="Text 14"/>
          <p:cNvSpPr/>
          <p:nvPr/>
        </p:nvSpPr>
        <p:spPr>
          <a:xfrm>
            <a:off x="7534656" y="1975104"/>
            <a:ext cx="3886200" cy="274320"/>
          </a:xfrm>
          <a:prstGeom prst="rect">
            <a:avLst/>
          </a:prstGeom>
          <a:noFill/>
          <a:ln/>
        </p:spPr>
        <p:txBody>
          <a:bodyPr wrap="square" lIns="0" tIns="0" rIns="0" bIns="0" rtlCol="0" anchor="ctr"/>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Why this matters</a:t>
            </a:r>
            <a:endParaRPr lang="en-US" sz="1300" dirty="0"/>
          </a:p>
        </p:txBody>
      </p:sp>
      <p:sp>
        <p:nvSpPr>
          <p:cNvPr id="19" name="Text 15"/>
          <p:cNvSpPr/>
          <p:nvPr/>
        </p:nvSpPr>
        <p:spPr>
          <a:xfrm>
            <a:off x="7534656" y="2267712"/>
            <a:ext cx="3886200"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Many AI failures start before the model answers: the question itself was unclear.</a:t>
            </a:r>
            <a:endParaRPr lang="en-US" sz="1150" dirty="0"/>
          </a:p>
        </p:txBody>
      </p:sp>
      <p:sp>
        <p:nvSpPr>
          <p:cNvPr id="20" name="Shape 16"/>
          <p:cNvSpPr/>
          <p:nvPr/>
        </p:nvSpPr>
        <p:spPr>
          <a:xfrm>
            <a:off x="6858000" y="3200400"/>
            <a:ext cx="4754880" cy="1234440"/>
          </a:xfrm>
          <a:prstGeom prst="roundRect">
            <a:avLst>
              <a:gd name="adj" fmla="val 666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1" name="Shape 17"/>
          <p:cNvSpPr/>
          <p:nvPr/>
        </p:nvSpPr>
        <p:spPr>
          <a:xfrm>
            <a:off x="7040880" y="3383280"/>
            <a:ext cx="384048" cy="384048"/>
          </a:xfrm>
          <a:prstGeom prst="ellipse">
            <a:avLst/>
          </a:prstGeom>
          <a:solidFill>
            <a:srgbClr val="003366"/>
          </a:solidFill>
          <a:ln/>
        </p:spPr>
      </p:sp>
      <p:pic>
        <p:nvPicPr>
          <p:cNvPr id="22" name="Image 2" descr="preencoded.png">    </p:cNvPr>
          <p:cNvPicPr>
            <a:picLocks noChangeAspect="1"/>
          </p:cNvPicPr>
          <p:nvPr/>
        </p:nvPicPr>
        <p:blipFill>
          <a:blip r:embed="rId3"/>
          <a:stretch>
            <a:fillRect/>
          </a:stretch>
        </p:blipFill>
        <p:spPr>
          <a:xfrm>
            <a:off x="7125371" y="3467771"/>
            <a:ext cx="215067" cy="215067"/>
          </a:xfrm>
          <a:prstGeom prst="rect">
            <a:avLst/>
          </a:prstGeom>
        </p:spPr>
      </p:pic>
      <p:sp>
        <p:nvSpPr>
          <p:cNvPr id="23" name="Text 18"/>
          <p:cNvSpPr/>
          <p:nvPr/>
        </p:nvSpPr>
        <p:spPr>
          <a:xfrm>
            <a:off x="7534656" y="3346704"/>
            <a:ext cx="3886200" cy="274320"/>
          </a:xfrm>
          <a:prstGeom prst="rect">
            <a:avLst/>
          </a:prstGeom>
          <a:noFill/>
          <a:ln/>
        </p:spPr>
        <p:txBody>
          <a:bodyPr wrap="square" lIns="0" tIns="0" rIns="0" bIns="0" rtlCol="0" anchor="ctr"/>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How it helps the contract</a:t>
            </a:r>
            <a:endParaRPr lang="en-US" sz="1300" dirty="0"/>
          </a:p>
        </p:txBody>
      </p:sp>
      <p:sp>
        <p:nvSpPr>
          <p:cNvPr id="24" name="Text 19"/>
          <p:cNvSpPr/>
          <p:nvPr/>
        </p:nvSpPr>
        <p:spPr>
          <a:xfrm>
            <a:off x="7534656" y="3639312"/>
            <a:ext cx="3886200"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Capture requirements faster, reduce rework, and turn meetings into usable artifacts.</a:t>
            </a:r>
            <a:endParaRPr lang="en-US" sz="1150" dirty="0"/>
          </a:p>
        </p:txBody>
      </p:sp>
      <p:sp>
        <p:nvSpPr>
          <p:cNvPr id="25" name="Shape 20"/>
          <p:cNvSpPr/>
          <p:nvPr/>
        </p:nvSpPr>
        <p:spPr>
          <a:xfrm>
            <a:off x="6858000" y="4572000"/>
            <a:ext cx="4754880" cy="1234440"/>
          </a:xfrm>
          <a:prstGeom prst="roundRect">
            <a:avLst>
              <a:gd name="adj" fmla="val 6667"/>
            </a:avLst>
          </a:prstGeom>
          <a:solidFill>
            <a:srgbClr val="EAF4E6"/>
          </a:solidFill>
          <a:ln w="12700">
            <a:solidFill>
              <a:srgbClr val="2E8913"/>
            </a:solidFill>
            <a:prstDash val="solid"/>
          </a:ln>
          <a:effectLst>
            <a:outerShdw sx="100000" sy="100000" kx="0" ky="0" algn="bl" rotWithShape="0" blurRad="88900" dist="25400" dir="5400000">
              <a:srgbClr val="003366">
                <a:alpha val="14000"/>
              </a:srgbClr>
            </a:outerShdw>
          </a:effectLst>
        </p:spPr>
      </p:sp>
      <p:sp>
        <p:nvSpPr>
          <p:cNvPr id="26" name="Shape 21"/>
          <p:cNvSpPr/>
          <p:nvPr/>
        </p:nvSpPr>
        <p:spPr>
          <a:xfrm>
            <a:off x="7040880" y="4754880"/>
            <a:ext cx="384048" cy="384048"/>
          </a:xfrm>
          <a:prstGeom prst="ellipse">
            <a:avLst/>
          </a:prstGeom>
          <a:solidFill>
            <a:srgbClr val="003366"/>
          </a:solidFill>
          <a:ln/>
        </p:spPr>
      </p:sp>
      <p:pic>
        <p:nvPicPr>
          <p:cNvPr id="27" name="Image 3" descr="preencoded.png">    </p:cNvPr>
          <p:cNvPicPr>
            <a:picLocks noChangeAspect="1"/>
          </p:cNvPicPr>
          <p:nvPr/>
        </p:nvPicPr>
        <p:blipFill>
          <a:blip r:embed="rId4"/>
          <a:stretch>
            <a:fillRect/>
          </a:stretch>
        </p:blipFill>
        <p:spPr>
          <a:xfrm>
            <a:off x="7125371" y="4839371"/>
            <a:ext cx="215067" cy="215067"/>
          </a:xfrm>
          <a:prstGeom prst="rect">
            <a:avLst/>
          </a:prstGeom>
        </p:spPr>
      </p:pic>
      <p:sp>
        <p:nvSpPr>
          <p:cNvPr id="28" name="Text 22"/>
          <p:cNvSpPr/>
          <p:nvPr/>
        </p:nvSpPr>
        <p:spPr>
          <a:xfrm>
            <a:off x="7534656" y="4718304"/>
            <a:ext cx="3886200" cy="274320"/>
          </a:xfrm>
          <a:prstGeom prst="rect">
            <a:avLst/>
          </a:prstGeom>
          <a:noFill/>
          <a:ln/>
        </p:spPr>
        <p:txBody>
          <a:bodyPr wrap="square" lIns="0" tIns="0" rIns="0" bIns="0" rtlCol="0" anchor="ctr"/>
          <a:lstStyle/>
          <a:p>
            <a:pPr indent="0" marL="0">
              <a:buNone/>
            </a:pPr>
            <a:r>
              <a:rPr lang="en-US" sz="1300" b="1" dirty="0">
                <a:solidFill>
                  <a:srgbClr val="003366"/>
                </a:solidFill>
                <a:latin typeface="Source Sans Pro" pitchFamily="34" charset="0"/>
                <a:ea typeface="Source Sans Pro" pitchFamily="34" charset="-122"/>
                <a:cs typeface="Source Sans Pro" pitchFamily="34" charset="-120"/>
              </a:rPr>
              <a:t>How to measure value</a:t>
            </a:r>
            <a:endParaRPr lang="en-US" sz="1300" dirty="0"/>
          </a:p>
        </p:txBody>
      </p:sp>
      <p:sp>
        <p:nvSpPr>
          <p:cNvPr id="29" name="Text 23"/>
          <p:cNvSpPr/>
          <p:nvPr/>
        </p:nvSpPr>
        <p:spPr>
          <a:xfrm>
            <a:off x="7534656" y="5010912"/>
            <a:ext cx="3886200" cy="731520"/>
          </a:xfrm>
          <a:prstGeom prst="rect">
            <a:avLst/>
          </a:prstGeom>
          <a:noFill/>
          <a:ln/>
        </p:spPr>
        <p:txBody>
          <a:bodyPr wrap="square" lIns="0" tIns="0" rIns="0" bIns="0" rtlCol="0" anchor="ctr"/>
          <a:lstStyle/>
          <a:p>
            <a:pPr indent="0" marL="0">
              <a:lnSpc>
                <a:spcPts val="1450"/>
              </a:lnSpc>
              <a:buNone/>
            </a:pPr>
            <a:r>
              <a:rPr lang="en-US" sz="1150" dirty="0">
                <a:solidFill>
                  <a:srgbClr val="505050"/>
                </a:solidFill>
                <a:latin typeface="Source Sans Pro" pitchFamily="34" charset="0"/>
                <a:ea typeface="Source Sans Pro" pitchFamily="34" charset="-122"/>
                <a:cs typeface="Source Sans Pro" pitchFamily="34" charset="-120"/>
              </a:rPr>
              <a:t>Fewer clarification cycles, faster handoff, reduced rework, better first-draft quality.</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END TO END</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The journey of one question</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A good answer is guided, grounded, checked, and explained.</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16 / 21</a:t>
            </a:r>
            <a:endParaRPr lang="en-US" sz="1000" dirty="0"/>
          </a:p>
        </p:txBody>
      </p:sp>
      <p:sp>
        <p:nvSpPr>
          <p:cNvPr id="9" name="Shape 6"/>
          <p:cNvSpPr/>
          <p:nvPr/>
        </p:nvSpPr>
        <p:spPr>
          <a:xfrm>
            <a:off x="566928" y="2148840"/>
            <a:ext cx="2084832" cy="2194560"/>
          </a:xfrm>
          <a:prstGeom prst="roundRect">
            <a:avLst>
              <a:gd name="adj" fmla="val 394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1225296" y="2386584"/>
            <a:ext cx="768096" cy="768096"/>
          </a:xfrm>
          <a:prstGeom prst="ellipse">
            <a:avLst/>
          </a:prstGeom>
          <a:solidFill>
            <a:srgbClr val="EAF1F6"/>
          </a:solidFill>
          <a:ln/>
        </p:spPr>
      </p:sp>
      <p:pic>
        <p:nvPicPr>
          <p:cNvPr id="11" name="Image 1" descr="preencoded.png">    </p:cNvPr>
          <p:cNvPicPr>
            <a:picLocks noChangeAspect="1"/>
          </p:cNvPicPr>
          <p:nvPr/>
        </p:nvPicPr>
        <p:blipFill>
          <a:blip r:embed="rId2"/>
          <a:stretch>
            <a:fillRect/>
          </a:stretch>
        </p:blipFill>
        <p:spPr>
          <a:xfrm>
            <a:off x="1389888" y="2551176"/>
            <a:ext cx="438912" cy="438912"/>
          </a:xfrm>
          <a:prstGeom prst="rect">
            <a:avLst/>
          </a:prstGeom>
        </p:spPr>
      </p:pic>
      <p:sp>
        <p:nvSpPr>
          <p:cNvPr id="12" name="Text 8"/>
          <p:cNvSpPr/>
          <p:nvPr/>
        </p:nvSpPr>
        <p:spPr>
          <a:xfrm>
            <a:off x="676656" y="2276856"/>
            <a:ext cx="365760" cy="310896"/>
          </a:xfrm>
          <a:prstGeom prst="rect">
            <a:avLst/>
          </a:prstGeom>
          <a:noFill/>
          <a:ln/>
        </p:spPr>
        <p:txBody>
          <a:bodyPr wrap="square" lIns="0" tIns="0" rIns="0" bIns="0" rtlCol="0" anchor="ctr"/>
          <a:lstStyle/>
          <a:p>
            <a:pPr indent="0" marL="0">
              <a:buNone/>
            </a:pPr>
            <a:r>
              <a:rPr lang="en-US" sz="1700" b="1" dirty="0">
                <a:solidFill>
                  <a:srgbClr val="D9DEE4"/>
                </a:solidFill>
                <a:latin typeface="Source Sans Pro" pitchFamily="34" charset="0"/>
                <a:ea typeface="Source Sans Pro" pitchFamily="34" charset="-122"/>
                <a:cs typeface="Source Sans Pro" pitchFamily="34" charset="-120"/>
              </a:rPr>
              <a:t>1</a:t>
            </a:r>
            <a:endParaRPr lang="en-US" sz="1700" dirty="0"/>
          </a:p>
        </p:txBody>
      </p:sp>
      <p:sp>
        <p:nvSpPr>
          <p:cNvPr id="13" name="Text 9"/>
          <p:cNvSpPr/>
          <p:nvPr/>
        </p:nvSpPr>
        <p:spPr>
          <a:xfrm>
            <a:off x="694944" y="3319272"/>
            <a:ext cx="1828800" cy="292608"/>
          </a:xfrm>
          <a:prstGeom prst="rect">
            <a:avLst/>
          </a:prstGeom>
          <a:noFill/>
          <a:ln/>
        </p:spPr>
        <p:txBody>
          <a:bodyPr wrap="square" lIns="0" tIns="0" rIns="0" bIns="0" rtlCol="0" anchor="ctr"/>
          <a:lstStyle/>
          <a:p>
            <a:pPr algn="ctr" indent="0" marL="0">
              <a:buNone/>
            </a:pPr>
            <a:r>
              <a:rPr lang="en-US" sz="1400" b="1" dirty="0">
                <a:solidFill>
                  <a:srgbClr val="003366"/>
                </a:solidFill>
                <a:latin typeface="Source Sans Pro" pitchFamily="34" charset="0"/>
                <a:ea typeface="Source Sans Pro" pitchFamily="34" charset="-122"/>
                <a:cs typeface="Source Sans Pro" pitchFamily="34" charset="-120"/>
              </a:rPr>
              <a:t>User asks</a:t>
            </a:r>
            <a:endParaRPr lang="en-US" sz="1400" dirty="0"/>
          </a:p>
        </p:txBody>
      </p:sp>
      <p:sp>
        <p:nvSpPr>
          <p:cNvPr id="14" name="Text 10"/>
          <p:cNvSpPr/>
          <p:nvPr/>
        </p:nvSpPr>
        <p:spPr>
          <a:xfrm>
            <a:off x="713232" y="3648456"/>
            <a:ext cx="1792224" cy="603504"/>
          </a:xfrm>
          <a:prstGeom prst="rect">
            <a:avLst/>
          </a:prstGeom>
          <a:noFill/>
          <a:ln/>
        </p:spPr>
        <p:txBody>
          <a:bodyPr wrap="square" lIns="0" tIns="0" rIns="0" bIns="0" rtlCol="0" anchor="ctr"/>
          <a:lstStyle/>
          <a:p>
            <a:pPr algn="ctr" indent="0" marL="0">
              <a:lnSpc>
                <a:spcPts val="1400"/>
              </a:lnSpc>
              <a:buNone/>
            </a:pPr>
            <a:r>
              <a:rPr lang="en-US" sz="1100" dirty="0">
                <a:solidFill>
                  <a:srgbClr val="505050"/>
                </a:solidFill>
                <a:latin typeface="Source Sans Pro" pitchFamily="34" charset="0"/>
                <a:ea typeface="Source Sans Pro" pitchFamily="34" charset="-122"/>
                <a:cs typeface="Source Sans Pro" pitchFamily="34" charset="-120"/>
              </a:rPr>
              <a:t>Plain-language question</a:t>
            </a:r>
            <a:endParaRPr lang="en-US" sz="1100" dirty="0"/>
          </a:p>
        </p:txBody>
      </p:sp>
      <p:sp>
        <p:nvSpPr>
          <p:cNvPr id="15" name="Shape 11"/>
          <p:cNvSpPr/>
          <p:nvPr/>
        </p:nvSpPr>
        <p:spPr>
          <a:xfrm>
            <a:off x="2665476" y="3118104"/>
            <a:ext cx="146304" cy="237744"/>
          </a:xfrm>
          <a:prstGeom prst="rightArrow">
            <a:avLst/>
          </a:prstGeom>
          <a:solidFill>
            <a:srgbClr val="C0392B"/>
          </a:solidFill>
          <a:ln/>
        </p:spPr>
      </p:sp>
      <p:sp>
        <p:nvSpPr>
          <p:cNvPr id="16" name="Shape 12"/>
          <p:cNvSpPr/>
          <p:nvPr/>
        </p:nvSpPr>
        <p:spPr>
          <a:xfrm>
            <a:off x="2825496" y="2148840"/>
            <a:ext cx="2084832" cy="2194560"/>
          </a:xfrm>
          <a:prstGeom prst="roundRect">
            <a:avLst>
              <a:gd name="adj" fmla="val 394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7" name="Shape 13"/>
          <p:cNvSpPr/>
          <p:nvPr/>
        </p:nvSpPr>
        <p:spPr>
          <a:xfrm>
            <a:off x="3483864" y="2386584"/>
            <a:ext cx="768096" cy="768096"/>
          </a:xfrm>
          <a:prstGeom prst="ellipse">
            <a:avLst/>
          </a:prstGeom>
          <a:solidFill>
            <a:srgbClr val="EAF1F6"/>
          </a:solidFill>
          <a:ln/>
        </p:spPr>
      </p:sp>
      <p:pic>
        <p:nvPicPr>
          <p:cNvPr id="18" name="Image 2" descr="preencoded.png">    </p:cNvPr>
          <p:cNvPicPr>
            <a:picLocks noChangeAspect="1"/>
          </p:cNvPicPr>
          <p:nvPr/>
        </p:nvPicPr>
        <p:blipFill>
          <a:blip r:embed="rId3"/>
          <a:stretch>
            <a:fillRect/>
          </a:stretch>
        </p:blipFill>
        <p:spPr>
          <a:xfrm>
            <a:off x="3648456" y="2551176"/>
            <a:ext cx="438912" cy="438912"/>
          </a:xfrm>
          <a:prstGeom prst="rect">
            <a:avLst/>
          </a:prstGeom>
        </p:spPr>
      </p:pic>
      <p:sp>
        <p:nvSpPr>
          <p:cNvPr id="19" name="Text 14"/>
          <p:cNvSpPr/>
          <p:nvPr/>
        </p:nvSpPr>
        <p:spPr>
          <a:xfrm>
            <a:off x="2935224" y="2276856"/>
            <a:ext cx="365760" cy="310896"/>
          </a:xfrm>
          <a:prstGeom prst="rect">
            <a:avLst/>
          </a:prstGeom>
          <a:noFill/>
          <a:ln/>
        </p:spPr>
        <p:txBody>
          <a:bodyPr wrap="square" lIns="0" tIns="0" rIns="0" bIns="0" rtlCol="0" anchor="ctr"/>
          <a:lstStyle/>
          <a:p>
            <a:pPr indent="0" marL="0">
              <a:buNone/>
            </a:pPr>
            <a:r>
              <a:rPr lang="en-US" sz="1700" b="1" dirty="0">
                <a:solidFill>
                  <a:srgbClr val="D9DEE4"/>
                </a:solidFill>
                <a:latin typeface="Source Sans Pro" pitchFamily="34" charset="0"/>
                <a:ea typeface="Source Sans Pro" pitchFamily="34" charset="-122"/>
                <a:cs typeface="Source Sans Pro" pitchFamily="34" charset="-120"/>
              </a:rPr>
              <a:t>2</a:t>
            </a:r>
            <a:endParaRPr lang="en-US" sz="1700" dirty="0"/>
          </a:p>
        </p:txBody>
      </p:sp>
      <p:sp>
        <p:nvSpPr>
          <p:cNvPr id="20" name="Text 15"/>
          <p:cNvSpPr/>
          <p:nvPr/>
        </p:nvSpPr>
        <p:spPr>
          <a:xfrm>
            <a:off x="2953512" y="3319272"/>
            <a:ext cx="1828800" cy="292608"/>
          </a:xfrm>
          <a:prstGeom prst="rect">
            <a:avLst/>
          </a:prstGeom>
          <a:noFill/>
          <a:ln/>
        </p:spPr>
        <p:txBody>
          <a:bodyPr wrap="square" lIns="0" tIns="0" rIns="0" bIns="0" rtlCol="0" anchor="ctr"/>
          <a:lstStyle/>
          <a:p>
            <a:pPr algn="ctr" indent="0" marL="0">
              <a:buNone/>
            </a:pPr>
            <a:r>
              <a:rPr lang="en-US" sz="1400" b="1" dirty="0">
                <a:solidFill>
                  <a:srgbClr val="003366"/>
                </a:solidFill>
                <a:latin typeface="Source Sans Pro" pitchFamily="34" charset="0"/>
                <a:ea typeface="Source Sans Pro" pitchFamily="34" charset="-122"/>
                <a:cs typeface="Source Sans Pro" pitchFamily="34" charset="-120"/>
              </a:rPr>
              <a:t>Select skill</a:t>
            </a:r>
            <a:endParaRPr lang="en-US" sz="1400" dirty="0"/>
          </a:p>
        </p:txBody>
      </p:sp>
      <p:sp>
        <p:nvSpPr>
          <p:cNvPr id="21" name="Text 16"/>
          <p:cNvSpPr/>
          <p:nvPr/>
        </p:nvSpPr>
        <p:spPr>
          <a:xfrm>
            <a:off x="2971800" y="3648456"/>
            <a:ext cx="1792224" cy="603504"/>
          </a:xfrm>
          <a:prstGeom prst="rect">
            <a:avLst/>
          </a:prstGeom>
          <a:noFill/>
          <a:ln/>
        </p:spPr>
        <p:txBody>
          <a:bodyPr wrap="square" lIns="0" tIns="0" rIns="0" bIns="0" rtlCol="0" anchor="ctr"/>
          <a:lstStyle/>
          <a:p>
            <a:pPr algn="ctr" indent="0" marL="0">
              <a:lnSpc>
                <a:spcPts val="1400"/>
              </a:lnSpc>
              <a:buNone/>
            </a:pPr>
            <a:r>
              <a:rPr lang="en-US" sz="1100" dirty="0">
                <a:solidFill>
                  <a:srgbClr val="505050"/>
                </a:solidFill>
                <a:latin typeface="Source Sans Pro" pitchFamily="34" charset="0"/>
                <a:ea typeface="Source Sans Pro" pitchFamily="34" charset="-122"/>
                <a:cs typeface="Source Sans Pro" pitchFamily="34" charset="-120"/>
              </a:rPr>
              <a:t>Which recipe applies?</a:t>
            </a:r>
            <a:endParaRPr lang="en-US" sz="1100" dirty="0"/>
          </a:p>
        </p:txBody>
      </p:sp>
      <p:sp>
        <p:nvSpPr>
          <p:cNvPr id="22" name="Shape 17"/>
          <p:cNvSpPr/>
          <p:nvPr/>
        </p:nvSpPr>
        <p:spPr>
          <a:xfrm>
            <a:off x="4924044" y="3118104"/>
            <a:ext cx="146304" cy="237744"/>
          </a:xfrm>
          <a:prstGeom prst="rightArrow">
            <a:avLst/>
          </a:prstGeom>
          <a:solidFill>
            <a:srgbClr val="C0392B"/>
          </a:solidFill>
          <a:ln/>
        </p:spPr>
      </p:sp>
      <p:sp>
        <p:nvSpPr>
          <p:cNvPr id="23" name="Shape 18"/>
          <p:cNvSpPr/>
          <p:nvPr/>
        </p:nvSpPr>
        <p:spPr>
          <a:xfrm>
            <a:off x="5084064" y="2148840"/>
            <a:ext cx="2084832" cy="2194560"/>
          </a:xfrm>
          <a:prstGeom prst="roundRect">
            <a:avLst>
              <a:gd name="adj" fmla="val 3947"/>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24" name="Shape 19"/>
          <p:cNvSpPr/>
          <p:nvPr/>
        </p:nvSpPr>
        <p:spPr>
          <a:xfrm>
            <a:off x="5742432" y="2386584"/>
            <a:ext cx="768096" cy="768096"/>
          </a:xfrm>
          <a:prstGeom prst="ellipse">
            <a:avLst/>
          </a:prstGeom>
          <a:solidFill>
            <a:srgbClr val="C0392B"/>
          </a:solidFill>
          <a:ln/>
        </p:spPr>
      </p:sp>
      <p:pic>
        <p:nvPicPr>
          <p:cNvPr id="25" name="Image 3" descr="preencoded.png">    </p:cNvPr>
          <p:cNvPicPr>
            <a:picLocks noChangeAspect="1"/>
          </p:cNvPicPr>
          <p:nvPr/>
        </p:nvPicPr>
        <p:blipFill>
          <a:blip r:embed="rId4"/>
          <a:stretch>
            <a:fillRect/>
          </a:stretch>
        </p:blipFill>
        <p:spPr>
          <a:xfrm>
            <a:off x="5907024" y="2551176"/>
            <a:ext cx="438912" cy="438912"/>
          </a:xfrm>
          <a:prstGeom prst="rect">
            <a:avLst/>
          </a:prstGeom>
        </p:spPr>
      </p:pic>
      <p:sp>
        <p:nvSpPr>
          <p:cNvPr id="26" name="Text 20"/>
          <p:cNvSpPr/>
          <p:nvPr/>
        </p:nvSpPr>
        <p:spPr>
          <a:xfrm>
            <a:off x="5193792" y="2276856"/>
            <a:ext cx="365760" cy="310896"/>
          </a:xfrm>
          <a:prstGeom prst="rect">
            <a:avLst/>
          </a:prstGeom>
          <a:noFill/>
          <a:ln/>
        </p:spPr>
        <p:txBody>
          <a:bodyPr wrap="square" lIns="0" tIns="0" rIns="0" bIns="0" rtlCol="0" anchor="ctr"/>
          <a:lstStyle/>
          <a:p>
            <a:pPr indent="0" marL="0">
              <a:buNone/>
            </a:pPr>
            <a:r>
              <a:rPr lang="en-US" sz="1700" b="1" dirty="0">
                <a:solidFill>
                  <a:srgbClr val="C0392B"/>
                </a:solidFill>
                <a:latin typeface="Source Sans Pro" pitchFamily="34" charset="0"/>
                <a:ea typeface="Source Sans Pro" pitchFamily="34" charset="-122"/>
                <a:cs typeface="Source Sans Pro" pitchFamily="34" charset="-120"/>
              </a:rPr>
              <a:t>3</a:t>
            </a:r>
            <a:endParaRPr lang="en-US" sz="1700" dirty="0"/>
          </a:p>
        </p:txBody>
      </p:sp>
      <p:sp>
        <p:nvSpPr>
          <p:cNvPr id="27" name="Text 21"/>
          <p:cNvSpPr/>
          <p:nvPr/>
        </p:nvSpPr>
        <p:spPr>
          <a:xfrm>
            <a:off x="5212080" y="3319272"/>
            <a:ext cx="182880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Source Sans Pro" pitchFamily="34" charset="0"/>
                <a:ea typeface="Source Sans Pro" pitchFamily="34" charset="-122"/>
                <a:cs typeface="Source Sans Pro" pitchFamily="34" charset="-120"/>
              </a:rPr>
              <a:t>Read harness</a:t>
            </a:r>
            <a:endParaRPr lang="en-US" sz="1400" dirty="0"/>
          </a:p>
        </p:txBody>
      </p:sp>
      <p:sp>
        <p:nvSpPr>
          <p:cNvPr id="28" name="Text 22"/>
          <p:cNvSpPr/>
          <p:nvPr/>
        </p:nvSpPr>
        <p:spPr>
          <a:xfrm>
            <a:off x="5230368" y="3648456"/>
            <a:ext cx="1792224" cy="603504"/>
          </a:xfrm>
          <a:prstGeom prst="rect">
            <a:avLst/>
          </a:prstGeom>
          <a:noFill/>
          <a:ln/>
        </p:spPr>
        <p:txBody>
          <a:bodyPr wrap="square" lIns="0" tIns="0" rIns="0" bIns="0" rtlCol="0" anchor="ctr"/>
          <a:lstStyle/>
          <a:p>
            <a:pPr algn="ctr" indent="0" marL="0">
              <a:lnSpc>
                <a:spcPts val="1400"/>
              </a:lnSpc>
              <a:buNone/>
            </a:pPr>
            <a:r>
              <a:rPr lang="en-US" sz="1100" dirty="0">
                <a:solidFill>
                  <a:srgbClr val="D6E4EF"/>
                </a:solidFill>
                <a:latin typeface="Source Sans Pro" pitchFamily="34" charset="0"/>
                <a:ea typeface="Source Sans Pro" pitchFamily="34" charset="-122"/>
                <a:cs typeface="Source Sans Pro" pitchFamily="34" charset="-120"/>
              </a:rPr>
              <a:t>Definitions and caveats</a:t>
            </a:r>
            <a:endParaRPr lang="en-US" sz="1100" dirty="0"/>
          </a:p>
        </p:txBody>
      </p:sp>
      <p:sp>
        <p:nvSpPr>
          <p:cNvPr id="29" name="Shape 23"/>
          <p:cNvSpPr/>
          <p:nvPr/>
        </p:nvSpPr>
        <p:spPr>
          <a:xfrm>
            <a:off x="7182612" y="3118104"/>
            <a:ext cx="146304" cy="237744"/>
          </a:xfrm>
          <a:prstGeom prst="rightArrow">
            <a:avLst/>
          </a:prstGeom>
          <a:solidFill>
            <a:srgbClr val="C0392B"/>
          </a:solidFill>
          <a:ln/>
        </p:spPr>
      </p:sp>
      <p:sp>
        <p:nvSpPr>
          <p:cNvPr id="30" name="Shape 24"/>
          <p:cNvSpPr/>
          <p:nvPr/>
        </p:nvSpPr>
        <p:spPr>
          <a:xfrm>
            <a:off x="7342632" y="2148840"/>
            <a:ext cx="2084832" cy="2194560"/>
          </a:xfrm>
          <a:prstGeom prst="roundRect">
            <a:avLst>
              <a:gd name="adj" fmla="val 394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1" name="Shape 25"/>
          <p:cNvSpPr/>
          <p:nvPr/>
        </p:nvSpPr>
        <p:spPr>
          <a:xfrm>
            <a:off x="8001000" y="2386584"/>
            <a:ext cx="768096" cy="768096"/>
          </a:xfrm>
          <a:prstGeom prst="ellipse">
            <a:avLst/>
          </a:prstGeom>
          <a:solidFill>
            <a:srgbClr val="EAF1F6"/>
          </a:solidFill>
          <a:ln/>
        </p:spPr>
      </p:sp>
      <p:pic>
        <p:nvPicPr>
          <p:cNvPr id="32" name="Image 4" descr="preencoded.png">    </p:cNvPr>
          <p:cNvPicPr>
            <a:picLocks noChangeAspect="1"/>
          </p:cNvPicPr>
          <p:nvPr/>
        </p:nvPicPr>
        <p:blipFill>
          <a:blip r:embed="rId5"/>
          <a:stretch>
            <a:fillRect/>
          </a:stretch>
        </p:blipFill>
        <p:spPr>
          <a:xfrm>
            <a:off x="8165592" y="2551176"/>
            <a:ext cx="438912" cy="438912"/>
          </a:xfrm>
          <a:prstGeom prst="rect">
            <a:avLst/>
          </a:prstGeom>
        </p:spPr>
      </p:pic>
      <p:sp>
        <p:nvSpPr>
          <p:cNvPr id="33" name="Text 26"/>
          <p:cNvSpPr/>
          <p:nvPr/>
        </p:nvSpPr>
        <p:spPr>
          <a:xfrm>
            <a:off x="7452360" y="2276856"/>
            <a:ext cx="365760" cy="310896"/>
          </a:xfrm>
          <a:prstGeom prst="rect">
            <a:avLst/>
          </a:prstGeom>
          <a:noFill/>
          <a:ln/>
        </p:spPr>
        <p:txBody>
          <a:bodyPr wrap="square" lIns="0" tIns="0" rIns="0" bIns="0" rtlCol="0" anchor="ctr"/>
          <a:lstStyle/>
          <a:p>
            <a:pPr indent="0" marL="0">
              <a:buNone/>
            </a:pPr>
            <a:r>
              <a:rPr lang="en-US" sz="1700" b="1" dirty="0">
                <a:solidFill>
                  <a:srgbClr val="D9DEE4"/>
                </a:solidFill>
                <a:latin typeface="Source Sans Pro" pitchFamily="34" charset="0"/>
                <a:ea typeface="Source Sans Pro" pitchFamily="34" charset="-122"/>
                <a:cs typeface="Source Sans Pro" pitchFamily="34" charset="-120"/>
              </a:rPr>
              <a:t>4</a:t>
            </a:r>
            <a:endParaRPr lang="en-US" sz="1700" dirty="0"/>
          </a:p>
        </p:txBody>
      </p:sp>
      <p:sp>
        <p:nvSpPr>
          <p:cNvPr id="34" name="Text 27"/>
          <p:cNvSpPr/>
          <p:nvPr/>
        </p:nvSpPr>
        <p:spPr>
          <a:xfrm>
            <a:off x="7470648" y="3319272"/>
            <a:ext cx="1828800" cy="292608"/>
          </a:xfrm>
          <a:prstGeom prst="rect">
            <a:avLst/>
          </a:prstGeom>
          <a:noFill/>
          <a:ln/>
        </p:spPr>
        <p:txBody>
          <a:bodyPr wrap="square" lIns="0" tIns="0" rIns="0" bIns="0" rtlCol="0" anchor="ctr"/>
          <a:lstStyle/>
          <a:p>
            <a:pPr algn="ctr" indent="0" marL="0">
              <a:buNone/>
            </a:pPr>
            <a:r>
              <a:rPr lang="en-US" sz="1400" b="1" dirty="0">
                <a:solidFill>
                  <a:srgbClr val="003366"/>
                </a:solidFill>
                <a:latin typeface="Source Sans Pro" pitchFamily="34" charset="0"/>
                <a:ea typeface="Source Sans Pro" pitchFamily="34" charset="-122"/>
                <a:cs typeface="Source Sans Pro" pitchFamily="34" charset="-120"/>
              </a:rPr>
              <a:t>Use platform</a:t>
            </a:r>
            <a:endParaRPr lang="en-US" sz="1400" dirty="0"/>
          </a:p>
        </p:txBody>
      </p:sp>
      <p:sp>
        <p:nvSpPr>
          <p:cNvPr id="35" name="Text 28"/>
          <p:cNvSpPr/>
          <p:nvPr/>
        </p:nvSpPr>
        <p:spPr>
          <a:xfrm>
            <a:off x="7488936" y="3648456"/>
            <a:ext cx="1792224" cy="603504"/>
          </a:xfrm>
          <a:prstGeom prst="rect">
            <a:avLst/>
          </a:prstGeom>
          <a:noFill/>
          <a:ln/>
        </p:spPr>
        <p:txBody>
          <a:bodyPr wrap="square" lIns="0" tIns="0" rIns="0" bIns="0" rtlCol="0" anchor="ctr"/>
          <a:lstStyle/>
          <a:p>
            <a:pPr algn="ctr" indent="0" marL="0">
              <a:lnSpc>
                <a:spcPts val="1400"/>
              </a:lnSpc>
              <a:buNone/>
            </a:pPr>
            <a:r>
              <a:rPr lang="en-US" sz="1100" dirty="0">
                <a:solidFill>
                  <a:srgbClr val="505050"/>
                </a:solidFill>
                <a:latin typeface="Source Sans Pro" pitchFamily="34" charset="0"/>
                <a:ea typeface="Source Sans Pro" pitchFamily="34" charset="-122"/>
                <a:cs typeface="Source Sans Pro" pitchFamily="34" charset="-120"/>
              </a:rPr>
              <a:t>Genie, SQL, endpoint, or dashboard</a:t>
            </a:r>
            <a:endParaRPr lang="en-US" sz="1100" dirty="0"/>
          </a:p>
        </p:txBody>
      </p:sp>
      <p:sp>
        <p:nvSpPr>
          <p:cNvPr id="36" name="Shape 29"/>
          <p:cNvSpPr/>
          <p:nvPr/>
        </p:nvSpPr>
        <p:spPr>
          <a:xfrm>
            <a:off x="9441180" y="3118104"/>
            <a:ext cx="146304" cy="237744"/>
          </a:xfrm>
          <a:prstGeom prst="rightArrow">
            <a:avLst/>
          </a:prstGeom>
          <a:solidFill>
            <a:srgbClr val="C0392B"/>
          </a:solidFill>
          <a:ln/>
        </p:spPr>
      </p:sp>
      <p:sp>
        <p:nvSpPr>
          <p:cNvPr id="37" name="Shape 30"/>
          <p:cNvSpPr/>
          <p:nvPr/>
        </p:nvSpPr>
        <p:spPr>
          <a:xfrm>
            <a:off x="9601200" y="2148840"/>
            <a:ext cx="2084832" cy="2194560"/>
          </a:xfrm>
          <a:prstGeom prst="roundRect">
            <a:avLst>
              <a:gd name="adj" fmla="val 394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38" name="Shape 31"/>
          <p:cNvSpPr/>
          <p:nvPr/>
        </p:nvSpPr>
        <p:spPr>
          <a:xfrm>
            <a:off x="10259568" y="2386584"/>
            <a:ext cx="768096" cy="768096"/>
          </a:xfrm>
          <a:prstGeom prst="ellipse">
            <a:avLst/>
          </a:prstGeom>
          <a:solidFill>
            <a:srgbClr val="EAF1F6"/>
          </a:solidFill>
          <a:ln/>
        </p:spPr>
      </p:sp>
      <p:pic>
        <p:nvPicPr>
          <p:cNvPr id="39" name="Image 5" descr="preencoded.png">    </p:cNvPr>
          <p:cNvPicPr>
            <a:picLocks noChangeAspect="1"/>
          </p:cNvPicPr>
          <p:nvPr/>
        </p:nvPicPr>
        <p:blipFill>
          <a:blip r:embed="rId6"/>
          <a:stretch>
            <a:fillRect/>
          </a:stretch>
        </p:blipFill>
        <p:spPr>
          <a:xfrm>
            <a:off x="10424160" y="2551176"/>
            <a:ext cx="438912" cy="438912"/>
          </a:xfrm>
          <a:prstGeom prst="rect">
            <a:avLst/>
          </a:prstGeom>
        </p:spPr>
      </p:pic>
      <p:sp>
        <p:nvSpPr>
          <p:cNvPr id="40" name="Text 32"/>
          <p:cNvSpPr/>
          <p:nvPr/>
        </p:nvSpPr>
        <p:spPr>
          <a:xfrm>
            <a:off x="9710928" y="2276856"/>
            <a:ext cx="365760" cy="310896"/>
          </a:xfrm>
          <a:prstGeom prst="rect">
            <a:avLst/>
          </a:prstGeom>
          <a:noFill/>
          <a:ln/>
        </p:spPr>
        <p:txBody>
          <a:bodyPr wrap="square" lIns="0" tIns="0" rIns="0" bIns="0" rtlCol="0" anchor="ctr"/>
          <a:lstStyle/>
          <a:p>
            <a:pPr indent="0" marL="0">
              <a:buNone/>
            </a:pPr>
            <a:r>
              <a:rPr lang="en-US" sz="1700" b="1" dirty="0">
                <a:solidFill>
                  <a:srgbClr val="D9DEE4"/>
                </a:solidFill>
                <a:latin typeface="Source Sans Pro" pitchFamily="34" charset="0"/>
                <a:ea typeface="Source Sans Pro" pitchFamily="34" charset="-122"/>
                <a:cs typeface="Source Sans Pro" pitchFamily="34" charset="-120"/>
              </a:rPr>
              <a:t>5</a:t>
            </a:r>
            <a:endParaRPr lang="en-US" sz="1700" dirty="0"/>
          </a:p>
        </p:txBody>
      </p:sp>
      <p:sp>
        <p:nvSpPr>
          <p:cNvPr id="41" name="Text 33"/>
          <p:cNvSpPr/>
          <p:nvPr/>
        </p:nvSpPr>
        <p:spPr>
          <a:xfrm>
            <a:off x="9729216" y="3319272"/>
            <a:ext cx="1828800" cy="292608"/>
          </a:xfrm>
          <a:prstGeom prst="rect">
            <a:avLst/>
          </a:prstGeom>
          <a:noFill/>
          <a:ln/>
        </p:spPr>
        <p:txBody>
          <a:bodyPr wrap="square" lIns="0" tIns="0" rIns="0" bIns="0" rtlCol="0" anchor="ctr"/>
          <a:lstStyle/>
          <a:p>
            <a:pPr algn="ctr" indent="0" marL="0">
              <a:buNone/>
            </a:pPr>
            <a:r>
              <a:rPr lang="en-US" sz="1400" b="1" dirty="0">
                <a:solidFill>
                  <a:srgbClr val="003366"/>
                </a:solidFill>
                <a:latin typeface="Source Sans Pro" pitchFamily="34" charset="0"/>
                <a:ea typeface="Source Sans Pro" pitchFamily="34" charset="-122"/>
                <a:cs typeface="Source Sans Pro" pitchFamily="34" charset="-120"/>
              </a:rPr>
              <a:t>Return answer</a:t>
            </a:r>
            <a:endParaRPr lang="en-US" sz="1400" dirty="0"/>
          </a:p>
        </p:txBody>
      </p:sp>
      <p:sp>
        <p:nvSpPr>
          <p:cNvPr id="42" name="Text 34"/>
          <p:cNvSpPr/>
          <p:nvPr/>
        </p:nvSpPr>
        <p:spPr>
          <a:xfrm>
            <a:off x="9747504" y="3648456"/>
            <a:ext cx="1792224" cy="603504"/>
          </a:xfrm>
          <a:prstGeom prst="rect">
            <a:avLst/>
          </a:prstGeom>
          <a:noFill/>
          <a:ln/>
        </p:spPr>
        <p:txBody>
          <a:bodyPr wrap="square" lIns="0" tIns="0" rIns="0" bIns="0" rtlCol="0" anchor="ctr"/>
          <a:lstStyle/>
          <a:p>
            <a:pPr algn="ctr" indent="0" marL="0">
              <a:lnSpc>
                <a:spcPts val="1400"/>
              </a:lnSpc>
              <a:buNone/>
            </a:pPr>
            <a:r>
              <a:rPr lang="en-US" sz="1100" dirty="0">
                <a:solidFill>
                  <a:srgbClr val="505050"/>
                </a:solidFill>
                <a:latin typeface="Source Sans Pro" pitchFamily="34" charset="0"/>
                <a:ea typeface="Source Sans Pro" pitchFamily="34" charset="-122"/>
                <a:cs typeface="Source Sans Pro" pitchFamily="34" charset="-120"/>
              </a:rPr>
              <a:t>Cited, caveated, reviewable</a:t>
            </a:r>
            <a:endParaRPr lang="en-US" sz="1100" dirty="0"/>
          </a:p>
        </p:txBody>
      </p:sp>
      <p:sp>
        <p:nvSpPr>
          <p:cNvPr id="43" name="Shape 35"/>
          <p:cNvSpPr/>
          <p:nvPr/>
        </p:nvSpPr>
        <p:spPr>
          <a:xfrm>
            <a:off x="566928" y="4892040"/>
            <a:ext cx="11055096" cy="777240"/>
          </a:xfrm>
          <a:prstGeom prst="roundRect">
            <a:avLst>
              <a:gd name="adj" fmla="val 10588"/>
            </a:avLst>
          </a:prstGeom>
          <a:solidFill>
            <a:srgbClr val="003366"/>
          </a:solidFill>
          <a:ln w="12700">
            <a:solidFill>
              <a:srgbClr val="003366"/>
            </a:solidFill>
            <a:prstDash val="solid"/>
          </a:ln>
        </p:spPr>
      </p:sp>
      <p:pic>
        <p:nvPicPr>
          <p:cNvPr id="44" name="Image 6" descr="preencoded.png">    </p:cNvPr>
          <p:cNvPicPr>
            <a:picLocks noChangeAspect="1"/>
          </p:cNvPicPr>
          <p:nvPr/>
        </p:nvPicPr>
        <p:blipFill>
          <a:blip r:embed="rId7"/>
          <a:stretch>
            <a:fillRect/>
          </a:stretch>
        </p:blipFill>
        <p:spPr>
          <a:xfrm>
            <a:off x="868680" y="5084064"/>
            <a:ext cx="384048" cy="384048"/>
          </a:xfrm>
          <a:prstGeom prst="rect">
            <a:avLst/>
          </a:prstGeom>
        </p:spPr>
      </p:pic>
      <p:sp>
        <p:nvSpPr>
          <p:cNvPr id="45" name="Text 36"/>
          <p:cNvSpPr/>
          <p:nvPr/>
        </p:nvSpPr>
        <p:spPr>
          <a:xfrm>
            <a:off x="1417320" y="5138928"/>
            <a:ext cx="10058400" cy="365760"/>
          </a:xfrm>
          <a:prstGeom prst="rect">
            <a:avLst/>
          </a:prstGeom>
          <a:noFill/>
          <a:ln/>
        </p:spPr>
        <p:txBody>
          <a:bodyPr wrap="square" lIns="0" tIns="0" rIns="0" bIns="0" rtlCol="0" anchor="ctr"/>
          <a:lstStyle/>
          <a:p>
            <a:pPr indent="0" marL="0">
              <a:buNone/>
            </a:pPr>
            <a:r>
              <a:rPr lang="en-US" sz="1500" b="1" dirty="0">
                <a:solidFill>
                  <a:srgbClr val="FFFFFF"/>
                </a:solidFill>
                <a:latin typeface="Source Sans Pro" pitchFamily="34" charset="0"/>
                <a:ea typeface="Source Sans Pro" pitchFamily="34" charset="-122"/>
                <a:cs typeface="Source Sans Pro" pitchFamily="34" charset="-120"/>
              </a:rPr>
              <a:t>For USCIS use, final decisions and accountability remain with humans and approved processes.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GOVERNANCE</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Three layers of trust</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Access, meaning, and action are controlled separately — on purpose.</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17 / 21</a:t>
            </a:r>
            <a:endParaRPr lang="en-US" sz="1000" dirty="0"/>
          </a:p>
        </p:txBody>
      </p:sp>
      <p:sp>
        <p:nvSpPr>
          <p:cNvPr id="9" name="Shape 6"/>
          <p:cNvSpPr/>
          <p:nvPr/>
        </p:nvSpPr>
        <p:spPr>
          <a:xfrm>
            <a:off x="566928" y="1828800"/>
            <a:ext cx="3529584" cy="3063240"/>
          </a:xfrm>
          <a:prstGeom prst="roundRect">
            <a:avLst>
              <a:gd name="adj" fmla="val 2687"/>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86384" y="2066544"/>
            <a:ext cx="475488" cy="475488"/>
          </a:xfrm>
          <a:prstGeom prst="ellipse">
            <a:avLst/>
          </a:prstGeom>
          <a:solidFill>
            <a:srgbClr val="003366"/>
          </a:solidFill>
          <a:ln/>
        </p:spPr>
      </p:sp>
      <p:pic>
        <p:nvPicPr>
          <p:cNvPr id="11" name="Image 1" descr="preencoded.png">    </p:cNvPr>
          <p:cNvPicPr>
            <a:picLocks noChangeAspect="1"/>
          </p:cNvPicPr>
          <p:nvPr/>
        </p:nvPicPr>
        <p:blipFill>
          <a:blip r:embed="rId2"/>
          <a:stretch>
            <a:fillRect/>
          </a:stretch>
        </p:blipFill>
        <p:spPr>
          <a:xfrm>
            <a:off x="890991" y="2171151"/>
            <a:ext cx="266273" cy="266273"/>
          </a:xfrm>
          <a:prstGeom prst="rect">
            <a:avLst/>
          </a:prstGeom>
        </p:spPr>
      </p:pic>
      <p:sp>
        <p:nvSpPr>
          <p:cNvPr id="12" name="Text 8"/>
          <p:cNvSpPr/>
          <p:nvPr/>
        </p:nvSpPr>
        <p:spPr>
          <a:xfrm>
            <a:off x="1389888" y="2139696"/>
            <a:ext cx="2523744" cy="365760"/>
          </a:xfrm>
          <a:prstGeom prst="rect">
            <a:avLst/>
          </a:prstGeom>
          <a:noFill/>
          <a:ln/>
        </p:spPr>
        <p:txBody>
          <a:bodyPr wrap="square" lIns="0" tIns="0" rIns="0" bIns="0" rtlCol="0" anchor="ctr"/>
          <a:lstStyle/>
          <a:p>
            <a:pPr indent="0" marL="0">
              <a:buNone/>
            </a:pPr>
            <a:r>
              <a:rPr lang="en-US" sz="1900" b="1" dirty="0">
                <a:solidFill>
                  <a:srgbClr val="003366"/>
                </a:solidFill>
                <a:latin typeface="Source Sans Pro" pitchFamily="34" charset="0"/>
                <a:ea typeface="Source Sans Pro" pitchFamily="34" charset="-122"/>
                <a:cs typeface="Source Sans Pro" pitchFamily="34" charset="-120"/>
              </a:rPr>
              <a:t>Access</a:t>
            </a:r>
            <a:endParaRPr lang="en-US" sz="1900" dirty="0"/>
          </a:p>
        </p:txBody>
      </p:sp>
      <p:sp>
        <p:nvSpPr>
          <p:cNvPr id="13" name="Text 9"/>
          <p:cNvSpPr/>
          <p:nvPr/>
        </p:nvSpPr>
        <p:spPr>
          <a:xfrm>
            <a:off x="786384" y="2788920"/>
            <a:ext cx="3090672" cy="548640"/>
          </a:xfrm>
          <a:prstGeom prst="rect">
            <a:avLst/>
          </a:prstGeom>
          <a:noFill/>
          <a:ln/>
        </p:spPr>
        <p:txBody>
          <a:bodyPr wrap="square" lIns="0" tIns="0" rIns="0" bIns="0" rtlCol="0" anchor="ctr"/>
          <a:lstStyle/>
          <a:p>
            <a:pPr indent="0" marL="0">
              <a:lnSpc>
                <a:spcPts val="1700"/>
              </a:lnSpc>
              <a:buNone/>
            </a:pPr>
            <a:r>
              <a:rPr lang="en-US" sz="1400" b="1" i="1" dirty="0">
                <a:solidFill>
                  <a:srgbClr val="006699"/>
                </a:solidFill>
                <a:latin typeface="Source Sans Pro" pitchFamily="34" charset="0"/>
                <a:ea typeface="Source Sans Pro" pitchFamily="34" charset="-122"/>
                <a:cs typeface="Source Sans Pro" pitchFamily="34" charset="-120"/>
              </a:rPr>
              <a:t>Who can see or query data?</a:t>
            </a:r>
            <a:endParaRPr lang="en-US" sz="1400" dirty="0"/>
          </a:p>
        </p:txBody>
      </p:sp>
      <p:sp>
        <p:nvSpPr>
          <p:cNvPr id="14" name="Text 10"/>
          <p:cNvSpPr/>
          <p:nvPr/>
        </p:nvSpPr>
        <p:spPr>
          <a:xfrm>
            <a:off x="786384" y="3401568"/>
            <a:ext cx="3090672" cy="1325880"/>
          </a:xfrm>
          <a:prstGeom prst="rect">
            <a:avLst/>
          </a:prstGeom>
          <a:noFill/>
          <a:ln/>
        </p:spPr>
        <p:txBody>
          <a:bodyPr wrap="square" lIns="0" tIns="0" rIns="0" bIns="0" rtlCol="0" anchor="ctr"/>
          <a:lstStyle/>
          <a:p>
            <a:pPr indent="0" marL="0">
              <a:lnSpc>
                <a:spcPts val="1700"/>
              </a:lnSpc>
              <a:buNone/>
            </a:pPr>
            <a:r>
              <a:rPr lang="en-US" sz="1250" dirty="0">
                <a:solidFill>
                  <a:srgbClr val="505050"/>
                </a:solidFill>
                <a:latin typeface="Source Sans Pro" pitchFamily="34" charset="0"/>
                <a:ea typeface="Source Sans Pro" pitchFamily="34" charset="-122"/>
                <a:cs typeface="Source Sans Pro" pitchFamily="34" charset="-120"/>
              </a:rPr>
              <a:t>Unity Catalog, permissions, row filters, column masks, approved data products.</a:t>
            </a:r>
            <a:endParaRPr lang="en-US" sz="1250" dirty="0"/>
          </a:p>
        </p:txBody>
      </p:sp>
      <p:sp>
        <p:nvSpPr>
          <p:cNvPr id="15" name="Shape 11"/>
          <p:cNvSpPr/>
          <p:nvPr/>
        </p:nvSpPr>
        <p:spPr>
          <a:xfrm>
            <a:off x="4325112" y="1828800"/>
            <a:ext cx="3529584" cy="3063240"/>
          </a:xfrm>
          <a:prstGeom prst="roundRect">
            <a:avLst>
              <a:gd name="adj" fmla="val 2687"/>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6" name="Shape 12"/>
          <p:cNvSpPr/>
          <p:nvPr/>
        </p:nvSpPr>
        <p:spPr>
          <a:xfrm>
            <a:off x="4544568" y="2066544"/>
            <a:ext cx="475488" cy="475488"/>
          </a:xfrm>
          <a:prstGeom prst="ellipse">
            <a:avLst/>
          </a:prstGeom>
          <a:solidFill>
            <a:srgbClr val="C0392B"/>
          </a:solidFill>
          <a:ln/>
        </p:spPr>
      </p:sp>
      <p:pic>
        <p:nvPicPr>
          <p:cNvPr id="17" name="Image 2" descr="preencoded.png">    </p:cNvPr>
          <p:cNvPicPr>
            <a:picLocks noChangeAspect="1"/>
          </p:cNvPicPr>
          <p:nvPr/>
        </p:nvPicPr>
        <p:blipFill>
          <a:blip r:embed="rId3"/>
          <a:stretch>
            <a:fillRect/>
          </a:stretch>
        </p:blipFill>
        <p:spPr>
          <a:xfrm>
            <a:off x="4649175" y="2171151"/>
            <a:ext cx="266273" cy="266273"/>
          </a:xfrm>
          <a:prstGeom prst="rect">
            <a:avLst/>
          </a:prstGeom>
        </p:spPr>
      </p:pic>
      <p:sp>
        <p:nvSpPr>
          <p:cNvPr id="18" name="Text 13"/>
          <p:cNvSpPr/>
          <p:nvPr/>
        </p:nvSpPr>
        <p:spPr>
          <a:xfrm>
            <a:off x="5148072" y="2139696"/>
            <a:ext cx="2523744" cy="365760"/>
          </a:xfrm>
          <a:prstGeom prst="rect">
            <a:avLst/>
          </a:prstGeom>
          <a:noFill/>
          <a:ln/>
        </p:spPr>
        <p:txBody>
          <a:bodyPr wrap="square" lIns="0" tIns="0" rIns="0" bIns="0" rtlCol="0" anchor="ctr"/>
          <a:lstStyle/>
          <a:p>
            <a:pPr indent="0" marL="0">
              <a:buNone/>
            </a:pPr>
            <a:r>
              <a:rPr lang="en-US" sz="1900" b="1" dirty="0">
                <a:solidFill>
                  <a:srgbClr val="FFFFFF"/>
                </a:solidFill>
                <a:latin typeface="Source Sans Pro" pitchFamily="34" charset="0"/>
                <a:ea typeface="Source Sans Pro" pitchFamily="34" charset="-122"/>
                <a:cs typeface="Source Sans Pro" pitchFamily="34" charset="-120"/>
              </a:rPr>
              <a:t>Meaning</a:t>
            </a:r>
            <a:endParaRPr lang="en-US" sz="1900" dirty="0"/>
          </a:p>
        </p:txBody>
      </p:sp>
      <p:sp>
        <p:nvSpPr>
          <p:cNvPr id="19" name="Text 14"/>
          <p:cNvSpPr/>
          <p:nvPr/>
        </p:nvSpPr>
        <p:spPr>
          <a:xfrm>
            <a:off x="4544568" y="2788920"/>
            <a:ext cx="3090672" cy="548640"/>
          </a:xfrm>
          <a:prstGeom prst="rect">
            <a:avLst/>
          </a:prstGeom>
          <a:noFill/>
          <a:ln/>
        </p:spPr>
        <p:txBody>
          <a:bodyPr wrap="square" lIns="0" tIns="0" rIns="0" bIns="0" rtlCol="0" anchor="ctr"/>
          <a:lstStyle/>
          <a:p>
            <a:pPr indent="0" marL="0">
              <a:lnSpc>
                <a:spcPts val="1700"/>
              </a:lnSpc>
              <a:buNone/>
            </a:pPr>
            <a:r>
              <a:rPr lang="en-US" sz="1400" b="1" i="1" dirty="0">
                <a:solidFill>
                  <a:srgbClr val="C0392B"/>
                </a:solidFill>
                <a:latin typeface="Source Sans Pro" pitchFamily="34" charset="0"/>
                <a:ea typeface="Source Sans Pro" pitchFamily="34" charset="-122"/>
                <a:cs typeface="Source Sans Pro" pitchFamily="34" charset="-120"/>
              </a:rPr>
              <a:t>What does the answer mean?</a:t>
            </a:r>
            <a:endParaRPr lang="en-US" sz="1400" dirty="0"/>
          </a:p>
        </p:txBody>
      </p:sp>
      <p:sp>
        <p:nvSpPr>
          <p:cNvPr id="20" name="Text 15"/>
          <p:cNvSpPr/>
          <p:nvPr/>
        </p:nvSpPr>
        <p:spPr>
          <a:xfrm>
            <a:off x="4544568" y="3401568"/>
            <a:ext cx="3090672" cy="1325880"/>
          </a:xfrm>
          <a:prstGeom prst="rect">
            <a:avLst/>
          </a:prstGeom>
          <a:noFill/>
          <a:ln/>
        </p:spPr>
        <p:txBody>
          <a:bodyPr wrap="square" lIns="0" tIns="0" rIns="0" bIns="0" rtlCol="0" anchor="ctr"/>
          <a:lstStyle/>
          <a:p>
            <a:pPr indent="0" marL="0">
              <a:lnSpc>
                <a:spcPts val="1700"/>
              </a:lnSpc>
              <a:buNone/>
            </a:pPr>
            <a:r>
              <a:rPr lang="en-US" sz="1250" dirty="0">
                <a:solidFill>
                  <a:srgbClr val="D6E4EF"/>
                </a:solidFill>
                <a:latin typeface="Source Sans Pro" pitchFamily="34" charset="0"/>
                <a:ea typeface="Source Sans Pro" pitchFamily="34" charset="-122"/>
                <a:cs typeface="Source Sans Pro" pitchFamily="34" charset="-120"/>
              </a:rPr>
              <a:t>Harness, semantic definitions, metadata, examples, caveats, benchmark questions.</a:t>
            </a:r>
            <a:endParaRPr lang="en-US" sz="1250" dirty="0"/>
          </a:p>
        </p:txBody>
      </p:sp>
      <p:sp>
        <p:nvSpPr>
          <p:cNvPr id="21" name="Shape 16"/>
          <p:cNvSpPr/>
          <p:nvPr/>
        </p:nvSpPr>
        <p:spPr>
          <a:xfrm>
            <a:off x="8083296" y="1828800"/>
            <a:ext cx="3529584" cy="3063240"/>
          </a:xfrm>
          <a:prstGeom prst="roundRect">
            <a:avLst>
              <a:gd name="adj" fmla="val 2687"/>
            </a:avLst>
          </a:prstGeom>
          <a:solidFill>
            <a:srgbClr val="F7EAE7"/>
          </a:solidFill>
          <a:ln w="12700">
            <a:solidFill>
              <a:srgbClr val="C0392B"/>
            </a:solidFill>
            <a:prstDash val="solid"/>
          </a:ln>
          <a:effectLst>
            <a:outerShdw sx="100000" sy="100000" kx="0" ky="0" algn="bl" rotWithShape="0" blurRad="88900" dist="25400" dir="5400000">
              <a:srgbClr val="003366">
                <a:alpha val="14000"/>
              </a:srgbClr>
            </a:outerShdw>
          </a:effectLst>
        </p:spPr>
      </p:sp>
      <p:sp>
        <p:nvSpPr>
          <p:cNvPr id="22" name="Shape 17"/>
          <p:cNvSpPr/>
          <p:nvPr/>
        </p:nvSpPr>
        <p:spPr>
          <a:xfrm>
            <a:off x="8302752" y="2066544"/>
            <a:ext cx="475488" cy="475488"/>
          </a:xfrm>
          <a:prstGeom prst="ellipse">
            <a:avLst/>
          </a:prstGeom>
          <a:solidFill>
            <a:srgbClr val="003366"/>
          </a:solidFill>
          <a:ln/>
        </p:spPr>
      </p:sp>
      <p:pic>
        <p:nvPicPr>
          <p:cNvPr id="23" name="Image 3" descr="preencoded.png">    </p:cNvPr>
          <p:cNvPicPr>
            <a:picLocks noChangeAspect="1"/>
          </p:cNvPicPr>
          <p:nvPr/>
        </p:nvPicPr>
        <p:blipFill>
          <a:blip r:embed="rId4"/>
          <a:stretch>
            <a:fillRect/>
          </a:stretch>
        </p:blipFill>
        <p:spPr>
          <a:xfrm>
            <a:off x="8407359" y="2171151"/>
            <a:ext cx="266273" cy="266273"/>
          </a:xfrm>
          <a:prstGeom prst="rect">
            <a:avLst/>
          </a:prstGeom>
        </p:spPr>
      </p:pic>
      <p:sp>
        <p:nvSpPr>
          <p:cNvPr id="24" name="Text 18"/>
          <p:cNvSpPr/>
          <p:nvPr/>
        </p:nvSpPr>
        <p:spPr>
          <a:xfrm>
            <a:off x="8906256" y="2139696"/>
            <a:ext cx="2523744" cy="365760"/>
          </a:xfrm>
          <a:prstGeom prst="rect">
            <a:avLst/>
          </a:prstGeom>
          <a:noFill/>
          <a:ln/>
        </p:spPr>
        <p:txBody>
          <a:bodyPr wrap="square" lIns="0" tIns="0" rIns="0" bIns="0" rtlCol="0" anchor="ctr"/>
          <a:lstStyle/>
          <a:p>
            <a:pPr indent="0" marL="0">
              <a:buNone/>
            </a:pPr>
            <a:r>
              <a:rPr lang="en-US" sz="1900" b="1" dirty="0">
                <a:solidFill>
                  <a:srgbClr val="003366"/>
                </a:solidFill>
                <a:latin typeface="Source Sans Pro" pitchFamily="34" charset="0"/>
                <a:ea typeface="Source Sans Pro" pitchFamily="34" charset="-122"/>
                <a:cs typeface="Source Sans Pro" pitchFamily="34" charset="-120"/>
              </a:rPr>
              <a:t>Action</a:t>
            </a:r>
            <a:endParaRPr lang="en-US" sz="1900" dirty="0"/>
          </a:p>
        </p:txBody>
      </p:sp>
      <p:sp>
        <p:nvSpPr>
          <p:cNvPr id="25" name="Text 19"/>
          <p:cNvSpPr/>
          <p:nvPr/>
        </p:nvSpPr>
        <p:spPr>
          <a:xfrm>
            <a:off x="8302752" y="2788920"/>
            <a:ext cx="3090672" cy="548640"/>
          </a:xfrm>
          <a:prstGeom prst="rect">
            <a:avLst/>
          </a:prstGeom>
          <a:noFill/>
          <a:ln/>
        </p:spPr>
        <p:txBody>
          <a:bodyPr wrap="square" lIns="0" tIns="0" rIns="0" bIns="0" rtlCol="0" anchor="ctr"/>
          <a:lstStyle/>
          <a:p>
            <a:pPr indent="0" marL="0">
              <a:lnSpc>
                <a:spcPts val="1700"/>
              </a:lnSpc>
              <a:buNone/>
            </a:pPr>
            <a:r>
              <a:rPr lang="en-US" sz="1400" b="1" i="1" dirty="0">
                <a:solidFill>
                  <a:srgbClr val="006699"/>
                </a:solidFill>
                <a:latin typeface="Source Sans Pro" pitchFamily="34" charset="0"/>
                <a:ea typeface="Source Sans Pro" pitchFamily="34" charset="-122"/>
                <a:cs typeface="Source Sans Pro" pitchFamily="34" charset="-120"/>
              </a:rPr>
              <a:t>What can AI do next?</a:t>
            </a:r>
            <a:endParaRPr lang="en-US" sz="1400" dirty="0"/>
          </a:p>
        </p:txBody>
      </p:sp>
      <p:sp>
        <p:nvSpPr>
          <p:cNvPr id="26" name="Text 20"/>
          <p:cNvSpPr/>
          <p:nvPr/>
        </p:nvSpPr>
        <p:spPr>
          <a:xfrm>
            <a:off x="8302752" y="3401568"/>
            <a:ext cx="3090672" cy="1325880"/>
          </a:xfrm>
          <a:prstGeom prst="rect">
            <a:avLst/>
          </a:prstGeom>
          <a:noFill/>
          <a:ln/>
        </p:spPr>
        <p:txBody>
          <a:bodyPr wrap="square" lIns="0" tIns="0" rIns="0" bIns="0" rtlCol="0" anchor="ctr"/>
          <a:lstStyle/>
          <a:p>
            <a:pPr indent="0" marL="0">
              <a:lnSpc>
                <a:spcPts val="1700"/>
              </a:lnSpc>
              <a:buNone/>
            </a:pPr>
            <a:r>
              <a:rPr lang="en-US" sz="1250" dirty="0">
                <a:solidFill>
                  <a:srgbClr val="505050"/>
                </a:solidFill>
                <a:latin typeface="Source Sans Pro" pitchFamily="34" charset="0"/>
                <a:ea typeface="Source Sans Pro" pitchFamily="34" charset="-122"/>
                <a:cs typeface="Source Sans Pro" pitchFamily="34" charset="-120"/>
              </a:rPr>
              <a:t>skill.md, workflow rules, human review, records handling, approval path.</a:t>
            </a:r>
            <a:endParaRPr lang="en-US" sz="1250" dirty="0"/>
          </a:p>
        </p:txBody>
      </p:sp>
      <p:sp>
        <p:nvSpPr>
          <p:cNvPr id="27" name="Shape 21"/>
          <p:cNvSpPr/>
          <p:nvPr/>
        </p:nvSpPr>
        <p:spPr>
          <a:xfrm>
            <a:off x="566928" y="5120640"/>
            <a:ext cx="11055096" cy="566928"/>
          </a:xfrm>
          <a:prstGeom prst="roundRect">
            <a:avLst>
              <a:gd name="adj" fmla="val 14516"/>
            </a:avLst>
          </a:prstGeom>
          <a:solidFill>
            <a:srgbClr val="EAF1F6"/>
          </a:solidFill>
          <a:ln w="12700">
            <a:solidFill>
              <a:srgbClr val="D6E4EF"/>
            </a:solidFill>
            <a:prstDash val="solid"/>
          </a:ln>
        </p:spPr>
      </p:sp>
      <p:sp>
        <p:nvSpPr>
          <p:cNvPr id="28" name="Text 22"/>
          <p:cNvSpPr/>
          <p:nvPr/>
        </p:nvSpPr>
        <p:spPr>
          <a:xfrm>
            <a:off x="868680" y="5221224"/>
            <a:ext cx="10515600" cy="365760"/>
          </a:xfrm>
          <a:prstGeom prst="rect">
            <a:avLst/>
          </a:prstGeom>
          <a:noFill/>
          <a:ln/>
        </p:spPr>
        <p:txBody>
          <a:bodyPr wrap="square" lIns="0" tIns="0" rIns="0" bIns="0" rtlCol="0" anchor="ctr"/>
          <a:lstStyle/>
          <a:p>
            <a:pPr indent="0" marL="0">
              <a:buNone/>
            </a:pPr>
            <a:r>
              <a:rPr lang="en-US" sz="1400" b="1" dirty="0">
                <a:solidFill>
                  <a:srgbClr val="003366"/>
                </a:solidFill>
                <a:latin typeface="Source Sans Pro" pitchFamily="34" charset="0"/>
                <a:ea typeface="Source Sans Pro" pitchFamily="34" charset="-122"/>
                <a:cs typeface="Source Sans Pro" pitchFamily="34" charset="-120"/>
              </a:rPr>
              <a:t>Platform controls access  •  harness controls meaning  •  people control decisions.</a:t>
            </a:r>
            <a:endParaRPr lang="en-US" sz="1400" dirty="0"/>
          </a:p>
        </p:txBody>
      </p:sp>
      <p:sp>
        <p:nvSpPr>
          <p:cNvPr id="29" name="Text 23"/>
          <p:cNvSpPr/>
          <p:nvPr/>
        </p:nvSpPr>
        <p:spPr>
          <a:xfrm>
            <a:off x="566928" y="5779008"/>
            <a:ext cx="10972800" cy="256032"/>
          </a:xfrm>
          <a:prstGeom prst="rect">
            <a:avLst/>
          </a:prstGeom>
          <a:noFill/>
          <a:ln/>
        </p:spPr>
        <p:txBody>
          <a:bodyPr wrap="square" lIns="0" tIns="0" rIns="0" bIns="0" rtlCol="0" anchor="ctr"/>
          <a:lstStyle/>
          <a:p>
            <a:pPr indent="0" marL="0">
              <a:buNone/>
            </a:pPr>
            <a:r>
              <a:rPr lang="en-US" sz="950" i="1" dirty="0">
                <a:solidFill>
                  <a:srgbClr val="999999"/>
                </a:solidFill>
                <a:latin typeface="Source Sans Pro" pitchFamily="34" charset="0"/>
                <a:ea typeface="Source Sans Pro" pitchFamily="34" charset="-122"/>
                <a:cs typeface="Source Sans Pro" pitchFamily="34" charset="-120"/>
              </a:rPr>
              <a:t>Databricks docs: Genie user data access is governed by Unity Catalog privileges, row filters, and column masks.</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MOBILIZE</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What teams can start now</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Preparation is valuable even before every AI feature is available.</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18 / 21</a:t>
            </a:r>
            <a:endParaRPr lang="en-US" sz="1000" dirty="0"/>
          </a:p>
        </p:txBody>
      </p:sp>
      <p:sp>
        <p:nvSpPr>
          <p:cNvPr id="9" name="Shape 6"/>
          <p:cNvSpPr/>
          <p:nvPr/>
        </p:nvSpPr>
        <p:spPr>
          <a:xfrm>
            <a:off x="566928" y="1783080"/>
            <a:ext cx="11055096" cy="621792"/>
          </a:xfrm>
          <a:prstGeom prst="roundRect">
            <a:avLst>
              <a:gd name="adj" fmla="val 13235"/>
            </a:avLst>
          </a:prstGeom>
          <a:solidFill>
            <a:srgbClr val="EAF1F6"/>
          </a:solidFill>
          <a:ln w="12700">
            <a:solidFill>
              <a:srgbClr val="D6E4EF"/>
            </a:solidFill>
            <a:prstDash val="solid"/>
          </a:ln>
        </p:spPr>
      </p:sp>
      <p:sp>
        <p:nvSpPr>
          <p:cNvPr id="10" name="Shape 7"/>
          <p:cNvSpPr/>
          <p:nvPr/>
        </p:nvSpPr>
        <p:spPr>
          <a:xfrm>
            <a:off x="777240" y="1892808"/>
            <a:ext cx="402336" cy="402336"/>
          </a:xfrm>
          <a:prstGeom prst="ellipse">
            <a:avLst/>
          </a:prstGeom>
          <a:solidFill>
            <a:srgbClr val="003366"/>
          </a:solidFill>
          <a:ln/>
        </p:spPr>
      </p:sp>
      <p:pic>
        <p:nvPicPr>
          <p:cNvPr id="11" name="Image 1" descr="preencoded.png">    </p:cNvPr>
          <p:cNvPicPr>
            <a:picLocks noChangeAspect="1"/>
          </p:cNvPicPr>
          <p:nvPr/>
        </p:nvPicPr>
        <p:blipFill>
          <a:blip r:embed="rId2"/>
          <a:stretch>
            <a:fillRect/>
          </a:stretch>
        </p:blipFill>
        <p:spPr>
          <a:xfrm>
            <a:off x="865754" y="1981322"/>
            <a:ext cx="225308" cy="225308"/>
          </a:xfrm>
          <a:prstGeom prst="rect">
            <a:avLst/>
          </a:prstGeom>
        </p:spPr>
      </p:pic>
      <p:sp>
        <p:nvSpPr>
          <p:cNvPr id="12" name="Text 8"/>
          <p:cNvSpPr/>
          <p:nvPr/>
        </p:nvSpPr>
        <p:spPr>
          <a:xfrm>
            <a:off x="1353312" y="1938528"/>
            <a:ext cx="2651760" cy="310896"/>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Data Management</a:t>
            </a:r>
            <a:endParaRPr lang="en-US" sz="1350" dirty="0"/>
          </a:p>
        </p:txBody>
      </p:sp>
      <p:sp>
        <p:nvSpPr>
          <p:cNvPr id="13" name="Text 9"/>
          <p:cNvSpPr/>
          <p:nvPr/>
        </p:nvSpPr>
        <p:spPr>
          <a:xfrm>
            <a:off x="4114800" y="1938528"/>
            <a:ext cx="7315200" cy="310896"/>
          </a:xfrm>
          <a:prstGeom prst="rect">
            <a:avLst/>
          </a:prstGeom>
          <a:noFill/>
          <a:ln/>
        </p:spPr>
        <p:txBody>
          <a:bodyPr wrap="square" lIns="0" tIns="0" rIns="0" bIns="0" rtlCol="0" anchor="ctr"/>
          <a:lstStyle/>
          <a:p>
            <a:pPr indent="0" marL="0">
              <a:buNone/>
            </a:pPr>
            <a:r>
              <a:rPr lang="en-US" sz="1250" dirty="0">
                <a:solidFill>
                  <a:srgbClr val="505050"/>
                </a:solidFill>
                <a:latin typeface="Source Sans Pro" pitchFamily="34" charset="0"/>
                <a:ea typeface="Source Sans Pro" pitchFamily="34" charset="-122"/>
                <a:cs typeface="Source Sans Pro" pitchFamily="34" charset="-120"/>
              </a:rPr>
              <a:t>Acronyms, definitions, stewardship, tags, lineage, metadata &amp; catalog readiness.</a:t>
            </a:r>
            <a:endParaRPr lang="en-US" sz="1250" dirty="0"/>
          </a:p>
        </p:txBody>
      </p:sp>
      <p:sp>
        <p:nvSpPr>
          <p:cNvPr id="14" name="Shape 10"/>
          <p:cNvSpPr/>
          <p:nvPr/>
        </p:nvSpPr>
        <p:spPr>
          <a:xfrm>
            <a:off x="566928" y="2505456"/>
            <a:ext cx="11055096" cy="621792"/>
          </a:xfrm>
          <a:prstGeom prst="roundRect">
            <a:avLst>
              <a:gd name="adj" fmla="val 13235"/>
            </a:avLst>
          </a:prstGeom>
          <a:solidFill>
            <a:srgbClr val="FFFFFF"/>
          </a:solidFill>
          <a:ln w="12700">
            <a:solidFill>
              <a:srgbClr val="D9DEE4"/>
            </a:solidFill>
            <a:prstDash val="solid"/>
          </a:ln>
        </p:spPr>
      </p:sp>
      <p:sp>
        <p:nvSpPr>
          <p:cNvPr id="15" name="Shape 11"/>
          <p:cNvSpPr/>
          <p:nvPr/>
        </p:nvSpPr>
        <p:spPr>
          <a:xfrm>
            <a:off x="777240" y="2615184"/>
            <a:ext cx="402336" cy="402336"/>
          </a:xfrm>
          <a:prstGeom prst="ellipse">
            <a:avLst/>
          </a:prstGeom>
          <a:solidFill>
            <a:srgbClr val="003366"/>
          </a:solidFill>
          <a:ln/>
        </p:spPr>
      </p:sp>
      <p:pic>
        <p:nvPicPr>
          <p:cNvPr id="16" name="Image 2" descr="preencoded.png">    </p:cNvPr>
          <p:cNvPicPr>
            <a:picLocks noChangeAspect="1"/>
          </p:cNvPicPr>
          <p:nvPr/>
        </p:nvPicPr>
        <p:blipFill>
          <a:blip r:embed="rId3"/>
          <a:stretch>
            <a:fillRect/>
          </a:stretch>
        </p:blipFill>
        <p:spPr>
          <a:xfrm>
            <a:off x="865754" y="2703698"/>
            <a:ext cx="225308" cy="225308"/>
          </a:xfrm>
          <a:prstGeom prst="rect">
            <a:avLst/>
          </a:prstGeom>
        </p:spPr>
      </p:pic>
      <p:sp>
        <p:nvSpPr>
          <p:cNvPr id="17" name="Text 12"/>
          <p:cNvSpPr/>
          <p:nvPr/>
        </p:nvSpPr>
        <p:spPr>
          <a:xfrm>
            <a:off x="1353312" y="2660904"/>
            <a:ext cx="2651760" cy="310896"/>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Data Engineering</a:t>
            </a:r>
            <a:endParaRPr lang="en-US" sz="1350" dirty="0"/>
          </a:p>
        </p:txBody>
      </p:sp>
      <p:sp>
        <p:nvSpPr>
          <p:cNvPr id="18" name="Text 13"/>
          <p:cNvSpPr/>
          <p:nvPr/>
        </p:nvSpPr>
        <p:spPr>
          <a:xfrm>
            <a:off x="4114800" y="2660904"/>
            <a:ext cx="7315200" cy="310896"/>
          </a:xfrm>
          <a:prstGeom prst="rect">
            <a:avLst/>
          </a:prstGeom>
          <a:noFill/>
          <a:ln/>
        </p:spPr>
        <p:txBody>
          <a:bodyPr wrap="square" lIns="0" tIns="0" rIns="0" bIns="0" rtlCol="0" anchor="ctr"/>
          <a:lstStyle/>
          <a:p>
            <a:pPr indent="0" marL="0">
              <a:buNone/>
            </a:pPr>
            <a:r>
              <a:rPr lang="en-US" sz="1250" dirty="0">
                <a:solidFill>
                  <a:srgbClr val="505050"/>
                </a:solidFill>
                <a:latin typeface="Source Sans Pro" pitchFamily="34" charset="0"/>
                <a:ea typeface="Source Sans Pro" pitchFamily="34" charset="-122"/>
                <a:cs typeface="Source Sans Pro" pitchFamily="34" charset="-120"/>
              </a:rPr>
              <a:t>Curated views, data products, refresh notes, source caveats, quality checks.</a:t>
            </a:r>
            <a:endParaRPr lang="en-US" sz="1250" dirty="0"/>
          </a:p>
        </p:txBody>
      </p:sp>
      <p:sp>
        <p:nvSpPr>
          <p:cNvPr id="19" name="Shape 14"/>
          <p:cNvSpPr/>
          <p:nvPr/>
        </p:nvSpPr>
        <p:spPr>
          <a:xfrm>
            <a:off x="566928" y="3227832"/>
            <a:ext cx="11055096" cy="621792"/>
          </a:xfrm>
          <a:prstGeom prst="roundRect">
            <a:avLst>
              <a:gd name="adj" fmla="val 13235"/>
            </a:avLst>
          </a:prstGeom>
          <a:solidFill>
            <a:srgbClr val="EAF1F6"/>
          </a:solidFill>
          <a:ln w="12700">
            <a:solidFill>
              <a:srgbClr val="D6E4EF"/>
            </a:solidFill>
            <a:prstDash val="solid"/>
          </a:ln>
        </p:spPr>
      </p:sp>
      <p:sp>
        <p:nvSpPr>
          <p:cNvPr id="20" name="Shape 15"/>
          <p:cNvSpPr/>
          <p:nvPr/>
        </p:nvSpPr>
        <p:spPr>
          <a:xfrm>
            <a:off x="777240" y="3337560"/>
            <a:ext cx="402336" cy="402336"/>
          </a:xfrm>
          <a:prstGeom prst="ellipse">
            <a:avLst/>
          </a:prstGeom>
          <a:solidFill>
            <a:srgbClr val="003366"/>
          </a:solidFill>
          <a:ln/>
        </p:spPr>
      </p:sp>
      <p:pic>
        <p:nvPicPr>
          <p:cNvPr id="21" name="Image 3" descr="preencoded.png">    </p:cNvPr>
          <p:cNvPicPr>
            <a:picLocks noChangeAspect="1"/>
          </p:cNvPicPr>
          <p:nvPr/>
        </p:nvPicPr>
        <p:blipFill>
          <a:blip r:embed="rId4"/>
          <a:stretch>
            <a:fillRect/>
          </a:stretch>
        </p:blipFill>
        <p:spPr>
          <a:xfrm>
            <a:off x="865754" y="3426074"/>
            <a:ext cx="225308" cy="225308"/>
          </a:xfrm>
          <a:prstGeom prst="rect">
            <a:avLst/>
          </a:prstGeom>
        </p:spPr>
      </p:pic>
      <p:sp>
        <p:nvSpPr>
          <p:cNvPr id="22" name="Text 16"/>
          <p:cNvSpPr/>
          <p:nvPr/>
        </p:nvSpPr>
        <p:spPr>
          <a:xfrm>
            <a:off x="1353312" y="3383280"/>
            <a:ext cx="2651760" cy="310896"/>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Data Analytics</a:t>
            </a:r>
            <a:endParaRPr lang="en-US" sz="1350" dirty="0"/>
          </a:p>
        </p:txBody>
      </p:sp>
      <p:sp>
        <p:nvSpPr>
          <p:cNvPr id="23" name="Text 17"/>
          <p:cNvSpPr/>
          <p:nvPr/>
        </p:nvSpPr>
        <p:spPr>
          <a:xfrm>
            <a:off x="4114800" y="3383280"/>
            <a:ext cx="7315200" cy="310896"/>
          </a:xfrm>
          <a:prstGeom prst="rect">
            <a:avLst/>
          </a:prstGeom>
          <a:noFill/>
          <a:ln/>
        </p:spPr>
        <p:txBody>
          <a:bodyPr wrap="square" lIns="0" tIns="0" rIns="0" bIns="0" rtlCol="0" anchor="ctr"/>
          <a:lstStyle/>
          <a:p>
            <a:pPr indent="0" marL="0">
              <a:buNone/>
            </a:pPr>
            <a:r>
              <a:rPr lang="en-US" sz="1250" dirty="0">
                <a:solidFill>
                  <a:srgbClr val="505050"/>
                </a:solidFill>
                <a:latin typeface="Source Sans Pro" pitchFamily="34" charset="0"/>
                <a:ea typeface="Source Sans Pro" pitchFamily="34" charset="-122"/>
                <a:cs typeface="Source Sans Pro" pitchFamily="34" charset="-120"/>
              </a:rPr>
              <a:t>Business questions, strong-answer examples, benchmark questions, interpretation rules.</a:t>
            </a:r>
            <a:endParaRPr lang="en-US" sz="1250" dirty="0"/>
          </a:p>
        </p:txBody>
      </p:sp>
      <p:sp>
        <p:nvSpPr>
          <p:cNvPr id="24" name="Shape 18"/>
          <p:cNvSpPr/>
          <p:nvPr/>
        </p:nvSpPr>
        <p:spPr>
          <a:xfrm>
            <a:off x="566928" y="3950208"/>
            <a:ext cx="11055096" cy="621792"/>
          </a:xfrm>
          <a:prstGeom prst="roundRect">
            <a:avLst>
              <a:gd name="adj" fmla="val 13235"/>
            </a:avLst>
          </a:prstGeom>
          <a:solidFill>
            <a:srgbClr val="FFFFFF"/>
          </a:solidFill>
          <a:ln w="12700">
            <a:solidFill>
              <a:srgbClr val="D9DEE4"/>
            </a:solidFill>
            <a:prstDash val="solid"/>
          </a:ln>
        </p:spPr>
      </p:sp>
      <p:sp>
        <p:nvSpPr>
          <p:cNvPr id="25" name="Shape 19"/>
          <p:cNvSpPr/>
          <p:nvPr/>
        </p:nvSpPr>
        <p:spPr>
          <a:xfrm>
            <a:off x="777240" y="4059936"/>
            <a:ext cx="402336" cy="402336"/>
          </a:xfrm>
          <a:prstGeom prst="ellipse">
            <a:avLst/>
          </a:prstGeom>
          <a:solidFill>
            <a:srgbClr val="003366"/>
          </a:solidFill>
          <a:ln/>
        </p:spPr>
      </p:sp>
      <p:pic>
        <p:nvPicPr>
          <p:cNvPr id="26" name="Image 4" descr="preencoded.png">    </p:cNvPr>
          <p:cNvPicPr>
            <a:picLocks noChangeAspect="1"/>
          </p:cNvPicPr>
          <p:nvPr/>
        </p:nvPicPr>
        <p:blipFill>
          <a:blip r:embed="rId5"/>
          <a:stretch>
            <a:fillRect/>
          </a:stretch>
        </p:blipFill>
        <p:spPr>
          <a:xfrm>
            <a:off x="865754" y="4148450"/>
            <a:ext cx="225308" cy="225308"/>
          </a:xfrm>
          <a:prstGeom prst="rect">
            <a:avLst/>
          </a:prstGeom>
        </p:spPr>
      </p:pic>
      <p:sp>
        <p:nvSpPr>
          <p:cNvPr id="27" name="Text 20"/>
          <p:cNvSpPr/>
          <p:nvPr/>
        </p:nvSpPr>
        <p:spPr>
          <a:xfrm>
            <a:off x="1353312" y="4105656"/>
            <a:ext cx="2651760" cy="310896"/>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Dashboards / BI</a:t>
            </a:r>
            <a:endParaRPr lang="en-US" sz="1350" dirty="0"/>
          </a:p>
        </p:txBody>
      </p:sp>
      <p:sp>
        <p:nvSpPr>
          <p:cNvPr id="28" name="Text 21"/>
          <p:cNvSpPr/>
          <p:nvPr/>
        </p:nvSpPr>
        <p:spPr>
          <a:xfrm>
            <a:off x="4114800" y="4105656"/>
            <a:ext cx="7315200" cy="310896"/>
          </a:xfrm>
          <a:prstGeom prst="rect">
            <a:avLst/>
          </a:prstGeom>
          <a:noFill/>
          <a:ln/>
        </p:spPr>
        <p:txBody>
          <a:bodyPr wrap="square" lIns="0" tIns="0" rIns="0" bIns="0" rtlCol="0" anchor="ctr"/>
          <a:lstStyle/>
          <a:p>
            <a:pPr indent="0" marL="0">
              <a:buNone/>
            </a:pPr>
            <a:r>
              <a:rPr lang="en-US" sz="1250" dirty="0">
                <a:solidFill>
                  <a:srgbClr val="505050"/>
                </a:solidFill>
                <a:latin typeface="Source Sans Pro" pitchFamily="34" charset="0"/>
                <a:ea typeface="Source Sans Pro" pitchFamily="34" charset="-122"/>
                <a:cs typeface="Source Sans Pro" pitchFamily="34" charset="-120"/>
              </a:rPr>
              <a:t>Usage metrics, dashboard context, chart narration patterns, adoption tracking.</a:t>
            </a:r>
            <a:endParaRPr lang="en-US" sz="1250" dirty="0"/>
          </a:p>
        </p:txBody>
      </p:sp>
      <p:sp>
        <p:nvSpPr>
          <p:cNvPr id="29" name="Shape 22"/>
          <p:cNvSpPr/>
          <p:nvPr/>
        </p:nvSpPr>
        <p:spPr>
          <a:xfrm>
            <a:off x="566928" y="4672584"/>
            <a:ext cx="11055096" cy="621792"/>
          </a:xfrm>
          <a:prstGeom prst="roundRect">
            <a:avLst>
              <a:gd name="adj" fmla="val 13235"/>
            </a:avLst>
          </a:prstGeom>
          <a:solidFill>
            <a:srgbClr val="EAF1F6"/>
          </a:solidFill>
          <a:ln w="12700">
            <a:solidFill>
              <a:srgbClr val="D6E4EF"/>
            </a:solidFill>
            <a:prstDash val="solid"/>
          </a:ln>
        </p:spPr>
      </p:sp>
      <p:sp>
        <p:nvSpPr>
          <p:cNvPr id="30" name="Shape 23"/>
          <p:cNvSpPr/>
          <p:nvPr/>
        </p:nvSpPr>
        <p:spPr>
          <a:xfrm>
            <a:off x="777240" y="4782312"/>
            <a:ext cx="402336" cy="402336"/>
          </a:xfrm>
          <a:prstGeom prst="ellipse">
            <a:avLst/>
          </a:prstGeom>
          <a:solidFill>
            <a:srgbClr val="003366"/>
          </a:solidFill>
          <a:ln/>
        </p:spPr>
      </p:sp>
      <p:pic>
        <p:nvPicPr>
          <p:cNvPr id="31" name="Image 5" descr="preencoded.png">    </p:cNvPr>
          <p:cNvPicPr>
            <a:picLocks noChangeAspect="1"/>
          </p:cNvPicPr>
          <p:nvPr/>
        </p:nvPicPr>
        <p:blipFill>
          <a:blip r:embed="rId6"/>
          <a:stretch>
            <a:fillRect/>
          </a:stretch>
        </p:blipFill>
        <p:spPr>
          <a:xfrm>
            <a:off x="865754" y="4870826"/>
            <a:ext cx="225308" cy="225308"/>
          </a:xfrm>
          <a:prstGeom prst="rect">
            <a:avLst/>
          </a:prstGeom>
        </p:spPr>
      </p:pic>
      <p:sp>
        <p:nvSpPr>
          <p:cNvPr id="32" name="Text 24"/>
          <p:cNvSpPr/>
          <p:nvPr/>
        </p:nvSpPr>
        <p:spPr>
          <a:xfrm>
            <a:off x="1353312" y="4828032"/>
            <a:ext cx="2651760" cy="310896"/>
          </a:xfrm>
          <a:prstGeom prst="rect">
            <a:avLst/>
          </a:prstGeom>
          <a:noFill/>
          <a:ln/>
        </p:spPr>
        <p:txBody>
          <a:bodyPr wrap="square" lIns="0" tIns="0" rIns="0" bIns="0" rtlCol="0" anchor="ctr"/>
          <a:lstStyle/>
          <a:p>
            <a:pPr indent="0" marL="0">
              <a:buNone/>
            </a:pPr>
            <a:r>
              <a:rPr lang="en-US" sz="1350" b="1" dirty="0">
                <a:solidFill>
                  <a:srgbClr val="003366"/>
                </a:solidFill>
                <a:latin typeface="Source Sans Pro" pitchFamily="34" charset="0"/>
                <a:ea typeface="Source Sans Pro" pitchFamily="34" charset="-122"/>
                <a:cs typeface="Source Sans Pro" pitchFamily="34" charset="-120"/>
              </a:rPr>
              <a:t>PMO / Documentation</a:t>
            </a:r>
            <a:endParaRPr lang="en-US" sz="1350" dirty="0"/>
          </a:p>
        </p:txBody>
      </p:sp>
      <p:sp>
        <p:nvSpPr>
          <p:cNvPr id="33" name="Text 25"/>
          <p:cNvSpPr/>
          <p:nvPr/>
        </p:nvSpPr>
        <p:spPr>
          <a:xfrm>
            <a:off x="4114800" y="4828032"/>
            <a:ext cx="7315200" cy="310896"/>
          </a:xfrm>
          <a:prstGeom prst="rect">
            <a:avLst/>
          </a:prstGeom>
          <a:noFill/>
          <a:ln/>
        </p:spPr>
        <p:txBody>
          <a:bodyPr wrap="square" lIns="0" tIns="0" rIns="0" bIns="0" rtlCol="0" anchor="ctr"/>
          <a:lstStyle/>
          <a:p>
            <a:pPr indent="0" marL="0">
              <a:buNone/>
            </a:pPr>
            <a:r>
              <a:rPr lang="en-US" sz="1250" dirty="0">
                <a:solidFill>
                  <a:srgbClr val="505050"/>
                </a:solidFill>
                <a:latin typeface="Source Sans Pro" pitchFamily="34" charset="0"/>
                <a:ea typeface="Source Sans Pro" pitchFamily="34" charset="-122"/>
                <a:cs typeface="Source Sans Pro" pitchFamily="34" charset="-120"/>
              </a:rPr>
              <a:t>Confluence pages, reusable templates, ROI tracking, handoff artifacts.</a:t>
            </a:r>
            <a:endParaRPr lang="en-US" sz="1250" dirty="0"/>
          </a:p>
        </p:txBody>
      </p:sp>
      <p:sp>
        <p:nvSpPr>
          <p:cNvPr id="34" name="Shape 26"/>
          <p:cNvSpPr/>
          <p:nvPr/>
        </p:nvSpPr>
        <p:spPr>
          <a:xfrm>
            <a:off x="566928" y="5486400"/>
            <a:ext cx="11055096" cy="548640"/>
          </a:xfrm>
          <a:prstGeom prst="roundRect">
            <a:avLst>
              <a:gd name="adj" fmla="val 15000"/>
            </a:avLst>
          </a:prstGeom>
          <a:solidFill>
            <a:srgbClr val="EAF4E6"/>
          </a:solidFill>
          <a:ln w="12700">
            <a:solidFill>
              <a:srgbClr val="2E8913"/>
            </a:solidFill>
            <a:prstDash val="solid"/>
          </a:ln>
        </p:spPr>
      </p:sp>
      <p:sp>
        <p:nvSpPr>
          <p:cNvPr id="35" name="Text 27"/>
          <p:cNvSpPr/>
          <p:nvPr/>
        </p:nvSpPr>
        <p:spPr>
          <a:xfrm>
            <a:off x="868680" y="5586984"/>
            <a:ext cx="10515600" cy="347472"/>
          </a:xfrm>
          <a:prstGeom prst="rect">
            <a:avLst/>
          </a:prstGeom>
          <a:noFill/>
          <a:ln/>
        </p:spPr>
        <p:txBody>
          <a:bodyPr wrap="square" lIns="0" tIns="0" rIns="0" bIns="0" rtlCol="0" anchor="ctr"/>
          <a:lstStyle/>
          <a:p>
            <a:pPr indent="0" marL="0">
              <a:buNone/>
            </a:pPr>
            <a:r>
              <a:rPr lang="en-US" sz="1350" b="1" dirty="0">
                <a:solidFill>
                  <a:srgbClr val="2E8913"/>
                </a:solidFill>
                <a:latin typeface="Source Sans Pro" pitchFamily="34" charset="0"/>
                <a:ea typeface="Source Sans Pro" pitchFamily="34" charset="-122"/>
                <a:cs typeface="Source Sans Pro" pitchFamily="34" charset="-120"/>
              </a:rPr>
              <a:t>The goal is not piecemeal AI demos.  </a:t>
            </a:r>
            <a:pPr indent="0" marL="0">
              <a:buNone/>
            </a:pPr>
            <a:r>
              <a:rPr lang="en-US" sz="1350" b="1" dirty="0">
                <a:solidFill>
                  <a:srgbClr val="2A2F36"/>
                </a:solidFill>
                <a:latin typeface="Source Sans Pro" pitchFamily="34" charset="0"/>
                <a:ea typeface="Source Sans Pro" pitchFamily="34" charset="-122"/>
                <a:cs typeface="Source Sans Pro" pitchFamily="34" charset="-120"/>
              </a:rPr>
              <a:t>The goal is reusable, governed, cross-team AI readiness.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PROVE IT SMALL</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A simple 30-day pilot pattern</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Small enough to prove value without overbuilding.</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19 / 21</a:t>
            </a:r>
            <a:endParaRPr lang="en-US" sz="1000" dirty="0"/>
          </a:p>
        </p:txBody>
      </p:sp>
      <p:sp>
        <p:nvSpPr>
          <p:cNvPr id="9" name="Shape 6"/>
          <p:cNvSpPr/>
          <p:nvPr/>
        </p:nvSpPr>
        <p:spPr>
          <a:xfrm>
            <a:off x="566928" y="1828800"/>
            <a:ext cx="2651760" cy="2651760"/>
          </a:xfrm>
          <a:prstGeom prst="roundRect">
            <a:avLst>
              <a:gd name="adj" fmla="val 3103"/>
            </a:avLst>
          </a:prstGeom>
          <a:solidFill>
            <a:srgbClr val="003366"/>
          </a:solidFill>
          <a:ln w="12700">
            <a:solidFill>
              <a:srgbClr val="003366"/>
            </a:solidFill>
            <a:prstDash val="solid"/>
          </a:ln>
          <a:effectLst>
            <a:outerShdw sx="100000" sy="100000" kx="0" ky="0" algn="bl" rotWithShape="0" blurRad="88900" dist="25400" dir="5400000">
              <a:srgbClr val="003366">
                <a:alpha val="14000"/>
              </a:srgbClr>
            </a:outerShdw>
          </a:effectLst>
        </p:spPr>
      </p:sp>
      <p:sp>
        <p:nvSpPr>
          <p:cNvPr id="10" name="Text 7"/>
          <p:cNvSpPr/>
          <p:nvPr/>
        </p:nvSpPr>
        <p:spPr>
          <a:xfrm>
            <a:off x="786384" y="2029968"/>
            <a:ext cx="2212848" cy="329184"/>
          </a:xfrm>
          <a:prstGeom prst="rect">
            <a:avLst/>
          </a:prstGeom>
          <a:noFill/>
          <a:ln/>
        </p:spPr>
        <p:txBody>
          <a:bodyPr wrap="square" lIns="0" tIns="0" rIns="0" bIns="0" rtlCol="0" anchor="ctr"/>
          <a:lstStyle/>
          <a:p>
            <a:pPr indent="0" marL="0">
              <a:buNone/>
            </a:pPr>
            <a:r>
              <a:rPr lang="en-US" sz="1700" b="1" dirty="0">
                <a:solidFill>
                  <a:srgbClr val="C0392B"/>
                </a:solidFill>
                <a:latin typeface="Source Sans Pro" pitchFamily="34" charset="0"/>
                <a:ea typeface="Source Sans Pro" pitchFamily="34" charset="-122"/>
                <a:cs typeface="Source Sans Pro" pitchFamily="34" charset="-120"/>
              </a:rPr>
              <a:t>Week 1</a:t>
            </a:r>
            <a:endParaRPr lang="en-US" sz="1700" dirty="0"/>
          </a:p>
        </p:txBody>
      </p:sp>
      <p:sp>
        <p:nvSpPr>
          <p:cNvPr id="11" name="Shape 8"/>
          <p:cNvSpPr/>
          <p:nvPr/>
        </p:nvSpPr>
        <p:spPr>
          <a:xfrm>
            <a:off x="786384" y="2450592"/>
            <a:ext cx="2212848" cy="0"/>
          </a:xfrm>
          <a:prstGeom prst="line">
            <a:avLst/>
          </a:prstGeom>
          <a:noFill/>
          <a:ln w="9525">
            <a:solidFill>
              <a:srgbClr val="006699"/>
            </a:solidFill>
            <a:prstDash val="solid"/>
          </a:ln>
        </p:spPr>
      </p:sp>
      <p:sp>
        <p:nvSpPr>
          <p:cNvPr id="12" name="Text 9"/>
          <p:cNvSpPr/>
          <p:nvPr/>
        </p:nvSpPr>
        <p:spPr>
          <a:xfrm>
            <a:off x="822960" y="2606040"/>
            <a:ext cx="2194560" cy="1737360"/>
          </a:xfrm>
          <a:prstGeom prst="rect">
            <a:avLst/>
          </a:prstGeom>
          <a:noFill/>
          <a:ln/>
        </p:spPr>
        <p:txBody>
          <a:bodyPr wrap="square" lIns="0" tIns="0" rIns="0" bIns="0" rtlCol="0" anchor="t"/>
          <a:lstStyle/>
          <a:p>
            <a:pPr marL="127000" indent="-127000">
              <a:spcAft>
                <a:spcPts val="1000"/>
              </a:spcAft>
              <a:buSzPct val="100000"/>
              <a:buChar char="•"/>
            </a:pPr>
            <a:r>
              <a:rPr lang="en-US" sz="1250" dirty="0">
                <a:solidFill>
                  <a:srgbClr val="D6E4EF"/>
                </a:solidFill>
                <a:latin typeface="Source Sans Pro" pitchFamily="34" charset="0"/>
                <a:ea typeface="Source Sans Pro" pitchFamily="34" charset="-122"/>
                <a:cs typeface="Source Sans Pro" pitchFamily="34" charset="-120"/>
              </a:rPr>
              <a:t>Pick one use case</a:t>
            </a:r>
            <a:endParaRPr lang="en-US" sz="1250" dirty="0"/>
          </a:p>
          <a:p>
            <a:pPr marL="127000" indent="-127000">
              <a:spcAft>
                <a:spcPts val="1000"/>
              </a:spcAft>
              <a:buSzPct val="100000"/>
              <a:buChar char="•"/>
            </a:pPr>
            <a:r>
              <a:rPr lang="en-US" sz="1250" dirty="0">
                <a:solidFill>
                  <a:srgbClr val="D6E4EF"/>
                </a:solidFill>
                <a:latin typeface="Source Sans Pro" pitchFamily="34" charset="0"/>
                <a:ea typeface="Source Sans Pro" pitchFamily="34" charset="-122"/>
                <a:cs typeface="Source Sans Pro" pitchFamily="34" charset="-120"/>
              </a:rPr>
              <a:t>Choose one data product</a:t>
            </a:r>
            <a:endParaRPr lang="en-US" sz="1250" dirty="0"/>
          </a:p>
          <a:p>
            <a:pPr marL="127000" indent="-127000">
              <a:spcAft>
                <a:spcPts val="1000"/>
              </a:spcAft>
              <a:buSzPct val="100000"/>
              <a:buChar char="•"/>
            </a:pPr>
            <a:r>
              <a:rPr lang="en-US" sz="1250" dirty="0">
                <a:solidFill>
                  <a:srgbClr val="D6E4EF"/>
                </a:solidFill>
                <a:latin typeface="Source Sans Pro" pitchFamily="34" charset="0"/>
                <a:ea typeface="Source Sans Pro" pitchFamily="34" charset="-122"/>
                <a:cs typeface="Source Sans Pro" pitchFamily="34" charset="-120"/>
              </a:rPr>
              <a:t>Name reviewers</a:t>
            </a:r>
            <a:endParaRPr lang="en-US" sz="1250" dirty="0"/>
          </a:p>
        </p:txBody>
      </p:sp>
      <p:sp>
        <p:nvSpPr>
          <p:cNvPr id="13" name="Shape 10"/>
          <p:cNvSpPr/>
          <p:nvPr/>
        </p:nvSpPr>
        <p:spPr>
          <a:xfrm>
            <a:off x="3246120" y="3017520"/>
            <a:ext cx="164592" cy="237744"/>
          </a:xfrm>
          <a:prstGeom prst="rightArrow">
            <a:avLst/>
          </a:prstGeom>
          <a:solidFill>
            <a:srgbClr val="C0392B"/>
          </a:solidFill>
          <a:ln/>
        </p:spPr>
      </p:sp>
      <p:sp>
        <p:nvSpPr>
          <p:cNvPr id="14" name="Shape 11"/>
          <p:cNvSpPr/>
          <p:nvPr/>
        </p:nvSpPr>
        <p:spPr>
          <a:xfrm>
            <a:off x="3429000" y="1828800"/>
            <a:ext cx="2651760" cy="2651760"/>
          </a:xfrm>
          <a:prstGeom prst="roundRect">
            <a:avLst>
              <a:gd name="adj" fmla="val 3103"/>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5" name="Text 12"/>
          <p:cNvSpPr/>
          <p:nvPr/>
        </p:nvSpPr>
        <p:spPr>
          <a:xfrm>
            <a:off x="3648456" y="2029968"/>
            <a:ext cx="2212848" cy="329184"/>
          </a:xfrm>
          <a:prstGeom prst="rect">
            <a:avLst/>
          </a:prstGeom>
          <a:noFill/>
          <a:ln/>
        </p:spPr>
        <p:txBody>
          <a:bodyPr wrap="square" lIns="0" tIns="0" rIns="0" bIns="0" rtlCol="0" anchor="ctr"/>
          <a:lstStyle/>
          <a:p>
            <a:pPr indent="0" marL="0">
              <a:buNone/>
            </a:pPr>
            <a:r>
              <a:rPr lang="en-US" sz="1700" b="1" dirty="0">
                <a:solidFill>
                  <a:srgbClr val="003366"/>
                </a:solidFill>
                <a:latin typeface="Source Sans Pro" pitchFamily="34" charset="0"/>
                <a:ea typeface="Source Sans Pro" pitchFamily="34" charset="-122"/>
                <a:cs typeface="Source Sans Pro" pitchFamily="34" charset="-120"/>
              </a:rPr>
              <a:t>Week 2</a:t>
            </a:r>
            <a:endParaRPr lang="en-US" sz="1700" dirty="0"/>
          </a:p>
        </p:txBody>
      </p:sp>
      <p:sp>
        <p:nvSpPr>
          <p:cNvPr id="16" name="Shape 13"/>
          <p:cNvSpPr/>
          <p:nvPr/>
        </p:nvSpPr>
        <p:spPr>
          <a:xfrm>
            <a:off x="3648456" y="2450592"/>
            <a:ext cx="2212848" cy="0"/>
          </a:xfrm>
          <a:prstGeom prst="line">
            <a:avLst/>
          </a:prstGeom>
          <a:noFill/>
          <a:ln w="9525">
            <a:solidFill>
              <a:srgbClr val="D9DEE4"/>
            </a:solidFill>
            <a:prstDash val="solid"/>
          </a:ln>
        </p:spPr>
      </p:sp>
      <p:sp>
        <p:nvSpPr>
          <p:cNvPr id="17" name="Text 14"/>
          <p:cNvSpPr/>
          <p:nvPr/>
        </p:nvSpPr>
        <p:spPr>
          <a:xfrm>
            <a:off x="3685032" y="2606040"/>
            <a:ext cx="2194560" cy="1737360"/>
          </a:xfrm>
          <a:prstGeom prst="rect">
            <a:avLst/>
          </a:prstGeom>
          <a:noFill/>
          <a:ln/>
        </p:spPr>
        <p:txBody>
          <a:bodyPr wrap="square" lIns="0" tIns="0" rIns="0" bIns="0" rtlCol="0" anchor="t"/>
          <a:lstStyle/>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Draft harness</a:t>
            </a:r>
            <a:endParaRPr lang="en-US" sz="1250" dirty="0"/>
          </a:p>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Write 3 skill files</a:t>
            </a:r>
            <a:endParaRPr lang="en-US" sz="1250" dirty="0"/>
          </a:p>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Create example questions</a:t>
            </a:r>
            <a:endParaRPr lang="en-US" sz="1250" dirty="0"/>
          </a:p>
        </p:txBody>
      </p:sp>
      <p:sp>
        <p:nvSpPr>
          <p:cNvPr id="18" name="Shape 15"/>
          <p:cNvSpPr/>
          <p:nvPr/>
        </p:nvSpPr>
        <p:spPr>
          <a:xfrm>
            <a:off x="6108192" y="3017520"/>
            <a:ext cx="164592" cy="237744"/>
          </a:xfrm>
          <a:prstGeom prst="rightArrow">
            <a:avLst/>
          </a:prstGeom>
          <a:solidFill>
            <a:srgbClr val="C0392B"/>
          </a:solidFill>
          <a:ln/>
        </p:spPr>
      </p:sp>
      <p:sp>
        <p:nvSpPr>
          <p:cNvPr id="19" name="Shape 16"/>
          <p:cNvSpPr/>
          <p:nvPr/>
        </p:nvSpPr>
        <p:spPr>
          <a:xfrm>
            <a:off x="6291072" y="1828800"/>
            <a:ext cx="2651760" cy="2651760"/>
          </a:xfrm>
          <a:prstGeom prst="roundRect">
            <a:avLst>
              <a:gd name="adj" fmla="val 3103"/>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0" name="Text 17"/>
          <p:cNvSpPr/>
          <p:nvPr/>
        </p:nvSpPr>
        <p:spPr>
          <a:xfrm>
            <a:off x="6510528" y="2029968"/>
            <a:ext cx="2212848" cy="329184"/>
          </a:xfrm>
          <a:prstGeom prst="rect">
            <a:avLst/>
          </a:prstGeom>
          <a:noFill/>
          <a:ln/>
        </p:spPr>
        <p:txBody>
          <a:bodyPr wrap="square" lIns="0" tIns="0" rIns="0" bIns="0" rtlCol="0" anchor="ctr"/>
          <a:lstStyle/>
          <a:p>
            <a:pPr indent="0" marL="0">
              <a:buNone/>
            </a:pPr>
            <a:r>
              <a:rPr lang="en-US" sz="1700" b="1" dirty="0">
                <a:solidFill>
                  <a:srgbClr val="003366"/>
                </a:solidFill>
                <a:latin typeface="Source Sans Pro" pitchFamily="34" charset="0"/>
                <a:ea typeface="Source Sans Pro" pitchFamily="34" charset="-122"/>
                <a:cs typeface="Source Sans Pro" pitchFamily="34" charset="-120"/>
              </a:rPr>
              <a:t>Week 3</a:t>
            </a:r>
            <a:endParaRPr lang="en-US" sz="1700" dirty="0"/>
          </a:p>
        </p:txBody>
      </p:sp>
      <p:sp>
        <p:nvSpPr>
          <p:cNvPr id="21" name="Shape 18"/>
          <p:cNvSpPr/>
          <p:nvPr/>
        </p:nvSpPr>
        <p:spPr>
          <a:xfrm>
            <a:off x="6510528" y="2450592"/>
            <a:ext cx="2212848" cy="0"/>
          </a:xfrm>
          <a:prstGeom prst="line">
            <a:avLst/>
          </a:prstGeom>
          <a:noFill/>
          <a:ln w="9525">
            <a:solidFill>
              <a:srgbClr val="D9DEE4"/>
            </a:solidFill>
            <a:prstDash val="solid"/>
          </a:ln>
        </p:spPr>
      </p:sp>
      <p:sp>
        <p:nvSpPr>
          <p:cNvPr id="22" name="Text 19"/>
          <p:cNvSpPr/>
          <p:nvPr/>
        </p:nvSpPr>
        <p:spPr>
          <a:xfrm>
            <a:off x="6547104" y="2606040"/>
            <a:ext cx="2194560" cy="1737360"/>
          </a:xfrm>
          <a:prstGeom prst="rect">
            <a:avLst/>
          </a:prstGeom>
          <a:noFill/>
          <a:ln/>
        </p:spPr>
        <p:txBody>
          <a:bodyPr wrap="square" lIns="0" tIns="0" rIns="0" bIns="0" rtlCol="0" anchor="t"/>
          <a:lstStyle/>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Test answers</a:t>
            </a:r>
            <a:endParaRPr lang="en-US" sz="1250" dirty="0"/>
          </a:p>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Compare expected outputs</a:t>
            </a:r>
            <a:endParaRPr lang="en-US" sz="1250" dirty="0"/>
          </a:p>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Fix unclear guidance</a:t>
            </a:r>
            <a:endParaRPr lang="en-US" sz="1250" dirty="0"/>
          </a:p>
        </p:txBody>
      </p:sp>
      <p:sp>
        <p:nvSpPr>
          <p:cNvPr id="23" name="Shape 20"/>
          <p:cNvSpPr/>
          <p:nvPr/>
        </p:nvSpPr>
        <p:spPr>
          <a:xfrm>
            <a:off x="8970264" y="3017520"/>
            <a:ext cx="164592" cy="237744"/>
          </a:xfrm>
          <a:prstGeom prst="rightArrow">
            <a:avLst/>
          </a:prstGeom>
          <a:solidFill>
            <a:srgbClr val="C0392B"/>
          </a:solidFill>
          <a:ln/>
        </p:spPr>
      </p:sp>
      <p:sp>
        <p:nvSpPr>
          <p:cNvPr id="24" name="Shape 21"/>
          <p:cNvSpPr/>
          <p:nvPr/>
        </p:nvSpPr>
        <p:spPr>
          <a:xfrm>
            <a:off x="9153144" y="1828800"/>
            <a:ext cx="2651760" cy="2651760"/>
          </a:xfrm>
          <a:prstGeom prst="roundRect">
            <a:avLst>
              <a:gd name="adj" fmla="val 3103"/>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25" name="Text 22"/>
          <p:cNvSpPr/>
          <p:nvPr/>
        </p:nvSpPr>
        <p:spPr>
          <a:xfrm>
            <a:off x="9372600" y="2029968"/>
            <a:ext cx="2212848" cy="329184"/>
          </a:xfrm>
          <a:prstGeom prst="rect">
            <a:avLst/>
          </a:prstGeom>
          <a:noFill/>
          <a:ln/>
        </p:spPr>
        <p:txBody>
          <a:bodyPr wrap="square" lIns="0" tIns="0" rIns="0" bIns="0" rtlCol="0" anchor="ctr"/>
          <a:lstStyle/>
          <a:p>
            <a:pPr indent="0" marL="0">
              <a:buNone/>
            </a:pPr>
            <a:r>
              <a:rPr lang="en-US" sz="1700" b="1" dirty="0">
                <a:solidFill>
                  <a:srgbClr val="003366"/>
                </a:solidFill>
                <a:latin typeface="Source Sans Pro" pitchFamily="34" charset="0"/>
                <a:ea typeface="Source Sans Pro" pitchFamily="34" charset="-122"/>
                <a:cs typeface="Source Sans Pro" pitchFamily="34" charset="-120"/>
              </a:rPr>
              <a:t>Week 4</a:t>
            </a:r>
            <a:endParaRPr lang="en-US" sz="1700" dirty="0"/>
          </a:p>
        </p:txBody>
      </p:sp>
      <p:sp>
        <p:nvSpPr>
          <p:cNvPr id="26" name="Shape 23"/>
          <p:cNvSpPr/>
          <p:nvPr/>
        </p:nvSpPr>
        <p:spPr>
          <a:xfrm>
            <a:off x="9372600" y="2450592"/>
            <a:ext cx="2212848" cy="0"/>
          </a:xfrm>
          <a:prstGeom prst="line">
            <a:avLst/>
          </a:prstGeom>
          <a:noFill/>
          <a:ln w="9525">
            <a:solidFill>
              <a:srgbClr val="D9DEE4"/>
            </a:solidFill>
            <a:prstDash val="solid"/>
          </a:ln>
        </p:spPr>
      </p:sp>
      <p:sp>
        <p:nvSpPr>
          <p:cNvPr id="27" name="Text 24"/>
          <p:cNvSpPr/>
          <p:nvPr/>
        </p:nvSpPr>
        <p:spPr>
          <a:xfrm>
            <a:off x="9409176" y="2606040"/>
            <a:ext cx="2194560" cy="1737360"/>
          </a:xfrm>
          <a:prstGeom prst="rect">
            <a:avLst/>
          </a:prstGeom>
          <a:noFill/>
          <a:ln/>
        </p:spPr>
        <p:txBody>
          <a:bodyPr wrap="square" lIns="0" tIns="0" rIns="0" bIns="0" rtlCol="0" anchor="t"/>
          <a:lstStyle/>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Review usefulness</a:t>
            </a:r>
            <a:endParaRPr lang="en-US" sz="1250" dirty="0"/>
          </a:p>
          <a:p>
            <a:pPr marL="127000" indent="-127000">
              <a:spcAft>
                <a:spcPts val="1000"/>
              </a:spcAft>
              <a:buSzPct val="100000"/>
              <a:buChar char="•"/>
            </a:pPr>
            <a:r>
              <a:rPr lang="en-US" sz="1250" dirty="0">
                <a:solidFill>
                  <a:srgbClr val="505050"/>
                </a:solidFill>
                <a:latin typeface="Source Sans Pro" pitchFamily="34" charset="0"/>
                <a:ea typeface="Source Sans Pro" pitchFamily="34" charset="-122"/>
                <a:cs typeface="Source Sans Pro" pitchFamily="34" charset="-120"/>
              </a:rPr>
              <a:t>Decide expand / pause / revise</a:t>
            </a:r>
            <a:endParaRPr lang="en-US" sz="1250" dirty="0"/>
          </a:p>
        </p:txBody>
      </p:sp>
      <p:sp>
        <p:nvSpPr>
          <p:cNvPr id="28" name="Shape 25"/>
          <p:cNvSpPr/>
          <p:nvPr/>
        </p:nvSpPr>
        <p:spPr>
          <a:xfrm>
            <a:off x="566928" y="4800600"/>
            <a:ext cx="11055096" cy="914400"/>
          </a:xfrm>
          <a:prstGeom prst="roundRect">
            <a:avLst>
              <a:gd name="adj" fmla="val 9000"/>
            </a:avLst>
          </a:prstGeom>
          <a:solidFill>
            <a:srgbClr val="EAF4E6"/>
          </a:solidFill>
          <a:ln w="12700">
            <a:solidFill>
              <a:srgbClr val="2E8913"/>
            </a:solidFill>
            <a:prstDash val="solid"/>
          </a:ln>
          <a:effectLst>
            <a:outerShdw sx="100000" sy="100000" kx="0" ky="0" algn="bl" rotWithShape="0" blurRad="88900" dist="25400" dir="5400000">
              <a:srgbClr val="003366">
                <a:alpha val="14000"/>
              </a:srgbClr>
            </a:outerShdw>
          </a:effectLst>
        </p:spPr>
      </p:sp>
      <p:sp>
        <p:nvSpPr>
          <p:cNvPr id="29" name="Text 26"/>
          <p:cNvSpPr/>
          <p:nvPr/>
        </p:nvSpPr>
        <p:spPr>
          <a:xfrm>
            <a:off x="868680" y="4956048"/>
            <a:ext cx="2743200" cy="237744"/>
          </a:xfrm>
          <a:prstGeom prst="rect">
            <a:avLst/>
          </a:prstGeom>
          <a:noFill/>
          <a:ln/>
        </p:spPr>
        <p:txBody>
          <a:bodyPr wrap="square" lIns="0" tIns="0" rIns="0" bIns="0" rtlCol="0" anchor="ctr"/>
          <a:lstStyle/>
          <a:p>
            <a:pPr indent="0" marL="0">
              <a:buNone/>
            </a:pPr>
            <a:r>
              <a:rPr lang="en-US" sz="1050" b="1" spc="200" kern="0" dirty="0">
                <a:solidFill>
                  <a:srgbClr val="2E8913"/>
                </a:solidFill>
                <a:latin typeface="Source Sans Pro" pitchFamily="34" charset="0"/>
                <a:ea typeface="Source Sans Pro" pitchFamily="34" charset="-122"/>
                <a:cs typeface="Source Sans Pro" pitchFamily="34" charset="-120"/>
              </a:rPr>
              <a:t>PILOT OUTPUT</a:t>
            </a:r>
            <a:endParaRPr lang="en-US" sz="1050" dirty="0"/>
          </a:p>
        </p:txBody>
      </p:sp>
      <p:sp>
        <p:nvSpPr>
          <p:cNvPr id="30" name="Text 27"/>
          <p:cNvSpPr/>
          <p:nvPr/>
        </p:nvSpPr>
        <p:spPr>
          <a:xfrm>
            <a:off x="868680" y="5212080"/>
            <a:ext cx="10424160" cy="384048"/>
          </a:xfrm>
          <a:prstGeom prst="rect">
            <a:avLst/>
          </a:prstGeom>
          <a:noFill/>
          <a:ln/>
        </p:spPr>
        <p:txBody>
          <a:bodyPr wrap="square" lIns="0" tIns="0" rIns="0" bIns="0" rtlCol="0" anchor="ctr"/>
          <a:lstStyle/>
          <a:p>
            <a:pPr indent="0" marL="0">
              <a:buNone/>
            </a:pPr>
            <a:r>
              <a:rPr lang="en-US" sz="1450" b="1" dirty="0">
                <a:solidFill>
                  <a:srgbClr val="2A2F36"/>
                </a:solidFill>
                <a:latin typeface="Source Sans Pro" pitchFamily="34" charset="0"/>
                <a:ea typeface="Source Sans Pro" pitchFamily="34" charset="-122"/>
                <a:cs typeface="Source Sans Pro" pitchFamily="34" charset="-120"/>
              </a:rPr>
              <a:t>One reviewed harness, one small skill library, one benchmark set — and a decision on what to scale.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THE ASK</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What leadership needs to decide</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The technical team builds the artifacts; leadership sets the boundaries.</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20 / 21</a:t>
            </a:r>
            <a:endParaRPr lang="en-US" sz="1000" dirty="0"/>
          </a:p>
        </p:txBody>
      </p:sp>
      <p:sp>
        <p:nvSpPr>
          <p:cNvPr id="9" name="Shape 6"/>
          <p:cNvSpPr/>
          <p:nvPr/>
        </p:nvSpPr>
        <p:spPr>
          <a:xfrm>
            <a:off x="566928" y="1874520"/>
            <a:ext cx="3529584" cy="3200400"/>
          </a:xfrm>
          <a:prstGeom prst="roundRect">
            <a:avLst>
              <a:gd name="adj" fmla="val 2571"/>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786384" y="2112264"/>
            <a:ext cx="475488" cy="475488"/>
          </a:xfrm>
          <a:prstGeom prst="ellipse">
            <a:avLst/>
          </a:prstGeom>
          <a:solidFill>
            <a:srgbClr val="003366"/>
          </a:solidFill>
          <a:ln/>
        </p:spPr>
      </p:sp>
      <p:pic>
        <p:nvPicPr>
          <p:cNvPr id="11" name="Image 1" descr="preencoded.png">    </p:cNvPr>
          <p:cNvPicPr>
            <a:picLocks noChangeAspect="1"/>
          </p:cNvPicPr>
          <p:nvPr/>
        </p:nvPicPr>
        <p:blipFill>
          <a:blip r:embed="rId2"/>
          <a:stretch>
            <a:fillRect/>
          </a:stretch>
        </p:blipFill>
        <p:spPr>
          <a:xfrm>
            <a:off x="890991" y="2216871"/>
            <a:ext cx="266273" cy="266273"/>
          </a:xfrm>
          <a:prstGeom prst="rect">
            <a:avLst/>
          </a:prstGeom>
        </p:spPr>
      </p:pic>
      <p:sp>
        <p:nvSpPr>
          <p:cNvPr id="12" name="Text 8"/>
          <p:cNvSpPr/>
          <p:nvPr/>
        </p:nvSpPr>
        <p:spPr>
          <a:xfrm>
            <a:off x="1389888" y="2185416"/>
            <a:ext cx="2523744" cy="365760"/>
          </a:xfrm>
          <a:prstGeom prst="rect">
            <a:avLst/>
          </a:prstGeom>
          <a:noFill/>
          <a:ln/>
        </p:spPr>
        <p:txBody>
          <a:bodyPr wrap="square" lIns="0" tIns="0" rIns="0" bIns="0" rtlCol="0" anchor="ctr"/>
          <a:lstStyle/>
          <a:p>
            <a:pPr indent="0" marL="0">
              <a:buNone/>
            </a:pPr>
            <a:r>
              <a:rPr lang="en-US" sz="1550" b="1" dirty="0">
                <a:solidFill>
                  <a:srgbClr val="003366"/>
                </a:solidFill>
                <a:latin typeface="Source Sans Pro" pitchFamily="34" charset="0"/>
                <a:ea typeface="Source Sans Pro" pitchFamily="34" charset="-122"/>
                <a:cs typeface="Source Sans Pro" pitchFamily="34" charset="-120"/>
              </a:rPr>
              <a:t>Choose the pilot</a:t>
            </a:r>
            <a:endParaRPr lang="en-US" sz="1550" dirty="0"/>
          </a:p>
        </p:txBody>
      </p:sp>
      <p:sp>
        <p:nvSpPr>
          <p:cNvPr id="13" name="Text 9"/>
          <p:cNvSpPr/>
          <p:nvPr/>
        </p:nvSpPr>
        <p:spPr>
          <a:xfrm>
            <a:off x="786384" y="2834640"/>
            <a:ext cx="3090672" cy="868680"/>
          </a:xfrm>
          <a:prstGeom prst="rect">
            <a:avLst/>
          </a:prstGeom>
          <a:noFill/>
          <a:ln/>
        </p:spPr>
        <p:txBody>
          <a:bodyPr wrap="square" lIns="0" tIns="0" rIns="0" bIns="0" rtlCol="0" anchor="ctr"/>
          <a:lstStyle/>
          <a:p>
            <a:pPr indent="0" marL="0">
              <a:lnSpc>
                <a:spcPts val="1750"/>
              </a:lnSpc>
              <a:buNone/>
            </a:pPr>
            <a:r>
              <a:rPr lang="en-US" sz="1350" b="1" i="1" dirty="0">
                <a:solidFill>
                  <a:srgbClr val="006699"/>
                </a:solidFill>
                <a:latin typeface="Source Sans Pro" pitchFamily="34" charset="0"/>
                <a:ea typeface="Source Sans Pro" pitchFamily="34" charset="-122"/>
                <a:cs typeface="Source Sans Pro" pitchFamily="34" charset="-120"/>
              </a:rPr>
              <a:t>Which data product, dashboard, or use case goes first?</a:t>
            </a:r>
            <a:endParaRPr lang="en-US" sz="1350" dirty="0"/>
          </a:p>
        </p:txBody>
      </p:sp>
      <p:sp>
        <p:nvSpPr>
          <p:cNvPr id="14" name="Text 10"/>
          <p:cNvSpPr/>
          <p:nvPr/>
        </p:nvSpPr>
        <p:spPr>
          <a:xfrm>
            <a:off x="786384" y="3794760"/>
            <a:ext cx="3090672" cy="1097280"/>
          </a:xfrm>
          <a:prstGeom prst="rect">
            <a:avLst/>
          </a:prstGeom>
          <a:noFill/>
          <a:ln/>
        </p:spPr>
        <p:txBody>
          <a:bodyPr wrap="square" lIns="0" tIns="0" rIns="0" bIns="0" rtlCol="0" anchor="ctr"/>
          <a:lstStyle/>
          <a:p>
            <a:pPr indent="0" marL="0">
              <a:lnSpc>
                <a:spcPts val="1700"/>
              </a:lnSpc>
              <a:buNone/>
            </a:pPr>
            <a:r>
              <a:rPr lang="en-US" sz="1250" dirty="0">
                <a:solidFill>
                  <a:srgbClr val="505050"/>
                </a:solidFill>
                <a:latin typeface="Source Sans Pro" pitchFamily="34" charset="0"/>
                <a:ea typeface="Source Sans Pro" pitchFamily="34" charset="-122"/>
                <a:cs typeface="Source Sans Pro" pitchFamily="34" charset="-120"/>
              </a:rPr>
              <a:t>A good pilot is valuable, low-risk, and familiar to reviewers.</a:t>
            </a:r>
            <a:endParaRPr lang="en-US" sz="1250" dirty="0"/>
          </a:p>
        </p:txBody>
      </p:sp>
      <p:sp>
        <p:nvSpPr>
          <p:cNvPr id="15" name="Shape 11"/>
          <p:cNvSpPr/>
          <p:nvPr/>
        </p:nvSpPr>
        <p:spPr>
          <a:xfrm>
            <a:off x="4325112" y="1874520"/>
            <a:ext cx="3529584" cy="3200400"/>
          </a:xfrm>
          <a:prstGeom prst="roundRect">
            <a:avLst>
              <a:gd name="adj" fmla="val 2571"/>
            </a:avLst>
          </a:prstGeom>
          <a:solidFill>
            <a:srgbClr val="FFFFFF"/>
          </a:solidFill>
          <a:ln w="12700">
            <a:solidFill>
              <a:srgbClr val="D9DEE4"/>
            </a:solidFill>
            <a:prstDash val="solid"/>
          </a:ln>
          <a:effectLst>
            <a:outerShdw sx="100000" sy="100000" kx="0" ky="0" algn="bl" rotWithShape="0" blurRad="88900" dist="25400" dir="5400000">
              <a:srgbClr val="003366">
                <a:alpha val="14000"/>
              </a:srgbClr>
            </a:outerShdw>
          </a:effectLst>
        </p:spPr>
      </p:sp>
      <p:sp>
        <p:nvSpPr>
          <p:cNvPr id="16" name="Shape 12"/>
          <p:cNvSpPr/>
          <p:nvPr/>
        </p:nvSpPr>
        <p:spPr>
          <a:xfrm>
            <a:off x="4544568" y="2112264"/>
            <a:ext cx="475488" cy="475488"/>
          </a:xfrm>
          <a:prstGeom prst="ellipse">
            <a:avLst/>
          </a:prstGeom>
          <a:solidFill>
            <a:srgbClr val="003366"/>
          </a:solidFill>
          <a:ln/>
        </p:spPr>
      </p:sp>
      <p:pic>
        <p:nvPicPr>
          <p:cNvPr id="17" name="Image 2" descr="preencoded.png">    </p:cNvPr>
          <p:cNvPicPr>
            <a:picLocks noChangeAspect="1"/>
          </p:cNvPicPr>
          <p:nvPr/>
        </p:nvPicPr>
        <p:blipFill>
          <a:blip r:embed="rId3"/>
          <a:stretch>
            <a:fillRect/>
          </a:stretch>
        </p:blipFill>
        <p:spPr>
          <a:xfrm>
            <a:off x="4649175" y="2216871"/>
            <a:ext cx="266273" cy="266273"/>
          </a:xfrm>
          <a:prstGeom prst="rect">
            <a:avLst/>
          </a:prstGeom>
        </p:spPr>
      </p:pic>
      <p:sp>
        <p:nvSpPr>
          <p:cNvPr id="18" name="Text 13"/>
          <p:cNvSpPr/>
          <p:nvPr/>
        </p:nvSpPr>
        <p:spPr>
          <a:xfrm>
            <a:off x="5148072" y="2185416"/>
            <a:ext cx="2523744" cy="365760"/>
          </a:xfrm>
          <a:prstGeom prst="rect">
            <a:avLst/>
          </a:prstGeom>
          <a:noFill/>
          <a:ln/>
        </p:spPr>
        <p:txBody>
          <a:bodyPr wrap="square" lIns="0" tIns="0" rIns="0" bIns="0" rtlCol="0" anchor="ctr"/>
          <a:lstStyle/>
          <a:p>
            <a:pPr indent="0" marL="0">
              <a:buNone/>
            </a:pPr>
            <a:r>
              <a:rPr lang="en-US" sz="1550" b="1" dirty="0">
                <a:solidFill>
                  <a:srgbClr val="003366"/>
                </a:solidFill>
                <a:latin typeface="Source Sans Pro" pitchFamily="34" charset="0"/>
                <a:ea typeface="Source Sans Pro" pitchFamily="34" charset="-122"/>
                <a:cs typeface="Source Sans Pro" pitchFamily="34" charset="-120"/>
              </a:rPr>
              <a:t>Name reviewers</a:t>
            </a:r>
            <a:endParaRPr lang="en-US" sz="1550" dirty="0"/>
          </a:p>
        </p:txBody>
      </p:sp>
      <p:sp>
        <p:nvSpPr>
          <p:cNvPr id="19" name="Text 14"/>
          <p:cNvSpPr/>
          <p:nvPr/>
        </p:nvSpPr>
        <p:spPr>
          <a:xfrm>
            <a:off x="4544568" y="2834640"/>
            <a:ext cx="3090672" cy="868680"/>
          </a:xfrm>
          <a:prstGeom prst="rect">
            <a:avLst/>
          </a:prstGeom>
          <a:noFill/>
          <a:ln/>
        </p:spPr>
        <p:txBody>
          <a:bodyPr wrap="square" lIns="0" tIns="0" rIns="0" bIns="0" rtlCol="0" anchor="ctr"/>
          <a:lstStyle/>
          <a:p>
            <a:pPr indent="0" marL="0">
              <a:lnSpc>
                <a:spcPts val="1750"/>
              </a:lnSpc>
              <a:buNone/>
            </a:pPr>
            <a:r>
              <a:rPr lang="en-US" sz="1350" b="1" i="1" dirty="0">
                <a:solidFill>
                  <a:srgbClr val="006699"/>
                </a:solidFill>
                <a:latin typeface="Source Sans Pro" pitchFamily="34" charset="0"/>
                <a:ea typeface="Source Sans Pro" pitchFamily="34" charset="-122"/>
                <a:cs typeface="Source Sans Pro" pitchFamily="34" charset="-120"/>
              </a:rPr>
              <a:t>Who validates definitions, caveats, and strong-answer examples?</a:t>
            </a:r>
            <a:endParaRPr lang="en-US" sz="1350" dirty="0"/>
          </a:p>
        </p:txBody>
      </p:sp>
      <p:sp>
        <p:nvSpPr>
          <p:cNvPr id="20" name="Text 15"/>
          <p:cNvSpPr/>
          <p:nvPr/>
        </p:nvSpPr>
        <p:spPr>
          <a:xfrm>
            <a:off x="4544568" y="3794760"/>
            <a:ext cx="3090672" cy="1097280"/>
          </a:xfrm>
          <a:prstGeom prst="rect">
            <a:avLst/>
          </a:prstGeom>
          <a:noFill/>
          <a:ln/>
        </p:spPr>
        <p:txBody>
          <a:bodyPr wrap="square" lIns="0" tIns="0" rIns="0" bIns="0" rtlCol="0" anchor="ctr"/>
          <a:lstStyle/>
          <a:p>
            <a:pPr indent="0" marL="0">
              <a:lnSpc>
                <a:spcPts val="1700"/>
              </a:lnSpc>
              <a:buNone/>
            </a:pPr>
            <a:r>
              <a:rPr lang="en-US" sz="1250" dirty="0">
                <a:solidFill>
                  <a:srgbClr val="505050"/>
                </a:solidFill>
                <a:latin typeface="Source Sans Pro" pitchFamily="34" charset="0"/>
                <a:ea typeface="Source Sans Pro" pitchFamily="34" charset="-122"/>
                <a:cs typeface="Source Sans Pro" pitchFamily="34" charset="-120"/>
              </a:rPr>
              <a:t>The harness should be owned by a review process, not one author.</a:t>
            </a:r>
            <a:endParaRPr lang="en-US" sz="1250" dirty="0"/>
          </a:p>
        </p:txBody>
      </p:sp>
      <p:sp>
        <p:nvSpPr>
          <p:cNvPr id="21" name="Shape 16"/>
          <p:cNvSpPr/>
          <p:nvPr/>
        </p:nvSpPr>
        <p:spPr>
          <a:xfrm>
            <a:off x="8083296" y="1874520"/>
            <a:ext cx="3529584" cy="3200400"/>
          </a:xfrm>
          <a:prstGeom prst="roundRect">
            <a:avLst>
              <a:gd name="adj" fmla="val 2571"/>
            </a:avLst>
          </a:prstGeom>
          <a:solidFill>
            <a:srgbClr val="F7EAE7"/>
          </a:solidFill>
          <a:ln w="12700">
            <a:solidFill>
              <a:srgbClr val="C0392B"/>
            </a:solidFill>
            <a:prstDash val="solid"/>
          </a:ln>
          <a:effectLst>
            <a:outerShdw sx="100000" sy="100000" kx="0" ky="0" algn="bl" rotWithShape="0" blurRad="88900" dist="25400" dir="5400000">
              <a:srgbClr val="003366">
                <a:alpha val="14000"/>
              </a:srgbClr>
            </a:outerShdw>
          </a:effectLst>
        </p:spPr>
      </p:sp>
      <p:sp>
        <p:nvSpPr>
          <p:cNvPr id="22" name="Shape 17"/>
          <p:cNvSpPr/>
          <p:nvPr/>
        </p:nvSpPr>
        <p:spPr>
          <a:xfrm>
            <a:off x="8302752" y="2112264"/>
            <a:ext cx="475488" cy="475488"/>
          </a:xfrm>
          <a:prstGeom prst="ellipse">
            <a:avLst/>
          </a:prstGeom>
          <a:solidFill>
            <a:srgbClr val="003366"/>
          </a:solidFill>
          <a:ln/>
        </p:spPr>
      </p:sp>
      <p:pic>
        <p:nvPicPr>
          <p:cNvPr id="23" name="Image 3" descr="preencoded.png">    </p:cNvPr>
          <p:cNvPicPr>
            <a:picLocks noChangeAspect="1"/>
          </p:cNvPicPr>
          <p:nvPr/>
        </p:nvPicPr>
        <p:blipFill>
          <a:blip r:embed="rId4"/>
          <a:stretch>
            <a:fillRect/>
          </a:stretch>
        </p:blipFill>
        <p:spPr>
          <a:xfrm>
            <a:off x="8407359" y="2216871"/>
            <a:ext cx="266273" cy="266273"/>
          </a:xfrm>
          <a:prstGeom prst="rect">
            <a:avLst/>
          </a:prstGeom>
        </p:spPr>
      </p:pic>
      <p:sp>
        <p:nvSpPr>
          <p:cNvPr id="24" name="Text 18"/>
          <p:cNvSpPr/>
          <p:nvPr/>
        </p:nvSpPr>
        <p:spPr>
          <a:xfrm>
            <a:off x="8906256" y="2185416"/>
            <a:ext cx="2523744" cy="365760"/>
          </a:xfrm>
          <a:prstGeom prst="rect">
            <a:avLst/>
          </a:prstGeom>
          <a:noFill/>
          <a:ln/>
        </p:spPr>
        <p:txBody>
          <a:bodyPr wrap="square" lIns="0" tIns="0" rIns="0" bIns="0" rtlCol="0" anchor="ctr"/>
          <a:lstStyle/>
          <a:p>
            <a:pPr indent="0" marL="0">
              <a:buNone/>
            </a:pPr>
            <a:r>
              <a:rPr lang="en-US" sz="1550" b="1" dirty="0">
                <a:solidFill>
                  <a:srgbClr val="003366"/>
                </a:solidFill>
                <a:latin typeface="Source Sans Pro" pitchFamily="34" charset="0"/>
                <a:ea typeface="Source Sans Pro" pitchFamily="34" charset="-122"/>
                <a:cs typeface="Source Sans Pro" pitchFamily="34" charset="-120"/>
              </a:rPr>
              <a:t>Set success criteria</a:t>
            </a:r>
            <a:endParaRPr lang="en-US" sz="1550" dirty="0"/>
          </a:p>
        </p:txBody>
      </p:sp>
      <p:sp>
        <p:nvSpPr>
          <p:cNvPr id="25" name="Text 19"/>
          <p:cNvSpPr/>
          <p:nvPr/>
        </p:nvSpPr>
        <p:spPr>
          <a:xfrm>
            <a:off x="8302752" y="2834640"/>
            <a:ext cx="3090672" cy="868680"/>
          </a:xfrm>
          <a:prstGeom prst="rect">
            <a:avLst/>
          </a:prstGeom>
          <a:noFill/>
          <a:ln/>
        </p:spPr>
        <p:txBody>
          <a:bodyPr wrap="square" lIns="0" tIns="0" rIns="0" bIns="0" rtlCol="0" anchor="ctr"/>
          <a:lstStyle/>
          <a:p>
            <a:pPr indent="0" marL="0">
              <a:lnSpc>
                <a:spcPts val="1750"/>
              </a:lnSpc>
              <a:buNone/>
            </a:pPr>
            <a:r>
              <a:rPr lang="en-US" sz="1350" b="1" i="1" dirty="0">
                <a:solidFill>
                  <a:srgbClr val="006699"/>
                </a:solidFill>
                <a:latin typeface="Source Sans Pro" pitchFamily="34" charset="0"/>
                <a:ea typeface="Source Sans Pro" pitchFamily="34" charset="-122"/>
                <a:cs typeface="Source Sans Pro" pitchFamily="34" charset="-120"/>
              </a:rPr>
              <a:t>What would make this useful after 30 days?</a:t>
            </a:r>
            <a:endParaRPr lang="en-US" sz="1350" dirty="0"/>
          </a:p>
        </p:txBody>
      </p:sp>
      <p:sp>
        <p:nvSpPr>
          <p:cNvPr id="26" name="Text 20"/>
          <p:cNvSpPr/>
          <p:nvPr/>
        </p:nvSpPr>
        <p:spPr>
          <a:xfrm>
            <a:off x="8302752" y="3794760"/>
            <a:ext cx="3090672" cy="1097280"/>
          </a:xfrm>
          <a:prstGeom prst="rect">
            <a:avLst/>
          </a:prstGeom>
          <a:noFill/>
          <a:ln/>
        </p:spPr>
        <p:txBody>
          <a:bodyPr wrap="square" lIns="0" tIns="0" rIns="0" bIns="0" rtlCol="0" anchor="ctr"/>
          <a:lstStyle/>
          <a:p>
            <a:pPr indent="0" marL="0">
              <a:lnSpc>
                <a:spcPts val="1700"/>
              </a:lnSpc>
              <a:buNone/>
            </a:pPr>
            <a:r>
              <a:rPr lang="en-US" sz="1250" dirty="0">
                <a:solidFill>
                  <a:srgbClr val="505050"/>
                </a:solidFill>
                <a:latin typeface="Source Sans Pro" pitchFamily="34" charset="0"/>
                <a:ea typeface="Source Sans Pro" pitchFamily="34" charset="-122"/>
                <a:cs typeface="Source Sans Pro" pitchFamily="34" charset="-120"/>
              </a:rPr>
              <a:t>Less rework, faster onboarding, safer first answers, clearer metrics.</a:t>
            </a:r>
            <a:endParaRPr lang="en-US" sz="1250" dirty="0"/>
          </a:p>
        </p:txBody>
      </p:sp>
      <p:sp>
        <p:nvSpPr>
          <p:cNvPr id="27" name="Text 21"/>
          <p:cNvSpPr/>
          <p:nvPr/>
        </p:nvSpPr>
        <p:spPr>
          <a:xfrm>
            <a:off x="566928" y="5349240"/>
            <a:ext cx="11055096" cy="411480"/>
          </a:xfrm>
          <a:prstGeom prst="rect">
            <a:avLst/>
          </a:prstGeom>
          <a:noFill/>
          <a:ln/>
        </p:spPr>
        <p:txBody>
          <a:bodyPr wrap="square" lIns="0" tIns="0" rIns="0" bIns="0" rtlCol="0" anchor="ctr"/>
          <a:lstStyle/>
          <a:p>
            <a:pPr algn="ctr" indent="0" marL="0">
              <a:buNone/>
            </a:pPr>
            <a:r>
              <a:rPr lang="en-US" sz="1800" b="1" i="1" dirty="0">
                <a:solidFill>
                  <a:srgbClr val="006699"/>
                </a:solidFill>
                <a:latin typeface="Source Sans Pro" pitchFamily="34" charset="0"/>
                <a:ea typeface="Source Sans Pro" pitchFamily="34" charset="-122"/>
                <a:cs typeface="Source Sans Pro" pitchFamily="34" charset="-120"/>
              </a:rPr>
              <a:t>One pilot. Two reviewers. Thirty days. A written decision at the end.</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337097" y="274320"/>
            <a:ext cx="287670" cy="475488"/>
          </a:xfrm>
          <a:prstGeom prst="rect">
            <a:avLst/>
          </a:prstGeom>
        </p:spPr>
      </p:pic>
      <p:sp>
        <p:nvSpPr>
          <p:cNvPr id="3" name="Text 0"/>
          <p:cNvSpPr/>
          <p:nvPr/>
        </p:nvSpPr>
        <p:spPr>
          <a:xfrm>
            <a:off x="566928" y="310896"/>
            <a:ext cx="8686800" cy="274320"/>
          </a:xfrm>
          <a:prstGeom prst="rect">
            <a:avLst/>
          </a:prstGeom>
          <a:noFill/>
          <a:ln/>
        </p:spPr>
        <p:txBody>
          <a:bodyPr wrap="square" lIns="0" tIns="0" rIns="0" bIns="0" rtlCol="0" anchor="ctr"/>
          <a:lstStyle/>
          <a:p>
            <a:pPr indent="0" marL="0">
              <a:buNone/>
            </a:pPr>
            <a:r>
              <a:rPr lang="en-US" sz="1100" b="1" spc="300" kern="0" dirty="0">
                <a:solidFill>
                  <a:srgbClr val="C0392B"/>
                </a:solidFill>
                <a:latin typeface="Source Sans Pro" pitchFamily="34" charset="0"/>
                <a:ea typeface="Source Sans Pro" pitchFamily="34" charset="-122"/>
                <a:cs typeface="Source Sans Pro" pitchFamily="34" charset="-120"/>
              </a:rPr>
              <a:t>SAY IT RIGHT</a:t>
            </a:r>
            <a:endParaRPr lang="en-US" sz="1100" dirty="0"/>
          </a:p>
        </p:txBody>
      </p:sp>
      <p:sp>
        <p:nvSpPr>
          <p:cNvPr id="4" name="Text 1"/>
          <p:cNvSpPr/>
          <p:nvPr/>
        </p:nvSpPr>
        <p:spPr>
          <a:xfrm>
            <a:off x="548640" y="548640"/>
            <a:ext cx="10424160" cy="658368"/>
          </a:xfrm>
          <a:prstGeom prst="rect">
            <a:avLst/>
          </a:prstGeom>
          <a:noFill/>
          <a:ln/>
        </p:spPr>
        <p:txBody>
          <a:bodyPr wrap="square" lIns="0" tIns="0" rIns="0" bIns="0" rtlCol="0" anchor="ctr"/>
          <a:lstStyle/>
          <a:p>
            <a:pPr indent="0" marL="0">
              <a:buNone/>
            </a:pPr>
            <a:r>
              <a:rPr lang="en-US" sz="3200" b="1" dirty="0">
                <a:solidFill>
                  <a:srgbClr val="003366"/>
                </a:solidFill>
                <a:latin typeface="Source Sans Pro" pitchFamily="34" charset="0"/>
                <a:ea typeface="Source Sans Pro" pitchFamily="34" charset="-122"/>
                <a:cs typeface="Source Sans Pro" pitchFamily="34" charset="-120"/>
              </a:rPr>
              <a:t>Careful wording and sources</a:t>
            </a:r>
            <a:endParaRPr lang="en-US" sz="3200" dirty="0"/>
          </a:p>
        </p:txBody>
      </p:sp>
      <p:sp>
        <p:nvSpPr>
          <p:cNvPr id="5" name="Text 2"/>
          <p:cNvSpPr/>
          <p:nvPr/>
        </p:nvSpPr>
        <p:spPr>
          <a:xfrm>
            <a:off x="566928" y="1225296"/>
            <a:ext cx="10607040" cy="347472"/>
          </a:xfrm>
          <a:prstGeom prst="rect">
            <a:avLst/>
          </a:prstGeom>
          <a:noFill/>
          <a:ln/>
        </p:spPr>
        <p:txBody>
          <a:bodyPr wrap="square" lIns="0" tIns="0" rIns="0" bIns="0" rtlCol="0" anchor="ctr"/>
          <a:lstStyle/>
          <a:p>
            <a:pPr indent="0" marL="0">
              <a:buNone/>
            </a:pPr>
            <a:r>
              <a:rPr lang="en-US" sz="1500" dirty="0">
                <a:solidFill>
                  <a:srgbClr val="505050"/>
                </a:solidFill>
                <a:latin typeface="Source Sans Pro" pitchFamily="34" charset="0"/>
                <a:ea typeface="Source Sans Pro" pitchFamily="34" charset="-122"/>
                <a:cs typeface="Source Sans Pro" pitchFamily="34" charset="-120"/>
              </a:rPr>
              <a:t>Language that is ambitious but accurate.</a:t>
            </a:r>
            <a:endParaRPr lang="en-US" sz="1500" dirty="0"/>
          </a:p>
        </p:txBody>
      </p:sp>
      <p:sp>
        <p:nvSpPr>
          <p:cNvPr id="6" name="Shape 3"/>
          <p:cNvSpPr/>
          <p:nvPr/>
        </p:nvSpPr>
        <p:spPr>
          <a:xfrm>
            <a:off x="566928" y="6382512"/>
            <a:ext cx="11057839" cy="0"/>
          </a:xfrm>
          <a:prstGeom prst="line">
            <a:avLst/>
          </a:prstGeom>
          <a:noFill/>
          <a:ln w="9525">
            <a:solidFill>
              <a:srgbClr val="D9DEE4"/>
            </a:solidFill>
            <a:prstDash val="solid"/>
          </a:ln>
        </p:spPr>
      </p:sp>
      <p:sp>
        <p:nvSpPr>
          <p:cNvPr id="7" name="Text 4"/>
          <p:cNvSpPr/>
          <p:nvPr/>
        </p:nvSpPr>
        <p:spPr>
          <a:xfrm>
            <a:off x="566928" y="6437376"/>
            <a:ext cx="8229600" cy="274320"/>
          </a:xfrm>
          <a:prstGeom prst="rect">
            <a:avLst/>
          </a:prstGeom>
          <a:noFill/>
          <a:ln/>
        </p:spPr>
        <p:txBody>
          <a:bodyPr wrap="square" lIns="0" tIns="0" rIns="0" bIns="0" rtlCol="0" anchor="ctr"/>
          <a:lstStyle/>
          <a:p>
            <a:pPr indent="0" marL="0">
              <a:buNone/>
            </a:pPr>
            <a:r>
              <a:rPr lang="en-US" sz="950" dirty="0">
                <a:solidFill>
                  <a:srgbClr val="999999"/>
                </a:solidFill>
                <a:latin typeface="Source Sans Pro" pitchFamily="34" charset="0"/>
                <a:ea typeface="Source Sans Pro" pitchFamily="34" charset="-122"/>
                <a:cs typeface="Source Sans Pro" pitchFamily="34" charset="-120"/>
              </a:rPr>
              <a:t>USCIS  •  Chief Data and Analytics Office</a:t>
            </a:r>
            <a:endParaRPr lang="en-US" sz="950" dirty="0"/>
          </a:p>
        </p:txBody>
      </p:sp>
      <p:sp>
        <p:nvSpPr>
          <p:cNvPr id="8" name="Text 5"/>
          <p:cNvSpPr/>
          <p:nvPr/>
        </p:nvSpPr>
        <p:spPr>
          <a:xfrm>
            <a:off x="10637215" y="6437376"/>
            <a:ext cx="1005840" cy="274320"/>
          </a:xfrm>
          <a:prstGeom prst="rect">
            <a:avLst/>
          </a:prstGeom>
          <a:noFill/>
          <a:ln/>
        </p:spPr>
        <p:txBody>
          <a:bodyPr wrap="square" lIns="0" tIns="0" rIns="0" bIns="0" rtlCol="0" anchor="ctr"/>
          <a:lstStyle/>
          <a:p>
            <a:pPr algn="r" indent="0" marL="0">
              <a:buNone/>
            </a:pPr>
            <a:r>
              <a:rPr lang="en-US" sz="1000" b="1" dirty="0">
                <a:solidFill>
                  <a:srgbClr val="006699"/>
                </a:solidFill>
                <a:latin typeface="Source Sans Pro" pitchFamily="34" charset="0"/>
                <a:ea typeface="Source Sans Pro" pitchFamily="34" charset="-122"/>
                <a:cs typeface="Source Sans Pro" pitchFamily="34" charset="-120"/>
              </a:rPr>
              <a:t>21 / 21</a:t>
            </a:r>
            <a:endParaRPr lang="en-US" sz="1000" dirty="0"/>
          </a:p>
        </p:txBody>
      </p:sp>
      <p:sp>
        <p:nvSpPr>
          <p:cNvPr id="9" name="Shape 6"/>
          <p:cNvSpPr/>
          <p:nvPr/>
        </p:nvSpPr>
        <p:spPr>
          <a:xfrm>
            <a:off x="566928" y="1828800"/>
            <a:ext cx="5394960" cy="3520440"/>
          </a:xfrm>
          <a:prstGeom prst="roundRect">
            <a:avLst>
              <a:gd name="adj" fmla="val 2338"/>
            </a:avLst>
          </a:prstGeom>
          <a:solidFill>
            <a:srgbClr val="EAF4E6"/>
          </a:solidFill>
          <a:ln w="12700">
            <a:solidFill>
              <a:srgbClr val="2E8913"/>
            </a:solidFill>
            <a:prstDash val="solid"/>
          </a:ln>
          <a:effectLst>
            <a:outerShdw sx="100000" sy="100000" kx="0" ky="0" algn="bl" rotWithShape="0" blurRad="88900" dist="25400" dir="5400000">
              <a:srgbClr val="003366">
                <a:alpha val="14000"/>
              </a:srgbClr>
            </a:outerShdw>
          </a:effectLst>
        </p:spPr>
      </p:sp>
      <p:sp>
        <p:nvSpPr>
          <p:cNvPr id="10" name="Shape 7"/>
          <p:cNvSpPr/>
          <p:nvPr/>
        </p:nvSpPr>
        <p:spPr>
          <a:xfrm>
            <a:off x="822960" y="2048256"/>
            <a:ext cx="420624" cy="420624"/>
          </a:xfrm>
          <a:prstGeom prst="ellipse">
            <a:avLst/>
          </a:prstGeom>
          <a:solidFill>
            <a:srgbClr val="2E8913"/>
          </a:solidFill>
          <a:ln/>
        </p:spPr>
      </p:sp>
      <p:pic>
        <p:nvPicPr>
          <p:cNvPr id="11" name="Image 1" descr="preencoded.png">    </p:cNvPr>
          <p:cNvPicPr>
            <a:picLocks noChangeAspect="1"/>
          </p:cNvPicPr>
          <p:nvPr/>
        </p:nvPicPr>
        <p:blipFill>
          <a:blip r:embed="rId2"/>
          <a:stretch>
            <a:fillRect/>
          </a:stretch>
        </p:blipFill>
        <p:spPr>
          <a:xfrm>
            <a:off x="915497" y="2140793"/>
            <a:ext cx="235549" cy="235549"/>
          </a:xfrm>
          <a:prstGeom prst="rect">
            <a:avLst/>
          </a:prstGeom>
        </p:spPr>
      </p:pic>
      <p:sp>
        <p:nvSpPr>
          <p:cNvPr id="12" name="Text 8"/>
          <p:cNvSpPr/>
          <p:nvPr/>
        </p:nvSpPr>
        <p:spPr>
          <a:xfrm>
            <a:off x="1371600" y="2103120"/>
            <a:ext cx="4206240" cy="310896"/>
          </a:xfrm>
          <a:prstGeom prst="rect">
            <a:avLst/>
          </a:prstGeom>
          <a:noFill/>
          <a:ln/>
        </p:spPr>
        <p:txBody>
          <a:bodyPr wrap="square" lIns="0" tIns="0" rIns="0" bIns="0" rtlCol="0" anchor="ctr"/>
          <a:lstStyle/>
          <a:p>
            <a:pPr indent="0" marL="0">
              <a:buNone/>
            </a:pPr>
            <a:r>
              <a:rPr lang="en-US" sz="1550" b="1" dirty="0">
                <a:solidFill>
                  <a:srgbClr val="2E8913"/>
                </a:solidFill>
                <a:latin typeface="Source Sans Pro" pitchFamily="34" charset="0"/>
                <a:ea typeface="Source Sans Pro" pitchFamily="34" charset="-122"/>
                <a:cs typeface="Source Sans Pro" pitchFamily="34" charset="-120"/>
              </a:rPr>
              <a:t>Use this wording</a:t>
            </a:r>
            <a:endParaRPr lang="en-US" sz="1550" dirty="0"/>
          </a:p>
        </p:txBody>
      </p:sp>
      <p:sp>
        <p:nvSpPr>
          <p:cNvPr id="13" name="Text 9"/>
          <p:cNvSpPr/>
          <p:nvPr/>
        </p:nvSpPr>
        <p:spPr>
          <a:xfrm>
            <a:off x="868680" y="2651760"/>
            <a:ext cx="4846320" cy="2560320"/>
          </a:xfrm>
          <a:prstGeom prst="rect">
            <a:avLst/>
          </a:prstGeom>
          <a:noFill/>
          <a:ln/>
        </p:spPr>
        <p:txBody>
          <a:bodyPr wrap="square" lIns="0" tIns="0" rIns="0" bIns="0" rtlCol="0" anchor="t"/>
          <a:lstStyle/>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“The harness guides meaning.”</a:t>
            </a:r>
            <a:endParaRPr lang="en-US" sz="1350" dirty="0"/>
          </a:p>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“Databricks controls governed access.”</a:t>
            </a:r>
            <a:endParaRPr lang="en-US" sz="1350" dirty="0"/>
          </a:p>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“skill.md files are reusable task recipes.”</a:t>
            </a:r>
            <a:endParaRPr lang="en-US" sz="1350" dirty="0"/>
          </a:p>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“Feature availability depends on approved USCIS environment and governance.”</a:t>
            </a:r>
            <a:endParaRPr lang="en-US" sz="1350" dirty="0"/>
          </a:p>
        </p:txBody>
      </p:sp>
      <p:sp>
        <p:nvSpPr>
          <p:cNvPr id="14" name="Shape 10"/>
          <p:cNvSpPr/>
          <p:nvPr/>
        </p:nvSpPr>
        <p:spPr>
          <a:xfrm>
            <a:off x="6236208" y="1828800"/>
            <a:ext cx="5394960" cy="3520440"/>
          </a:xfrm>
          <a:prstGeom prst="roundRect">
            <a:avLst>
              <a:gd name="adj" fmla="val 2338"/>
            </a:avLst>
          </a:prstGeom>
          <a:solidFill>
            <a:srgbClr val="F6E4E1"/>
          </a:solidFill>
          <a:ln w="12700">
            <a:solidFill>
              <a:srgbClr val="E7C6C0"/>
            </a:solidFill>
            <a:prstDash val="solid"/>
          </a:ln>
          <a:effectLst>
            <a:outerShdw sx="100000" sy="100000" kx="0" ky="0" algn="bl" rotWithShape="0" blurRad="88900" dist="25400" dir="5400000">
              <a:srgbClr val="003366">
                <a:alpha val="14000"/>
              </a:srgbClr>
            </a:outerShdw>
          </a:effectLst>
        </p:spPr>
      </p:sp>
      <p:sp>
        <p:nvSpPr>
          <p:cNvPr id="15" name="Shape 11"/>
          <p:cNvSpPr/>
          <p:nvPr/>
        </p:nvSpPr>
        <p:spPr>
          <a:xfrm>
            <a:off x="6492240" y="2048256"/>
            <a:ext cx="420624" cy="420624"/>
          </a:xfrm>
          <a:prstGeom prst="ellipse">
            <a:avLst/>
          </a:prstGeom>
          <a:solidFill>
            <a:srgbClr val="962D22"/>
          </a:solidFill>
          <a:ln/>
        </p:spPr>
      </p:sp>
      <p:pic>
        <p:nvPicPr>
          <p:cNvPr id="16" name="Image 2" descr="preencoded.png">    </p:cNvPr>
          <p:cNvPicPr>
            <a:picLocks noChangeAspect="1"/>
          </p:cNvPicPr>
          <p:nvPr/>
        </p:nvPicPr>
        <p:blipFill>
          <a:blip r:embed="rId3"/>
          <a:stretch>
            <a:fillRect/>
          </a:stretch>
        </p:blipFill>
        <p:spPr>
          <a:xfrm>
            <a:off x="6584777" y="2140793"/>
            <a:ext cx="235549" cy="235549"/>
          </a:xfrm>
          <a:prstGeom prst="rect">
            <a:avLst/>
          </a:prstGeom>
        </p:spPr>
      </p:pic>
      <p:sp>
        <p:nvSpPr>
          <p:cNvPr id="17" name="Text 12"/>
          <p:cNvSpPr/>
          <p:nvPr/>
        </p:nvSpPr>
        <p:spPr>
          <a:xfrm>
            <a:off x="7040880" y="2103120"/>
            <a:ext cx="4206240" cy="310896"/>
          </a:xfrm>
          <a:prstGeom prst="rect">
            <a:avLst/>
          </a:prstGeom>
          <a:noFill/>
          <a:ln/>
        </p:spPr>
        <p:txBody>
          <a:bodyPr wrap="square" lIns="0" tIns="0" rIns="0" bIns="0" rtlCol="0" anchor="ctr"/>
          <a:lstStyle/>
          <a:p>
            <a:pPr indent="0" marL="0">
              <a:buNone/>
            </a:pPr>
            <a:r>
              <a:rPr lang="en-US" sz="1550" b="1" dirty="0">
                <a:solidFill>
                  <a:srgbClr val="962D22"/>
                </a:solidFill>
                <a:latin typeface="Source Sans Pro" pitchFamily="34" charset="0"/>
                <a:ea typeface="Source Sans Pro" pitchFamily="34" charset="-122"/>
                <a:cs typeface="Source Sans Pro" pitchFamily="34" charset="-120"/>
              </a:rPr>
              <a:t>Avoid this wording</a:t>
            </a:r>
            <a:endParaRPr lang="en-US" sz="1550" dirty="0"/>
          </a:p>
        </p:txBody>
      </p:sp>
      <p:sp>
        <p:nvSpPr>
          <p:cNvPr id="18" name="Text 13"/>
          <p:cNvSpPr/>
          <p:nvPr/>
        </p:nvSpPr>
        <p:spPr>
          <a:xfrm>
            <a:off x="6537960" y="2651760"/>
            <a:ext cx="4846320" cy="2560320"/>
          </a:xfrm>
          <a:prstGeom prst="rect">
            <a:avLst/>
          </a:prstGeom>
          <a:noFill/>
          <a:ln/>
        </p:spPr>
        <p:txBody>
          <a:bodyPr wrap="square" lIns="0" tIns="0" rIns="0" bIns="0" rtlCol="0" anchor="t"/>
          <a:lstStyle/>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“The harness enforces permissions.”</a:t>
            </a:r>
            <a:endParaRPr lang="en-US" sz="1350" dirty="0"/>
          </a:p>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“The AI guarantees correct answers.”</a:t>
            </a:r>
            <a:endParaRPr lang="en-US" sz="1350" dirty="0"/>
          </a:p>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“Genie replaces analysts.”</a:t>
            </a:r>
            <a:endParaRPr lang="en-US" sz="1350" dirty="0"/>
          </a:p>
          <a:p>
            <a:pPr marL="152400" indent="-152400">
              <a:lnSpc>
                <a:spcPts val="1800"/>
              </a:lnSpc>
              <a:spcAft>
                <a:spcPts val="1400"/>
              </a:spcAft>
              <a:buSzPct val="100000"/>
              <a:buChar char="•"/>
            </a:pPr>
            <a:r>
              <a:rPr lang="en-US" sz="1350" dirty="0">
                <a:solidFill>
                  <a:srgbClr val="2A2F36"/>
                </a:solidFill>
                <a:latin typeface="Source Sans Pro" pitchFamily="34" charset="0"/>
                <a:ea typeface="Source Sans Pro" pitchFamily="34" charset="-122"/>
                <a:cs typeface="Source Sans Pro" pitchFamily="34" charset="-120"/>
              </a:rPr>
              <a:t>“skill.md automatically runs inside Databricks without implementation.”</a:t>
            </a:r>
            <a:endParaRPr lang="en-US" sz="1350" dirty="0"/>
          </a:p>
        </p:txBody>
      </p:sp>
      <p:sp>
        <p:nvSpPr>
          <p:cNvPr id="19" name="Text 14"/>
          <p:cNvSpPr/>
          <p:nvPr/>
        </p:nvSpPr>
        <p:spPr>
          <a:xfrm>
            <a:off x="566928" y="5532120"/>
            <a:ext cx="11055096" cy="457200"/>
          </a:xfrm>
          <a:prstGeom prst="rect">
            <a:avLst/>
          </a:prstGeom>
          <a:noFill/>
          <a:ln/>
        </p:spPr>
        <p:txBody>
          <a:bodyPr wrap="square" lIns="0" tIns="0" rIns="0" bIns="0" rtlCol="0" anchor="ctr"/>
          <a:lstStyle/>
          <a:p>
            <a:pPr indent="0" marL="0">
              <a:lnSpc>
                <a:spcPts val="1300"/>
              </a:lnSpc>
              <a:buNone/>
            </a:pPr>
            <a:r>
              <a:rPr lang="en-US" sz="1000" i="1" dirty="0">
                <a:solidFill>
                  <a:srgbClr val="999999"/>
                </a:solidFill>
                <a:latin typeface="Source Sans Pro" pitchFamily="34" charset="0"/>
                <a:ea typeface="Source Sans Pro" pitchFamily="34" charset="-122"/>
                <a:cs typeface="Source Sans Pro" pitchFamily="34" charset="-120"/>
              </a:rPr>
              <a:t>Sources checked: official Databricks documentation (Genie/Genie Agents, Unity Catalog, Model Serving, Foundation Model APIs, data-quality monitoring); public Matt Pocock skill examples; USCIS/OPQ working context.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2026-07-16T15:19:17Z</dcterms:created>
  <dcterms:modified xsi:type="dcterms:W3CDTF">2026-07-16T15:19:17Z</dcterms:modified>
</cp:coreProperties>
</file>