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76" r:id="rId26"/>
    <p:sldId id="259" r:id="rId5"/>
    <p:sldId id="260" r:id="rId6"/>
    <p:sldId id="261" r:id="rId7"/>
    <p:sldId id="277" r:id="rId27"/>
    <p:sldId id="262" r:id="rId8"/>
    <p:sldId id="263" r:id="rId9"/>
    <p:sldId id="275" r:id="rId25"/>
    <p:sldId id="264" r:id="rId10"/>
    <p:sldId id="265" r:id="rId11"/>
    <p:sldId id="266" r:id="rId12"/>
    <p:sldId id="278" r:id="rId28"/>
    <p:sldId id="274"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60"/>
    <p:restoredTop sz="93447" autoAdjust="0"/>
  </p:normalViewPr>
  <p:slideViewPr>
    <p:cSldViewPr snapToGrid="0" snapToObjects="1">
      <p:cViewPr varScale="1">
        <p:scale>
          <a:sx n="43" d="100"/>
          <a:sy n="43" d="100"/>
        </p:scale>
        <p:origin x="114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  <Relationship Id="rId25" Type="http://schemas.openxmlformats.org/officeDocument/2006/relationships/slide" Target="slides/slide19.xml"/>
  <Relationship Id="rId26" Type="http://schemas.openxmlformats.org/officeDocument/2006/relationships/slide" Target="slides/slide20.xml"/>
  <Relationship Id="rId27" Type="http://schemas.openxmlformats.org/officeDocument/2006/relationships/slide" Target="slides/slide21.xml"/>
  <Relationship Id="rId28" Type="http://schemas.openxmlformats.org/officeDocument/2006/relationships/slide" Target="slides/slide22.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309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decision, in Jenna's own framing: her goal (per Mark and Jenna) is tools available to users, answers that are quality answers, and CDAO knowing what is being asked and answered. She has already approved the first proof of concept — this brief shows what we build around it so answers stay solid. 30–40 minute walk-through, discussion welcome throughout.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Jenna's/Mark's stated goal reflected back: availability + quality + oversight. Everything later maps to one of these three. Keep it short and land the three words: available, solid, visible.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Susan's color-coding: light-blue = the question (chat input), white = the SQL receipt (Show SQL tab), gold = the verified badge (trust label). Data-output example, not code. This is the NPD POC's real question shape. Emphasize: the analyst never sees code unless they click 'show your work.'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outline slide; each 'we build' bullet is covered by a later slide (nav buttons link there; appendix has the harness explainer). Definitions simplified per feedback — no jargon like 'self-learning context map' or 'per-agent curation.'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term first (per feedback). Analogies: card catalog, badge reader, family tree. Use NPD as the example. Honest status: today Unity Catalog is administered by Databricks/DBIS — OCDO has access to some system tables only. What Lynn asked for: the ability to enter and update our own descriptions, definitions, and metric formulas. Normal fonts, no terminal look.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Renamed per feedback ('heavy lift'). Universal = one set of business metadata available to ALL agents — not metadata hand-typed per agent, and not one all-knowing agent. The lift: audit all tables in scope (start with NPD), enter descriptions and tags, keep them current. Only our office can supply this knowledge — the tool vendor can't know what I-765 means to USCIS.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Jake Stone's framing: shift from who wants the work to where each org's value comes from. OCDO understands the data; DBIS understands the tools. The ask implicit here: DBIS opens the door (write access to catalog metadata), OCDO fills the shelves. Susan's PB&amp;J: two goods, better together.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Susan's clarity point. Each agent gets a small set of tables (the platform works best that way) and its own tested questions. All of them stand on the same universal metadata. NPD agent is first; E-22, MESH, cost analytics follow the same pattern. This also keeps oversight simple — each agent has an owner and a defined scope. Databricks confirmed 8/21: fewer than 5 tables or one metric view is where Genie is most accurate — bigger scope means more noise.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Stewards keep editing definitions in Collibra; a nightly sync copies them into the catalog shapes the agents read. Change a definition today, agents answer with it tomorrow. Keep it this simple verbally; pipeline detail is in the appendix. New from 8/21: Databricks confirmed a FedRAMP-approved Collibra MCP server exists (Plan A) — we still test it before relying on it. Plan B is our own scheduled Databricks job via the Collibra API, which we can build regardless. Brice Giesbrecht offered to work with us directly on the Collibra setup. MCP in one line if asked: a standard plug that lets AI tools read from other systems.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views: the formula (cycle time, processing time, completions) is stored as the exact calculation and executed as written — the agent cannot improvise it. Reusable synonyms for metrics live with the metric definitions; agent-specific wording lives with each agent. Dashboards and agents read the same definition — one number everywhere. Databricks demoed both on 8/21 — the metric-view YAML with synonyms and CASE logic, and Ask Genie on a published dashboard.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per review: metering vs. billing distinction. Facts (Databricks docs, Aug 2026): every named user gets 150 free Genie DBUs/mo (dollar value varies by region and contracted rate — do NOT quote $10.50); Genie One + Genie Agents user activity free through Jan 31 2027 (service principals excluded and billed); Genie Code billed past the allowance with a 25% promotional metering discount; budgets govern billed usage (not the free promo); system tables capture free + billed DBUs — join to list prices for a list-cost estimate, then apply DHS contract rates for actual cost. Warehouse compute metered separately and may be material depending on workload. Brice Giesbrecht (Databricks) built the Usage Overview dashboard we saw from system tables; they offered it as a pattern. Materialized view / row-level security = the answer to 'we can't see all the system tables.' This is the DBIS ask on the cost side, same as the metadata write access ask on slide 7.</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Public-record facts: BPA 70RTAC26A00000010 is a single-award DHS-wide vehicle to Databricks Federal with a five-year ordering period and a $1 billion ceiling. The first disclosed call, 70RTAC26FC0000024, is approximately $57 million for platform products, technical support, and PMO services. Keep one distinction explicit: USCIS forecast F2025072084 previously described DBUs, unlimited enterprise user licenses, and enhanced support, but that forecast is not proof of the final BPA/order entitlement mix. Public records do not expose negotiated DBU rates, committed-use pools, product-level entitlements, promotion treatment, or chargeback rules. Do not present any of those as known contract terms until DBIS provides the order documentation or rate card.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Jake Stone: acknowledge the approved PoC first, then only two more PoCs (Matrix 2.0 refresh into Databricks; question/answer curation &amp; review storage). Then set expectations honestly: these tools will not work exactly as documented — the PoCs exist to find that early, and the team adjusts, as it has on everything else. That's the unhappy-path narrative, spoken not written. Databricks demoed the loop 8/21 — 'Review knowledge snippets' screen. Only SMEs/stewards accept; that's the human-in-the-loop guarantee for leadership.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Use only if asked.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 analogy: model = engine; harness = wheels, steering, brakes, dashboard. Databricks ships the whole car; we supply the map (our knowledge) and the rules of the road (tests, review, budgets).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Pulled from main flow per feedback; mention verbally. Helps engineers write and fix code, diagnose failed jobs, review work — respecting the same permissions. Billed past the monthly free allowance.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technical follow-ups: nightly job reads Collibra's API; definitions validated and landed in a governance schema; from there written into catalog descriptions, metric formulas, and each agent's examples. Everything versioned in Git, tested against benchmark questions before it reaches users.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Documented limits per agent (June 2026 docs): 30 tables max (5–7 recommended), 100 instructions, 200 knowledge snippets, 20 questions/minute. This is why: a family of focused agents on shared catalog metadata — per-agent context is finite; catalog metadata is shared by all agents.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from the Databricks engineers (8/21): crawl = curate metadata and metric views; walk = scoped Genie agents; run = Genie Ontology, which is several quarters away and will layer on top of what we build now. Land two points: (1) Crawl is the heavy lift — use the one-table example to make the scale real, then say NPD alone is many such tables (keep the other future agents generic); (2) no rework — the investment approved today is the same investment Ontology will require.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consumer view. Databricks distinguishes 'workspace users' (our engineers, in the platform) from 'consumers' (everyone else) — consumers only ever see this screen, on desktop or the mobile app. Embedding: agents can be placed in an iframe inside Tableau, SharePoint, etc., so the question box lives next to the dashboard it explains.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left to right, using I-765 as the running example. Land: steps 1–4 are done once per table and every agent benefits (Crawl); 5–6 are the per-agent work (Walk). Nothing here is tool magic — it is USCIS knowledge being written down in a form the tool can use.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Brice's Usage Overview dashboard, Genie Cost Overview tab — inference vs compute, daily cost, warehouse spend by source. Right: AI Gateway metrics for a single model — quota limits, queries/min, tokens/min, errors, latency. Both built from system tables. Our DE team already does this for production-job DBUs; extending to Genie is the same pattern once system-table access is granted.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slide" Target="slide1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www.highergov.com/idv/70RTAC26A00000010/"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slide" Target="slide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slide" Target="slide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slide" Target="slide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slide" Target="slide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notesSlide" Target="../notesSlides/notesSlide20.xml"/><Relationship Id="rId10"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notesSlide" Target="../notesSlides/notesSlide22.xml"/><Relationship Id="rId10" Type="http://schemas.openxmlformats.org/officeDocument/2006/relationships/image" Target="../media/image3.png"/><Relationship Id="rId1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502920" y="1207455"/>
            <a:ext cx="8138160" cy="365760"/>
          </a:xfrm>
          <a:prstGeom prst="rect">
            <a:avLst/>
          </a:prstGeom>
          <a:noFill/>
          <a:ln/>
        </p:spPr>
        <p:txBody>
          <a:bodyPr wrap="square" lIns="0" tIns="0" rIns="0" bIns="0" rtlCol="0" anchor="ctr"/>
          <a:lstStyle/>
          <a:p>
            <a:pPr marL="0" indent="0">
              <a:buNone/>
            </a:pPr>
            <a:r>
              <a:rPr lang="en-US" sz="1400" b="1" dirty="0">
                <a:solidFill>
                  <a:srgbClr val="BF9000"/>
                </a:solidFill>
                <a:latin typeface="Calibri" pitchFamily="34" charset="0"/>
                <a:ea typeface="Calibri" pitchFamily="34" charset="-122"/>
                <a:cs typeface="Calibri" pitchFamily="34" charset="-120"/>
              </a:rPr>
              <a:t>AI Readiness with Databricks</a:t>
            </a:r>
            <a:endParaRPr lang="en-US" sz="1400" dirty="0"/>
          </a:p>
        </p:txBody>
      </p:sp>
      <p:sp>
        <p:nvSpPr>
          <p:cNvPr id="4" name="Text 1"/>
          <p:cNvSpPr/>
          <p:nvPr/>
        </p:nvSpPr>
        <p:spPr>
          <a:xfrm>
            <a:off x="502920" y="1650492"/>
            <a:ext cx="8138160" cy="685800"/>
          </a:xfrm>
          <a:prstGeom prst="rect">
            <a:avLst/>
          </a:prstGeom>
          <a:noFill/>
          <a:ln/>
        </p:spPr>
        <p:txBody>
          <a:bodyPr wrap="square" lIns="0" tIns="0" rIns="0" bIns="0" rtlCol="0" anchor="ctr"/>
          <a:lstStyle/>
          <a:p>
            <a:pPr marL="0" indent="0">
              <a:buNone/>
            </a:pPr>
            <a:r>
              <a:rPr lang="en-US" sz="4000" b="1" dirty="0">
                <a:solidFill>
                  <a:srgbClr val="1F497D"/>
                </a:solidFill>
                <a:latin typeface="Calibri" pitchFamily="34" charset="0"/>
                <a:ea typeface="Calibri" pitchFamily="34" charset="-122"/>
                <a:cs typeface="Calibri" pitchFamily="34" charset="-120"/>
              </a:rPr>
              <a:t>AI Readiness with Databricks</a:t>
            </a:r>
            <a:endParaRPr lang="en-US" sz="4000" dirty="0"/>
          </a:p>
        </p:txBody>
      </p:sp>
      <p:sp>
        <p:nvSpPr>
          <p:cNvPr id="5" name="Text 2"/>
          <p:cNvSpPr/>
          <p:nvPr/>
        </p:nvSpPr>
        <p:spPr>
          <a:xfrm>
            <a:off x="502920" y="2148840"/>
            <a:ext cx="7863840" cy="914400"/>
          </a:xfrm>
          <a:prstGeom prst="rect">
            <a:avLst/>
          </a:prstGeom>
          <a:noFill/>
          <a:ln/>
        </p:spPr>
        <p:txBody>
          <a:bodyPr wrap="square" lIns="0" tIns="0" rIns="0" bIns="0" rtlCol="0" anchor="ctr"/>
          <a:lstStyle/>
          <a:p>
            <a:pPr marL="0" indent="0">
              <a:buNone/>
            </a:pPr>
            <a:endParaRPr lang="en-US" sz="1300" dirty="0"/>
          </a:p>
        </p:txBody>
      </p:sp>
      <p:sp>
        <p:nvSpPr>
          <p:cNvPr id="6" name="Shape 3"/>
          <p:cNvSpPr/>
          <p:nvPr/>
        </p:nvSpPr>
        <p:spPr>
          <a:xfrm>
            <a:off x="502920" y="3860292"/>
            <a:ext cx="8138160" cy="630936"/>
          </a:xfrm>
          <a:prstGeom prst="roundRect">
            <a:avLst>
              <a:gd name="adj" fmla="val 5882"/>
            </a:avLst>
          </a:prstGeom>
          <a:solidFill>
            <a:srgbClr val="EEF3FA"/>
          </a:solidFill>
          <a:ln w="12700">
            <a:solidFill>
              <a:srgbClr val="DCE6F1"/>
            </a:solidFill>
            <a:prstDash val="solid"/>
          </a:ln>
        </p:spPr>
        <p:txBody>
          <a:bodyPr/>
          <a:lstStyle/>
          <a:p>
            <a:endParaRPr lang="en-US"/>
          </a:p>
        </p:txBody>
      </p:sp>
      <p:sp>
        <p:nvSpPr>
          <p:cNvPr id="7" name="Text 4"/>
          <p:cNvSpPr/>
          <p:nvPr/>
        </p:nvSpPr>
        <p:spPr>
          <a:xfrm>
            <a:off x="612648" y="3860292"/>
            <a:ext cx="7918704" cy="630936"/>
          </a:xfrm>
          <a:prstGeom prst="rect">
            <a:avLst/>
          </a:prstGeom>
          <a:noFill/>
          <a:ln/>
        </p:spPr>
        <p:txBody>
          <a:bodyPr wrap="square" lIns="0" tIns="0" rIns="0" bIns="0" rtlCol="0" anchor="t"/>
          <a:lstStyle/>
          <a:p>
            <a:pPr marL="0" indent="0">
              <a:lnSpc>
                <a:spcPct val="105000"/>
              </a:lnSpc>
              <a:buNone/>
            </a:pPr>
            <a:endParaRPr lang="en-US" sz="1100" dirty="0"/>
          </a:p>
        </p:txBody>
      </p:sp>
      <p:sp>
        <p:nvSpPr>
          <p:cNvPr id="8" name="Text 5"/>
          <p:cNvSpPr/>
          <p:nvPr/>
        </p:nvSpPr>
        <p:spPr>
          <a:xfrm>
            <a:off x="612648" y="4015740"/>
            <a:ext cx="7315200" cy="320040"/>
          </a:xfrm>
          <a:prstGeom prst="rect">
            <a:avLst/>
          </a:prstGeom>
          <a:noFill/>
          <a:ln/>
        </p:spPr>
        <p:txBody>
          <a:bodyPr wrap="square" lIns="0" tIns="0" rIns="0" bIns="0" rtlCol="0" anchor="ctr"/>
          <a:lstStyle/>
          <a:p>
            <a:pPr marL="0" indent="0">
              <a:buNone/>
            </a:pPr>
            <a:r>
              <a:rPr lang="en-US" sz="1100" b="1" dirty="0">
                <a:solidFill>
                  <a:srgbClr val="1F497D"/>
                </a:solidFill>
                <a:latin typeface="Calibri" pitchFamily="34" charset="0"/>
                <a:ea typeface="Calibri" pitchFamily="34" charset="-122"/>
                <a:cs typeface="Calibri" pitchFamily="34" charset="-120"/>
              </a:rPr>
              <a:t>CDAO   •   August 2026</a:t>
            </a:r>
            <a:endParaRPr lang="en-US" sz="1100" dirty="0"/>
          </a:p>
        </p:txBody>
      </p:sp>
      <p:sp>
        <p:nvSpPr>
          <p:cNvPr id="9" name="Text 2">
            <a:extLst>
              <a:ext uri="{FF2B5EF4-FFF2-40B4-BE49-F238E27FC236}">
                <a16:creationId xmlns:a16="http://schemas.microsoft.com/office/drawing/2014/main" id="{1B6AC13A-2DE3-9B5A-15FA-D3646982A15E}"/>
              </a:ext>
            </a:extLst>
          </p:cNvPr>
          <p:cNvSpPr/>
          <p:nvPr/>
        </p:nvSpPr>
        <p:spPr>
          <a:xfrm>
            <a:off x="655320" y="2301240"/>
            <a:ext cx="7863840" cy="914400"/>
          </a:xfrm>
          <a:prstGeom prst="rect">
            <a:avLst/>
          </a:prstGeom>
          <a:noFill/>
          <a:ln/>
        </p:spPr>
        <p:txBody>
          <a:bodyPr wrap="square" lIns="0" tIns="0" rIns="0" bIns="0" rtlCol="0" anchor="ctr"/>
          <a:lstStyle/>
          <a:p>
            <a:pPr marL="0" indent="0">
              <a:buNone/>
            </a:pPr>
            <a:r>
              <a:rPr lang="en-US" sz="1300" dirty="0">
                <a:solidFill>
                  <a:srgbClr val="595959"/>
                </a:solidFill>
                <a:latin typeface="Calibri" pitchFamily="34" charset="0"/>
                <a:ea typeface="Calibri" pitchFamily="34" charset="-122"/>
                <a:cs typeface="Calibri" pitchFamily="34" charset="-120"/>
              </a:rPr>
              <a:t>The Genie tools will let users ask questions of USCIS data in natural language.</a:t>
            </a:r>
            <a:endParaRPr lang="en-US" sz="1300" dirty="0"/>
          </a:p>
          <a:p>
            <a:pPr marL="0" indent="0">
              <a:buNone/>
            </a:pPr>
            <a:r>
              <a:rPr lang="en-US" sz="1300" dirty="0">
                <a:solidFill>
                  <a:srgbClr val="595959"/>
                </a:solidFill>
                <a:latin typeface="Calibri" pitchFamily="34" charset="0"/>
                <a:ea typeface="Calibri" pitchFamily="34" charset="-122"/>
                <a:cs typeface="Calibri" pitchFamily="34" charset="-120"/>
              </a:rPr>
              <a:t>For this to function as intended, work must be done to ensure that every answer is a quality answer,</a:t>
            </a:r>
            <a:endParaRPr lang="en-US" sz="1300" dirty="0"/>
          </a:p>
          <a:p>
            <a:pPr marL="0" indent="0">
              <a:buNone/>
            </a:pPr>
            <a:r>
              <a:rPr lang="en-US" sz="1300" dirty="0">
                <a:solidFill>
                  <a:srgbClr val="595959"/>
                </a:solidFill>
                <a:latin typeface="Calibri" pitchFamily="34" charset="0"/>
                <a:ea typeface="Calibri" pitchFamily="34" charset="-122"/>
                <a:cs typeface="Calibri" pitchFamily="34" charset="-120"/>
              </a:rPr>
              <a:t>and every question and answer must be logged so that CDAO has the traceability and monitoring needed to ensure optimal performance.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475488"/>
            <a:ext cx="6949440" cy="384048"/>
          </a:xfrm>
          <a:prstGeom prst="rect">
            <a:avLst/>
          </a:prstGeom>
          <a:noFill/>
          <a:ln/>
        </p:spPr>
        <p:txBody>
          <a:bodyPr wrap="square" lIns="0" tIns="0" rIns="0" bIns="0" rtlCol="0" anchor="ctr"/>
          <a:lstStyle/>
          <a:p>
            <a:pPr marL="0" indent="0">
              <a:buNone/>
            </a:pPr>
            <a:r>
              <a:rPr lang="en-US" sz="1700" b="1" dirty="0">
                <a:solidFill>
                  <a:srgbClr val="1F497D"/>
                </a:solidFill>
                <a:latin typeface="Calibri" pitchFamily="34" charset="0"/>
                <a:ea typeface="Calibri" pitchFamily="34" charset="-122"/>
                <a:cs typeface="Calibri" pitchFamily="34" charset="-120"/>
              </a:rPr>
              <a:t>The Goal</a:t>
            </a:r>
            <a:endParaRPr lang="en-US" sz="1700" dirty="0"/>
          </a:p>
        </p:txBody>
      </p:sp>
      <p:sp>
        <p:nvSpPr>
          <p:cNvPr id="4" name="Shape 1"/>
          <p:cNvSpPr/>
          <p:nvPr/>
        </p:nvSpPr>
        <p:spPr>
          <a:xfrm>
            <a:off x="411480" y="1234440"/>
            <a:ext cx="2651760" cy="2103120"/>
          </a:xfrm>
          <a:prstGeom prst="roundRect">
            <a:avLst>
              <a:gd name="adj" fmla="val 2174"/>
            </a:avLst>
          </a:prstGeom>
          <a:solidFill>
            <a:srgbClr val="FFFFFF"/>
          </a:solidFill>
          <a:ln w="12700">
            <a:solidFill>
              <a:srgbClr val="DCE6F1"/>
            </a:solidFill>
            <a:prstDash val="solid"/>
          </a:ln>
        </p:spPr>
        <p:txBody>
          <a:bodyPr/>
          <a:lstStyle/>
          <a:p>
            <a:endParaRPr lang="en-US"/>
          </a:p>
        </p:txBody>
      </p:sp>
      <p:sp>
        <p:nvSpPr>
          <p:cNvPr id="5" name="Text 2"/>
          <p:cNvSpPr/>
          <p:nvPr/>
        </p:nvSpPr>
        <p:spPr>
          <a:xfrm>
            <a:off x="594360" y="1417320"/>
            <a:ext cx="2286000" cy="1737360"/>
          </a:xfrm>
          <a:prstGeom prst="rect">
            <a:avLst/>
          </a:prstGeom>
          <a:noFill/>
          <a:ln/>
        </p:spPr>
        <p:txBody>
          <a:bodyPr wrap="square" lIns="0" tIns="0" rIns="0" bIns="0" rtlCol="0" anchor="t"/>
          <a:lstStyle/>
          <a:p>
            <a:pPr marL="0" indent="0">
              <a:lnSpc>
                <a:spcPct val="110000"/>
              </a:lnSpc>
              <a:buNone/>
            </a:pPr>
            <a:r>
              <a:rPr lang="en-US" sz="1600" b="1" dirty="0">
                <a:solidFill>
                  <a:srgbClr val="1F497D"/>
                </a:solidFill>
                <a:latin typeface="Calibri" pitchFamily="34" charset="0"/>
                <a:ea typeface="Calibri" pitchFamily="34" charset="-122"/>
                <a:cs typeface="Calibri" pitchFamily="34" charset="-120"/>
              </a:rPr>
              <a:t>Faster Answers
</a:t>
            </a:r>
            <a:r>
              <a:rPr lang="en-US" sz="1000" dirty="0">
                <a:solidFill>
                  <a:srgbClr val="1A1A1A"/>
                </a:solidFill>
                <a:latin typeface="Calibri" pitchFamily="34" charset="0"/>
                <a:ea typeface="Calibri" pitchFamily="34" charset="-122"/>
                <a:cs typeface="Calibri" pitchFamily="34" charset="-120"/>
              </a:rPr>
              <a:t>Users get answers out of the data without waiting on a dashboard to be created.</a:t>
            </a:r>
            <a:br>
              <a:rPr lang="en-US" sz="1000" dirty="0">
                <a:solidFill>
                  <a:srgbClr val="1A1A1A"/>
                </a:solidFill>
                <a:latin typeface="Calibri" pitchFamily="34" charset="0"/>
                <a:ea typeface="Calibri" pitchFamily="34" charset="-122"/>
                <a:cs typeface="Calibri" pitchFamily="34" charset="-120"/>
              </a:rPr>
            </a:br>
            <a:r>
              <a:rPr lang="en-US" sz="1000" dirty="0">
                <a:solidFill>
                  <a:srgbClr val="1A1A1A"/>
                </a:solidFill>
                <a:latin typeface="Calibri" pitchFamily="34" charset="0"/>
                <a:ea typeface="Calibri" pitchFamily="34" charset="-122"/>
                <a:cs typeface="Calibri" pitchFamily="34" charset="-120"/>
              </a:rPr>
              <a:t>The previous process included multiple steps from discovery &gt; requirements gathering &gt; create Jira tickets &gt; data engineering team builds pipeline + job &gt; dashboard development team creates Tableau dashboard to show requested metrics</a:t>
            </a:r>
            <a:endParaRPr lang="en-US" sz="1600" dirty="0"/>
          </a:p>
        </p:txBody>
      </p:sp>
      <p:sp>
        <p:nvSpPr>
          <p:cNvPr id="6" name="Shape 3"/>
          <p:cNvSpPr/>
          <p:nvPr/>
        </p:nvSpPr>
        <p:spPr>
          <a:xfrm>
            <a:off x="3291840" y="1234440"/>
            <a:ext cx="2651760" cy="2103120"/>
          </a:xfrm>
          <a:prstGeom prst="roundRect">
            <a:avLst>
              <a:gd name="adj" fmla="val 2174"/>
            </a:avLst>
          </a:prstGeom>
          <a:solidFill>
            <a:srgbClr val="1F497D"/>
          </a:solidFill>
          <a:ln w="12700">
            <a:solidFill>
              <a:srgbClr val="DCE6F1"/>
            </a:solidFill>
            <a:prstDash val="solid"/>
          </a:ln>
        </p:spPr>
        <p:txBody>
          <a:bodyPr/>
          <a:lstStyle/>
          <a:p>
            <a:endParaRPr lang="en-US"/>
          </a:p>
        </p:txBody>
      </p:sp>
      <p:sp>
        <p:nvSpPr>
          <p:cNvPr id="7" name="Text 4"/>
          <p:cNvSpPr/>
          <p:nvPr/>
        </p:nvSpPr>
        <p:spPr>
          <a:xfrm>
            <a:off x="3474720" y="1417320"/>
            <a:ext cx="2286000" cy="1737360"/>
          </a:xfrm>
          <a:prstGeom prst="rect">
            <a:avLst/>
          </a:prstGeom>
          <a:noFill/>
          <a:ln/>
        </p:spPr>
        <p:txBody>
          <a:bodyPr wrap="square" lIns="0" tIns="0" rIns="0" bIns="0" rtlCol="0" anchor="t"/>
          <a:lstStyle/>
          <a:p>
            <a:pPr marL="0" indent="0">
              <a:lnSpc>
                <a:spcPct val="110000"/>
              </a:lnSpc>
              <a:buNone/>
            </a:pPr>
            <a:r>
              <a:rPr lang="en-US" sz="1600" b="1" dirty="0">
                <a:solidFill>
                  <a:srgbClr val="FFFFFF"/>
                </a:solidFill>
                <a:latin typeface="Calibri" pitchFamily="34" charset="0"/>
                <a:ea typeface="Calibri" pitchFamily="34" charset="-122"/>
                <a:cs typeface="Calibri" pitchFamily="34" charset="-120"/>
              </a:rPr>
              <a:t>Trusted Information
</a:t>
            </a:r>
            <a:r>
              <a:rPr lang="en-US" sz="1000" dirty="0">
                <a:solidFill>
                  <a:srgbClr val="D6E2F2"/>
                </a:solidFill>
                <a:latin typeface="Calibri" pitchFamily="34" charset="0"/>
                <a:ea typeface="Calibri" pitchFamily="34" charset="-122"/>
                <a:cs typeface="Calibri" pitchFamily="34" charset="-120"/>
              </a:rPr>
              <a:t>Guardrails ensure the answers consist of USCIS definitions, verified metrics and sources shown on every response.</a:t>
            </a:r>
            <a:endParaRPr lang="en-US" sz="1600" dirty="0"/>
          </a:p>
        </p:txBody>
      </p:sp>
      <p:sp>
        <p:nvSpPr>
          <p:cNvPr id="8" name="Shape 5"/>
          <p:cNvSpPr/>
          <p:nvPr/>
        </p:nvSpPr>
        <p:spPr>
          <a:xfrm>
            <a:off x="6172200" y="1234440"/>
            <a:ext cx="2651760" cy="2103120"/>
          </a:xfrm>
          <a:prstGeom prst="roundRect">
            <a:avLst>
              <a:gd name="adj" fmla="val 2174"/>
            </a:avLst>
          </a:prstGeom>
          <a:solidFill>
            <a:srgbClr val="FFFFFF"/>
          </a:solidFill>
          <a:ln w="12700">
            <a:solidFill>
              <a:srgbClr val="DCE6F1"/>
            </a:solidFill>
            <a:prstDash val="solid"/>
          </a:ln>
        </p:spPr>
        <p:txBody>
          <a:bodyPr/>
          <a:lstStyle/>
          <a:p>
            <a:endParaRPr lang="en-US"/>
          </a:p>
        </p:txBody>
      </p:sp>
      <p:sp>
        <p:nvSpPr>
          <p:cNvPr id="9" name="Text 6"/>
          <p:cNvSpPr/>
          <p:nvPr/>
        </p:nvSpPr>
        <p:spPr>
          <a:xfrm>
            <a:off x="6355080" y="1417320"/>
            <a:ext cx="2286000" cy="1737360"/>
          </a:xfrm>
          <a:prstGeom prst="rect">
            <a:avLst/>
          </a:prstGeom>
          <a:noFill/>
          <a:ln/>
        </p:spPr>
        <p:txBody>
          <a:bodyPr wrap="square" lIns="0" tIns="0" rIns="0" bIns="0" rtlCol="0" anchor="t"/>
          <a:lstStyle/>
          <a:p>
            <a:pPr marL="0" indent="0">
              <a:lnSpc>
                <a:spcPct val="110000"/>
              </a:lnSpc>
              <a:buNone/>
            </a:pPr>
            <a:r>
              <a:rPr lang="en-US" sz="1600" b="1" dirty="0">
                <a:solidFill>
                  <a:srgbClr val="1F497D"/>
                </a:solidFill>
                <a:latin typeface="Calibri" pitchFamily="34" charset="0"/>
                <a:ea typeface="Calibri" pitchFamily="34" charset="-122"/>
                <a:cs typeface="Calibri" pitchFamily="34" charset="-120"/>
              </a:rPr>
              <a:t>Visible Results
</a:t>
            </a:r>
            <a:r>
              <a:rPr lang="en-US" sz="1000" dirty="0">
                <a:solidFill>
                  <a:srgbClr val="1A1A1A"/>
                </a:solidFill>
                <a:latin typeface="Calibri" pitchFamily="34" charset="0"/>
                <a:ea typeface="Calibri" pitchFamily="34" charset="-122"/>
                <a:cs typeface="Calibri" pitchFamily="34" charset="-120"/>
              </a:rPr>
              <a:t>Authorized CDAO data stewards can review question &amp; answer activity — every user question asked, the code that was run to retrieve an answer and the agent answer sent back to the user.</a:t>
            </a:r>
            <a:endParaRPr lang="en-US" sz="1600" dirty="0"/>
          </a:p>
        </p:txBody>
      </p:sp>
      <p:sp>
        <p:nvSpPr>
          <p:cNvPr id="10" name="Shape 7"/>
          <p:cNvSpPr/>
          <p:nvPr/>
        </p:nvSpPr>
        <p:spPr>
          <a:xfrm>
            <a:off x="411480" y="3657600"/>
            <a:ext cx="8275320" cy="868680"/>
          </a:xfrm>
          <a:prstGeom prst="roundRect">
            <a:avLst>
              <a:gd name="adj" fmla="val 5263"/>
            </a:avLst>
          </a:prstGeom>
          <a:solidFill>
            <a:srgbClr val="EEF3FA"/>
          </a:solidFill>
          <a:ln w="12700">
            <a:solidFill>
              <a:srgbClr val="DCE6F1"/>
            </a:solidFill>
            <a:prstDash val="solid"/>
          </a:ln>
        </p:spPr>
        <p:txBody>
          <a:bodyPr/>
          <a:lstStyle/>
          <a:p>
            <a:endParaRPr lang="en-US"/>
          </a:p>
        </p:txBody>
      </p:sp>
      <p:sp>
        <p:nvSpPr>
          <p:cNvPr id="11" name="Text 8"/>
          <p:cNvSpPr/>
          <p:nvPr/>
        </p:nvSpPr>
        <p:spPr>
          <a:xfrm>
            <a:off x="521208" y="3730752"/>
            <a:ext cx="8055864" cy="722376"/>
          </a:xfrm>
          <a:prstGeom prst="rect">
            <a:avLst/>
          </a:prstGeom>
          <a:noFill/>
          <a:ln/>
        </p:spPr>
        <p:txBody>
          <a:bodyPr wrap="square" lIns="0" tIns="0" rIns="0" bIns="0" rtlCol="0" anchor="t"/>
          <a:lstStyle/>
          <a:p>
            <a:pPr marL="0" indent="0">
              <a:lnSpc>
                <a:spcPct val="105000"/>
              </a:lnSpc>
              <a:buNone/>
            </a:pPr>
            <a:r>
              <a:rPr lang="en-US" sz="1100" b="1" dirty="0">
                <a:solidFill>
                  <a:srgbClr val="1F497D"/>
                </a:solidFill>
                <a:latin typeface="Calibri" pitchFamily="34" charset="0"/>
                <a:ea typeface="Calibri" pitchFamily="34" charset="-122"/>
                <a:cs typeface="Calibri" pitchFamily="34" charset="-120"/>
              </a:rPr>
              <a:t>How we get there
</a:t>
            </a:r>
            <a:r>
              <a:rPr lang="en-US" sz="1000" dirty="0">
                <a:solidFill>
                  <a:srgbClr val="1A1A1A"/>
                </a:solidFill>
                <a:latin typeface="Calibri" pitchFamily="34" charset="0"/>
                <a:ea typeface="Calibri" pitchFamily="34" charset="-122"/>
                <a:cs typeface="Calibri" pitchFamily="34" charset="-120"/>
              </a:rPr>
              <a:t>Databricks turns the features on, and we supply the USCIS knowledge, the testing, and the oversight that make the answers solid. </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475488"/>
            <a:ext cx="6949440" cy="384048"/>
          </a:xfrm>
          <a:prstGeom prst="rect">
            <a:avLst/>
          </a:prstGeom>
          <a:noFill/>
          <a:ln/>
        </p:spPr>
        <p:txBody>
          <a:bodyPr wrap="square" lIns="0" tIns="0" rIns="0" bIns="0" rtlCol="0" anchor="ctr"/>
          <a:lstStyle/>
          <a:p>
            <a:pPr marL="0" indent="0">
              <a:buNone/>
            </a:pPr>
            <a:r>
              <a:rPr lang="en-US" sz="1700" b="1" dirty="0">
                <a:solidFill>
                  <a:srgbClr val="1F497D"/>
                </a:solidFill>
                <a:latin typeface="Calibri" pitchFamily="34" charset="0"/>
                <a:ea typeface="Calibri" pitchFamily="34" charset="-122"/>
                <a:cs typeface="Calibri" pitchFamily="34" charset="-120"/>
              </a:rPr>
              <a:t>Verifiable Answers</a:t>
            </a:r>
            <a:endParaRPr lang="en-US" sz="1700" dirty="0"/>
          </a:p>
        </p:txBody>
      </p:sp>
      <p:sp>
        <p:nvSpPr>
          <p:cNvPr id="4" name="Shape 1"/>
          <p:cNvSpPr/>
          <p:nvPr/>
        </p:nvSpPr>
        <p:spPr>
          <a:xfrm>
            <a:off x="365760" y="1051560"/>
            <a:ext cx="4572000" cy="3566160"/>
          </a:xfrm>
          <a:prstGeom prst="roundRect">
            <a:avLst>
              <a:gd name="adj" fmla="val 1282"/>
            </a:avLst>
          </a:prstGeom>
          <a:solidFill>
            <a:srgbClr val="FFFFFF"/>
          </a:solidFill>
          <a:ln w="12700">
            <a:solidFill>
              <a:srgbClr val="DCE6F1"/>
            </a:solidFill>
            <a:prstDash val="solid"/>
          </a:ln>
        </p:spPr>
        <p:txBody>
          <a:bodyPr/>
          <a:lstStyle/>
          <a:p>
            <a:endParaRPr lang="en-US"/>
          </a:p>
        </p:txBody>
      </p:sp>
      <p:sp>
        <p:nvSpPr>
          <p:cNvPr id="5" name="Shape 2"/>
          <p:cNvSpPr/>
          <p:nvPr/>
        </p:nvSpPr>
        <p:spPr>
          <a:xfrm>
            <a:off x="548640" y="1234440"/>
            <a:ext cx="4206240" cy="548640"/>
          </a:xfrm>
          <a:prstGeom prst="roundRect">
            <a:avLst>
              <a:gd name="adj" fmla="val 8333"/>
            </a:avLst>
          </a:prstGeom>
          <a:solidFill>
            <a:srgbClr val="DCE9F7"/>
          </a:solidFill>
          <a:ln/>
        </p:spPr>
        <p:txBody>
          <a:bodyPr/>
          <a:lstStyle/>
          <a:p>
            <a:endParaRPr lang="en-US"/>
          </a:p>
        </p:txBody>
      </p:sp>
      <p:sp>
        <p:nvSpPr>
          <p:cNvPr id="6" name="Text 3"/>
          <p:cNvSpPr/>
          <p:nvPr/>
        </p:nvSpPr>
        <p:spPr>
          <a:xfrm>
            <a:off x="658368" y="1261872"/>
            <a:ext cx="3986784" cy="493776"/>
          </a:xfrm>
          <a:prstGeom prst="rect">
            <a:avLst/>
          </a:prstGeom>
          <a:noFill/>
          <a:ln/>
        </p:spPr>
        <p:txBody>
          <a:bodyPr wrap="square" lIns="0" tIns="0" rIns="0" bIns="0" rtlCol="0" anchor="ctr"/>
          <a:lstStyle/>
          <a:p>
            <a:pPr marL="0" indent="0">
              <a:buNone/>
            </a:pPr>
            <a:r>
              <a:rPr lang="en-US" sz="900" i="1" dirty="0">
                <a:solidFill>
                  <a:srgbClr val="1F497D"/>
                </a:solidFill>
                <a:latin typeface="Calibri" pitchFamily="34" charset="0"/>
                <a:ea typeface="Calibri" pitchFamily="34" charset="-122"/>
                <a:cs typeface="Calibri" pitchFamily="34" charset="-120"/>
              </a:rPr>
              <a:t>“How many I-765 forms were filed in June, and how does that compare to May?”</a:t>
            </a:r>
            <a:endParaRPr lang="en-US" sz="900" dirty="0"/>
          </a:p>
        </p:txBody>
      </p:sp>
      <p:sp>
        <p:nvSpPr>
          <p:cNvPr id="7" name="Text 4"/>
          <p:cNvSpPr/>
          <p:nvPr/>
        </p:nvSpPr>
        <p:spPr>
          <a:xfrm>
            <a:off x="658368" y="1920240"/>
            <a:ext cx="3986784" cy="45720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41,238 I-765 filings in June </a:t>
            </a:r>
            <a:r>
              <a:rPr lang="en-US" sz="1000" dirty="0">
                <a:solidFill>
                  <a:srgbClr val="1A1A1A"/>
                </a:solidFill>
                <a:latin typeface="Calibri" pitchFamily="34" charset="0"/>
                <a:ea typeface="Calibri" pitchFamily="34" charset="-122"/>
                <a:cs typeface="Calibri" pitchFamily="34" charset="-120"/>
              </a:rPr>
              <a:t>— up 6.2% from May (38,824).</a:t>
            </a:r>
            <a:endParaRPr lang="en-US" sz="1200" dirty="0"/>
          </a:p>
        </p:txBody>
      </p:sp>
      <p:sp>
        <p:nvSpPr>
          <p:cNvPr id="8" name="Shape 5"/>
          <p:cNvSpPr/>
          <p:nvPr/>
        </p:nvSpPr>
        <p:spPr>
          <a:xfrm>
            <a:off x="914400" y="2880360"/>
            <a:ext cx="502920" cy="685800"/>
          </a:xfrm>
          <a:prstGeom prst="rect">
            <a:avLst/>
          </a:prstGeom>
          <a:solidFill>
            <a:srgbClr val="9DB9DA"/>
          </a:solidFill>
          <a:ln/>
        </p:spPr>
        <p:txBody>
          <a:bodyPr/>
          <a:lstStyle/>
          <a:p>
            <a:endParaRPr lang="en-US"/>
          </a:p>
        </p:txBody>
      </p:sp>
      <p:sp>
        <p:nvSpPr>
          <p:cNvPr id="9" name="Shape 6"/>
          <p:cNvSpPr/>
          <p:nvPr/>
        </p:nvSpPr>
        <p:spPr>
          <a:xfrm>
            <a:off x="1600200" y="2724912"/>
            <a:ext cx="502920" cy="841248"/>
          </a:xfrm>
          <a:prstGeom prst="rect">
            <a:avLst/>
          </a:prstGeom>
          <a:solidFill>
            <a:srgbClr val="1F497D"/>
          </a:solidFill>
          <a:ln/>
        </p:spPr>
        <p:txBody>
          <a:bodyPr/>
          <a:lstStyle/>
          <a:p>
            <a:endParaRPr lang="en-US"/>
          </a:p>
        </p:txBody>
      </p:sp>
      <p:sp>
        <p:nvSpPr>
          <p:cNvPr id="10" name="Text 7"/>
          <p:cNvSpPr/>
          <p:nvPr/>
        </p:nvSpPr>
        <p:spPr>
          <a:xfrm>
            <a:off x="868680" y="3584448"/>
            <a:ext cx="640080" cy="228600"/>
          </a:xfrm>
          <a:prstGeom prst="rect">
            <a:avLst/>
          </a:prstGeom>
          <a:noFill/>
          <a:ln/>
        </p:spPr>
        <p:txBody>
          <a:bodyPr wrap="square" lIns="0" tIns="0" rIns="0" bIns="0" rtlCol="0" anchor="ctr"/>
          <a:lstStyle/>
          <a:p>
            <a:pPr marL="0" indent="0" algn="ctr">
              <a:buNone/>
            </a:pPr>
            <a:r>
              <a:rPr lang="en-US" sz="800" dirty="0">
                <a:solidFill>
                  <a:srgbClr val="595959"/>
                </a:solidFill>
                <a:latin typeface="Calibri" pitchFamily="34" charset="0"/>
                <a:ea typeface="Calibri" pitchFamily="34" charset="-122"/>
                <a:cs typeface="Calibri" pitchFamily="34" charset="-120"/>
              </a:rPr>
              <a:t>May</a:t>
            </a:r>
            <a:endParaRPr lang="en-US" sz="800" dirty="0"/>
          </a:p>
        </p:txBody>
      </p:sp>
      <p:sp>
        <p:nvSpPr>
          <p:cNvPr id="11" name="Text 8"/>
          <p:cNvSpPr/>
          <p:nvPr/>
        </p:nvSpPr>
        <p:spPr>
          <a:xfrm>
            <a:off x="1554480" y="3584448"/>
            <a:ext cx="640080" cy="228600"/>
          </a:xfrm>
          <a:prstGeom prst="rect">
            <a:avLst/>
          </a:prstGeom>
          <a:noFill/>
          <a:ln/>
        </p:spPr>
        <p:txBody>
          <a:bodyPr wrap="square" lIns="0" tIns="0" rIns="0" bIns="0" rtlCol="0" anchor="ctr"/>
          <a:lstStyle/>
          <a:p>
            <a:pPr marL="0" indent="0" algn="ctr">
              <a:buNone/>
            </a:pPr>
            <a:r>
              <a:rPr lang="en-US" sz="800" dirty="0">
                <a:solidFill>
                  <a:srgbClr val="595959"/>
                </a:solidFill>
                <a:latin typeface="Calibri" pitchFamily="34" charset="0"/>
                <a:ea typeface="Calibri" pitchFamily="34" charset="-122"/>
                <a:cs typeface="Calibri" pitchFamily="34" charset="-120"/>
              </a:rPr>
              <a:t>Jun</a:t>
            </a:r>
            <a:endParaRPr lang="en-US" sz="800" dirty="0"/>
          </a:p>
        </p:txBody>
      </p:sp>
      <p:sp>
        <p:nvSpPr>
          <p:cNvPr id="12" name="Shape 9"/>
          <p:cNvSpPr/>
          <p:nvPr/>
        </p:nvSpPr>
        <p:spPr>
          <a:xfrm>
            <a:off x="2514600" y="2788920"/>
            <a:ext cx="1965960" cy="502920"/>
          </a:xfrm>
          <a:prstGeom prst="roundRect">
            <a:avLst>
              <a:gd name="adj" fmla="val 5882"/>
            </a:avLst>
          </a:prstGeom>
          <a:solidFill>
            <a:srgbClr val="FAFBFD"/>
          </a:solidFill>
          <a:ln w="9525">
            <a:solidFill>
              <a:srgbClr val="1F497D"/>
            </a:solidFill>
            <a:prstDash val="dash"/>
          </a:ln>
        </p:spPr>
        <p:txBody>
          <a:bodyPr/>
          <a:lstStyle/>
          <a:p>
            <a:endParaRPr lang="en-US"/>
          </a:p>
        </p:txBody>
      </p:sp>
      <p:sp>
        <p:nvSpPr>
          <p:cNvPr id="13" name="Text 10"/>
          <p:cNvSpPr/>
          <p:nvPr/>
        </p:nvSpPr>
        <p:spPr>
          <a:xfrm>
            <a:off x="2606040" y="2852928"/>
            <a:ext cx="1965960" cy="640080"/>
          </a:xfrm>
          <a:prstGeom prst="rect">
            <a:avLst/>
          </a:prstGeom>
          <a:noFill/>
          <a:ln/>
        </p:spPr>
        <p:txBody>
          <a:bodyPr wrap="square" lIns="0" tIns="0" rIns="0" bIns="0" rtlCol="0" anchor="t"/>
          <a:lstStyle/>
          <a:p>
            <a:pPr marL="0" indent="0">
              <a:buNone/>
            </a:pPr>
            <a:r>
              <a:rPr lang="en-US" sz="850" b="1" dirty="0">
                <a:solidFill>
                  <a:srgbClr val="1F497D"/>
                </a:solidFill>
                <a:latin typeface="Calibri" pitchFamily="34" charset="0"/>
                <a:ea typeface="Calibri" pitchFamily="34" charset="-122"/>
                <a:cs typeface="Calibri" pitchFamily="34" charset="-120"/>
              </a:rPr>
              <a:t>Show SQL &amp; sources
</a:t>
            </a:r>
            <a:r>
              <a:rPr lang="en-US" sz="750" dirty="0">
                <a:solidFill>
                  <a:srgbClr val="595959"/>
                </a:solidFill>
                <a:latin typeface="Calibri" pitchFamily="34" charset="0"/>
                <a:ea typeface="Calibri" pitchFamily="34" charset="-122"/>
                <a:cs typeface="Calibri" pitchFamily="34" charset="-120"/>
              </a:rPr>
              <a:t>the exact query it ran + the NPD tables it read</a:t>
            </a:r>
            <a:endParaRPr lang="en-US" sz="850" dirty="0"/>
          </a:p>
        </p:txBody>
      </p:sp>
      <p:sp>
        <p:nvSpPr>
          <p:cNvPr id="14" name="Shape 11"/>
          <p:cNvSpPr/>
          <p:nvPr/>
        </p:nvSpPr>
        <p:spPr>
          <a:xfrm>
            <a:off x="1051560" y="4069080"/>
            <a:ext cx="1143000" cy="293058"/>
          </a:xfrm>
          <a:prstGeom prst="roundRect">
            <a:avLst>
              <a:gd name="adj" fmla="val 20000"/>
            </a:avLst>
          </a:prstGeom>
          <a:solidFill>
            <a:srgbClr val="BF9000"/>
          </a:solidFill>
          <a:ln/>
        </p:spPr>
        <p:txBody>
          <a:bodyPr/>
          <a:lstStyle/>
          <a:p>
            <a:endParaRPr lang="en-US" dirty="0"/>
          </a:p>
        </p:txBody>
      </p:sp>
      <p:sp>
        <p:nvSpPr>
          <p:cNvPr id="15" name="Text 12"/>
          <p:cNvSpPr/>
          <p:nvPr/>
        </p:nvSpPr>
        <p:spPr>
          <a:xfrm>
            <a:off x="548640" y="3977640"/>
            <a:ext cx="210312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Verified answer</a:t>
            </a:r>
            <a:endParaRPr lang="en-US" sz="1000" dirty="0"/>
          </a:p>
        </p:txBody>
      </p:sp>
      <p:sp>
        <p:nvSpPr>
          <p:cNvPr id="16" name="Shape 13"/>
          <p:cNvSpPr/>
          <p:nvPr/>
        </p:nvSpPr>
        <p:spPr>
          <a:xfrm>
            <a:off x="5166360" y="1051560"/>
            <a:ext cx="3611880" cy="1097280"/>
          </a:xfrm>
          <a:prstGeom prst="roundRect">
            <a:avLst>
              <a:gd name="adj" fmla="val 4167"/>
            </a:avLst>
          </a:prstGeom>
          <a:solidFill>
            <a:srgbClr val="DCE9F7"/>
          </a:solidFill>
          <a:ln w="12700">
            <a:solidFill>
              <a:srgbClr val="DCE6F1"/>
            </a:solidFill>
            <a:prstDash val="solid"/>
          </a:ln>
        </p:spPr>
        <p:txBody>
          <a:bodyPr/>
          <a:lstStyle/>
          <a:p>
            <a:endParaRPr lang="en-US"/>
          </a:p>
        </p:txBody>
      </p:sp>
      <p:sp>
        <p:nvSpPr>
          <p:cNvPr id="17" name="Text 14"/>
          <p:cNvSpPr/>
          <p:nvPr/>
        </p:nvSpPr>
        <p:spPr>
          <a:xfrm>
            <a:off x="5303520" y="1143000"/>
            <a:ext cx="3337560" cy="914400"/>
          </a:xfrm>
          <a:prstGeom prst="rect">
            <a:avLst/>
          </a:prstGeom>
          <a:noFill/>
          <a:ln/>
        </p:spPr>
        <p:txBody>
          <a:bodyPr wrap="square" lIns="0" tIns="0" rIns="0" bIns="0" rtlCol="0" anchor="t"/>
          <a:lstStyle/>
          <a:p>
            <a:pPr marL="0" indent="0">
              <a:buNone/>
            </a:pPr>
            <a:r>
              <a:rPr lang="en-US" sz="1050" b="1" dirty="0">
                <a:solidFill>
                  <a:srgbClr val="1F497D"/>
                </a:solidFill>
                <a:latin typeface="Calibri" pitchFamily="34" charset="0"/>
                <a:ea typeface="Calibri" pitchFamily="34" charset="-122"/>
                <a:cs typeface="Calibri" pitchFamily="34" charset="-120"/>
              </a:rPr>
              <a:t>User asks question in natural language
</a:t>
            </a:r>
            <a:r>
              <a:rPr lang="en-US" sz="900" dirty="0">
                <a:solidFill>
                  <a:srgbClr val="1A1A1A"/>
                </a:solidFill>
                <a:latin typeface="Calibri" pitchFamily="34" charset="0"/>
                <a:ea typeface="Calibri" pitchFamily="34" charset="-122"/>
                <a:cs typeface="Calibri" pitchFamily="34" charset="-120"/>
              </a:rPr>
              <a:t>Typed like a chat message. No code, no training required.</a:t>
            </a:r>
            <a:endParaRPr lang="en-US" sz="1050" dirty="0"/>
          </a:p>
        </p:txBody>
      </p:sp>
      <p:sp>
        <p:nvSpPr>
          <p:cNvPr id="18" name="Shape 15"/>
          <p:cNvSpPr/>
          <p:nvPr/>
        </p:nvSpPr>
        <p:spPr>
          <a:xfrm>
            <a:off x="5166360" y="2286000"/>
            <a:ext cx="3611880" cy="1097280"/>
          </a:xfrm>
          <a:prstGeom prst="roundRect">
            <a:avLst>
              <a:gd name="adj" fmla="val 4167"/>
            </a:avLst>
          </a:prstGeom>
          <a:solidFill>
            <a:srgbClr val="FFFFFF"/>
          </a:solidFill>
          <a:ln w="9525">
            <a:solidFill>
              <a:srgbClr val="1F497D"/>
            </a:solidFill>
            <a:prstDash val="dash"/>
          </a:ln>
        </p:spPr>
        <p:txBody>
          <a:bodyPr/>
          <a:lstStyle/>
          <a:p>
            <a:endParaRPr lang="en-US"/>
          </a:p>
        </p:txBody>
      </p:sp>
      <p:sp>
        <p:nvSpPr>
          <p:cNvPr id="19" name="Text 16"/>
          <p:cNvSpPr/>
          <p:nvPr/>
        </p:nvSpPr>
        <p:spPr>
          <a:xfrm>
            <a:off x="5303520" y="2377440"/>
            <a:ext cx="3337560" cy="914400"/>
          </a:xfrm>
          <a:prstGeom prst="rect">
            <a:avLst/>
          </a:prstGeom>
          <a:noFill/>
          <a:ln/>
        </p:spPr>
        <p:txBody>
          <a:bodyPr wrap="square" lIns="0" tIns="0" rIns="0" bIns="0" rtlCol="0" anchor="t"/>
          <a:lstStyle/>
          <a:p>
            <a:pPr marL="0" indent="0">
              <a:buNone/>
            </a:pPr>
            <a:r>
              <a:rPr lang="en-US" sz="1050" b="1" dirty="0">
                <a:solidFill>
                  <a:srgbClr val="1F497D"/>
                </a:solidFill>
                <a:latin typeface="Calibri" pitchFamily="34" charset="0"/>
                <a:ea typeface="Calibri" pitchFamily="34" charset="-122"/>
                <a:cs typeface="Calibri" pitchFamily="34" charset="-120"/>
              </a:rPr>
              <a:t>Every answer shows its receipt
</a:t>
            </a:r>
            <a:r>
              <a:rPr lang="en-US" sz="900" dirty="0">
                <a:solidFill>
                  <a:srgbClr val="1A1A1A"/>
                </a:solidFill>
                <a:latin typeface="Calibri" pitchFamily="34" charset="0"/>
                <a:ea typeface="Calibri" pitchFamily="34" charset="-122"/>
                <a:cs typeface="Calibri" pitchFamily="34" charset="-120"/>
              </a:rPr>
              <a:t>One click reveals the exact query and the tables it read — anyone can check this.</a:t>
            </a:r>
            <a:endParaRPr lang="en-US" sz="1050" dirty="0"/>
          </a:p>
        </p:txBody>
      </p:sp>
      <p:sp>
        <p:nvSpPr>
          <p:cNvPr id="20" name="Shape 17"/>
          <p:cNvSpPr/>
          <p:nvPr/>
        </p:nvSpPr>
        <p:spPr>
          <a:xfrm>
            <a:off x="5166360" y="3817620"/>
            <a:ext cx="3611880" cy="548640"/>
          </a:xfrm>
          <a:prstGeom prst="roundRect">
            <a:avLst>
              <a:gd name="adj" fmla="val 4167"/>
            </a:avLst>
          </a:prstGeom>
          <a:solidFill>
            <a:srgbClr val="BF9000"/>
          </a:solidFill>
          <a:ln w="12700">
            <a:solidFill>
              <a:srgbClr val="DCE6F1"/>
            </a:solidFill>
            <a:prstDash val="solid"/>
          </a:ln>
        </p:spPr>
        <p:txBody>
          <a:bodyPr/>
          <a:lstStyle/>
          <a:p>
            <a:endParaRPr lang="en-US"/>
          </a:p>
        </p:txBody>
      </p:sp>
      <p:sp>
        <p:nvSpPr>
          <p:cNvPr id="21" name="Text 18"/>
          <p:cNvSpPr/>
          <p:nvPr/>
        </p:nvSpPr>
        <p:spPr>
          <a:xfrm>
            <a:off x="5303520" y="3904938"/>
            <a:ext cx="3337560" cy="914400"/>
          </a:xfrm>
          <a:prstGeom prst="rect">
            <a:avLst/>
          </a:prstGeom>
          <a:noFill/>
          <a:ln/>
        </p:spPr>
        <p:txBody>
          <a:bodyPr wrap="square" lIns="0" tIns="0" rIns="0" bIns="0" rtlCol="0" anchor="t"/>
          <a:lstStyle/>
          <a:p>
            <a:pPr marL="0" indent="0">
              <a:buNone/>
            </a:pPr>
            <a:r>
              <a:rPr lang="en-US" sz="1050" b="1" dirty="0">
                <a:solidFill>
                  <a:srgbClr val="FFFFFF"/>
                </a:solidFill>
                <a:latin typeface="Calibri" pitchFamily="34" charset="0"/>
                <a:ea typeface="Calibri" pitchFamily="34" charset="-122"/>
                <a:cs typeface="Calibri" pitchFamily="34" charset="-120"/>
              </a:rPr>
              <a:t>Trust is labeled
</a:t>
            </a:r>
            <a:r>
              <a:rPr lang="en-US" sz="900" dirty="0">
                <a:solidFill>
                  <a:srgbClr val="FFF3D6"/>
                </a:solidFill>
                <a:latin typeface="Calibri" pitchFamily="34" charset="0"/>
                <a:ea typeface="Calibri" pitchFamily="34" charset="-122"/>
                <a:cs typeface="Calibri" pitchFamily="34" charset="-120"/>
              </a:rPr>
              <a:t>Answers from queries that are pre-approved are badged as Verified. </a:t>
            </a:r>
            <a:endParaRPr lang="en-US" sz="1050" dirty="0"/>
          </a:p>
        </p:txBody>
      </p:sp>
      <p:sp>
        <p:nvSpPr>
          <p:cNvPr id="22" name="Shape 11">
            <a:extLst>
              <a:ext uri="{FF2B5EF4-FFF2-40B4-BE49-F238E27FC236}">
                <a16:creationId xmlns:a16="http://schemas.microsoft.com/office/drawing/2014/main" id="{C3B5F578-3109-E809-E6F1-6FC0C33BAC4C}"/>
              </a:ext>
            </a:extLst>
          </p:cNvPr>
          <p:cNvSpPr/>
          <p:nvPr/>
        </p:nvSpPr>
        <p:spPr>
          <a:xfrm>
            <a:off x="548640" y="3925824"/>
            <a:ext cx="2103120" cy="457200"/>
          </a:xfrm>
          <a:prstGeom prst="roundRect">
            <a:avLst>
              <a:gd name="adj" fmla="val 20000"/>
            </a:avLst>
          </a:prstGeom>
          <a:solidFill>
            <a:srgbClr val="BF9000"/>
          </a:solidFill>
          <a:ln/>
        </p:spPr>
        <p:txBody>
          <a:bodyPr/>
          <a:lstStyle/>
          <a:p>
            <a:endParaRPr lang="en-US"/>
          </a:p>
        </p:txBody>
      </p:sp>
      <p:sp>
        <p:nvSpPr>
          <p:cNvPr id="24" name="Text 12">
            <a:extLst>
              <a:ext uri="{FF2B5EF4-FFF2-40B4-BE49-F238E27FC236}">
                <a16:creationId xmlns:a16="http://schemas.microsoft.com/office/drawing/2014/main" id="{84B4BD33-CA1B-10A3-22EE-140352A760FD}"/>
              </a:ext>
            </a:extLst>
          </p:cNvPr>
          <p:cNvSpPr/>
          <p:nvPr/>
        </p:nvSpPr>
        <p:spPr>
          <a:xfrm>
            <a:off x="548640" y="3925824"/>
            <a:ext cx="2103120" cy="4572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Verified answer</a:t>
            </a:r>
            <a:endParaRPr lang="en-US" sz="1000" dirty="0"/>
          </a:p>
        </p:txBody>
      </p:sp>
      <p:sp>
        <p:nvSpPr>
          <p:cNvPr id="28" name="TextBox 27">
            <a:extLst>
              <a:ext uri="{FF2B5EF4-FFF2-40B4-BE49-F238E27FC236}">
                <a16:creationId xmlns:a16="http://schemas.microsoft.com/office/drawing/2014/main" id="{CCEF509C-4439-E068-AED7-6B3817E9CEF6}"/>
              </a:ext>
            </a:extLst>
          </p:cNvPr>
          <p:cNvSpPr txBox="1"/>
          <p:nvPr/>
        </p:nvSpPr>
        <p:spPr>
          <a:xfrm>
            <a:off x="594360" y="4928616"/>
            <a:ext cx="8092440" cy="164592"/>
          </a:xfrm>
          <a:prstGeom prst="rect">
            <a:avLst/>
          </a:prstGeom>
          <a:noFill/>
        </p:spPr>
        <p:txBody>
          <a:bodyPr wrap="none" lIns="0" tIns="0" rIns="0" bIns="0">
            <a:spAutoFit/>
          </a:bodyPr>
          <a:lstStyle/>
          <a:p>
            <a:pPr algn="r"/>
            <a:r>
              <a:rPr sz="800" i="1" dirty="0">
                <a:solidFill>
                  <a:srgbClr val="707070"/>
                </a:solidFill>
                <a:latin typeface="Calibri"/>
              </a:rPr>
              <a:t>Illustrative example — sample values, not live USCIS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475488"/>
            <a:ext cx="6949440" cy="384048"/>
          </a:xfrm>
          <a:prstGeom prst="rect">
            <a:avLst/>
          </a:prstGeom>
          <a:noFill/>
          <a:ln/>
        </p:spPr>
        <p:txBody>
          <a:bodyPr wrap="square" lIns="0" tIns="0" rIns="0" bIns="0" rtlCol="0" anchor="ctr"/>
          <a:lstStyle/>
          <a:p>
            <a:pPr marL="0" indent="0">
              <a:buNone/>
            </a:pPr>
            <a:r>
              <a:rPr lang="en-US" sz="1700" b="1" dirty="0">
                <a:solidFill>
                  <a:srgbClr val="1F497D"/>
                </a:solidFill>
                <a:latin typeface="Calibri" pitchFamily="34" charset="0"/>
                <a:ea typeface="Calibri" pitchFamily="34" charset="-122"/>
                <a:cs typeface="Calibri" pitchFamily="34" charset="-120"/>
              </a:rPr>
              <a:t>Databricks Features vs USCIS Lift</a:t>
            </a:r>
            <a:endParaRPr lang="en-US" sz="1700" dirty="0"/>
          </a:p>
        </p:txBody>
      </p:sp>
      <p:sp>
        <p:nvSpPr>
          <p:cNvPr id="4" name="Shape 1"/>
          <p:cNvSpPr/>
          <p:nvPr/>
        </p:nvSpPr>
        <p:spPr>
          <a:xfrm>
            <a:off x="320040" y="1005840"/>
            <a:ext cx="4114800" cy="3063240"/>
          </a:xfrm>
          <a:prstGeom prst="roundRect">
            <a:avLst>
              <a:gd name="adj" fmla="val 1493"/>
            </a:avLst>
          </a:prstGeom>
          <a:solidFill>
            <a:srgbClr val="1F497D"/>
          </a:solidFill>
          <a:ln w="12700">
            <a:solidFill>
              <a:srgbClr val="DCE6F1"/>
            </a:solidFill>
            <a:prstDash val="solid"/>
          </a:ln>
        </p:spPr>
        <p:txBody>
          <a:bodyPr/>
          <a:lstStyle/>
          <a:p>
            <a:endParaRPr lang="en-US"/>
          </a:p>
        </p:txBody>
      </p:sp>
      <p:sp>
        <p:nvSpPr>
          <p:cNvPr id="5" name="Text 2"/>
          <p:cNvSpPr/>
          <p:nvPr/>
        </p:nvSpPr>
        <p:spPr>
          <a:xfrm>
            <a:off x="429768" y="1078992"/>
            <a:ext cx="3895344" cy="2916936"/>
          </a:xfrm>
          <a:prstGeom prst="rect">
            <a:avLst/>
          </a:prstGeom>
          <a:noFill/>
          <a:ln/>
        </p:spPr>
        <p:txBody>
          <a:bodyPr wrap="square" lIns="0" tIns="0" rIns="0" bIns="0" rtlCol="0" anchor="t"/>
          <a:lstStyle/>
          <a:p>
            <a:pPr marL="0" indent="0">
              <a:lnSpc>
                <a:spcPct val="105000"/>
              </a:lnSpc>
              <a:buNone/>
            </a:pPr>
            <a:r>
              <a:rPr lang="en-US" b="1" dirty="0">
                <a:solidFill>
                  <a:srgbClr val="FFFFFF"/>
                </a:solidFill>
                <a:latin typeface="Calibri" pitchFamily="34" charset="0"/>
                <a:ea typeface="Calibri" pitchFamily="34" charset="-122"/>
                <a:cs typeface="Calibri" pitchFamily="34" charset="-120"/>
              </a:rPr>
              <a:t>DATABRICKS FEATURES</a:t>
            </a:r>
            <a:endParaRPr lang="en-US" dirty="0"/>
          </a:p>
        </p:txBody>
      </p:sp>
      <p:sp>
        <p:nvSpPr>
          <p:cNvPr id="6" name="Text 3"/>
          <p:cNvSpPr/>
          <p:nvPr/>
        </p:nvSpPr>
        <p:spPr>
          <a:xfrm>
            <a:off x="502920" y="1417320"/>
            <a:ext cx="3794760" cy="2286000"/>
          </a:xfrm>
          <a:prstGeom prst="rect">
            <a:avLst/>
          </a:prstGeom>
          <a:noFill/>
          <a:ln/>
        </p:spPr>
        <p:txBody>
          <a:bodyPr wrap="square" lIns="0" tIns="0" rIns="0" bIns="0" rtlCol="0" anchor="ctr"/>
          <a:lstStyle/>
          <a:p>
            <a:pPr marL="342900" indent="-342900">
              <a:spcAft>
                <a:spcPts val="800"/>
              </a:spcAft>
              <a:buSzPct val="100000"/>
              <a:buChar char="•"/>
            </a:pPr>
            <a:r>
              <a:rPr lang="en-US" sz="950" dirty="0">
                <a:solidFill>
                  <a:srgbClr val="FFFFFF"/>
                </a:solidFill>
                <a:latin typeface="Calibri" pitchFamily="34" charset="0"/>
                <a:ea typeface="Calibri" pitchFamily="34" charset="-122"/>
                <a:cs typeface="Calibri" pitchFamily="34" charset="-120"/>
              </a:rPr>
              <a:t>Genie Agents / Genie Code Assist — chatbot-like question-answering agents and the engineers' coding assistant</a:t>
            </a:r>
            <a:endParaRPr lang="en-US" sz="950" dirty="0"/>
          </a:p>
          <a:p>
            <a:pPr marL="342900" indent="-342900">
              <a:spcAft>
                <a:spcPts val="800"/>
              </a:spcAft>
              <a:buSzPct val="100000"/>
              <a:buChar char="•"/>
            </a:pPr>
            <a:r>
              <a:rPr lang="en-US" sz="950" dirty="0">
                <a:solidFill>
                  <a:srgbClr val="FFFFFF"/>
                </a:solidFill>
                <a:latin typeface="Calibri" pitchFamily="34" charset="0"/>
                <a:ea typeface="Calibri" pitchFamily="34" charset="-122"/>
                <a:cs typeface="Calibri" pitchFamily="34" charset="-120"/>
              </a:rPr>
              <a:t>The compute that powers the tools &amp; harness— the reasoning loop, SQL engine, retries, and permission checks</a:t>
            </a:r>
            <a:endParaRPr lang="en-US" sz="950" dirty="0"/>
          </a:p>
          <a:p>
            <a:pPr marL="342900" indent="-342900">
              <a:spcAft>
                <a:spcPts val="800"/>
              </a:spcAft>
              <a:buSzPct val="100000"/>
              <a:buChar char="•"/>
            </a:pPr>
            <a:r>
              <a:rPr lang="en-US" sz="950" dirty="0">
                <a:solidFill>
                  <a:srgbClr val="FFFFFF"/>
                </a:solidFill>
                <a:latin typeface="Calibri" pitchFamily="34" charset="0"/>
                <a:ea typeface="Calibri" pitchFamily="34" charset="-122"/>
                <a:cs typeface="Calibri" pitchFamily="34" charset="-120"/>
              </a:rPr>
              <a:t>Catalog-grounded context — better descriptions and registered relationships improve table selection and SQL queries</a:t>
            </a:r>
            <a:endParaRPr lang="en-US" sz="950" dirty="0"/>
          </a:p>
          <a:p>
            <a:pPr marL="342900" indent="-342900">
              <a:spcAft>
                <a:spcPts val="800"/>
              </a:spcAft>
              <a:buSzPct val="100000"/>
              <a:buChar char="•"/>
            </a:pPr>
            <a:r>
              <a:rPr lang="en-US" sz="950" dirty="0">
                <a:solidFill>
                  <a:srgbClr val="FFFFFF"/>
                </a:solidFill>
                <a:latin typeface="Calibri" pitchFamily="34" charset="0"/>
                <a:ea typeface="Calibri" pitchFamily="34" charset="-122"/>
                <a:cs typeface="Calibri" pitchFamily="34" charset="-120"/>
              </a:rPr>
              <a:t>Usage meters, budgets, and logs</a:t>
            </a:r>
            <a:endParaRPr lang="en-US" sz="950" dirty="0"/>
          </a:p>
        </p:txBody>
      </p:sp>
      <p:sp>
        <p:nvSpPr>
          <p:cNvPr id="7" name="Shape 4"/>
          <p:cNvSpPr/>
          <p:nvPr/>
        </p:nvSpPr>
        <p:spPr>
          <a:xfrm>
            <a:off x="1481328" y="3719060"/>
            <a:ext cx="1737360" cy="274320"/>
          </a:xfrm>
          <a:prstGeom prst="roundRect">
            <a:avLst>
              <a:gd name="adj" fmla="val 26667"/>
            </a:avLst>
          </a:prstGeom>
          <a:solidFill>
            <a:srgbClr val="EEF3FA"/>
          </a:solidFill>
          <a:ln w="9525">
            <a:solidFill>
              <a:srgbClr val="1F497D"/>
            </a:solidFill>
            <a:prstDash val="solid"/>
          </a:ln>
        </p:spPr>
        <p:txBody>
          <a:bodyPr/>
          <a:lstStyle/>
          <a:p>
            <a:endParaRPr lang="en-US"/>
          </a:p>
        </p:txBody>
      </p:sp>
      <p:sp>
        <p:nvSpPr>
          <p:cNvPr id="8" name="Text 5">
            <a:hlinkClick r:id="rId4" action="ppaction://hlinksldjump"/>
          </p:cNvPr>
          <p:cNvSpPr/>
          <p:nvPr/>
        </p:nvSpPr>
        <p:spPr>
          <a:xfrm>
            <a:off x="1481328" y="3719060"/>
            <a:ext cx="1737360" cy="274320"/>
          </a:xfrm>
          <a:prstGeom prst="rect">
            <a:avLst/>
          </a:prstGeom>
          <a:noFill/>
          <a:ln/>
        </p:spPr>
        <p:txBody>
          <a:bodyPr wrap="square" lIns="0" tIns="0" rIns="0" bIns="0" rtlCol="0" anchor="ctr"/>
          <a:lstStyle/>
          <a:p>
            <a:pPr marL="0" indent="0" algn="ctr">
              <a:buNone/>
            </a:pPr>
            <a:r>
              <a:rPr lang="en-US" sz="800" b="1" u="sng" dirty="0">
                <a:solidFill>
                  <a:srgbClr val="1F497D"/>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What is the harness?  →</a:t>
            </a:r>
            <a:endParaRPr lang="en-US" sz="800" dirty="0"/>
          </a:p>
        </p:txBody>
      </p:sp>
      <p:sp>
        <p:nvSpPr>
          <p:cNvPr id="9" name="Shape 6"/>
          <p:cNvSpPr/>
          <p:nvPr/>
        </p:nvSpPr>
        <p:spPr>
          <a:xfrm>
            <a:off x="4709160" y="1005840"/>
            <a:ext cx="4114800" cy="3063240"/>
          </a:xfrm>
          <a:prstGeom prst="roundRect">
            <a:avLst>
              <a:gd name="adj" fmla="val 1493"/>
            </a:avLst>
          </a:prstGeom>
          <a:solidFill>
            <a:srgbClr val="EEF3FA"/>
          </a:solidFill>
          <a:ln w="12700">
            <a:solidFill>
              <a:srgbClr val="DCE6F1"/>
            </a:solidFill>
            <a:prstDash val="solid"/>
          </a:ln>
        </p:spPr>
        <p:txBody>
          <a:bodyPr/>
          <a:lstStyle/>
          <a:p>
            <a:endParaRPr lang="en-US"/>
          </a:p>
        </p:txBody>
      </p:sp>
      <p:sp>
        <p:nvSpPr>
          <p:cNvPr id="10" name="Text 7"/>
          <p:cNvSpPr/>
          <p:nvPr/>
        </p:nvSpPr>
        <p:spPr>
          <a:xfrm>
            <a:off x="4818888" y="1078992"/>
            <a:ext cx="3895344" cy="2916936"/>
          </a:xfrm>
          <a:prstGeom prst="rect">
            <a:avLst/>
          </a:prstGeom>
          <a:noFill/>
          <a:ln/>
        </p:spPr>
        <p:txBody>
          <a:bodyPr wrap="square" lIns="0" tIns="0" rIns="0" bIns="0" rtlCol="0" anchor="t"/>
          <a:lstStyle/>
          <a:p>
            <a:pPr marL="0" indent="0">
              <a:lnSpc>
                <a:spcPct val="105000"/>
              </a:lnSpc>
              <a:buNone/>
            </a:pPr>
            <a:r>
              <a:rPr lang="en-US" b="1" dirty="0"/>
              <a:t>USCIS RESPONSIBILITY</a:t>
            </a:r>
          </a:p>
        </p:txBody>
      </p:sp>
      <p:sp>
        <p:nvSpPr>
          <p:cNvPr id="11" name="Text 8"/>
          <p:cNvSpPr/>
          <p:nvPr/>
        </p:nvSpPr>
        <p:spPr>
          <a:xfrm>
            <a:off x="4892040" y="1417320"/>
            <a:ext cx="3794760" cy="2286000"/>
          </a:xfrm>
          <a:prstGeom prst="rect">
            <a:avLst/>
          </a:prstGeom>
          <a:noFill/>
          <a:ln/>
        </p:spPr>
        <p:txBody>
          <a:bodyPr wrap="square" lIns="0" tIns="0" rIns="0" bIns="0" rtlCol="0" anchor="ctr"/>
          <a:lstStyle/>
          <a:p>
            <a:pPr marL="342900" indent="-342900">
              <a:spcAft>
                <a:spcPts val="700"/>
              </a:spcAft>
              <a:buSzPct val="100000"/>
              <a:buChar char="•"/>
            </a:pPr>
            <a:r>
              <a:rPr lang="en-US" sz="950" dirty="0">
                <a:solidFill>
                  <a:srgbClr val="1A1A1A"/>
                </a:solidFill>
                <a:latin typeface="Calibri" pitchFamily="34" charset="0"/>
                <a:ea typeface="Calibri" pitchFamily="34" charset="-122"/>
                <a:cs typeface="Calibri" pitchFamily="34" charset="-120"/>
              </a:rPr>
              <a:t>A directory for our data — names, descriptions, and tags on all tables used by Databricks Agents</a:t>
            </a:r>
            <a:endParaRPr lang="en-US" sz="950" dirty="0"/>
          </a:p>
          <a:p>
            <a:pPr marL="342900" indent="-342900">
              <a:spcAft>
                <a:spcPts val="700"/>
              </a:spcAft>
              <a:buSzPct val="100000"/>
              <a:buChar char="•"/>
            </a:pPr>
            <a:r>
              <a:rPr lang="en-US" sz="950" dirty="0">
                <a:solidFill>
                  <a:srgbClr val="1A1A1A"/>
                </a:solidFill>
                <a:latin typeface="Calibri" pitchFamily="34" charset="0"/>
                <a:ea typeface="Calibri" pitchFamily="34" charset="-122"/>
                <a:cs typeface="Calibri" pitchFamily="34" charset="-120"/>
              </a:rPr>
              <a:t>Our definitions, synced from Data Governance tool (e.g. Collibra)— acronyms, form types, calculations, etc.</a:t>
            </a:r>
            <a:endParaRPr lang="en-US" sz="950" dirty="0"/>
          </a:p>
          <a:p>
            <a:pPr marL="342900" indent="-342900">
              <a:spcAft>
                <a:spcPts val="700"/>
              </a:spcAft>
              <a:buSzPct val="100000"/>
              <a:buChar char="•"/>
            </a:pPr>
            <a:r>
              <a:rPr lang="en-US" sz="950" dirty="0">
                <a:solidFill>
                  <a:srgbClr val="1A1A1A"/>
                </a:solidFill>
                <a:latin typeface="Calibri" pitchFamily="34" charset="0"/>
                <a:ea typeface="Calibri" pitchFamily="34" charset="-122"/>
                <a:cs typeface="Calibri" pitchFamily="34" charset="-120"/>
              </a:rPr>
              <a:t>One certified formula for every metric we report to create </a:t>
            </a:r>
            <a:r>
              <a:rPr lang="en-US" sz="950" i="1" dirty="0">
                <a:solidFill>
                  <a:srgbClr val="1A1A1A"/>
                </a:solidFill>
                <a:latin typeface="Calibri" pitchFamily="34" charset="0"/>
                <a:ea typeface="Calibri" pitchFamily="34" charset="-122"/>
                <a:cs typeface="Calibri" pitchFamily="34" charset="-120"/>
              </a:rPr>
              <a:t>Verified Answers</a:t>
            </a:r>
            <a:endParaRPr lang="en-US" sz="950" i="1" dirty="0"/>
          </a:p>
          <a:p>
            <a:pPr marL="342900" indent="-342900">
              <a:spcAft>
                <a:spcPts val="700"/>
              </a:spcAft>
              <a:buSzPct val="100000"/>
              <a:buChar char="•"/>
            </a:pPr>
            <a:r>
              <a:rPr lang="en-US" sz="950" dirty="0">
                <a:solidFill>
                  <a:srgbClr val="1A1A1A"/>
                </a:solidFill>
                <a:latin typeface="Calibri" pitchFamily="34" charset="0"/>
                <a:ea typeface="Calibri" pitchFamily="34" charset="-122"/>
                <a:cs typeface="Calibri" pitchFamily="34" charset="-120"/>
              </a:rPr>
              <a:t>Accuracy tests and a review process before users see answers</a:t>
            </a:r>
            <a:endParaRPr lang="en-US" sz="950" dirty="0"/>
          </a:p>
          <a:p>
            <a:pPr marL="342900" indent="-342900">
              <a:spcAft>
                <a:spcPts val="700"/>
              </a:spcAft>
              <a:buSzPct val="100000"/>
              <a:buChar char="•"/>
            </a:pPr>
            <a:r>
              <a:rPr lang="en-US" sz="950" dirty="0">
                <a:solidFill>
                  <a:srgbClr val="1A1A1A"/>
                </a:solidFill>
                <a:latin typeface="Calibri" pitchFamily="34" charset="0"/>
                <a:ea typeface="Calibri" pitchFamily="34" charset="-122"/>
                <a:cs typeface="Calibri" pitchFamily="34" charset="-120"/>
              </a:rPr>
              <a:t>Cost tracking aligned to the Databricks-DHS contract</a:t>
            </a:r>
            <a:endParaRPr lang="en-US" sz="950" dirty="0"/>
          </a:p>
        </p:txBody>
      </p:sp>
      <p:sp>
        <p:nvSpPr>
          <p:cNvPr id="12" name="Text 9"/>
          <p:cNvSpPr/>
          <p:nvPr/>
        </p:nvSpPr>
        <p:spPr>
          <a:xfrm>
            <a:off x="320040" y="4251960"/>
            <a:ext cx="8503920" cy="320040"/>
          </a:xfrm>
          <a:prstGeom prst="rect">
            <a:avLst/>
          </a:prstGeom>
          <a:noFill/>
          <a:ln/>
        </p:spPr>
        <p:txBody>
          <a:bodyPr wrap="square" lIns="0" tIns="0" rIns="0" bIns="0" rtlCol="0" anchor="ctr"/>
          <a:lstStyle/>
          <a:p>
            <a:pPr marL="0" indent="0" algn="ctr">
              <a:buNone/>
            </a:pPr>
            <a:endParaRPr lang="en-US" sz="1000" dirty="0"/>
          </a:p>
        </p:txBody>
      </p:sp>
      <p:sp>
        <p:nvSpPr>
          <p:cNvPr id="13" name="Shape 9">
            <a:extLst>
              <a:ext uri="{FF2B5EF4-FFF2-40B4-BE49-F238E27FC236}">
                <a16:creationId xmlns:a16="http://schemas.microsoft.com/office/drawing/2014/main" id="{896E396C-CD7B-CFFE-4E22-5219BA046FBF}"/>
              </a:ext>
            </a:extLst>
          </p:cNvPr>
          <p:cNvSpPr/>
          <p:nvPr/>
        </p:nvSpPr>
        <p:spPr>
          <a:xfrm>
            <a:off x="320040" y="4150126"/>
            <a:ext cx="8503920" cy="649940"/>
          </a:xfrm>
          <a:prstGeom prst="roundRect">
            <a:avLst>
              <a:gd name="adj" fmla="val 4000"/>
            </a:avLst>
          </a:prstGeom>
          <a:solidFill>
            <a:srgbClr val="EEF3FA"/>
          </a:solidFill>
          <a:ln w="12700">
            <a:solidFill>
              <a:srgbClr val="DCE6F1"/>
            </a:solidFill>
            <a:prstDash val="solid"/>
          </a:ln>
        </p:spPr>
        <p:txBody>
          <a:bodyPr/>
          <a:lstStyle/>
          <a:p>
            <a:endParaRPr lang="en-US" dirty="0"/>
          </a:p>
        </p:txBody>
      </p:sp>
      <p:sp>
        <p:nvSpPr>
          <p:cNvPr id="15" name="Text 10">
            <a:extLst>
              <a:ext uri="{FF2B5EF4-FFF2-40B4-BE49-F238E27FC236}">
                <a16:creationId xmlns:a16="http://schemas.microsoft.com/office/drawing/2014/main" id="{F61CFAA0-CFE7-4181-04C3-4D98CBDA436B}"/>
              </a:ext>
            </a:extLst>
          </p:cNvPr>
          <p:cNvSpPr/>
          <p:nvPr/>
        </p:nvSpPr>
        <p:spPr>
          <a:xfrm>
            <a:off x="429768" y="4223278"/>
            <a:ext cx="8284464" cy="996696"/>
          </a:xfrm>
          <a:prstGeom prst="rect">
            <a:avLst/>
          </a:prstGeom>
          <a:noFill/>
          <a:ln/>
        </p:spPr>
        <p:txBody>
          <a:bodyPr wrap="square" lIns="0" tIns="0" rIns="0" bIns="0" rtlCol="0" anchor="t"/>
          <a:lstStyle/>
          <a:p>
            <a:pPr marL="0" indent="0">
              <a:lnSpc>
                <a:spcPct val="105000"/>
              </a:lnSpc>
              <a:buNone/>
            </a:pPr>
            <a:r>
              <a:rPr lang="en-US" sz="1100" b="1" dirty="0">
                <a:solidFill>
                  <a:srgbClr val="1F497D"/>
                </a:solidFill>
                <a:latin typeface="Calibri" pitchFamily="34" charset="0"/>
                <a:ea typeface="Calibri" pitchFamily="34" charset="-122"/>
                <a:cs typeface="Calibri" pitchFamily="34" charset="-120"/>
              </a:rPr>
              <a:t>Proposed Next Steps</a:t>
            </a:r>
          </a:p>
          <a:p>
            <a:pPr marL="228600" indent="-228600">
              <a:lnSpc>
                <a:spcPct val="105000"/>
              </a:lnSpc>
              <a:buFont typeface="+mj-lt"/>
              <a:buAutoNum type="arabicPeriod"/>
            </a:pPr>
            <a:r>
              <a:rPr lang="en-US" sz="1000" dirty="0">
                <a:solidFill>
                  <a:srgbClr val="1A1A1A"/>
                </a:solidFill>
                <a:latin typeface="Calibri" pitchFamily="34" charset="0"/>
                <a:ea typeface="Calibri" pitchFamily="34" charset="-122"/>
                <a:cs typeface="Calibri" pitchFamily="34" charset="-120"/>
              </a:rPr>
              <a:t>Create convention for how tables/columns should be described (the description that the Databricks agents will read)</a:t>
            </a:r>
          </a:p>
          <a:p>
            <a:pPr marL="228600" indent="-228600">
              <a:lnSpc>
                <a:spcPct val="105000"/>
              </a:lnSpc>
              <a:buFont typeface="+mj-lt"/>
              <a:buAutoNum type="arabicPeriod"/>
            </a:pPr>
            <a:r>
              <a:rPr lang="en-US" sz="1000" dirty="0">
                <a:solidFill>
                  <a:srgbClr val="1A1A1A"/>
                </a:solidFill>
                <a:latin typeface="Calibri" pitchFamily="34" charset="0"/>
                <a:ea typeface="Calibri" pitchFamily="34" charset="-122"/>
                <a:cs typeface="Calibri" pitchFamily="34" charset="-120"/>
              </a:rPr>
              <a:t>Decide on the gold tables from </a:t>
            </a:r>
            <a:r>
              <a:rPr lang="en-US" sz="1000" i="1" dirty="0" err="1">
                <a:solidFill>
                  <a:srgbClr val="1A1A1A"/>
                </a:solidFill>
                <a:latin typeface="Calibri" pitchFamily="34" charset="0"/>
                <a:ea typeface="Calibri" pitchFamily="34" charset="-122"/>
                <a:cs typeface="Calibri" pitchFamily="34" charset="-120"/>
              </a:rPr>
              <a:t>npdataset</a:t>
            </a:r>
            <a:r>
              <a:rPr lang="en-US" sz="1000" dirty="0">
                <a:solidFill>
                  <a:srgbClr val="1A1A1A"/>
                </a:solidFill>
                <a:latin typeface="Calibri" pitchFamily="34" charset="0"/>
                <a:ea typeface="Calibri" pitchFamily="34" charset="-122"/>
                <a:cs typeface="Calibri" pitchFamily="34" charset="-120"/>
              </a:rPr>
              <a:t> that will be used in the POC</a:t>
            </a:r>
          </a:p>
          <a:p>
            <a:pPr marL="228600" indent="-228600">
              <a:lnSpc>
                <a:spcPct val="105000"/>
              </a:lnSpc>
              <a:buFont typeface="+mj-lt"/>
              <a:buAutoNum type="arabicPeriod"/>
            </a:pPr>
            <a:r>
              <a:rPr lang="en-US" sz="1000" dirty="0">
                <a:solidFill>
                  <a:srgbClr val="1A1A1A"/>
                </a:solidFill>
                <a:latin typeface="Calibri" pitchFamily="34" charset="0"/>
                <a:ea typeface="Calibri" pitchFamily="34" charset="-122"/>
                <a:cs typeface="Calibri" pitchFamily="34" charset="-120"/>
              </a:rPr>
              <a:t>Update the descriptions of </a:t>
            </a:r>
            <a:r>
              <a:rPr lang="en-US" sz="1000" i="1" dirty="0" err="1">
                <a:solidFill>
                  <a:srgbClr val="1A1A1A"/>
                </a:solidFill>
                <a:latin typeface="Calibri" pitchFamily="34" charset="0"/>
                <a:ea typeface="Calibri" pitchFamily="34" charset="-122"/>
                <a:cs typeface="Calibri" pitchFamily="34" charset="-120"/>
              </a:rPr>
              <a:t>npdataset</a:t>
            </a:r>
            <a:r>
              <a:rPr lang="en-US" sz="1000" i="1" dirty="0">
                <a:solidFill>
                  <a:srgbClr val="1A1A1A"/>
                </a:solidFill>
                <a:latin typeface="Calibri" pitchFamily="34" charset="0"/>
                <a:ea typeface="Calibri" pitchFamily="34" charset="-122"/>
                <a:cs typeface="Calibri" pitchFamily="34" charset="-120"/>
              </a:rPr>
              <a:t> </a:t>
            </a:r>
            <a:r>
              <a:rPr lang="en-US" sz="1000" dirty="0">
                <a:solidFill>
                  <a:srgbClr val="1A1A1A"/>
                </a:solidFill>
                <a:latin typeface="Calibri" pitchFamily="34" charset="0"/>
                <a:ea typeface="Calibri" pitchFamily="34" charset="-122"/>
                <a:cs typeface="Calibri" pitchFamily="34" charset="-120"/>
              </a:rPr>
              <a:t>tables &amp; columns </a:t>
            </a:r>
          </a:p>
          <a:p>
            <a:pPr marL="228600" indent="-228600">
              <a:lnSpc>
                <a:spcPct val="105000"/>
              </a:lnSpc>
              <a:buFont typeface="+mj-lt"/>
              <a:buAutoNum type="arabicPeriod"/>
            </a:pPr>
            <a:endParaRPr lang="en-US" sz="1000" dirty="0">
              <a:solidFill>
                <a:srgbClr val="1A1A1A"/>
              </a:solidFill>
              <a:latin typeface="Calibri" pitchFamily="34" charset="0"/>
              <a:ea typeface="Calibri" pitchFamily="34" charset="-122"/>
              <a:cs typeface="Calibri" pitchFamily="34" charset="-120"/>
            </a:endParaRPr>
          </a:p>
          <a:p>
            <a:pPr marL="228600" indent="-228600">
              <a:lnSpc>
                <a:spcPct val="105000"/>
              </a:lnSpc>
              <a:buFont typeface="+mj-lt"/>
              <a:buAutoNum type="arabicPeriod"/>
            </a:pP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475488"/>
            <a:ext cx="6949440" cy="384048"/>
          </a:xfrm>
          <a:prstGeom prst="rect">
            <a:avLst/>
          </a:prstGeom>
          <a:noFill/>
          <a:ln/>
        </p:spPr>
        <p:txBody>
          <a:bodyPr wrap="square" lIns="0" tIns="0" rIns="0" bIns="0" rtlCol="0" anchor="ctr"/>
          <a:lstStyle/>
          <a:p>
            <a:r>
              <a:rPr lang="en-US" sz="1700" b="1" dirty="0">
                <a:solidFill>
                  <a:srgbClr val="1F497D"/>
                </a:solidFill>
                <a:latin typeface="Calibri" pitchFamily="34" charset="0"/>
                <a:ea typeface="Calibri" pitchFamily="34" charset="-122"/>
                <a:cs typeface="Calibri" pitchFamily="34" charset="-120"/>
              </a:rPr>
              <a:t>Unity Catalog: A Directory for Our Data</a:t>
            </a:r>
            <a:endParaRPr lang="en-US" sz="1700" dirty="0"/>
          </a:p>
        </p:txBody>
      </p:sp>
      <p:sp>
        <p:nvSpPr>
          <p:cNvPr id="4" name="Shape 1"/>
          <p:cNvSpPr/>
          <p:nvPr/>
        </p:nvSpPr>
        <p:spPr>
          <a:xfrm>
            <a:off x="320040" y="1188124"/>
            <a:ext cx="4114800" cy="1024128"/>
          </a:xfrm>
          <a:prstGeom prst="roundRect">
            <a:avLst>
              <a:gd name="adj" fmla="val 4464"/>
            </a:avLst>
          </a:prstGeom>
          <a:solidFill>
            <a:srgbClr val="FFFFFF"/>
          </a:solidFill>
          <a:ln w="12700">
            <a:solidFill>
              <a:srgbClr val="DCE6F1"/>
            </a:solidFill>
            <a:prstDash val="solid"/>
          </a:ln>
        </p:spPr>
        <p:txBody>
          <a:bodyPr/>
          <a:lstStyle/>
          <a:p>
            <a:endParaRPr lang="en-US"/>
          </a:p>
        </p:txBody>
      </p:sp>
      <p:sp>
        <p:nvSpPr>
          <p:cNvPr id="5" name="Text 2"/>
          <p:cNvSpPr/>
          <p:nvPr/>
        </p:nvSpPr>
        <p:spPr>
          <a:xfrm>
            <a:off x="429768" y="1261276"/>
            <a:ext cx="3895344" cy="877824"/>
          </a:xfrm>
          <a:prstGeom prst="rect">
            <a:avLst/>
          </a:prstGeom>
          <a:noFill/>
          <a:ln/>
        </p:spPr>
        <p:txBody>
          <a:bodyPr wrap="square" lIns="0" tIns="0" rIns="0" bIns="0" rtlCol="0" anchor="t"/>
          <a:lstStyle/>
          <a:p>
            <a:pPr marL="0" indent="0">
              <a:lnSpc>
                <a:spcPct val="105000"/>
              </a:lnSpc>
              <a:buNone/>
            </a:pPr>
            <a:r>
              <a:rPr lang="en-US" sz="1050" b="1" dirty="0">
                <a:solidFill>
                  <a:srgbClr val="1F497D"/>
                </a:solidFill>
                <a:latin typeface="Calibri" pitchFamily="34" charset="0"/>
                <a:ea typeface="Calibri" pitchFamily="34" charset="-122"/>
                <a:cs typeface="Calibri" pitchFamily="34" charset="-120"/>
              </a:rPr>
              <a:t>A catalog of USCIS data
</a:t>
            </a:r>
            <a:r>
              <a:rPr lang="en-US" sz="950" dirty="0">
                <a:solidFill>
                  <a:srgbClr val="1A1A1A"/>
                </a:solidFill>
                <a:latin typeface="Calibri" pitchFamily="34" charset="0"/>
                <a:ea typeface="Calibri" pitchFamily="34" charset="-122"/>
                <a:cs typeface="Calibri" pitchFamily="34" charset="-120"/>
              </a:rPr>
              <a:t>Every table and column used with these new tools, listed with a description — e.g. NPD: National Production Dataset consisting of form filing receipts and completions data, updated nightly.</a:t>
            </a:r>
            <a:endParaRPr lang="en-US" sz="1050" dirty="0"/>
          </a:p>
        </p:txBody>
      </p:sp>
      <p:sp>
        <p:nvSpPr>
          <p:cNvPr id="6" name="Shape 3"/>
          <p:cNvSpPr/>
          <p:nvPr/>
        </p:nvSpPr>
        <p:spPr>
          <a:xfrm>
            <a:off x="4709160" y="1188124"/>
            <a:ext cx="4114800" cy="1024128"/>
          </a:xfrm>
          <a:prstGeom prst="roundRect">
            <a:avLst>
              <a:gd name="adj" fmla="val 4464"/>
            </a:avLst>
          </a:prstGeom>
          <a:solidFill>
            <a:srgbClr val="FFFFFF"/>
          </a:solidFill>
          <a:ln w="12700">
            <a:solidFill>
              <a:srgbClr val="DCE6F1"/>
            </a:solidFill>
            <a:prstDash val="solid"/>
          </a:ln>
        </p:spPr>
        <p:txBody>
          <a:bodyPr/>
          <a:lstStyle/>
          <a:p>
            <a:endParaRPr lang="en-US"/>
          </a:p>
        </p:txBody>
      </p:sp>
      <p:sp>
        <p:nvSpPr>
          <p:cNvPr id="7" name="Text 4"/>
          <p:cNvSpPr/>
          <p:nvPr/>
        </p:nvSpPr>
        <p:spPr>
          <a:xfrm>
            <a:off x="4818888" y="1261276"/>
            <a:ext cx="3895344" cy="877824"/>
          </a:xfrm>
          <a:prstGeom prst="rect">
            <a:avLst/>
          </a:prstGeom>
          <a:noFill/>
          <a:ln/>
        </p:spPr>
        <p:txBody>
          <a:bodyPr wrap="square" lIns="0" tIns="0" rIns="0" bIns="0" rtlCol="0" anchor="t"/>
          <a:lstStyle/>
          <a:p>
            <a:pPr marL="0" indent="0">
              <a:lnSpc>
                <a:spcPct val="105000"/>
              </a:lnSpc>
              <a:buNone/>
            </a:pPr>
            <a:r>
              <a:rPr lang="en-US" sz="1050" b="1" dirty="0">
                <a:solidFill>
                  <a:srgbClr val="1F497D"/>
                </a:solidFill>
                <a:latin typeface="Calibri" pitchFamily="34" charset="0"/>
                <a:ea typeface="Calibri" pitchFamily="34" charset="-122"/>
                <a:cs typeface="Calibri" pitchFamily="34" charset="-120"/>
              </a:rPr>
              <a:t>Governance
</a:t>
            </a:r>
            <a:r>
              <a:rPr lang="en-US" sz="950" dirty="0">
                <a:solidFill>
                  <a:srgbClr val="1A1A1A"/>
                </a:solidFill>
                <a:latin typeface="Calibri" pitchFamily="34" charset="0"/>
                <a:ea typeface="Calibri" pitchFamily="34" charset="-122"/>
                <a:cs typeface="Calibri" pitchFamily="34" charset="-120"/>
              </a:rPr>
              <a:t>Permissions live here in the Unity Catalog and only allow an agent to show data/results based on the access of the person asking  questions.</a:t>
            </a:r>
            <a:endParaRPr lang="en-US" sz="1050" dirty="0"/>
          </a:p>
        </p:txBody>
      </p:sp>
      <p:sp>
        <p:nvSpPr>
          <p:cNvPr id="8" name="Shape 5"/>
          <p:cNvSpPr/>
          <p:nvPr/>
        </p:nvSpPr>
        <p:spPr>
          <a:xfrm>
            <a:off x="320040" y="2358556"/>
            <a:ext cx="4114800" cy="1024128"/>
          </a:xfrm>
          <a:prstGeom prst="roundRect">
            <a:avLst>
              <a:gd name="adj" fmla="val 4464"/>
            </a:avLst>
          </a:prstGeom>
          <a:solidFill>
            <a:srgbClr val="FFFFFF"/>
          </a:solidFill>
          <a:ln w="12700">
            <a:solidFill>
              <a:srgbClr val="DCE6F1"/>
            </a:solidFill>
            <a:prstDash val="solid"/>
          </a:ln>
        </p:spPr>
        <p:txBody>
          <a:bodyPr/>
          <a:lstStyle/>
          <a:p>
            <a:endParaRPr lang="en-US"/>
          </a:p>
        </p:txBody>
      </p:sp>
      <p:sp>
        <p:nvSpPr>
          <p:cNvPr id="9" name="Text 6"/>
          <p:cNvSpPr/>
          <p:nvPr/>
        </p:nvSpPr>
        <p:spPr>
          <a:xfrm>
            <a:off x="429768" y="2431708"/>
            <a:ext cx="3895344" cy="877824"/>
          </a:xfrm>
          <a:prstGeom prst="rect">
            <a:avLst/>
          </a:prstGeom>
          <a:noFill/>
          <a:ln/>
        </p:spPr>
        <p:txBody>
          <a:bodyPr wrap="square" lIns="0" tIns="0" rIns="0" bIns="0" rtlCol="0" anchor="t"/>
          <a:lstStyle/>
          <a:p>
            <a:pPr marL="0" indent="0">
              <a:lnSpc>
                <a:spcPct val="105000"/>
              </a:lnSpc>
              <a:buNone/>
            </a:pPr>
            <a:r>
              <a:rPr lang="en-US" sz="1050" b="1" dirty="0">
                <a:solidFill>
                  <a:srgbClr val="1F497D"/>
                </a:solidFill>
                <a:latin typeface="Calibri" pitchFamily="34" charset="0"/>
                <a:ea typeface="Calibri" pitchFamily="34" charset="-122"/>
                <a:cs typeface="Calibri" pitchFamily="34" charset="-120"/>
              </a:rPr>
              <a:t>Lineage
</a:t>
            </a:r>
            <a:r>
              <a:rPr lang="en-US" sz="950" dirty="0">
                <a:solidFill>
                  <a:srgbClr val="1A1A1A"/>
                </a:solidFill>
                <a:latin typeface="Calibri" pitchFamily="34" charset="0"/>
                <a:ea typeface="Calibri" pitchFamily="34" charset="-122"/>
                <a:cs typeface="Calibri" pitchFamily="34" charset="-120"/>
              </a:rPr>
              <a:t>Allows us to track where each value/answer came from, traceable back through the pipeline to the source system.</a:t>
            </a:r>
            <a:endParaRPr lang="en-US" sz="1050" dirty="0"/>
          </a:p>
        </p:txBody>
      </p:sp>
      <p:sp>
        <p:nvSpPr>
          <p:cNvPr id="10" name="Shape 7"/>
          <p:cNvSpPr/>
          <p:nvPr/>
        </p:nvSpPr>
        <p:spPr>
          <a:xfrm>
            <a:off x="4709160" y="2358556"/>
            <a:ext cx="4114800" cy="1024128"/>
          </a:xfrm>
          <a:prstGeom prst="roundRect">
            <a:avLst>
              <a:gd name="adj" fmla="val 4464"/>
            </a:avLst>
          </a:prstGeom>
          <a:solidFill>
            <a:srgbClr val="FFFFFF"/>
          </a:solidFill>
          <a:ln w="12700">
            <a:solidFill>
              <a:srgbClr val="DCE6F1"/>
            </a:solidFill>
            <a:prstDash val="solid"/>
          </a:ln>
        </p:spPr>
        <p:txBody>
          <a:bodyPr/>
          <a:lstStyle/>
          <a:p>
            <a:endParaRPr lang="en-US"/>
          </a:p>
        </p:txBody>
      </p:sp>
      <p:sp>
        <p:nvSpPr>
          <p:cNvPr id="11" name="Text 8"/>
          <p:cNvSpPr/>
          <p:nvPr/>
        </p:nvSpPr>
        <p:spPr>
          <a:xfrm>
            <a:off x="4818888" y="2431708"/>
            <a:ext cx="3895344" cy="877824"/>
          </a:xfrm>
          <a:prstGeom prst="rect">
            <a:avLst/>
          </a:prstGeom>
          <a:noFill/>
          <a:ln/>
        </p:spPr>
        <p:txBody>
          <a:bodyPr wrap="square" lIns="0" tIns="0" rIns="0" bIns="0" rtlCol="0" anchor="t"/>
          <a:lstStyle/>
          <a:p>
            <a:pPr marL="0" indent="0">
              <a:lnSpc>
                <a:spcPct val="105000"/>
              </a:lnSpc>
              <a:buNone/>
            </a:pPr>
            <a:r>
              <a:rPr lang="en-US" sz="1050" b="1" dirty="0">
                <a:solidFill>
                  <a:srgbClr val="1F497D"/>
                </a:solidFill>
                <a:latin typeface="Calibri" pitchFamily="34" charset="0"/>
                <a:ea typeface="Calibri" pitchFamily="34" charset="-122"/>
                <a:cs typeface="Calibri" pitchFamily="34" charset="-120"/>
              </a:rPr>
              <a:t>Dictionary
</a:t>
            </a:r>
            <a:r>
              <a:rPr lang="en-US" sz="950" dirty="0">
                <a:solidFill>
                  <a:srgbClr val="1A1A1A"/>
                </a:solidFill>
                <a:latin typeface="Calibri" pitchFamily="34" charset="0"/>
                <a:ea typeface="Calibri" pitchFamily="34" charset="-122"/>
                <a:cs typeface="Calibri" pitchFamily="34" charset="-120"/>
              </a:rPr>
              <a:t>Our terms and formulas, stored once — every agent, dashboard, and engineer reads the same definitions.</a:t>
            </a:r>
            <a:endParaRPr lang="en-US" sz="1050" dirty="0"/>
          </a:p>
        </p:txBody>
      </p:sp>
      <p:sp>
        <p:nvSpPr>
          <p:cNvPr id="12" name="Shape 9"/>
          <p:cNvSpPr/>
          <p:nvPr/>
        </p:nvSpPr>
        <p:spPr>
          <a:xfrm>
            <a:off x="320040" y="3611284"/>
            <a:ext cx="8503920" cy="649940"/>
          </a:xfrm>
          <a:prstGeom prst="roundRect">
            <a:avLst>
              <a:gd name="adj" fmla="val 4000"/>
            </a:avLst>
          </a:prstGeom>
          <a:solidFill>
            <a:srgbClr val="EEF3FA"/>
          </a:solidFill>
          <a:ln w="12700">
            <a:solidFill>
              <a:srgbClr val="DCE6F1"/>
            </a:solidFill>
            <a:prstDash val="solid"/>
          </a:ln>
        </p:spPr>
        <p:txBody>
          <a:bodyPr/>
          <a:lstStyle/>
          <a:p>
            <a:endParaRPr lang="en-US"/>
          </a:p>
        </p:txBody>
      </p:sp>
      <p:sp>
        <p:nvSpPr>
          <p:cNvPr id="13" name="Text 10"/>
          <p:cNvSpPr/>
          <p:nvPr/>
        </p:nvSpPr>
        <p:spPr>
          <a:xfrm>
            <a:off x="429768" y="3684436"/>
            <a:ext cx="8284464" cy="996696"/>
          </a:xfrm>
          <a:prstGeom prst="rect">
            <a:avLst/>
          </a:prstGeom>
          <a:noFill/>
          <a:ln/>
        </p:spPr>
        <p:txBody>
          <a:bodyPr wrap="square" lIns="0" tIns="0" rIns="0" bIns="0" rtlCol="0" anchor="t"/>
          <a:lstStyle/>
          <a:p>
            <a:pPr marL="0" indent="0">
              <a:lnSpc>
                <a:spcPct val="105000"/>
              </a:lnSpc>
              <a:buNone/>
            </a:pPr>
            <a:r>
              <a:rPr lang="en-US" sz="1100" b="1" dirty="0">
                <a:solidFill>
                  <a:srgbClr val="1F497D"/>
                </a:solidFill>
                <a:latin typeface="Calibri" pitchFamily="34" charset="0"/>
                <a:ea typeface="Calibri" pitchFamily="34" charset="-122"/>
                <a:cs typeface="Calibri" pitchFamily="34" charset="-120"/>
              </a:rPr>
              <a:t>Access for our teams
</a:t>
            </a:r>
            <a:r>
              <a:rPr lang="en-US" sz="1000" dirty="0">
                <a:solidFill>
                  <a:srgbClr val="1A1A1A"/>
                </a:solidFill>
                <a:latin typeface="Calibri" pitchFamily="34" charset="0"/>
                <a:ea typeface="Calibri" pitchFamily="34" charset="-122"/>
                <a:cs typeface="Calibri" pitchFamily="34" charset="-120"/>
              </a:rPr>
              <a:t>Unity Catalog is currently administered and managed by DBIS— we are only able to read some of its system tables which allows us to calculate DBUs (Databricks Units used for billing)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475488"/>
            <a:ext cx="6949440" cy="384048"/>
          </a:xfrm>
          <a:prstGeom prst="rect">
            <a:avLst/>
          </a:prstGeom>
          <a:noFill/>
          <a:ln/>
        </p:spPr>
        <p:txBody>
          <a:bodyPr wrap="square" lIns="0" tIns="0" rIns="0" bIns="0" rtlCol="0" anchor="ctr"/>
          <a:lstStyle/>
          <a:p>
            <a:pPr marL="0" indent="0">
              <a:buNone/>
            </a:pPr>
            <a:r>
              <a:rPr lang="en-US" sz="1700" b="1" dirty="0">
                <a:solidFill>
                  <a:srgbClr val="1F497D"/>
                </a:solidFill>
                <a:latin typeface="Calibri" pitchFamily="34" charset="0"/>
                <a:ea typeface="Calibri" pitchFamily="34" charset="-122"/>
                <a:cs typeface="Calibri" pitchFamily="34" charset="-120"/>
              </a:rPr>
              <a:t>Universal Metadata for All Our Data</a:t>
            </a:r>
            <a:endParaRPr lang="en-US" sz="1700" dirty="0"/>
          </a:p>
        </p:txBody>
      </p:sp>
      <p:sp>
        <p:nvSpPr>
          <p:cNvPr id="4" name="Text 1"/>
          <p:cNvSpPr/>
          <p:nvPr/>
        </p:nvSpPr>
        <p:spPr>
          <a:xfrm>
            <a:off x="320040" y="914400"/>
            <a:ext cx="6949440" cy="365760"/>
          </a:xfrm>
          <a:prstGeom prst="rect">
            <a:avLst/>
          </a:prstGeom>
          <a:noFill/>
          <a:ln/>
        </p:spPr>
        <p:txBody>
          <a:bodyPr wrap="square" lIns="0" tIns="0" rIns="0" bIns="0" rtlCol="0" anchor="ctr"/>
          <a:lstStyle/>
          <a:p>
            <a:pPr marL="0" indent="0">
              <a:buNone/>
            </a:pPr>
            <a:r>
              <a:rPr lang="en-US" sz="1050" i="1" dirty="0">
                <a:solidFill>
                  <a:srgbClr val="595959"/>
                </a:solidFill>
                <a:latin typeface="Calibri" pitchFamily="34" charset="0"/>
                <a:ea typeface="Calibri" pitchFamily="34" charset="-122"/>
                <a:cs typeface="Calibri" pitchFamily="34" charset="-120"/>
              </a:rPr>
              <a:t>One governed context foundation— table descriptions, business terms, relationships, </a:t>
            </a:r>
            <a:r>
              <a:rPr lang="en-US" sz="1050" i="1" dirty="0" err="1">
                <a:solidFill>
                  <a:srgbClr val="595959"/>
                </a:solidFill>
                <a:latin typeface="Calibri" pitchFamily="34" charset="0"/>
                <a:ea typeface="Calibri" pitchFamily="34" charset="-122"/>
                <a:cs typeface="Calibri" pitchFamily="34" charset="-120"/>
              </a:rPr>
              <a:t>governance</a:t>
            </a:r>
            <a:r>
              <a:rPr lang="en-US" sz="1050" i="1" dirty="0">
                <a:solidFill>
                  <a:srgbClr val="595959"/>
                </a:solidFill>
                <a:latin typeface="Calibri" pitchFamily="34" charset="0"/>
                <a:ea typeface="Calibri" pitchFamily="34" charset="-122"/>
                <a:cs typeface="Calibri" pitchFamily="34" charset="-120"/>
              </a:rPr>
              <a:t> tags — entered once and reused by every agent we stand up.</a:t>
            </a:r>
            <a:endParaRPr lang="en-US" sz="1050" dirty="0"/>
          </a:p>
        </p:txBody>
      </p:sp>
      <p:sp>
        <p:nvSpPr>
          <p:cNvPr id="5" name="Shape 2"/>
          <p:cNvSpPr/>
          <p:nvPr/>
        </p:nvSpPr>
        <p:spPr>
          <a:xfrm>
            <a:off x="320040" y="1371600"/>
            <a:ext cx="2697480" cy="1371600"/>
          </a:xfrm>
          <a:prstGeom prst="roundRect">
            <a:avLst>
              <a:gd name="adj" fmla="val 3333"/>
            </a:avLst>
          </a:prstGeom>
          <a:solidFill>
            <a:srgbClr val="FFFFFF"/>
          </a:solidFill>
          <a:ln w="12700">
            <a:solidFill>
              <a:srgbClr val="DCE6F1"/>
            </a:solidFill>
            <a:prstDash val="solid"/>
          </a:ln>
        </p:spPr>
        <p:txBody>
          <a:bodyPr/>
          <a:lstStyle/>
          <a:p>
            <a:endParaRPr lang="en-US"/>
          </a:p>
        </p:txBody>
      </p:sp>
      <p:sp>
        <p:nvSpPr>
          <p:cNvPr id="6" name="Text 3"/>
          <p:cNvSpPr/>
          <p:nvPr/>
        </p:nvSpPr>
        <p:spPr>
          <a:xfrm>
            <a:off x="429768" y="1444752"/>
            <a:ext cx="2478024" cy="1225296"/>
          </a:xfrm>
          <a:prstGeom prst="rect">
            <a:avLst/>
          </a:prstGeom>
          <a:noFill/>
          <a:ln/>
        </p:spPr>
        <p:txBody>
          <a:bodyPr wrap="square" lIns="0" tIns="0" rIns="0" bIns="0" rtlCol="0" anchor="t"/>
          <a:lstStyle/>
          <a:p>
            <a:pPr marL="0" indent="0">
              <a:lnSpc>
                <a:spcPct val="105000"/>
              </a:lnSpc>
              <a:buNone/>
            </a:pPr>
            <a:r>
              <a:rPr lang="en-US" sz="1200" b="1" dirty="0">
                <a:solidFill>
                  <a:srgbClr val="1F497D"/>
                </a:solidFill>
                <a:latin typeface="Calibri" pitchFamily="34" charset="0"/>
                <a:ea typeface="Calibri" pitchFamily="34" charset="-122"/>
                <a:cs typeface="Calibri" pitchFamily="34" charset="-120"/>
              </a:rPr>
              <a:t>Audit
</a:t>
            </a:r>
            <a:r>
              <a:rPr lang="en-US" sz="950" dirty="0">
                <a:solidFill>
                  <a:srgbClr val="1A1A1A"/>
                </a:solidFill>
                <a:latin typeface="Calibri" pitchFamily="34" charset="0"/>
                <a:ea typeface="Calibri" pitchFamily="34" charset="-122"/>
                <a:cs typeface="Calibri" pitchFamily="34" charset="-120"/>
              </a:rPr>
              <a:t>Inventory the tables in scope — starting with NPD for the POC — and find what's missing a description or tag.</a:t>
            </a:r>
            <a:endParaRPr lang="en-US" sz="1200" dirty="0"/>
          </a:p>
        </p:txBody>
      </p:sp>
      <p:sp>
        <p:nvSpPr>
          <p:cNvPr id="7" name="Text 4"/>
          <p:cNvSpPr/>
          <p:nvPr/>
        </p:nvSpPr>
        <p:spPr>
          <a:xfrm>
            <a:off x="2999232" y="1828800"/>
            <a:ext cx="274320" cy="457200"/>
          </a:xfrm>
          <a:prstGeom prst="rect">
            <a:avLst/>
          </a:prstGeom>
          <a:noFill/>
          <a:ln/>
        </p:spPr>
        <p:txBody>
          <a:bodyPr wrap="square" lIns="0" tIns="0" rIns="0" bIns="0" rtlCol="0" anchor="ctr"/>
          <a:lstStyle/>
          <a:p>
            <a:pPr marL="0" indent="0" algn="ctr">
              <a:buNone/>
            </a:pPr>
            <a:r>
              <a:rPr lang="en-US" sz="1600" b="1" dirty="0">
                <a:solidFill>
                  <a:srgbClr val="BF9000"/>
                </a:solidFill>
              </a:rPr>
              <a:t>→</a:t>
            </a:r>
            <a:endParaRPr lang="en-US" sz="1600" dirty="0"/>
          </a:p>
        </p:txBody>
      </p:sp>
      <p:sp>
        <p:nvSpPr>
          <p:cNvPr id="8" name="Shape 5"/>
          <p:cNvSpPr/>
          <p:nvPr/>
        </p:nvSpPr>
        <p:spPr>
          <a:xfrm>
            <a:off x="3227832" y="1371600"/>
            <a:ext cx="2697480" cy="1371600"/>
          </a:xfrm>
          <a:prstGeom prst="roundRect">
            <a:avLst>
              <a:gd name="adj" fmla="val 3333"/>
            </a:avLst>
          </a:prstGeom>
          <a:solidFill>
            <a:srgbClr val="FFFFFF"/>
          </a:solidFill>
          <a:ln w="12700">
            <a:solidFill>
              <a:srgbClr val="DCE6F1"/>
            </a:solidFill>
            <a:prstDash val="solid"/>
          </a:ln>
        </p:spPr>
        <p:txBody>
          <a:bodyPr/>
          <a:lstStyle/>
          <a:p>
            <a:endParaRPr lang="en-US"/>
          </a:p>
        </p:txBody>
      </p:sp>
      <p:sp>
        <p:nvSpPr>
          <p:cNvPr id="9" name="Text 6"/>
          <p:cNvSpPr/>
          <p:nvPr/>
        </p:nvSpPr>
        <p:spPr>
          <a:xfrm>
            <a:off x="3337560" y="1444752"/>
            <a:ext cx="2478024" cy="1225296"/>
          </a:xfrm>
          <a:prstGeom prst="rect">
            <a:avLst/>
          </a:prstGeom>
          <a:noFill/>
          <a:ln/>
        </p:spPr>
        <p:txBody>
          <a:bodyPr wrap="square" lIns="0" tIns="0" rIns="0" bIns="0" rtlCol="0" anchor="t"/>
          <a:lstStyle/>
          <a:p>
            <a:pPr marL="0" indent="0">
              <a:lnSpc>
                <a:spcPct val="105000"/>
              </a:lnSpc>
              <a:buNone/>
            </a:pPr>
            <a:r>
              <a:rPr lang="en-US" sz="1200" b="1" dirty="0">
                <a:solidFill>
                  <a:srgbClr val="1F497D"/>
                </a:solidFill>
                <a:latin typeface="Calibri" pitchFamily="34" charset="0"/>
                <a:ea typeface="Calibri" pitchFamily="34" charset="-122"/>
                <a:cs typeface="Calibri" pitchFamily="34" charset="-120"/>
              </a:rPr>
              <a:t>Describe
</a:t>
            </a:r>
            <a:r>
              <a:rPr lang="en-US" sz="950" dirty="0">
                <a:solidFill>
                  <a:srgbClr val="1A1A1A"/>
                </a:solidFill>
                <a:latin typeface="Calibri" pitchFamily="34" charset="0"/>
                <a:ea typeface="Calibri" pitchFamily="34" charset="-122"/>
                <a:cs typeface="Calibri" pitchFamily="34" charset="-120"/>
              </a:rPr>
              <a:t>Enter descriptions and tags for every table and column, using our data governance tool (e.g. Collibra) definitions which already exist in Databricks tables; our teams just have to set up the mapping.</a:t>
            </a:r>
            <a:endParaRPr lang="en-US" sz="1200" dirty="0"/>
          </a:p>
        </p:txBody>
      </p:sp>
      <p:sp>
        <p:nvSpPr>
          <p:cNvPr id="10" name="Text 7"/>
          <p:cNvSpPr/>
          <p:nvPr/>
        </p:nvSpPr>
        <p:spPr>
          <a:xfrm>
            <a:off x="5907024" y="1828800"/>
            <a:ext cx="274320" cy="457200"/>
          </a:xfrm>
          <a:prstGeom prst="rect">
            <a:avLst/>
          </a:prstGeom>
          <a:noFill/>
          <a:ln/>
        </p:spPr>
        <p:txBody>
          <a:bodyPr wrap="square" lIns="0" tIns="0" rIns="0" bIns="0" rtlCol="0" anchor="ctr"/>
          <a:lstStyle/>
          <a:p>
            <a:pPr marL="0" indent="0" algn="ctr">
              <a:buNone/>
            </a:pPr>
            <a:r>
              <a:rPr lang="en-US" sz="1600" b="1" dirty="0">
                <a:solidFill>
                  <a:srgbClr val="BF9000"/>
                </a:solidFill>
              </a:rPr>
              <a:t>→</a:t>
            </a:r>
            <a:endParaRPr lang="en-US" sz="1600" dirty="0"/>
          </a:p>
        </p:txBody>
      </p:sp>
      <p:sp>
        <p:nvSpPr>
          <p:cNvPr id="11" name="Shape 8"/>
          <p:cNvSpPr/>
          <p:nvPr/>
        </p:nvSpPr>
        <p:spPr>
          <a:xfrm>
            <a:off x="6135624" y="1371600"/>
            <a:ext cx="2697480" cy="1371600"/>
          </a:xfrm>
          <a:prstGeom prst="roundRect">
            <a:avLst>
              <a:gd name="adj" fmla="val 3333"/>
            </a:avLst>
          </a:prstGeom>
          <a:solidFill>
            <a:srgbClr val="FFFFFF"/>
          </a:solidFill>
          <a:ln w="12700">
            <a:solidFill>
              <a:srgbClr val="DCE6F1"/>
            </a:solidFill>
            <a:prstDash val="solid"/>
          </a:ln>
        </p:spPr>
        <p:txBody>
          <a:bodyPr/>
          <a:lstStyle/>
          <a:p>
            <a:endParaRPr lang="en-US"/>
          </a:p>
        </p:txBody>
      </p:sp>
      <p:sp>
        <p:nvSpPr>
          <p:cNvPr id="12" name="Text 9"/>
          <p:cNvSpPr/>
          <p:nvPr/>
        </p:nvSpPr>
        <p:spPr>
          <a:xfrm>
            <a:off x="6245352" y="1444752"/>
            <a:ext cx="2478024" cy="1225296"/>
          </a:xfrm>
          <a:prstGeom prst="rect">
            <a:avLst/>
          </a:prstGeom>
          <a:noFill/>
          <a:ln/>
        </p:spPr>
        <p:txBody>
          <a:bodyPr wrap="square" lIns="0" tIns="0" rIns="0" bIns="0" rtlCol="0" anchor="t"/>
          <a:lstStyle/>
          <a:p>
            <a:pPr marL="0" indent="0">
              <a:lnSpc>
                <a:spcPct val="105000"/>
              </a:lnSpc>
              <a:buNone/>
            </a:pPr>
            <a:r>
              <a:rPr lang="en-US" sz="1200" b="1" dirty="0">
                <a:solidFill>
                  <a:srgbClr val="1F497D"/>
                </a:solidFill>
                <a:latin typeface="Calibri" pitchFamily="34" charset="0"/>
                <a:ea typeface="Calibri" pitchFamily="34" charset="-122"/>
                <a:cs typeface="Calibri" pitchFamily="34" charset="-120"/>
              </a:rPr>
              <a:t>Maintain
</a:t>
            </a:r>
            <a:r>
              <a:rPr lang="en-US" sz="950" dirty="0">
                <a:solidFill>
                  <a:srgbClr val="1A1A1A"/>
                </a:solidFill>
                <a:latin typeface="Calibri" pitchFamily="34" charset="0"/>
                <a:ea typeface="Calibri" pitchFamily="34" charset="-122"/>
                <a:cs typeface="Calibri" pitchFamily="34" charset="-120"/>
              </a:rPr>
              <a:t>Keep it current as data changes — reviewed by our data stewards, tracked like any other work.</a:t>
            </a:r>
            <a:endParaRPr lang="en-US" sz="1200" dirty="0"/>
          </a:p>
        </p:txBody>
      </p:sp>
      <p:sp>
        <p:nvSpPr>
          <p:cNvPr id="13" name="Shape 10"/>
          <p:cNvSpPr/>
          <p:nvPr/>
        </p:nvSpPr>
        <p:spPr>
          <a:xfrm>
            <a:off x="320040" y="3017520"/>
            <a:ext cx="8503920" cy="777240"/>
          </a:xfrm>
          <a:prstGeom prst="roundRect">
            <a:avLst>
              <a:gd name="adj" fmla="val 5882"/>
            </a:avLst>
          </a:prstGeom>
          <a:solidFill>
            <a:srgbClr val="FFFFFF"/>
          </a:solidFill>
          <a:ln w="12700">
            <a:solidFill>
              <a:srgbClr val="DCE6F1"/>
            </a:solidFill>
            <a:prstDash val="solid"/>
          </a:ln>
        </p:spPr>
        <p:txBody>
          <a:bodyPr/>
          <a:lstStyle/>
          <a:p>
            <a:endParaRPr lang="en-US"/>
          </a:p>
        </p:txBody>
      </p:sp>
      <p:sp>
        <p:nvSpPr>
          <p:cNvPr id="14" name="Text 11"/>
          <p:cNvSpPr/>
          <p:nvPr/>
        </p:nvSpPr>
        <p:spPr>
          <a:xfrm>
            <a:off x="429768" y="3090672"/>
            <a:ext cx="8284464" cy="630936"/>
          </a:xfrm>
          <a:prstGeom prst="rect">
            <a:avLst/>
          </a:prstGeom>
          <a:noFill/>
          <a:ln/>
        </p:spPr>
        <p:txBody>
          <a:bodyPr wrap="square" lIns="0" tIns="0" rIns="0" bIns="0" rtlCol="0" anchor="t"/>
          <a:lstStyle/>
          <a:p>
            <a:pPr>
              <a:lnSpc>
                <a:spcPct val="105000"/>
              </a:lnSpc>
            </a:pPr>
            <a:r>
              <a:rPr lang="en-US" sz="1050" b="1" dirty="0">
                <a:solidFill>
                  <a:srgbClr val="1F497D"/>
                </a:solidFill>
                <a:latin typeface="Calibri" pitchFamily="34" charset="0"/>
                <a:ea typeface="Calibri" pitchFamily="34" charset="-122"/>
                <a:cs typeface="Calibri" pitchFamily="34" charset="-120"/>
              </a:rPr>
              <a:t>Why it's worth it
</a:t>
            </a:r>
            <a:r>
              <a:rPr lang="en-US" sz="950" dirty="0">
                <a:solidFill>
                  <a:srgbClr val="1A1A1A"/>
                </a:solidFill>
                <a:latin typeface="Calibri" pitchFamily="34" charset="0"/>
                <a:ea typeface="Calibri" pitchFamily="34" charset="-122"/>
                <a:cs typeface="Calibri" pitchFamily="34" charset="-120"/>
              </a:rPr>
              <a:t>Describe a table once and every current and future agent understands it. Govern it once and certification, sensitivity, and discovery stay consistent. Skip this, and each agent must be hand-fed the same knowledge separately — slower, inconsistent, and difficult to maintain.</a:t>
            </a:r>
            <a:endParaRPr lang="en-US" sz="1050" dirty="0"/>
          </a:p>
        </p:txBody>
      </p:sp>
      <p:sp>
        <p:nvSpPr>
          <p:cNvPr id="15" name="Shape 12"/>
          <p:cNvSpPr/>
          <p:nvPr/>
        </p:nvSpPr>
        <p:spPr>
          <a:xfrm>
            <a:off x="320040" y="3931920"/>
            <a:ext cx="8503920" cy="731520"/>
          </a:xfrm>
          <a:prstGeom prst="roundRect">
            <a:avLst>
              <a:gd name="adj" fmla="val 6250"/>
            </a:avLst>
          </a:prstGeom>
          <a:solidFill>
            <a:srgbClr val="EEF3FA"/>
          </a:solidFill>
          <a:ln w="12700">
            <a:solidFill>
              <a:srgbClr val="DCE6F1"/>
            </a:solidFill>
            <a:prstDash val="solid"/>
          </a:ln>
        </p:spPr>
        <p:txBody>
          <a:bodyPr/>
          <a:lstStyle/>
          <a:p>
            <a:endParaRPr lang="en-US"/>
          </a:p>
        </p:txBody>
      </p:sp>
      <p:sp>
        <p:nvSpPr>
          <p:cNvPr id="16" name="Text 13"/>
          <p:cNvSpPr/>
          <p:nvPr/>
        </p:nvSpPr>
        <p:spPr>
          <a:xfrm>
            <a:off x="429768" y="4005072"/>
            <a:ext cx="8284464" cy="585216"/>
          </a:xfrm>
          <a:prstGeom prst="rect">
            <a:avLst/>
          </a:prstGeom>
          <a:noFill/>
          <a:ln/>
        </p:spPr>
        <p:txBody>
          <a:bodyPr wrap="square" lIns="0" tIns="0" rIns="0" bIns="0" rtlCol="0" anchor="t"/>
          <a:lstStyle/>
          <a:p>
            <a:pPr marL="0" indent="0">
              <a:lnSpc>
                <a:spcPct val="105000"/>
              </a:lnSpc>
              <a:buNone/>
            </a:pPr>
            <a:r>
              <a:rPr lang="en-US" sz="1050" b="1" dirty="0">
                <a:solidFill>
                  <a:srgbClr val="1F497D"/>
                </a:solidFill>
                <a:latin typeface="Calibri" pitchFamily="34" charset="0"/>
                <a:ea typeface="Calibri" pitchFamily="34" charset="-122"/>
                <a:cs typeface="Calibri" pitchFamily="34" charset="-120"/>
              </a:rPr>
              <a:t>Why it’s needed
</a:t>
            </a:r>
            <a:r>
              <a:rPr lang="en-US" sz="950" dirty="0">
                <a:solidFill>
                  <a:srgbClr val="1A1A1A"/>
                </a:solidFill>
                <a:latin typeface="Calibri" pitchFamily="34" charset="0"/>
                <a:ea typeface="Calibri" pitchFamily="34" charset="-122"/>
                <a:cs typeface="Calibri" pitchFamily="34" charset="-120"/>
              </a:rPr>
              <a:t>This is USCIS knowledge, not tool knowledge, and it’s reusable for every agent that gets connected to these same tables, eliminating the need for double work.</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475488"/>
            <a:ext cx="6949440" cy="384048"/>
          </a:xfrm>
          <a:prstGeom prst="rect">
            <a:avLst/>
          </a:prstGeom>
          <a:noFill/>
          <a:ln/>
        </p:spPr>
        <p:txBody>
          <a:bodyPr wrap="square" lIns="0" tIns="0" rIns="0" bIns="0" rtlCol="0" anchor="ctr"/>
          <a:lstStyle/>
          <a:p>
            <a:pPr marL="0" indent="0">
              <a:buNone/>
            </a:pPr>
            <a:r>
              <a:rPr lang="en-US" sz="1700" b="1" dirty="0">
                <a:solidFill>
                  <a:srgbClr val="1F497D"/>
                </a:solidFill>
                <a:latin typeface="Calibri" pitchFamily="34" charset="0"/>
                <a:ea typeface="Calibri" pitchFamily="34" charset="-122"/>
                <a:cs typeface="Calibri" pitchFamily="34" charset="-120"/>
              </a:rPr>
              <a:t>USCIS Data Knowledge + Databricks Platform Knowledge</a:t>
            </a:r>
            <a:endParaRPr lang="en-US" sz="1700" dirty="0"/>
          </a:p>
        </p:txBody>
      </p:sp>
      <p:sp>
        <p:nvSpPr>
          <p:cNvPr id="4" name="Shape 1"/>
          <p:cNvSpPr/>
          <p:nvPr/>
        </p:nvSpPr>
        <p:spPr>
          <a:xfrm>
            <a:off x="411480" y="1188720"/>
            <a:ext cx="3931920" cy="2194560"/>
          </a:xfrm>
          <a:prstGeom prst="roundRect">
            <a:avLst>
              <a:gd name="adj" fmla="val 2083"/>
            </a:avLst>
          </a:prstGeom>
          <a:solidFill>
            <a:srgbClr val="EEF3FA"/>
          </a:solidFill>
          <a:ln w="12700">
            <a:solidFill>
              <a:srgbClr val="DCE6F1"/>
            </a:solidFill>
            <a:prstDash val="solid"/>
          </a:ln>
        </p:spPr>
        <p:txBody>
          <a:bodyPr/>
          <a:lstStyle/>
          <a:p>
            <a:endParaRPr lang="en-US"/>
          </a:p>
        </p:txBody>
      </p:sp>
      <p:sp>
        <p:nvSpPr>
          <p:cNvPr id="5" name="Text 2"/>
          <p:cNvSpPr/>
          <p:nvPr/>
        </p:nvSpPr>
        <p:spPr>
          <a:xfrm>
            <a:off x="521208" y="1261872"/>
            <a:ext cx="3712464" cy="2048256"/>
          </a:xfrm>
          <a:prstGeom prst="rect">
            <a:avLst/>
          </a:prstGeom>
          <a:noFill/>
          <a:ln/>
        </p:spPr>
        <p:txBody>
          <a:bodyPr wrap="square" lIns="0" tIns="0" rIns="0" bIns="0" rtlCol="0" anchor="t"/>
          <a:lstStyle/>
          <a:p>
            <a:pPr marL="0" indent="0">
              <a:lnSpc>
                <a:spcPct val="105000"/>
              </a:lnSpc>
              <a:buNone/>
            </a:pPr>
            <a:r>
              <a:rPr lang="en-US" sz="1600" b="1" dirty="0">
                <a:solidFill>
                  <a:srgbClr val="1F497D"/>
                </a:solidFill>
                <a:latin typeface="Calibri" pitchFamily="34" charset="0"/>
                <a:ea typeface="Calibri" pitchFamily="34" charset="-122"/>
                <a:cs typeface="Calibri" pitchFamily="34" charset="-120"/>
              </a:rPr>
              <a:t>Manage the Data</a:t>
            </a:r>
            <a:endParaRPr lang="en-US" sz="1600" dirty="0"/>
          </a:p>
        </p:txBody>
      </p:sp>
      <p:sp>
        <p:nvSpPr>
          <p:cNvPr id="6" name="Text 3"/>
          <p:cNvSpPr/>
          <p:nvPr/>
        </p:nvSpPr>
        <p:spPr>
          <a:xfrm>
            <a:off x="594360" y="1600200"/>
            <a:ext cx="3566160" cy="164592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What each table and column means</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How every metric is calculated</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The acronyms, form types, and other terms stored in the data governance tool (e.g. Collibra)</a:t>
            </a:r>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Which questions matter to the programs</a:t>
            </a:r>
            <a:endParaRPr lang="en-US" sz="1100" dirty="0"/>
          </a:p>
        </p:txBody>
      </p:sp>
      <p:sp>
        <p:nvSpPr>
          <p:cNvPr id="7" name="Shape 4"/>
          <p:cNvSpPr/>
          <p:nvPr/>
        </p:nvSpPr>
        <p:spPr>
          <a:xfrm>
            <a:off x="4800600" y="1188720"/>
            <a:ext cx="3931920" cy="2194560"/>
          </a:xfrm>
          <a:prstGeom prst="roundRect">
            <a:avLst>
              <a:gd name="adj" fmla="val 2083"/>
            </a:avLst>
          </a:prstGeom>
          <a:solidFill>
            <a:srgbClr val="EEF3FA"/>
          </a:solidFill>
          <a:ln w="12700">
            <a:solidFill>
              <a:srgbClr val="DCE6F1"/>
            </a:solidFill>
            <a:prstDash val="solid"/>
          </a:ln>
        </p:spPr>
        <p:txBody>
          <a:bodyPr/>
          <a:lstStyle/>
          <a:p>
            <a:endParaRPr lang="en-US"/>
          </a:p>
        </p:txBody>
      </p:sp>
      <p:sp>
        <p:nvSpPr>
          <p:cNvPr id="8" name="Text 5"/>
          <p:cNvSpPr/>
          <p:nvPr/>
        </p:nvSpPr>
        <p:spPr>
          <a:xfrm>
            <a:off x="4910328" y="1261872"/>
            <a:ext cx="3712464" cy="2048256"/>
          </a:xfrm>
          <a:prstGeom prst="rect">
            <a:avLst/>
          </a:prstGeom>
          <a:noFill/>
          <a:ln/>
        </p:spPr>
        <p:txBody>
          <a:bodyPr wrap="square" lIns="0" tIns="0" rIns="0" bIns="0" rtlCol="0" anchor="t"/>
          <a:lstStyle/>
          <a:p>
            <a:pPr marL="0" indent="0">
              <a:lnSpc>
                <a:spcPct val="105000"/>
              </a:lnSpc>
              <a:buNone/>
            </a:pPr>
            <a:r>
              <a:rPr lang="en-US" sz="1600" b="1" dirty="0">
                <a:solidFill>
                  <a:srgbClr val="1F497D"/>
                </a:solidFill>
                <a:latin typeface="Calibri" pitchFamily="34" charset="0"/>
                <a:ea typeface="Calibri" pitchFamily="34" charset="-122"/>
                <a:cs typeface="Calibri" pitchFamily="34" charset="-120"/>
              </a:rPr>
              <a:t>Understand the Tools</a:t>
            </a:r>
            <a:endParaRPr lang="en-US" sz="1600" dirty="0"/>
          </a:p>
        </p:txBody>
      </p:sp>
      <p:sp>
        <p:nvSpPr>
          <p:cNvPr id="9" name="Text 6"/>
          <p:cNvSpPr/>
          <p:nvPr/>
        </p:nvSpPr>
        <p:spPr>
          <a:xfrm>
            <a:off x="4983480" y="1600200"/>
            <a:ext cx="3566160" cy="164592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Genie Code Assistant / Genie Agents via Databricks platform </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Unity Catalog and access</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Compute + AI token budgets</a:t>
            </a:r>
            <a:endParaRPr lang="en-US" sz="1100" dirty="0"/>
          </a:p>
        </p:txBody>
      </p:sp>
      <p:sp>
        <p:nvSpPr>
          <p:cNvPr id="10" name="Text 7"/>
          <p:cNvSpPr/>
          <p:nvPr/>
        </p:nvSpPr>
        <p:spPr>
          <a:xfrm>
            <a:off x="4343400" y="2011680"/>
            <a:ext cx="457200" cy="548640"/>
          </a:xfrm>
          <a:prstGeom prst="rect">
            <a:avLst/>
          </a:prstGeom>
          <a:noFill/>
          <a:ln/>
        </p:spPr>
        <p:txBody>
          <a:bodyPr wrap="square" lIns="0" tIns="0" rIns="0" bIns="0" rtlCol="0" anchor="ctr"/>
          <a:lstStyle/>
          <a:p>
            <a:pPr marL="0" indent="0" algn="ctr">
              <a:buNone/>
            </a:pPr>
            <a:r>
              <a:rPr lang="en-US" sz="2800" b="1" dirty="0">
                <a:solidFill>
                  <a:srgbClr val="BF9000"/>
                </a:solidFill>
                <a:latin typeface="Calibri" pitchFamily="34" charset="0"/>
                <a:ea typeface="Calibri" pitchFamily="34" charset="-122"/>
                <a:cs typeface="Calibri" pitchFamily="34" charset="-120"/>
              </a:rPr>
              <a:t>+</a:t>
            </a:r>
            <a:endParaRPr lang="en-US" sz="2800" dirty="0"/>
          </a:p>
        </p:txBody>
      </p:sp>
      <p:sp>
        <p:nvSpPr>
          <p:cNvPr id="11" name="Shape 8"/>
          <p:cNvSpPr/>
          <p:nvPr/>
        </p:nvSpPr>
        <p:spPr>
          <a:xfrm>
            <a:off x="411480" y="3611880"/>
            <a:ext cx="8321040" cy="960120"/>
          </a:xfrm>
          <a:prstGeom prst="roundRect">
            <a:avLst>
              <a:gd name="adj" fmla="val 4762"/>
            </a:avLst>
          </a:prstGeom>
          <a:solidFill>
            <a:srgbClr val="1F497D"/>
          </a:solidFill>
          <a:ln w="12700">
            <a:solidFill>
              <a:srgbClr val="DCE6F1"/>
            </a:solidFill>
            <a:prstDash val="solid"/>
          </a:ln>
        </p:spPr>
        <p:txBody>
          <a:bodyPr/>
          <a:lstStyle/>
          <a:p>
            <a:endParaRPr lang="en-US"/>
          </a:p>
        </p:txBody>
      </p:sp>
      <p:sp>
        <p:nvSpPr>
          <p:cNvPr id="12" name="Text 9"/>
          <p:cNvSpPr/>
          <p:nvPr/>
        </p:nvSpPr>
        <p:spPr>
          <a:xfrm>
            <a:off x="521208" y="3685032"/>
            <a:ext cx="8101584" cy="813816"/>
          </a:xfrm>
          <a:prstGeom prst="rect">
            <a:avLst/>
          </a:prstGeom>
          <a:noFill/>
          <a:ln/>
        </p:spPr>
        <p:txBody>
          <a:bodyPr wrap="square" lIns="0" tIns="0" rIns="0" bIns="0" rtlCol="0" anchor="t"/>
          <a:lstStyle/>
          <a:p>
            <a:pPr>
              <a:lnSpc>
                <a:spcPct val="105000"/>
              </a:lnSpc>
            </a:pPr>
            <a:r>
              <a:rPr lang="en-US" sz="1100" b="1" dirty="0">
                <a:solidFill>
                  <a:srgbClr val="FFFFFF"/>
                </a:solidFill>
                <a:latin typeface="Calibri" pitchFamily="34" charset="0"/>
                <a:ea typeface="Calibri" pitchFamily="34" charset="-122"/>
                <a:cs typeface="Calibri" pitchFamily="34" charset="-120"/>
              </a:rPr>
              <a:t>The Goal
</a:t>
            </a:r>
            <a:r>
              <a:rPr lang="en-US" sz="1000" b="1" dirty="0">
                <a:solidFill>
                  <a:srgbClr val="D6E2F2"/>
                </a:solidFill>
                <a:latin typeface="Calibri" pitchFamily="34" charset="0"/>
                <a:ea typeface="Calibri" pitchFamily="34" charset="-122"/>
                <a:cs typeface="Calibri" pitchFamily="34" charset="-120"/>
              </a:rPr>
              <a:t>T</a:t>
            </a:r>
            <a:r>
              <a:rPr lang="en-US" sz="1000" dirty="0">
                <a:solidFill>
                  <a:srgbClr val="D6E2F2"/>
                </a:solidFill>
                <a:latin typeface="Calibri" pitchFamily="34" charset="0"/>
                <a:ea typeface="Calibri" pitchFamily="34" charset="-122"/>
                <a:cs typeface="Calibri" pitchFamily="34" charset="-120"/>
              </a:rPr>
              <a:t>he ability for our data stewards to enter and update metadata as opposed to OIT/DBIS having full control to where our teams have to translate this information to them to enter- </a:t>
            </a:r>
            <a:r>
              <a:rPr lang="en-US" sz="1100" dirty="0">
                <a:solidFill>
                  <a:srgbClr val="D6E2F2"/>
                </a:solidFill>
                <a:latin typeface="Calibri" pitchFamily="34" charset="0"/>
                <a:ea typeface="Calibri" pitchFamily="34" charset="-122"/>
                <a:cs typeface="Calibri" pitchFamily="34" charset="-120"/>
              </a:rPr>
              <a:t>descriptions, definitions, and formulas.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475488"/>
            <a:ext cx="6949440" cy="384048"/>
          </a:xfrm>
          <a:prstGeom prst="rect">
            <a:avLst/>
          </a:prstGeom>
          <a:noFill/>
          <a:ln/>
        </p:spPr>
        <p:txBody>
          <a:bodyPr wrap="square" lIns="0" tIns="0" rIns="0" bIns="0" rtlCol="0" anchor="ctr"/>
          <a:lstStyle/>
          <a:p>
            <a:pPr marL="0" indent="0">
              <a:buNone/>
            </a:pPr>
            <a:r>
              <a:rPr lang="en-US" sz="1700" b="1" dirty="0">
                <a:solidFill>
                  <a:srgbClr val="1F497D"/>
                </a:solidFill>
                <a:latin typeface="Calibri" pitchFamily="34" charset="0"/>
                <a:ea typeface="Calibri" pitchFamily="34" charset="-122"/>
                <a:cs typeface="Calibri" pitchFamily="34" charset="-120"/>
              </a:rPr>
              <a:t>A Family of Focused Agents — Not One That Knows Everything</a:t>
            </a:r>
            <a:endParaRPr lang="en-US" sz="1700" dirty="0"/>
          </a:p>
        </p:txBody>
      </p:sp>
      <p:sp>
        <p:nvSpPr>
          <p:cNvPr id="4" name="Text 1"/>
          <p:cNvSpPr/>
          <p:nvPr/>
        </p:nvSpPr>
        <p:spPr>
          <a:xfrm>
            <a:off x="320040" y="914400"/>
            <a:ext cx="8503920" cy="365760"/>
          </a:xfrm>
          <a:prstGeom prst="rect">
            <a:avLst/>
          </a:prstGeom>
          <a:noFill/>
          <a:ln/>
        </p:spPr>
        <p:txBody>
          <a:bodyPr wrap="square" lIns="0" tIns="0" rIns="0" bIns="0" rtlCol="0" anchor="ctr"/>
          <a:lstStyle/>
          <a:p>
            <a:pPr marL="0" indent="0">
              <a:buNone/>
            </a:pPr>
            <a:r>
              <a:rPr lang="en-US" sz="1050" i="1" dirty="0">
                <a:solidFill>
                  <a:srgbClr val="595959"/>
                </a:solidFill>
                <a:latin typeface="Calibri" pitchFamily="34" charset="0"/>
                <a:ea typeface="Calibri" pitchFamily="34" charset="-122"/>
                <a:cs typeface="Calibri" pitchFamily="34" charset="-120"/>
              </a:rPr>
              <a:t>Each agent covers one area with a small, curated set of tables (5 or fewer, or a single certified metric view) — </a:t>
            </a:r>
          </a:p>
          <a:p>
            <a:pPr marL="0" indent="0">
              <a:buNone/>
            </a:pPr>
            <a:r>
              <a:rPr lang="en-US" sz="1050" i="1" dirty="0">
                <a:solidFill>
                  <a:srgbClr val="595959"/>
                </a:solidFill>
                <a:latin typeface="Calibri" pitchFamily="34" charset="0"/>
                <a:ea typeface="Calibri" pitchFamily="34" charset="-122"/>
                <a:cs typeface="Calibri" pitchFamily="34" charset="-120"/>
              </a:rPr>
              <a:t>All agents use the same shared USCIS knowledge via metadata in the context layer.</a:t>
            </a:r>
            <a:endParaRPr lang="en-US" sz="1050" dirty="0"/>
          </a:p>
        </p:txBody>
      </p:sp>
      <p:sp>
        <p:nvSpPr>
          <p:cNvPr id="5" name="Shape 2"/>
          <p:cNvSpPr/>
          <p:nvPr/>
        </p:nvSpPr>
        <p:spPr>
          <a:xfrm>
            <a:off x="822960" y="3291840"/>
            <a:ext cx="7498080" cy="822960"/>
          </a:xfrm>
          <a:prstGeom prst="roundRect">
            <a:avLst>
              <a:gd name="adj" fmla="val 5556"/>
            </a:avLst>
          </a:prstGeom>
          <a:solidFill>
            <a:srgbClr val="1F497D"/>
          </a:solidFill>
          <a:ln/>
        </p:spPr>
        <p:txBody>
          <a:bodyPr/>
          <a:lstStyle/>
          <a:p>
            <a:endParaRPr lang="en-US"/>
          </a:p>
        </p:txBody>
      </p:sp>
      <p:sp>
        <p:nvSpPr>
          <p:cNvPr id="6" name="Text 3"/>
          <p:cNvSpPr/>
          <p:nvPr/>
        </p:nvSpPr>
        <p:spPr>
          <a:xfrm>
            <a:off x="1005840" y="3401568"/>
            <a:ext cx="713232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Shared USCIS knowledge (what we build)</a:t>
            </a:r>
            <a:endParaRPr lang="en-US" sz="1100" dirty="0"/>
          </a:p>
        </p:txBody>
      </p:sp>
      <p:sp>
        <p:nvSpPr>
          <p:cNvPr id="7" name="Text 4"/>
          <p:cNvSpPr/>
          <p:nvPr/>
        </p:nvSpPr>
        <p:spPr>
          <a:xfrm>
            <a:off x="1005840" y="3721608"/>
            <a:ext cx="7132320" cy="274320"/>
          </a:xfrm>
          <a:prstGeom prst="rect">
            <a:avLst/>
          </a:prstGeom>
          <a:noFill/>
          <a:ln/>
        </p:spPr>
        <p:txBody>
          <a:bodyPr wrap="square" lIns="0" tIns="0" rIns="0" bIns="0" rtlCol="0" anchor="ctr"/>
          <a:lstStyle/>
          <a:p>
            <a:pPr algn="ctr"/>
            <a:r>
              <a:rPr lang="en-US" sz="900" dirty="0">
                <a:solidFill>
                  <a:srgbClr val="D6E2F2"/>
                </a:solidFill>
                <a:latin typeface="Calibri" pitchFamily="34" charset="0"/>
                <a:ea typeface="Calibri" pitchFamily="34" charset="-122"/>
                <a:cs typeface="Calibri" pitchFamily="34" charset="-120"/>
              </a:rPr>
              <a:t>table &amp; column descriptions  • data governance definitions  •  certified metric formulas  •  registered relationships</a:t>
            </a:r>
            <a:endParaRPr lang="en-US" sz="900" dirty="0"/>
          </a:p>
        </p:txBody>
      </p:sp>
      <p:sp>
        <p:nvSpPr>
          <p:cNvPr id="8" name="Shape 5"/>
          <p:cNvSpPr/>
          <p:nvPr/>
        </p:nvSpPr>
        <p:spPr>
          <a:xfrm>
            <a:off x="822960" y="1417320"/>
            <a:ext cx="1755648" cy="1371600"/>
          </a:xfrm>
          <a:prstGeom prst="roundRect">
            <a:avLst>
              <a:gd name="adj" fmla="val 3333"/>
            </a:avLst>
          </a:prstGeom>
          <a:solidFill>
            <a:srgbClr val="EEF3FA"/>
          </a:solidFill>
          <a:ln w="12700">
            <a:solidFill>
              <a:srgbClr val="DCE6F1"/>
            </a:solidFill>
            <a:prstDash val="solid"/>
          </a:ln>
        </p:spPr>
        <p:txBody>
          <a:bodyPr/>
          <a:lstStyle/>
          <a:p>
            <a:endParaRPr lang="en-US" sz="3600"/>
          </a:p>
        </p:txBody>
      </p:sp>
      <p:sp>
        <p:nvSpPr>
          <p:cNvPr id="9" name="Text 6"/>
          <p:cNvSpPr/>
          <p:nvPr/>
        </p:nvSpPr>
        <p:spPr>
          <a:xfrm>
            <a:off x="932688" y="1490472"/>
            <a:ext cx="1536192" cy="1225296"/>
          </a:xfrm>
          <a:prstGeom prst="rect">
            <a:avLst/>
          </a:prstGeom>
          <a:noFill/>
          <a:ln/>
        </p:spPr>
        <p:txBody>
          <a:bodyPr wrap="square" lIns="0" tIns="0" rIns="0" bIns="0" rtlCol="0" anchor="t"/>
          <a:lstStyle/>
          <a:p>
            <a:pPr marL="0" indent="0">
              <a:lnSpc>
                <a:spcPct val="105000"/>
              </a:lnSpc>
              <a:buNone/>
            </a:pPr>
            <a:r>
              <a:rPr lang="en-US" sz="1400" b="1" dirty="0">
                <a:solidFill>
                  <a:srgbClr val="1F497D"/>
                </a:solidFill>
                <a:latin typeface="Calibri" pitchFamily="34" charset="0"/>
                <a:ea typeface="Calibri" pitchFamily="34" charset="-122"/>
                <a:cs typeface="Calibri" pitchFamily="34" charset="-120"/>
              </a:rPr>
              <a:t>NPD POC Agent
</a:t>
            </a:r>
            <a:r>
              <a:rPr lang="en-US" sz="1200" dirty="0">
                <a:solidFill>
                  <a:srgbClr val="1A1A1A"/>
                </a:solidFill>
                <a:latin typeface="Calibri" pitchFamily="34" charset="0"/>
                <a:ea typeface="Calibri" pitchFamily="34" charset="-122"/>
                <a:cs typeface="Calibri" pitchFamily="34" charset="-120"/>
              </a:rPr>
              <a:t>filings, completions, </a:t>
            </a:r>
            <a:r>
              <a:rPr lang="en-US" sz="1200" dirty="0" err="1">
                <a:solidFill>
                  <a:srgbClr val="1A1A1A"/>
                </a:solidFill>
                <a:latin typeface="Calibri" pitchFamily="34" charset="0"/>
                <a:ea typeface="Calibri" pitchFamily="34" charset="-122"/>
                <a:cs typeface="Calibri" pitchFamily="34" charset="-120"/>
              </a:rPr>
              <a:t>etc</a:t>
            </a:r>
            <a:endParaRPr lang="en-US" sz="1400" dirty="0"/>
          </a:p>
        </p:txBody>
      </p:sp>
      <p:sp>
        <p:nvSpPr>
          <p:cNvPr id="10" name="Shape 7"/>
          <p:cNvSpPr/>
          <p:nvPr/>
        </p:nvSpPr>
        <p:spPr>
          <a:xfrm>
            <a:off x="1700784" y="2788920"/>
            <a:ext cx="0" cy="502920"/>
          </a:xfrm>
          <a:prstGeom prst="line">
            <a:avLst/>
          </a:prstGeom>
          <a:noFill/>
          <a:ln w="25400">
            <a:solidFill>
              <a:srgbClr val="BF9000"/>
            </a:solidFill>
            <a:prstDash val="solid"/>
          </a:ln>
        </p:spPr>
        <p:txBody>
          <a:bodyPr/>
          <a:lstStyle/>
          <a:p>
            <a:endParaRPr lang="en-US"/>
          </a:p>
        </p:txBody>
      </p:sp>
      <p:sp>
        <p:nvSpPr>
          <p:cNvPr id="11" name="Shape 8"/>
          <p:cNvSpPr/>
          <p:nvPr/>
        </p:nvSpPr>
        <p:spPr>
          <a:xfrm>
            <a:off x="2761488" y="1417320"/>
            <a:ext cx="1755648" cy="1371600"/>
          </a:xfrm>
          <a:prstGeom prst="roundRect">
            <a:avLst>
              <a:gd name="adj" fmla="val 3333"/>
            </a:avLst>
          </a:prstGeom>
          <a:solidFill>
            <a:srgbClr val="FFFFFF"/>
          </a:solidFill>
          <a:ln w="12700">
            <a:solidFill>
              <a:srgbClr val="DCE6F1"/>
            </a:solidFill>
            <a:prstDash val="solid"/>
          </a:ln>
        </p:spPr>
        <p:txBody>
          <a:bodyPr/>
          <a:lstStyle/>
          <a:p>
            <a:endParaRPr lang="en-US" sz="3600"/>
          </a:p>
        </p:txBody>
      </p:sp>
      <p:sp>
        <p:nvSpPr>
          <p:cNvPr id="12" name="Text 9"/>
          <p:cNvSpPr/>
          <p:nvPr/>
        </p:nvSpPr>
        <p:spPr>
          <a:xfrm>
            <a:off x="2871216" y="1490472"/>
            <a:ext cx="1536192" cy="1225296"/>
          </a:xfrm>
          <a:prstGeom prst="rect">
            <a:avLst/>
          </a:prstGeom>
          <a:noFill/>
          <a:ln/>
        </p:spPr>
        <p:txBody>
          <a:bodyPr wrap="square" lIns="0" tIns="0" rIns="0" bIns="0" rtlCol="0" anchor="t"/>
          <a:lstStyle/>
          <a:p>
            <a:pPr marL="0" indent="0">
              <a:lnSpc>
                <a:spcPct val="105000"/>
              </a:lnSpc>
              <a:buNone/>
            </a:pPr>
            <a:r>
              <a:rPr lang="en-US" sz="1400" b="1" dirty="0">
                <a:solidFill>
                  <a:srgbClr val="1F497D"/>
                </a:solidFill>
                <a:latin typeface="Calibri" pitchFamily="34" charset="0"/>
                <a:ea typeface="Calibri" pitchFamily="34" charset="-122"/>
                <a:cs typeface="Calibri" pitchFamily="34" charset="-120"/>
              </a:rPr>
              <a:t>Agent 2</a:t>
            </a:r>
            <a:endParaRPr lang="en-US" sz="1400" dirty="0"/>
          </a:p>
        </p:txBody>
      </p:sp>
      <p:sp>
        <p:nvSpPr>
          <p:cNvPr id="13" name="Shape 10"/>
          <p:cNvSpPr/>
          <p:nvPr/>
        </p:nvSpPr>
        <p:spPr>
          <a:xfrm>
            <a:off x="3639312" y="2788920"/>
            <a:ext cx="0" cy="502920"/>
          </a:xfrm>
          <a:prstGeom prst="line">
            <a:avLst/>
          </a:prstGeom>
          <a:noFill/>
          <a:ln w="25400">
            <a:solidFill>
              <a:srgbClr val="BF9000"/>
            </a:solidFill>
            <a:prstDash val="solid"/>
          </a:ln>
        </p:spPr>
        <p:txBody>
          <a:bodyPr/>
          <a:lstStyle/>
          <a:p>
            <a:endParaRPr lang="en-US"/>
          </a:p>
        </p:txBody>
      </p:sp>
      <p:sp>
        <p:nvSpPr>
          <p:cNvPr id="14" name="Shape 11"/>
          <p:cNvSpPr/>
          <p:nvPr/>
        </p:nvSpPr>
        <p:spPr>
          <a:xfrm>
            <a:off x="4700016" y="1417320"/>
            <a:ext cx="1755648" cy="1371600"/>
          </a:xfrm>
          <a:prstGeom prst="roundRect">
            <a:avLst>
              <a:gd name="adj" fmla="val 3333"/>
            </a:avLst>
          </a:prstGeom>
          <a:solidFill>
            <a:srgbClr val="FFFFFF"/>
          </a:solidFill>
          <a:ln w="12700">
            <a:solidFill>
              <a:srgbClr val="DCE6F1"/>
            </a:solidFill>
            <a:prstDash val="solid"/>
          </a:ln>
        </p:spPr>
        <p:txBody>
          <a:bodyPr/>
          <a:lstStyle/>
          <a:p>
            <a:endParaRPr lang="en-US" sz="3600"/>
          </a:p>
        </p:txBody>
      </p:sp>
      <p:sp>
        <p:nvSpPr>
          <p:cNvPr id="15" name="Text 12"/>
          <p:cNvSpPr/>
          <p:nvPr/>
        </p:nvSpPr>
        <p:spPr>
          <a:xfrm>
            <a:off x="4809744" y="1490472"/>
            <a:ext cx="1536192" cy="1225296"/>
          </a:xfrm>
          <a:prstGeom prst="rect">
            <a:avLst/>
          </a:prstGeom>
          <a:noFill/>
          <a:ln/>
        </p:spPr>
        <p:txBody>
          <a:bodyPr wrap="square" lIns="0" tIns="0" rIns="0" bIns="0" rtlCol="0" anchor="t"/>
          <a:lstStyle/>
          <a:p>
            <a:pPr marL="0" indent="0">
              <a:lnSpc>
                <a:spcPct val="105000"/>
              </a:lnSpc>
              <a:buNone/>
            </a:pPr>
            <a:r>
              <a:rPr lang="en-US" sz="1400" b="1" dirty="0">
                <a:solidFill>
                  <a:srgbClr val="1F497D"/>
                </a:solidFill>
                <a:latin typeface="Calibri" pitchFamily="34" charset="0"/>
                <a:ea typeface="Calibri" pitchFamily="34" charset="-122"/>
                <a:cs typeface="Calibri" pitchFamily="34" charset="-120"/>
              </a:rPr>
              <a:t>Agent 3</a:t>
            </a:r>
            <a:endParaRPr lang="en-US" sz="1400" dirty="0"/>
          </a:p>
        </p:txBody>
      </p:sp>
      <p:sp>
        <p:nvSpPr>
          <p:cNvPr id="16" name="Shape 13"/>
          <p:cNvSpPr/>
          <p:nvPr/>
        </p:nvSpPr>
        <p:spPr>
          <a:xfrm>
            <a:off x="5577840" y="2788920"/>
            <a:ext cx="0" cy="502920"/>
          </a:xfrm>
          <a:prstGeom prst="line">
            <a:avLst/>
          </a:prstGeom>
          <a:noFill/>
          <a:ln w="25400">
            <a:solidFill>
              <a:srgbClr val="BF9000"/>
            </a:solidFill>
            <a:prstDash val="solid"/>
          </a:ln>
        </p:spPr>
        <p:txBody>
          <a:bodyPr/>
          <a:lstStyle/>
          <a:p>
            <a:endParaRPr lang="en-US"/>
          </a:p>
        </p:txBody>
      </p:sp>
      <p:sp>
        <p:nvSpPr>
          <p:cNvPr id="17" name="Shape 14"/>
          <p:cNvSpPr/>
          <p:nvPr/>
        </p:nvSpPr>
        <p:spPr>
          <a:xfrm>
            <a:off x="6638544" y="1417320"/>
            <a:ext cx="1755648" cy="1371600"/>
          </a:xfrm>
          <a:prstGeom prst="roundRect">
            <a:avLst>
              <a:gd name="adj" fmla="val 3333"/>
            </a:avLst>
          </a:prstGeom>
          <a:solidFill>
            <a:srgbClr val="FFFFFF"/>
          </a:solidFill>
          <a:ln w="12700">
            <a:solidFill>
              <a:srgbClr val="DCE6F1"/>
            </a:solidFill>
            <a:prstDash val="solid"/>
          </a:ln>
        </p:spPr>
        <p:txBody>
          <a:bodyPr/>
          <a:lstStyle/>
          <a:p>
            <a:endParaRPr lang="en-US" sz="3600"/>
          </a:p>
        </p:txBody>
      </p:sp>
      <p:sp>
        <p:nvSpPr>
          <p:cNvPr id="18" name="Text 15"/>
          <p:cNvSpPr/>
          <p:nvPr/>
        </p:nvSpPr>
        <p:spPr>
          <a:xfrm>
            <a:off x="6748272" y="1490472"/>
            <a:ext cx="1536192" cy="1225296"/>
          </a:xfrm>
          <a:prstGeom prst="rect">
            <a:avLst/>
          </a:prstGeom>
          <a:noFill/>
          <a:ln/>
        </p:spPr>
        <p:txBody>
          <a:bodyPr wrap="square" lIns="0" tIns="0" rIns="0" bIns="0" rtlCol="0" anchor="t"/>
          <a:lstStyle/>
          <a:p>
            <a:pPr marL="0" indent="0">
              <a:lnSpc>
                <a:spcPct val="105000"/>
              </a:lnSpc>
              <a:buNone/>
            </a:pPr>
            <a:r>
              <a:rPr lang="en-US" sz="1400" b="1" dirty="0">
                <a:solidFill>
                  <a:srgbClr val="1F497D"/>
                </a:solidFill>
                <a:latin typeface="Calibri" pitchFamily="34" charset="0"/>
                <a:ea typeface="Calibri" pitchFamily="34" charset="-122"/>
                <a:cs typeface="Calibri" pitchFamily="34" charset="-120"/>
              </a:rPr>
              <a:t>Agent 4</a:t>
            </a:r>
            <a:endParaRPr lang="en-US" sz="1400" dirty="0"/>
          </a:p>
        </p:txBody>
      </p:sp>
      <p:sp>
        <p:nvSpPr>
          <p:cNvPr id="19" name="Shape 16"/>
          <p:cNvSpPr/>
          <p:nvPr/>
        </p:nvSpPr>
        <p:spPr>
          <a:xfrm>
            <a:off x="7516368" y="2788920"/>
            <a:ext cx="0" cy="502920"/>
          </a:xfrm>
          <a:prstGeom prst="line">
            <a:avLst/>
          </a:prstGeom>
          <a:noFill/>
          <a:ln w="25400">
            <a:solidFill>
              <a:srgbClr val="BF9000"/>
            </a:solidFill>
            <a:prstDash val="solid"/>
          </a:ln>
        </p:spPr>
        <p:txBody>
          <a:bodyPr/>
          <a:lstStyle/>
          <a:p>
            <a:endParaRPr lang="en-US"/>
          </a:p>
        </p:txBody>
      </p:sp>
      <p:sp>
        <p:nvSpPr>
          <p:cNvPr id="20" name="Text 17"/>
          <p:cNvSpPr/>
          <p:nvPr/>
        </p:nvSpPr>
        <p:spPr>
          <a:xfrm>
            <a:off x="320040" y="4297680"/>
            <a:ext cx="8503920" cy="320040"/>
          </a:xfrm>
          <a:prstGeom prst="rect">
            <a:avLst/>
          </a:prstGeom>
          <a:noFill/>
          <a:ln/>
        </p:spPr>
        <p:txBody>
          <a:bodyPr wrap="square" lIns="0" tIns="0" rIns="0" bIns="0" rtlCol="0" anchor="ctr"/>
          <a:lstStyle/>
          <a:p>
            <a:pPr marL="0" indent="0" algn="ctr">
              <a:buNone/>
            </a:pPr>
            <a:r>
              <a:rPr lang="en-US" sz="1000" i="1" dirty="0">
                <a:solidFill>
                  <a:srgbClr val="595959"/>
                </a:solidFill>
                <a:latin typeface="Calibri" pitchFamily="34" charset="0"/>
                <a:ea typeface="Calibri" pitchFamily="34" charset="-122"/>
                <a:cs typeface="Calibri" pitchFamily="34" charset="-120"/>
              </a:rPr>
              <a:t>Each agent has a named owner, a defined scope, and its own accuracy tests — easy to oversee, easy to switch on/off.</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475488"/>
            <a:ext cx="6949440" cy="384048"/>
          </a:xfrm>
          <a:prstGeom prst="rect">
            <a:avLst/>
          </a:prstGeom>
          <a:noFill/>
          <a:ln/>
        </p:spPr>
        <p:txBody>
          <a:bodyPr wrap="square" lIns="0" tIns="0" rIns="0" bIns="0" rtlCol="0" anchor="ctr"/>
          <a:lstStyle/>
          <a:p>
            <a:pPr marL="0" indent="0">
              <a:buNone/>
            </a:pPr>
            <a:r>
              <a:rPr lang="en-US" sz="1700" b="1" dirty="0">
                <a:solidFill>
                  <a:srgbClr val="1F497D"/>
                </a:solidFill>
                <a:latin typeface="Calibri" pitchFamily="34" charset="0"/>
                <a:ea typeface="Calibri" pitchFamily="34" charset="-122"/>
                <a:cs typeface="Calibri" pitchFamily="34" charset="-120"/>
              </a:rPr>
              <a:t>Source of Truth</a:t>
            </a:r>
            <a:endParaRPr lang="en-US" sz="1700" dirty="0"/>
          </a:p>
        </p:txBody>
      </p:sp>
      <p:sp>
        <p:nvSpPr>
          <p:cNvPr id="4" name="Shape 1"/>
          <p:cNvSpPr/>
          <p:nvPr/>
        </p:nvSpPr>
        <p:spPr>
          <a:xfrm>
            <a:off x="365760" y="1234440"/>
            <a:ext cx="2395728" cy="1371600"/>
          </a:xfrm>
          <a:prstGeom prst="roundRect">
            <a:avLst>
              <a:gd name="adj" fmla="val 2857"/>
            </a:avLst>
          </a:prstGeom>
          <a:solidFill>
            <a:srgbClr val="EEF3FA"/>
          </a:solidFill>
          <a:ln w="12700">
            <a:solidFill>
              <a:srgbClr val="DCE6F1"/>
            </a:solidFill>
            <a:prstDash val="solid"/>
          </a:ln>
        </p:spPr>
        <p:txBody>
          <a:bodyPr/>
          <a:lstStyle/>
          <a:p>
            <a:endParaRPr lang="en-US" sz="2400"/>
          </a:p>
        </p:txBody>
      </p:sp>
      <p:sp>
        <p:nvSpPr>
          <p:cNvPr id="5" name="Text 2"/>
          <p:cNvSpPr/>
          <p:nvPr/>
        </p:nvSpPr>
        <p:spPr>
          <a:xfrm>
            <a:off x="475488" y="1344168"/>
            <a:ext cx="2194560" cy="1188720"/>
          </a:xfrm>
          <a:prstGeom prst="rect">
            <a:avLst/>
          </a:prstGeom>
          <a:noFill/>
          <a:ln/>
        </p:spPr>
        <p:txBody>
          <a:bodyPr wrap="square" lIns="0" tIns="0" rIns="0" bIns="0" rtlCol="0" anchor="t"/>
          <a:lstStyle/>
          <a:p>
            <a:pPr marL="0" indent="0">
              <a:buNone/>
            </a:pPr>
            <a:r>
              <a:rPr lang="en-US" sz="1400" b="1" dirty="0">
                <a:solidFill>
                  <a:srgbClr val="1F497D"/>
                </a:solidFill>
                <a:latin typeface="Calibri" pitchFamily="34" charset="0"/>
                <a:ea typeface="Calibri" pitchFamily="34" charset="-122"/>
                <a:cs typeface="Calibri" pitchFamily="34" charset="-120"/>
              </a:rPr>
              <a:t>DATA GOVERNANCE
</a:t>
            </a:r>
            <a:r>
              <a:rPr lang="en-US" sz="1050" dirty="0">
                <a:solidFill>
                  <a:srgbClr val="1F497D"/>
                </a:solidFill>
                <a:latin typeface="Calibri" pitchFamily="34" charset="0"/>
                <a:ea typeface="Calibri" pitchFamily="34" charset="-122"/>
                <a:cs typeface="Calibri" pitchFamily="34" charset="-120"/>
              </a:rPr>
              <a:t>our acronyms, form types,</a:t>
            </a:r>
            <a:endParaRPr lang="en-US" sz="1400" dirty="0"/>
          </a:p>
          <a:p>
            <a:pPr marL="0" indent="0">
              <a:buNone/>
            </a:pPr>
            <a:r>
              <a:rPr lang="en-US" sz="1050" dirty="0">
                <a:solidFill>
                  <a:srgbClr val="1F497D"/>
                </a:solidFill>
                <a:latin typeface="Calibri" pitchFamily="34" charset="0"/>
                <a:ea typeface="Calibri" pitchFamily="34" charset="-122"/>
                <a:cs typeface="Calibri" pitchFamily="34" charset="-120"/>
              </a:rPr>
              <a:t>and calculation definitions —</a:t>
            </a:r>
            <a:endParaRPr lang="en-US" sz="1400" dirty="0"/>
          </a:p>
          <a:p>
            <a:pPr marL="0" indent="0">
              <a:buNone/>
            </a:pPr>
            <a:r>
              <a:rPr lang="en-US" sz="1050" dirty="0">
                <a:solidFill>
                  <a:srgbClr val="1F497D"/>
                </a:solidFill>
                <a:latin typeface="Calibri" pitchFamily="34" charset="0"/>
                <a:ea typeface="Calibri" pitchFamily="34" charset="-122"/>
                <a:cs typeface="Calibri" pitchFamily="34" charset="-120"/>
              </a:rPr>
              <a:t>maintained where they are today and leveraged to save a huge amount of time/effort</a:t>
            </a:r>
            <a:endParaRPr lang="en-US" sz="1400" dirty="0"/>
          </a:p>
        </p:txBody>
      </p:sp>
      <p:sp>
        <p:nvSpPr>
          <p:cNvPr id="6" name="Text 3"/>
          <p:cNvSpPr/>
          <p:nvPr/>
        </p:nvSpPr>
        <p:spPr>
          <a:xfrm>
            <a:off x="2798064" y="1691640"/>
            <a:ext cx="320040" cy="457200"/>
          </a:xfrm>
          <a:prstGeom prst="rect">
            <a:avLst/>
          </a:prstGeom>
          <a:noFill/>
          <a:ln/>
        </p:spPr>
        <p:txBody>
          <a:bodyPr wrap="square" lIns="0" tIns="0" rIns="0" bIns="0" rtlCol="0" anchor="ctr"/>
          <a:lstStyle/>
          <a:p>
            <a:pPr marL="0" indent="0" algn="ctr">
              <a:buNone/>
            </a:pPr>
            <a:r>
              <a:rPr lang="en-US" sz="2800" b="1" dirty="0">
                <a:solidFill>
                  <a:srgbClr val="BF9000"/>
                </a:solidFill>
              </a:rPr>
              <a:t>→</a:t>
            </a:r>
            <a:endParaRPr lang="en-US" sz="2800" dirty="0"/>
          </a:p>
        </p:txBody>
      </p:sp>
      <p:sp>
        <p:nvSpPr>
          <p:cNvPr id="7" name="Shape 4"/>
          <p:cNvSpPr/>
          <p:nvPr/>
        </p:nvSpPr>
        <p:spPr>
          <a:xfrm>
            <a:off x="3291840" y="1234440"/>
            <a:ext cx="2395728" cy="1371600"/>
          </a:xfrm>
          <a:prstGeom prst="roundRect">
            <a:avLst>
              <a:gd name="adj" fmla="val 2857"/>
            </a:avLst>
          </a:prstGeom>
          <a:solidFill>
            <a:srgbClr val="FFFFFF"/>
          </a:solidFill>
          <a:ln w="12700">
            <a:solidFill>
              <a:srgbClr val="DCE6F1"/>
            </a:solidFill>
            <a:prstDash val="solid"/>
          </a:ln>
        </p:spPr>
        <p:txBody>
          <a:bodyPr/>
          <a:lstStyle/>
          <a:p>
            <a:endParaRPr lang="en-US" sz="2400"/>
          </a:p>
        </p:txBody>
      </p:sp>
      <p:sp>
        <p:nvSpPr>
          <p:cNvPr id="8" name="Text 5"/>
          <p:cNvSpPr/>
          <p:nvPr/>
        </p:nvSpPr>
        <p:spPr>
          <a:xfrm>
            <a:off x="3401568" y="1344168"/>
            <a:ext cx="2194560" cy="1188720"/>
          </a:xfrm>
          <a:prstGeom prst="rect">
            <a:avLst/>
          </a:prstGeom>
          <a:noFill/>
          <a:ln/>
        </p:spPr>
        <p:txBody>
          <a:bodyPr wrap="square" lIns="0" tIns="0" rIns="0" bIns="0" rtlCol="0" anchor="t"/>
          <a:lstStyle/>
          <a:p>
            <a:pPr marL="0" indent="0">
              <a:buNone/>
            </a:pPr>
            <a:r>
              <a:rPr lang="en-US" sz="1400" b="1" dirty="0">
                <a:solidFill>
                  <a:srgbClr val="1F497D"/>
                </a:solidFill>
                <a:latin typeface="Calibri" pitchFamily="34" charset="0"/>
                <a:ea typeface="Calibri" pitchFamily="34" charset="-122"/>
                <a:cs typeface="Calibri" pitchFamily="34" charset="-120"/>
              </a:rPr>
              <a:t>DAILY SYNC
</a:t>
            </a:r>
            <a:r>
              <a:rPr lang="en-US" sz="1050" dirty="0">
                <a:solidFill>
                  <a:srgbClr val="1F497D"/>
                </a:solidFill>
                <a:latin typeface="Calibri" pitchFamily="34" charset="0"/>
                <a:ea typeface="Calibri" pitchFamily="34" charset="-122"/>
                <a:cs typeface="Calibri" pitchFamily="34" charset="-120"/>
              </a:rPr>
              <a:t>an automated connection copies</a:t>
            </a:r>
            <a:endParaRPr lang="en-US" sz="1400" dirty="0"/>
          </a:p>
          <a:p>
            <a:pPr marL="0" indent="0">
              <a:buNone/>
            </a:pPr>
            <a:r>
              <a:rPr lang="en-US" sz="1050" dirty="0">
                <a:solidFill>
                  <a:srgbClr val="1F497D"/>
                </a:solidFill>
                <a:latin typeface="Calibri" pitchFamily="34" charset="0"/>
                <a:ea typeface="Calibri" pitchFamily="34" charset="-122"/>
                <a:cs typeface="Calibri" pitchFamily="34" charset="-120"/>
              </a:rPr>
              <a:t>the definitions across</a:t>
            </a:r>
            <a:endParaRPr lang="en-US" sz="1400" dirty="0"/>
          </a:p>
          <a:p>
            <a:pPr marL="0" indent="0">
              <a:buNone/>
            </a:pPr>
            <a:r>
              <a:rPr lang="en-US" sz="1050" dirty="0">
                <a:solidFill>
                  <a:srgbClr val="1F497D"/>
                </a:solidFill>
                <a:latin typeface="Calibri" pitchFamily="34" charset="0"/>
                <a:ea typeface="Calibri" pitchFamily="34" charset="-122"/>
                <a:cs typeface="Calibri" pitchFamily="34" charset="-120"/>
              </a:rPr>
              <a:t>and checks them</a:t>
            </a:r>
            <a:endParaRPr lang="en-US" sz="1400" dirty="0"/>
          </a:p>
        </p:txBody>
      </p:sp>
      <p:sp>
        <p:nvSpPr>
          <p:cNvPr id="9" name="Text 6"/>
          <p:cNvSpPr/>
          <p:nvPr/>
        </p:nvSpPr>
        <p:spPr>
          <a:xfrm>
            <a:off x="5724144" y="1691640"/>
            <a:ext cx="320040" cy="457200"/>
          </a:xfrm>
          <a:prstGeom prst="rect">
            <a:avLst/>
          </a:prstGeom>
          <a:noFill/>
          <a:ln/>
        </p:spPr>
        <p:txBody>
          <a:bodyPr wrap="square" lIns="0" tIns="0" rIns="0" bIns="0" rtlCol="0" anchor="ctr"/>
          <a:lstStyle/>
          <a:p>
            <a:pPr marL="0" indent="0" algn="ctr">
              <a:buNone/>
            </a:pPr>
            <a:r>
              <a:rPr lang="en-US" sz="2800" b="1" dirty="0">
                <a:solidFill>
                  <a:srgbClr val="BF9000"/>
                </a:solidFill>
              </a:rPr>
              <a:t>→</a:t>
            </a:r>
            <a:endParaRPr lang="en-US" sz="2800" dirty="0"/>
          </a:p>
        </p:txBody>
      </p:sp>
      <p:sp>
        <p:nvSpPr>
          <p:cNvPr id="10" name="Shape 7"/>
          <p:cNvSpPr/>
          <p:nvPr/>
        </p:nvSpPr>
        <p:spPr>
          <a:xfrm>
            <a:off x="6217920" y="1234440"/>
            <a:ext cx="2395728" cy="1371600"/>
          </a:xfrm>
          <a:prstGeom prst="roundRect">
            <a:avLst>
              <a:gd name="adj" fmla="val 2857"/>
            </a:avLst>
          </a:prstGeom>
          <a:solidFill>
            <a:srgbClr val="1F497D"/>
          </a:solidFill>
          <a:ln w="12700">
            <a:solidFill>
              <a:srgbClr val="DCE6F1"/>
            </a:solidFill>
            <a:prstDash val="solid"/>
          </a:ln>
        </p:spPr>
        <p:txBody>
          <a:bodyPr/>
          <a:lstStyle/>
          <a:p>
            <a:endParaRPr lang="en-US" sz="2400"/>
          </a:p>
        </p:txBody>
      </p:sp>
      <p:sp>
        <p:nvSpPr>
          <p:cNvPr id="11" name="Text 8"/>
          <p:cNvSpPr/>
          <p:nvPr/>
        </p:nvSpPr>
        <p:spPr>
          <a:xfrm>
            <a:off x="6327648" y="1344168"/>
            <a:ext cx="2194560" cy="118872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THE DATA DIRECTORY
</a:t>
            </a:r>
            <a:r>
              <a:rPr lang="en-US" sz="1050" dirty="0">
                <a:solidFill>
                  <a:srgbClr val="FFFFFF"/>
                </a:solidFill>
                <a:latin typeface="Calibri" pitchFamily="34" charset="0"/>
                <a:ea typeface="Calibri" pitchFamily="34" charset="-122"/>
                <a:cs typeface="Calibri" pitchFamily="34" charset="-120"/>
              </a:rPr>
              <a:t>definitions land in Unity Catalog</a:t>
            </a:r>
            <a:endParaRPr lang="en-US" sz="1400" dirty="0"/>
          </a:p>
          <a:p>
            <a:pPr marL="0" indent="0">
              <a:buNone/>
            </a:pPr>
            <a:r>
              <a:rPr lang="en-US" sz="1050" dirty="0">
                <a:solidFill>
                  <a:srgbClr val="FFFFFF"/>
                </a:solidFill>
                <a:latin typeface="Calibri" pitchFamily="34" charset="0"/>
                <a:ea typeface="Calibri" pitchFamily="34" charset="-122"/>
                <a:cs typeface="Calibri" pitchFamily="34" charset="-120"/>
              </a:rPr>
              <a:t>where every agent</a:t>
            </a:r>
            <a:endParaRPr lang="en-US" sz="1400" dirty="0"/>
          </a:p>
          <a:p>
            <a:pPr marL="0" indent="0">
              <a:buNone/>
            </a:pPr>
            <a:r>
              <a:rPr lang="en-US" sz="1050" dirty="0">
                <a:solidFill>
                  <a:srgbClr val="FFFFFF"/>
                </a:solidFill>
                <a:latin typeface="Calibri" pitchFamily="34" charset="0"/>
                <a:ea typeface="Calibri" pitchFamily="34" charset="-122"/>
                <a:cs typeface="Calibri" pitchFamily="34" charset="-120"/>
              </a:rPr>
              <a:t>can read them</a:t>
            </a:r>
            <a:endParaRPr lang="en-US" sz="1400" dirty="0"/>
          </a:p>
        </p:txBody>
      </p:sp>
      <p:sp>
        <p:nvSpPr>
          <p:cNvPr id="12" name="Shape 9"/>
          <p:cNvSpPr/>
          <p:nvPr/>
        </p:nvSpPr>
        <p:spPr>
          <a:xfrm>
            <a:off x="358140" y="2788920"/>
            <a:ext cx="4846320" cy="1965960"/>
          </a:xfrm>
          <a:prstGeom prst="roundRect">
            <a:avLst>
              <a:gd name="adj" fmla="val 4348"/>
            </a:avLst>
          </a:prstGeom>
          <a:solidFill>
            <a:srgbClr val="EEF3FA"/>
          </a:solidFill>
          <a:ln w="12700">
            <a:solidFill>
              <a:srgbClr val="DCE6F1"/>
            </a:solidFill>
            <a:prstDash val="solid"/>
          </a:ln>
        </p:spPr>
        <p:txBody>
          <a:bodyPr/>
          <a:lstStyle/>
          <a:p>
            <a:endParaRPr lang="en-US"/>
          </a:p>
        </p:txBody>
      </p:sp>
      <p:sp>
        <p:nvSpPr>
          <p:cNvPr id="13" name="Text 10"/>
          <p:cNvSpPr/>
          <p:nvPr/>
        </p:nvSpPr>
        <p:spPr>
          <a:xfrm>
            <a:off x="475488" y="2880360"/>
            <a:ext cx="4617720" cy="1783080"/>
          </a:xfrm>
          <a:prstGeom prst="rect">
            <a:avLst/>
          </a:prstGeom>
          <a:noFill/>
          <a:ln/>
        </p:spPr>
        <p:txBody>
          <a:bodyPr wrap="square" lIns="0" tIns="0" rIns="0" bIns="0" rtlCol="0" anchor="t"/>
          <a:lstStyle/>
          <a:p>
            <a:pPr marL="0" indent="0">
              <a:buNone/>
            </a:pPr>
            <a:r>
              <a:rPr lang="en-US" sz="1100" b="1" dirty="0">
                <a:solidFill>
                  <a:srgbClr val="1F497D"/>
                </a:solidFill>
                <a:latin typeface="Calibri" pitchFamily="34" charset="0"/>
                <a:ea typeface="Calibri" pitchFamily="34" charset="-122"/>
                <a:cs typeface="Calibri" pitchFamily="34" charset="-120"/>
              </a:rPr>
              <a:t>Two ways to make the sync happen</a:t>
            </a:r>
            <a:endParaRPr lang="en-US" sz="1100" dirty="0"/>
          </a:p>
          <a:p>
            <a:pPr marL="0" indent="0">
              <a:spcBef>
                <a:spcPts val="300"/>
              </a:spcBef>
              <a:buNone/>
            </a:pPr>
            <a:r>
              <a:rPr lang="en-US" sz="1000" b="1" dirty="0">
                <a:solidFill>
                  <a:srgbClr val="1F497D"/>
                </a:solidFill>
                <a:latin typeface="Calibri" pitchFamily="34" charset="0"/>
                <a:ea typeface="Calibri" pitchFamily="34" charset="-122"/>
                <a:cs typeface="Calibri" pitchFamily="34" charset="-120"/>
              </a:rPr>
              <a:t>Plan A — the Collibra MCP server. </a:t>
            </a:r>
            <a:r>
              <a:rPr lang="en-US" sz="1000" dirty="0">
                <a:solidFill>
                  <a:srgbClr val="1A1A1A"/>
                </a:solidFill>
                <a:latin typeface="Calibri" pitchFamily="34" charset="0"/>
                <a:ea typeface="Calibri" pitchFamily="34" charset="-122"/>
                <a:cs typeface="Calibri" pitchFamily="34" charset="-120"/>
              </a:rPr>
              <a:t>Already FedRAMP approved. Our first step is testing it to confirm it works as expected on our data.</a:t>
            </a:r>
            <a:endParaRPr lang="en-US" sz="1000" dirty="0"/>
          </a:p>
          <a:p>
            <a:pPr marL="0" indent="0">
              <a:spcBef>
                <a:spcPts val="300"/>
              </a:spcBef>
              <a:buNone/>
            </a:pPr>
            <a:r>
              <a:rPr lang="en-US" sz="1000" b="1" dirty="0">
                <a:solidFill>
                  <a:srgbClr val="1F497D"/>
                </a:solidFill>
                <a:latin typeface="Calibri" pitchFamily="34" charset="0"/>
                <a:ea typeface="Calibri" pitchFamily="34" charset="-122"/>
                <a:cs typeface="Calibri" pitchFamily="34" charset="-120"/>
              </a:rPr>
              <a:t>Plan B — a Databricks job. </a:t>
            </a:r>
            <a:r>
              <a:rPr lang="en-US" sz="1000" dirty="0">
                <a:solidFill>
                  <a:srgbClr val="1A1A1A"/>
                </a:solidFill>
                <a:latin typeface="Calibri" pitchFamily="34" charset="0"/>
                <a:ea typeface="Calibri" pitchFamily="34" charset="-122"/>
                <a:cs typeface="Calibri" pitchFamily="34" charset="-120"/>
              </a:rPr>
              <a:t>If the MCP server falls short, our engineers build a scheduled job that pulls the approved definitions from Collibra through its API, lands them in Databricks tables shaped the way Unity Catalog needs, and keeps them current automatically.</a:t>
            </a:r>
            <a:endParaRPr lang="en-US" sz="1000" dirty="0"/>
          </a:p>
          <a:p>
            <a:pPr marL="0" indent="0">
              <a:spcBef>
                <a:spcPts val="300"/>
              </a:spcBef>
              <a:buNone/>
            </a:pPr>
            <a:r>
              <a:rPr lang="en-US" sz="1000" b="1" dirty="0">
                <a:solidFill>
                  <a:srgbClr val="1F497D"/>
                </a:solidFill>
                <a:latin typeface="Calibri" pitchFamily="34" charset="0"/>
                <a:ea typeface="Calibri" pitchFamily="34" charset="-122"/>
                <a:cs typeface="Calibri" pitchFamily="34" charset="-120"/>
              </a:rPr>
              <a:t>Either way, the Genie agents always read the latest approved USCIS definitions.</a:t>
            </a:r>
            <a:endParaRPr lang="en-US" sz="1000" dirty="0"/>
          </a:p>
        </p:txBody>
      </p:sp>
      <p:sp>
        <p:nvSpPr>
          <p:cNvPr id="40" name="Subtitle"/>
          <p:cNvSpPr/>
          <p:nvPr/>
        </p:nvSpPr>
        <p:spPr>
          <a:xfrm>
            <a:off x="320040" y="868680"/>
            <a:ext cx="6949440" cy="274320"/>
          </a:xfrm>
          <a:prstGeom prst="rect">
            <a:avLst/>
          </a:prstGeom>
          <a:noFill/>
          <a:ln/>
        </p:spPr>
        <p:txBody>
          <a:bodyPr wrap="square" lIns="0" tIns="0" rIns="0" bIns="0" rtlCol="0" anchor="t"/>
          <a:lstStyle/>
          <a:p>
            <a:pPr marL="0" indent="0">
              <a:buNone/>
            </a:pPr>
            <a:r>
              <a:rPr lang="en-US" sz="1000" i="1" dirty="0">
                <a:solidFill>
                  <a:srgbClr val="1A1A1A"/>
                </a:solidFill>
                <a:latin typeface="Calibri" pitchFamily="34" charset="0"/>
                <a:ea typeface="Calibri" pitchFamily="34" charset="-122"/>
                <a:cs typeface="Calibri" pitchFamily="34" charset="-120"/>
              </a:rPr>
              <a:t>Update a definition in Collibra today and every agent answers with it — new terms and changes flow through automatically.</a:t>
            </a:r>
            <a:endParaRPr lang="en-US" sz="1000" dirty="0"/>
          </a:p>
        </p:txBody>
      </p:sp>
      <p:sp>
        <p:nvSpPr>
          <p:cNvPr id="41" name="Shape 11"/>
          <p:cNvSpPr/>
          <p:nvPr/>
        </p:nvSpPr>
        <p:spPr>
          <a:xfrm>
            <a:off x="5364480" y="2788920"/>
            <a:ext cx="3451860" cy="1965960"/>
          </a:xfrm>
          <a:prstGeom prst="roundRect">
            <a:avLst>
              <a:gd name="adj" fmla="val 4348"/>
            </a:avLst>
          </a:prstGeom>
          <a:solidFill>
            <a:srgbClr val="FFFFFF"/>
          </a:solidFill>
          <a:ln w="12700">
            <a:solidFill>
              <a:srgbClr val="DCE6F1"/>
            </a:solidFill>
            <a:prstDash val="solid"/>
          </a:ln>
        </p:spPr>
        <p:txBody>
          <a:bodyPr/>
          <a:lstStyle/>
          <a:p>
            <a:endParaRPr lang="en-US"/>
          </a:p>
        </p:txBody>
      </p:sp>
      <p:sp>
        <p:nvSpPr>
          <p:cNvPr id="42" name="Text 12"/>
          <p:cNvSpPr/>
          <p:nvPr/>
        </p:nvSpPr>
        <p:spPr>
          <a:xfrm>
            <a:off x="5473700" y="2880360"/>
            <a:ext cx="3233420" cy="1783080"/>
          </a:xfrm>
          <a:prstGeom prst="rect">
            <a:avLst/>
          </a:prstGeom>
          <a:noFill/>
          <a:ln/>
        </p:spPr>
        <p:txBody>
          <a:bodyPr wrap="square" lIns="0" tIns="0" rIns="0" bIns="0" rtlCol="0" anchor="t"/>
          <a:lstStyle/>
          <a:p>
            <a:pPr marL="0" indent="0">
              <a:buNone/>
            </a:pPr>
            <a:r>
              <a:rPr lang="en-US" sz="1100" b="1" dirty="0">
                <a:solidFill>
                  <a:srgbClr val="1F497D"/>
                </a:solidFill>
                <a:latin typeface="Calibri" pitchFamily="34" charset="0"/>
                <a:ea typeface="Calibri" pitchFamily="34" charset="-122"/>
                <a:cs typeface="Calibri" pitchFamily="34" charset="-120"/>
              </a:rPr>
              <a:t>What is an “MCP server”?</a:t>
            </a:r>
            <a:endParaRPr lang="en-US" sz="1100" dirty="0"/>
          </a:p>
          <a:p>
            <a:pPr marL="0" indent="0">
              <a:spcBef>
                <a:spcPts val="300"/>
              </a:spcBef>
              <a:buNone/>
            </a:pPr>
            <a:r>
              <a:rPr lang="en-US" sz="1000" dirty="0">
                <a:solidFill>
                  <a:srgbClr val="1A1A1A"/>
                </a:solidFill>
                <a:latin typeface="Calibri" pitchFamily="34" charset="0"/>
                <a:ea typeface="Calibri" pitchFamily="34" charset="-122"/>
                <a:cs typeface="Calibri" pitchFamily="34" charset="-120"/>
              </a:rPr>
              <a:t>Think of it as a universal adapter. Collibra speaks one language and Databricks speaks another; the MCP server is the plug that lets them talk, so the AI can look up a USCIS definition in Collibra the same way it looks up anything else.</a:t>
            </a:r>
            <a:endParaRPr lang="en-US" sz="1000" dirty="0"/>
          </a:p>
          <a:p>
            <a:pPr marL="0" indent="0">
              <a:spcBef>
                <a:spcPts val="300"/>
              </a:spcBef>
              <a:buNone/>
            </a:pPr>
            <a:r>
              <a:rPr lang="en-US" sz="1000" b="1" dirty="0">
                <a:solidFill>
                  <a:srgbClr val="1F497D"/>
                </a:solidFill>
                <a:latin typeface="Calibri" pitchFamily="34" charset="0"/>
                <a:ea typeface="Calibri" pitchFamily="34" charset="-122"/>
                <a:cs typeface="Calibri" pitchFamily="34" charset="-120"/>
              </a:rPr>
              <a:t>Databricks is helping. </a:t>
            </a:r>
            <a:r>
              <a:rPr lang="en-US" sz="1000" dirty="0">
                <a:solidFill>
                  <a:srgbClr val="1A1A1A"/>
                </a:solidFill>
                <a:latin typeface="Calibri" pitchFamily="34" charset="0"/>
                <a:ea typeface="Calibri" pitchFamily="34" charset="-122"/>
                <a:cs typeface="Calibri" pitchFamily="34" charset="-120"/>
              </a:rPr>
              <a:t>Brice Giesbrecht, one of the Databricks engineers, offered to work directly with our team to get the Collibra connection set up properly.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475488"/>
            <a:ext cx="6949440" cy="384048"/>
          </a:xfrm>
          <a:prstGeom prst="rect">
            <a:avLst/>
          </a:prstGeom>
          <a:noFill/>
          <a:ln/>
        </p:spPr>
        <p:txBody>
          <a:bodyPr wrap="square" lIns="0" tIns="0" rIns="0" bIns="0" rtlCol="0" anchor="ctr"/>
          <a:lstStyle/>
          <a:p>
            <a:pPr marL="0" indent="0">
              <a:buNone/>
            </a:pPr>
            <a:r>
              <a:rPr lang="en-US" sz="1700" b="1" dirty="0">
                <a:solidFill>
                  <a:srgbClr val="1F497D"/>
                </a:solidFill>
                <a:latin typeface="Calibri" pitchFamily="34" charset="0"/>
                <a:ea typeface="Calibri" pitchFamily="34" charset="-122"/>
                <a:cs typeface="Calibri" pitchFamily="34" charset="-120"/>
              </a:rPr>
              <a:t>One Certified Formula for Every Metric</a:t>
            </a:r>
            <a:endParaRPr lang="en-US" sz="1700" dirty="0"/>
          </a:p>
        </p:txBody>
      </p:sp>
      <p:sp>
        <p:nvSpPr>
          <p:cNvPr id="4" name="Text 1"/>
          <p:cNvSpPr/>
          <p:nvPr/>
        </p:nvSpPr>
        <p:spPr>
          <a:xfrm>
            <a:off x="320040" y="914400"/>
            <a:ext cx="8503920" cy="365760"/>
          </a:xfrm>
          <a:prstGeom prst="rect">
            <a:avLst/>
          </a:prstGeom>
          <a:noFill/>
          <a:ln/>
        </p:spPr>
        <p:txBody>
          <a:bodyPr wrap="square" lIns="0" tIns="0" rIns="0" bIns="0" rtlCol="0" anchor="ctr"/>
          <a:lstStyle/>
          <a:p>
            <a:pPr marL="0" indent="0">
              <a:buNone/>
            </a:pPr>
            <a:r>
              <a:rPr lang="en-US" sz="1050" i="1" dirty="0">
                <a:solidFill>
                  <a:srgbClr val="595959"/>
                </a:solidFill>
                <a:latin typeface="Calibri" pitchFamily="34" charset="0"/>
                <a:ea typeface="Calibri" pitchFamily="34" charset="-122"/>
                <a:cs typeface="Calibri" pitchFamily="34" charset="-120"/>
              </a:rPr>
              <a:t>Each metric written once as a certified calculation — a Databricks “metric view” — that agents run exactly as written.</a:t>
            </a:r>
            <a:endParaRPr lang="en-US" sz="1050" dirty="0"/>
          </a:p>
        </p:txBody>
      </p:sp>
      <p:sp>
        <p:nvSpPr>
          <p:cNvPr id="5" name="Shape 2"/>
          <p:cNvSpPr/>
          <p:nvPr/>
        </p:nvSpPr>
        <p:spPr>
          <a:xfrm>
            <a:off x="320040" y="1371600"/>
            <a:ext cx="4114800" cy="1463040"/>
          </a:xfrm>
          <a:prstGeom prst="roundRect">
            <a:avLst>
              <a:gd name="adj" fmla="val 3125"/>
            </a:avLst>
          </a:prstGeom>
          <a:solidFill>
            <a:srgbClr val="FFFFFF"/>
          </a:solidFill>
          <a:ln w="12700">
            <a:solidFill>
              <a:srgbClr val="DCE6F1"/>
            </a:solidFill>
            <a:prstDash val="solid"/>
          </a:ln>
        </p:spPr>
        <p:txBody>
          <a:bodyPr/>
          <a:lstStyle/>
          <a:p>
            <a:endParaRPr lang="en-US" sz="3200"/>
          </a:p>
        </p:txBody>
      </p:sp>
      <p:sp>
        <p:nvSpPr>
          <p:cNvPr id="6" name="Text 3"/>
          <p:cNvSpPr/>
          <p:nvPr/>
        </p:nvSpPr>
        <p:spPr>
          <a:xfrm>
            <a:off x="429768" y="1444752"/>
            <a:ext cx="3895344" cy="1316736"/>
          </a:xfrm>
          <a:prstGeom prst="rect">
            <a:avLst/>
          </a:prstGeom>
          <a:noFill/>
          <a:ln/>
        </p:spPr>
        <p:txBody>
          <a:bodyPr wrap="square" lIns="0" tIns="0" rIns="0" bIns="0" rtlCol="0" anchor="t"/>
          <a:lstStyle/>
          <a:p>
            <a:pPr marL="0" indent="0">
              <a:lnSpc>
                <a:spcPct val="105000"/>
              </a:lnSpc>
              <a:buNone/>
            </a:pPr>
            <a:r>
              <a:rPr lang="en-US" sz="1600" b="1" dirty="0">
                <a:solidFill>
                  <a:srgbClr val="1F497D"/>
                </a:solidFill>
                <a:latin typeface="Calibri" pitchFamily="34" charset="0"/>
                <a:ea typeface="Calibri" pitchFamily="34" charset="-122"/>
                <a:cs typeface="Calibri" pitchFamily="34" charset="-120"/>
              </a:rPr>
              <a:t>Run exactly as written
</a:t>
            </a:r>
            <a:r>
              <a:rPr lang="en-US" sz="1200" dirty="0">
                <a:solidFill>
                  <a:srgbClr val="1A1A1A"/>
                </a:solidFill>
                <a:latin typeface="Calibri" pitchFamily="34" charset="0"/>
                <a:ea typeface="Calibri" pitchFamily="34" charset="-122"/>
                <a:cs typeface="Calibri" pitchFamily="34" charset="-120"/>
              </a:rPr>
              <a:t>The agent doesn't re-derive “cycle time” from scratch each question — it uses the verified formula, the same way every time. This allows for consistent answers. Synonyms live with the formula too, so “cycle time,” “processing time,” and “how long” all resolve to the same certified number.</a:t>
            </a:r>
            <a:endParaRPr lang="en-US" sz="1600" dirty="0"/>
          </a:p>
        </p:txBody>
      </p:sp>
      <p:sp>
        <p:nvSpPr>
          <p:cNvPr id="7" name="Shape 4"/>
          <p:cNvSpPr/>
          <p:nvPr/>
        </p:nvSpPr>
        <p:spPr>
          <a:xfrm>
            <a:off x="4709160" y="1371600"/>
            <a:ext cx="4114800" cy="1463040"/>
          </a:xfrm>
          <a:prstGeom prst="roundRect">
            <a:avLst>
              <a:gd name="adj" fmla="val 3125"/>
            </a:avLst>
          </a:prstGeom>
          <a:solidFill>
            <a:srgbClr val="FFFFFF"/>
          </a:solidFill>
          <a:ln w="12700">
            <a:solidFill>
              <a:srgbClr val="DCE6F1"/>
            </a:solidFill>
            <a:prstDash val="solid"/>
          </a:ln>
        </p:spPr>
        <p:txBody>
          <a:bodyPr/>
          <a:lstStyle/>
          <a:p>
            <a:endParaRPr lang="en-US" sz="3200"/>
          </a:p>
        </p:txBody>
      </p:sp>
      <p:sp>
        <p:nvSpPr>
          <p:cNvPr id="8" name="Text 5"/>
          <p:cNvSpPr/>
          <p:nvPr/>
        </p:nvSpPr>
        <p:spPr>
          <a:xfrm>
            <a:off x="4818888" y="1444752"/>
            <a:ext cx="3895344" cy="1316736"/>
          </a:xfrm>
          <a:prstGeom prst="rect">
            <a:avLst/>
          </a:prstGeom>
          <a:noFill/>
          <a:ln/>
        </p:spPr>
        <p:txBody>
          <a:bodyPr wrap="square" lIns="0" tIns="0" rIns="0" bIns="0" rtlCol="0" anchor="t"/>
          <a:lstStyle/>
          <a:p>
            <a:pPr marL="0" indent="0">
              <a:lnSpc>
                <a:spcPct val="105000"/>
              </a:lnSpc>
              <a:buNone/>
            </a:pPr>
            <a:r>
              <a:rPr lang="en-US" sz="1600" b="1" dirty="0">
                <a:solidFill>
                  <a:srgbClr val="1F497D"/>
                </a:solidFill>
                <a:latin typeface="Calibri" pitchFamily="34" charset="0"/>
                <a:ea typeface="Calibri" pitchFamily="34" charset="-122"/>
                <a:cs typeface="Calibri" pitchFamily="34" charset="-120"/>
              </a:rPr>
              <a:t>One number everywhere
</a:t>
            </a:r>
            <a:r>
              <a:rPr lang="en-US" sz="1200" dirty="0">
                <a:solidFill>
                  <a:srgbClr val="1A1A1A"/>
                </a:solidFill>
                <a:latin typeface="Calibri" pitchFamily="34" charset="0"/>
                <a:ea typeface="Calibri" pitchFamily="34" charset="-122"/>
                <a:cs typeface="Calibri" pitchFamily="34" charset="-120"/>
              </a:rPr>
              <a:t>Agents, dashboards, and reports read the same definition.</a:t>
            </a:r>
            <a:endParaRPr lang="en-US" sz="1600" dirty="0"/>
          </a:p>
        </p:txBody>
      </p:sp>
      <p:sp>
        <p:nvSpPr>
          <p:cNvPr id="9" name="Shape 6"/>
          <p:cNvSpPr/>
          <p:nvPr/>
        </p:nvSpPr>
        <p:spPr>
          <a:xfrm>
            <a:off x="320040" y="3017520"/>
            <a:ext cx="8503920" cy="1371600"/>
          </a:xfrm>
          <a:prstGeom prst="roundRect">
            <a:avLst>
              <a:gd name="adj" fmla="val 3333"/>
            </a:avLst>
          </a:prstGeom>
          <a:solidFill>
            <a:srgbClr val="EEF3FA"/>
          </a:solidFill>
          <a:ln w="12700">
            <a:solidFill>
              <a:srgbClr val="DCE6F1"/>
            </a:solidFill>
            <a:prstDash val="solid"/>
          </a:ln>
        </p:spPr>
        <p:txBody>
          <a:bodyPr/>
          <a:lstStyle/>
          <a:p>
            <a:endParaRPr lang="en-US" sz="2400"/>
          </a:p>
        </p:txBody>
      </p:sp>
      <p:sp>
        <p:nvSpPr>
          <p:cNvPr id="10" name="Text 7"/>
          <p:cNvSpPr/>
          <p:nvPr/>
        </p:nvSpPr>
        <p:spPr>
          <a:xfrm>
            <a:off x="429768" y="3090672"/>
            <a:ext cx="8284464" cy="1225296"/>
          </a:xfrm>
          <a:prstGeom prst="rect">
            <a:avLst/>
          </a:prstGeom>
          <a:noFill/>
          <a:ln/>
        </p:spPr>
        <p:txBody>
          <a:bodyPr wrap="square" lIns="0" tIns="0" rIns="0" bIns="0" rtlCol="0" anchor="t"/>
          <a:lstStyle/>
          <a:p>
            <a:pPr marL="0" indent="0">
              <a:lnSpc>
                <a:spcPct val="105000"/>
              </a:lnSpc>
              <a:buNone/>
            </a:pPr>
            <a:r>
              <a:rPr lang="en-US" sz="1400" b="1" dirty="0">
                <a:solidFill>
                  <a:srgbClr val="1F497D"/>
                </a:solidFill>
                <a:latin typeface="Calibri" pitchFamily="34" charset="0"/>
                <a:ea typeface="Calibri" pitchFamily="34" charset="-122"/>
                <a:cs typeface="Calibri" pitchFamily="34" charset="-120"/>
              </a:rPr>
              <a:t>A quieter dashboard queue
</a:t>
            </a:r>
            <a:r>
              <a:rPr lang="en-US" sz="1100" dirty="0">
                <a:solidFill>
                  <a:srgbClr val="1A1A1A"/>
                </a:solidFill>
                <a:latin typeface="Calibri" pitchFamily="34" charset="0"/>
                <a:ea typeface="Calibri" pitchFamily="34" charset="-122"/>
                <a:cs typeface="Calibri" pitchFamily="34" charset="-120"/>
              </a:rPr>
              <a:t>Routine “how many / how long” one-off questions can self-serve through an agent instead of becoming new dashboard requests. Tableau effort shifts toward the complex, curated views. Existing dashboards also gain an “Ask Genie about this chart” option, so follow-up questions get answered in place instead of becoming new tickets.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475488"/>
            <a:ext cx="6949440" cy="384048"/>
          </a:xfrm>
          <a:prstGeom prst="rect">
            <a:avLst/>
          </a:prstGeom>
          <a:noFill/>
          <a:ln/>
        </p:spPr>
        <p:txBody>
          <a:bodyPr wrap="square" lIns="0" tIns="0" rIns="0" bIns="0" rtlCol="0" anchor="ctr"/>
          <a:lstStyle/>
          <a:p>
            <a:pPr marL="0" indent="0">
              <a:buNone/>
            </a:pPr>
            <a:r>
              <a:rPr lang="en-US" sz="1700" b="1" dirty="0">
                <a:solidFill>
                  <a:srgbClr val="1F497D"/>
                </a:solidFill>
                <a:latin typeface="Calibri" pitchFamily="34" charset="0"/>
                <a:ea typeface="Calibri" pitchFamily="34" charset="-122"/>
                <a:cs typeface="Calibri" pitchFamily="34" charset="-120"/>
              </a:rPr>
              <a:t>How Genie Usage Is Metered</a:t>
            </a:r>
            <a:endParaRPr lang="en-US" sz="1700" dirty="0"/>
          </a:p>
        </p:txBody>
      </p:sp>
      <p:sp>
        <p:nvSpPr>
          <p:cNvPr id="4" name="Shape 1"/>
          <p:cNvSpPr/>
          <p:nvPr/>
        </p:nvSpPr>
        <p:spPr>
          <a:xfrm>
            <a:off x="320039" y="1161227"/>
            <a:ext cx="8503921" cy="1207008"/>
          </a:xfrm>
          <a:prstGeom prst="roundRect">
            <a:avLst>
              <a:gd name="adj" fmla="val 2632"/>
            </a:avLst>
          </a:prstGeom>
          <a:solidFill>
            <a:srgbClr val="FFFFFF"/>
          </a:solidFill>
          <a:ln w="12700">
            <a:solidFill>
              <a:srgbClr val="DCE6F1"/>
            </a:solidFill>
            <a:prstDash val="solid"/>
          </a:ln>
        </p:spPr>
        <p:txBody>
          <a:bodyPr/>
          <a:lstStyle/>
          <a:p>
            <a:endParaRPr lang="en-US" sz="2400"/>
          </a:p>
        </p:txBody>
      </p:sp>
      <p:sp>
        <p:nvSpPr>
          <p:cNvPr id="5" name="Text 2"/>
          <p:cNvSpPr/>
          <p:nvPr/>
        </p:nvSpPr>
        <p:spPr>
          <a:xfrm>
            <a:off x="429767" y="1234379"/>
            <a:ext cx="6949439" cy="1048633"/>
          </a:xfrm>
          <a:prstGeom prst="rect">
            <a:avLst/>
          </a:prstGeom>
          <a:noFill/>
          <a:ln/>
        </p:spPr>
        <p:txBody>
          <a:bodyPr wrap="square" lIns="0" tIns="0" rIns="0" bIns="0" rtlCol="0" anchor="t"/>
          <a:lstStyle/>
          <a:p>
            <a:pPr>
              <a:lnSpc>
                <a:spcPct val="105000"/>
              </a:lnSpc>
            </a:pPr>
            <a:r>
              <a:rPr lang="en-US" sz="1600" b="1" dirty="0">
                <a:solidFill>
                  <a:srgbClr val="1F497D"/>
                </a:solidFill>
                <a:latin typeface="Calibri" pitchFamily="34" charset="0"/>
                <a:ea typeface="Calibri" pitchFamily="34" charset="-122"/>
                <a:cs typeface="Calibri" pitchFamily="34" charset="-120"/>
              </a:rPr>
              <a:t>What the meter says (product rules)</a:t>
            </a:r>
          </a:p>
          <a:p>
            <a:pPr marL="285750" indent="-285750">
              <a:lnSpc>
                <a:spcPct val="105000"/>
              </a:lnSpc>
              <a:buFont typeface="Arial" panose="020B0604020202020204" pitchFamily="34" charset="0"/>
              <a:buChar char="•"/>
            </a:pPr>
            <a:r>
              <a:rPr lang="en-US" sz="1200" dirty="0">
                <a:solidFill>
                  <a:srgbClr val="1A1A1A"/>
                </a:solidFill>
                <a:latin typeface="Calibri" pitchFamily="34" charset="0"/>
                <a:ea typeface="Calibri" pitchFamily="34" charset="-122"/>
                <a:cs typeface="Calibri" pitchFamily="34" charset="-120"/>
              </a:rPr>
              <a:t>Per the contract language, every registered Databricks user: 150 free Genie DBUs each month. </a:t>
            </a:r>
          </a:p>
          <a:p>
            <a:pPr marL="285750" indent="-285750">
              <a:lnSpc>
                <a:spcPct val="105000"/>
              </a:lnSpc>
              <a:buFont typeface="Arial" panose="020B0604020202020204" pitchFamily="34" charset="0"/>
              <a:buChar char="•"/>
            </a:pPr>
            <a:r>
              <a:rPr lang="en-US" sz="1200" dirty="0">
                <a:solidFill>
                  <a:srgbClr val="1A1A1A"/>
                </a:solidFill>
                <a:latin typeface="Calibri" pitchFamily="34" charset="0"/>
                <a:ea typeface="Calibri" pitchFamily="34" charset="-122"/>
                <a:cs typeface="Calibri" pitchFamily="34" charset="-120"/>
              </a:rPr>
              <a:t>Genie One and Genie Agents usage by users is free through Jan. 31, 2027; service-principal usage is billed.</a:t>
            </a:r>
          </a:p>
          <a:p>
            <a:pPr marL="285750" indent="-285750">
              <a:lnSpc>
                <a:spcPct val="105000"/>
              </a:lnSpc>
              <a:buFont typeface="Arial" panose="020B0604020202020204" pitchFamily="34" charset="0"/>
              <a:buChar char="•"/>
            </a:pPr>
            <a:r>
              <a:rPr lang="en-US" sz="1200" dirty="0">
                <a:solidFill>
                  <a:srgbClr val="1A1A1A"/>
                </a:solidFill>
                <a:latin typeface="Calibri" pitchFamily="34" charset="0"/>
                <a:ea typeface="Calibri" pitchFamily="34" charset="-122"/>
                <a:cs typeface="Calibri" pitchFamily="34" charset="-120"/>
              </a:rPr>
              <a:t>Genie Code bills only after each user's allowance, with the 25% promotional discount applied to billed usage.</a:t>
            </a:r>
            <a:endParaRPr lang="en-US" sz="1600" dirty="0"/>
          </a:p>
        </p:txBody>
      </p:sp>
      <p:sp>
        <p:nvSpPr>
          <p:cNvPr id="8" name="Shape 5"/>
          <p:cNvSpPr/>
          <p:nvPr/>
        </p:nvSpPr>
        <p:spPr>
          <a:xfrm>
            <a:off x="320040" y="2489800"/>
            <a:ext cx="4114800" cy="1024128"/>
          </a:xfrm>
          <a:prstGeom prst="roundRect">
            <a:avLst>
              <a:gd name="adj" fmla="val 5000"/>
            </a:avLst>
          </a:prstGeom>
          <a:solidFill>
            <a:srgbClr val="EEF3FA"/>
          </a:solidFill>
          <a:ln w="12700">
            <a:solidFill>
              <a:srgbClr val="DCE6F1"/>
            </a:solidFill>
            <a:prstDash val="solid"/>
          </a:ln>
        </p:spPr>
        <p:txBody>
          <a:bodyPr/>
          <a:lstStyle/>
          <a:p>
            <a:endParaRPr lang="en-US" sz="2400"/>
          </a:p>
        </p:txBody>
      </p:sp>
      <p:sp>
        <p:nvSpPr>
          <p:cNvPr id="9" name="Text 6"/>
          <p:cNvSpPr/>
          <p:nvPr/>
        </p:nvSpPr>
        <p:spPr>
          <a:xfrm>
            <a:off x="429768" y="2562952"/>
            <a:ext cx="3895344" cy="768096"/>
          </a:xfrm>
          <a:prstGeom prst="rect">
            <a:avLst/>
          </a:prstGeom>
          <a:noFill/>
          <a:ln/>
        </p:spPr>
        <p:txBody>
          <a:bodyPr wrap="square" lIns="0" tIns="0" rIns="0" bIns="0" rtlCol="0" anchor="t"/>
          <a:lstStyle/>
          <a:p>
            <a:pPr marL="0" indent="0">
              <a:lnSpc>
                <a:spcPct val="105000"/>
              </a:lnSpc>
              <a:buNone/>
            </a:pPr>
            <a:r>
              <a:rPr lang="en-US" sz="1200" b="1" dirty="0">
                <a:solidFill>
                  <a:srgbClr val="1F497D"/>
                </a:solidFill>
                <a:latin typeface="Calibri" pitchFamily="34" charset="0"/>
                <a:ea typeface="Calibri" pitchFamily="34" charset="-122"/>
                <a:cs typeface="Calibri" pitchFamily="34" charset="-120"/>
              </a:rPr>
              <a:t>Budgets &amp; alerts
</a:t>
            </a:r>
            <a:r>
              <a:rPr lang="en-US" sz="1050" dirty="0">
                <a:solidFill>
                  <a:srgbClr val="1A1A1A"/>
                </a:solidFill>
                <a:latin typeface="Calibri" pitchFamily="34" charset="0"/>
                <a:ea typeface="Calibri" pitchFamily="34" charset="-122"/>
                <a:cs typeface="Calibri" pitchFamily="34" charset="-120"/>
              </a:rPr>
              <a:t>Monthly thresholds per team or per user, with email alerts — governing billed Genie Code &amp; service principal usage. Databricks confirmed budgets can be set per user or per group at the account level — no “free for all.”</a:t>
            </a:r>
            <a:endParaRPr lang="en-US" sz="1200" dirty="0"/>
          </a:p>
        </p:txBody>
      </p:sp>
      <p:sp>
        <p:nvSpPr>
          <p:cNvPr id="10" name="Shape 7"/>
          <p:cNvSpPr/>
          <p:nvPr/>
        </p:nvSpPr>
        <p:spPr>
          <a:xfrm>
            <a:off x="4709160" y="2489800"/>
            <a:ext cx="4114800" cy="1024128"/>
          </a:xfrm>
          <a:prstGeom prst="roundRect">
            <a:avLst>
              <a:gd name="adj" fmla="val 5000"/>
            </a:avLst>
          </a:prstGeom>
          <a:solidFill>
            <a:srgbClr val="EEF3FA"/>
          </a:solidFill>
          <a:ln w="12700">
            <a:solidFill>
              <a:srgbClr val="DCE6F1"/>
            </a:solidFill>
            <a:prstDash val="solid"/>
          </a:ln>
        </p:spPr>
        <p:txBody>
          <a:bodyPr/>
          <a:lstStyle/>
          <a:p>
            <a:endParaRPr lang="en-US" sz="2400"/>
          </a:p>
        </p:txBody>
      </p:sp>
      <p:sp>
        <p:nvSpPr>
          <p:cNvPr id="11" name="Text 8"/>
          <p:cNvSpPr/>
          <p:nvPr/>
        </p:nvSpPr>
        <p:spPr>
          <a:xfrm>
            <a:off x="4818888" y="2562952"/>
            <a:ext cx="3895344" cy="768096"/>
          </a:xfrm>
          <a:prstGeom prst="rect">
            <a:avLst/>
          </a:prstGeom>
          <a:noFill/>
          <a:ln/>
        </p:spPr>
        <p:txBody>
          <a:bodyPr wrap="square" lIns="0" tIns="0" rIns="0" bIns="0" rtlCol="0" anchor="t"/>
          <a:lstStyle/>
          <a:p>
            <a:pPr marL="0" indent="0">
              <a:lnSpc>
                <a:spcPct val="105000"/>
              </a:lnSpc>
              <a:buNone/>
            </a:pPr>
            <a:r>
              <a:rPr lang="en-US" sz="1200" b="1" dirty="0">
                <a:solidFill>
                  <a:srgbClr val="1F497D"/>
                </a:solidFill>
                <a:latin typeface="Calibri" pitchFamily="34" charset="0"/>
                <a:ea typeface="Calibri" pitchFamily="34" charset="-122"/>
                <a:cs typeface="Calibri" pitchFamily="34" charset="-120"/>
              </a:rPr>
              <a:t>Separate meter: compute
</a:t>
            </a:r>
            <a:r>
              <a:rPr lang="en-US" sz="1050" dirty="0">
                <a:solidFill>
                  <a:srgbClr val="1A1A1A"/>
                </a:solidFill>
                <a:latin typeface="Calibri" pitchFamily="34" charset="0"/>
                <a:ea typeface="Calibri" pitchFamily="34" charset="-122"/>
                <a:cs typeface="Calibri" pitchFamily="34" charset="-120"/>
              </a:rPr>
              <a:t>Each answer still runs a query on a SQL warehouse — metered separately, and potentially a material share of cost depending on volume. </a:t>
            </a:r>
            <a:endParaRPr lang="en-US" sz="1200" dirty="0"/>
          </a:p>
        </p:txBody>
      </p:sp>
      <p:sp>
        <p:nvSpPr>
          <p:cNvPr id="12" name="Shape 9"/>
          <p:cNvSpPr/>
          <p:nvPr/>
        </p:nvSpPr>
        <p:spPr>
          <a:xfrm>
            <a:off x="320040" y="3587079"/>
            <a:ext cx="8503920" cy="1024127"/>
          </a:xfrm>
          <a:prstGeom prst="roundRect">
            <a:avLst>
              <a:gd name="adj" fmla="val 7143"/>
            </a:avLst>
          </a:prstGeom>
          <a:solidFill>
            <a:srgbClr val="FFFFFF"/>
          </a:solidFill>
          <a:ln w="12700">
            <a:solidFill>
              <a:srgbClr val="DCE6F1"/>
            </a:solidFill>
            <a:prstDash val="solid"/>
          </a:ln>
        </p:spPr>
        <p:txBody>
          <a:bodyPr/>
          <a:lstStyle/>
          <a:p>
            <a:endParaRPr lang="en-US" sz="2400"/>
          </a:p>
        </p:txBody>
      </p:sp>
      <p:sp>
        <p:nvSpPr>
          <p:cNvPr id="13" name="Text 10"/>
          <p:cNvSpPr/>
          <p:nvPr/>
        </p:nvSpPr>
        <p:spPr>
          <a:xfrm>
            <a:off x="429768" y="3660231"/>
            <a:ext cx="8284464" cy="790041"/>
          </a:xfrm>
          <a:prstGeom prst="rect">
            <a:avLst/>
          </a:prstGeom>
          <a:noFill/>
          <a:ln/>
        </p:spPr>
        <p:txBody>
          <a:bodyPr wrap="square" lIns="0" tIns="0" rIns="0" bIns="0" rtlCol="0" anchor="t"/>
          <a:lstStyle/>
          <a:p>
            <a:pPr marL="0" indent="0">
              <a:lnSpc>
                <a:spcPct val="105000"/>
              </a:lnSpc>
              <a:buNone/>
            </a:pPr>
            <a:r>
              <a:rPr lang="en-US" sz="1200" b="1" dirty="0">
                <a:solidFill>
                  <a:srgbClr val="1F497D"/>
                </a:solidFill>
                <a:latin typeface="Calibri" pitchFamily="34" charset="0"/>
                <a:ea typeface="Calibri" pitchFamily="34" charset="-122"/>
                <a:cs typeface="Calibri" pitchFamily="34" charset="-120"/>
              </a:rPr>
              <a:t>Build item</a:t>
            </a:r>
            <a:r>
              <a:rPr lang="en-US" sz="1100" b="1" dirty="0">
                <a:solidFill>
                  <a:srgbClr val="1F497D"/>
                </a:solidFill>
                <a:latin typeface="Calibri" pitchFamily="34" charset="0"/>
                <a:ea typeface="Calibri" pitchFamily="34" charset="-122"/>
                <a:cs typeface="Calibri" pitchFamily="34" charset="-120"/>
              </a:rPr>
              <a:t>
</a:t>
            </a:r>
            <a:r>
              <a:rPr lang="en-US" sz="1100" dirty="0">
                <a:solidFill>
                  <a:srgbClr val="1A1A1A"/>
                </a:solidFill>
                <a:latin typeface="Calibri" pitchFamily="34" charset="0"/>
                <a:ea typeface="Calibri" pitchFamily="34" charset="-122"/>
                <a:cs typeface="Calibri" pitchFamily="34" charset="-120"/>
              </a:rPr>
              <a:t>A usage dashboard from the system tables — free vs. billed by user and product — put in place before broad enablement, so we have a baseline. Databricks confirmed this is the intended approach and showed us their own Genie cost-tracking dashboard as a model.</a:t>
            </a:r>
            <a:br>
              <a:rPr lang="en-US" sz="1100" dirty="0">
                <a:solidFill>
                  <a:srgbClr val="1A1A1A"/>
                </a:solidFill>
                <a:latin typeface="Calibri" pitchFamily="34" charset="0"/>
                <a:ea typeface="Calibri" pitchFamily="34" charset="-122"/>
                <a:cs typeface="Calibri" pitchFamily="34" charset="-120"/>
              </a:rPr>
            </a:br>
            <a:r>
              <a:rPr lang="en-US" sz="1100" dirty="0">
                <a:solidFill>
                  <a:srgbClr val="1A1A1A"/>
                </a:solidFill>
                <a:latin typeface="Calibri" pitchFamily="34" charset="0"/>
                <a:ea typeface="Calibri" pitchFamily="34" charset="-122"/>
                <a:cs typeface="Calibri" pitchFamily="34" charset="-120"/>
              </a:rPr>
              <a:t>The data engineering team has already built something very similar for measuring DBU utilization by the current production jobs. The remaining gate is access: full system-table access still sits with DBIS, and Databricks suggested a materialized view as a way to grant it safely.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0040" y="475488"/>
            <a:ext cx="6949440" cy="384048"/>
          </a:xfrm>
          <a:prstGeom prst="rect">
            <a:avLst/>
          </a:prstGeom>
          <a:noFill/>
          <a:ln/>
        </p:spPr>
        <p:txBody>
          <a:bodyPr wrap="square" lIns="0" tIns="0" rIns="0" bIns="0" rtlCol="0" anchor="ctr"/>
          <a:lstStyle/>
          <a:p>
            <a:pPr marL="0" indent="0">
              <a:buNone/>
            </a:pPr>
            <a:r>
              <a:rPr lang="en-US" sz="1700" b="1" dirty="0">
                <a:solidFill>
                  <a:srgbClr val="1F497D"/>
                </a:solidFill>
                <a:latin typeface="Calibri" pitchFamily="34" charset="0"/>
                <a:ea typeface="Calibri" pitchFamily="34" charset="-122"/>
                <a:cs typeface="Calibri" pitchFamily="34" charset="-120"/>
              </a:rPr>
              <a:t>The New DHS Databricks Contract — What We Know</a:t>
            </a:r>
            <a:endParaRPr lang="en-US" sz="1700" dirty="0"/>
          </a:p>
        </p:txBody>
      </p:sp>
      <p:sp>
        <p:nvSpPr>
          <p:cNvPr id="4" name="Shape 1"/>
          <p:cNvSpPr/>
          <p:nvPr/>
        </p:nvSpPr>
        <p:spPr>
          <a:xfrm>
            <a:off x="320040" y="1005840"/>
            <a:ext cx="4114800" cy="932688"/>
          </a:xfrm>
          <a:prstGeom prst="roundRect">
            <a:avLst>
              <a:gd name="adj" fmla="val 4902"/>
            </a:avLst>
          </a:prstGeom>
          <a:solidFill>
            <a:srgbClr val="FFFFFF"/>
          </a:solidFill>
          <a:ln w="12700">
            <a:solidFill>
              <a:srgbClr val="DCE6F1"/>
            </a:solidFill>
            <a:prstDash val="solid"/>
          </a:ln>
        </p:spPr>
        <p:txBody>
          <a:bodyPr/>
          <a:lstStyle/>
          <a:p>
            <a:endParaRPr lang="en-US"/>
          </a:p>
        </p:txBody>
      </p:sp>
      <p:sp>
        <p:nvSpPr>
          <p:cNvPr id="5" name="Text 2"/>
          <p:cNvSpPr/>
          <p:nvPr/>
        </p:nvSpPr>
        <p:spPr>
          <a:xfrm>
            <a:off x="429768" y="1078992"/>
            <a:ext cx="3895344" cy="786384"/>
          </a:xfrm>
          <a:prstGeom prst="rect">
            <a:avLst/>
          </a:prstGeom>
          <a:noFill/>
          <a:ln/>
        </p:spPr>
        <p:txBody>
          <a:bodyPr wrap="square" lIns="0" tIns="0" rIns="0" bIns="0" rtlCol="0" anchor="t"/>
          <a:lstStyle/>
          <a:p>
            <a:pPr marL="0" indent="0">
              <a:lnSpc>
                <a:spcPct val="105000"/>
              </a:lnSpc>
              <a:buNone/>
            </a:pPr>
            <a:r>
              <a:rPr lang="en-US" sz="1050" b="1" dirty="0">
                <a:solidFill>
                  <a:srgbClr val="1F497D"/>
                </a:solidFill>
                <a:latin typeface="Calibri" pitchFamily="34" charset="0"/>
                <a:ea typeface="Calibri" pitchFamily="34" charset="-122"/>
                <a:cs typeface="Calibri" pitchFamily="34" charset="-120"/>
              </a:rPr>
              <a:t>Vehicle
</a:t>
            </a:r>
            <a:r>
              <a:rPr lang="en-US" sz="950" dirty="0">
                <a:solidFill>
                  <a:srgbClr val="1A1A1A"/>
                </a:solidFill>
                <a:latin typeface="Calibri" pitchFamily="34" charset="0"/>
                <a:ea typeface="Calibri" pitchFamily="34" charset="-122"/>
                <a:cs typeface="Calibri" pitchFamily="34" charset="-120"/>
              </a:rPr>
              <a:t>DHS-wide Blanket Purchase Agreement 70RTAC26A00000010 — single award to Databricks Federal</a:t>
            </a:r>
            <a:endParaRPr lang="en-US" sz="1050" dirty="0"/>
          </a:p>
        </p:txBody>
      </p:sp>
      <p:sp>
        <p:nvSpPr>
          <p:cNvPr id="6" name="Shape 3"/>
          <p:cNvSpPr/>
          <p:nvPr/>
        </p:nvSpPr>
        <p:spPr>
          <a:xfrm>
            <a:off x="4709160" y="1005840"/>
            <a:ext cx="4114800" cy="932688"/>
          </a:xfrm>
          <a:prstGeom prst="roundRect">
            <a:avLst>
              <a:gd name="adj" fmla="val 4902"/>
            </a:avLst>
          </a:prstGeom>
          <a:solidFill>
            <a:srgbClr val="FFFFFF"/>
          </a:solidFill>
          <a:ln w="12700">
            <a:solidFill>
              <a:srgbClr val="DCE6F1"/>
            </a:solidFill>
            <a:prstDash val="solid"/>
          </a:ln>
        </p:spPr>
        <p:txBody>
          <a:bodyPr/>
          <a:lstStyle/>
          <a:p>
            <a:endParaRPr lang="en-US"/>
          </a:p>
        </p:txBody>
      </p:sp>
      <p:sp>
        <p:nvSpPr>
          <p:cNvPr id="7" name="Text 4"/>
          <p:cNvSpPr/>
          <p:nvPr/>
        </p:nvSpPr>
        <p:spPr>
          <a:xfrm>
            <a:off x="4818888" y="1078992"/>
            <a:ext cx="3895344" cy="786384"/>
          </a:xfrm>
          <a:prstGeom prst="rect">
            <a:avLst/>
          </a:prstGeom>
          <a:noFill/>
          <a:ln/>
        </p:spPr>
        <p:txBody>
          <a:bodyPr wrap="square" lIns="0" tIns="0" rIns="0" bIns="0" rtlCol="0" anchor="t"/>
          <a:lstStyle/>
          <a:p>
            <a:pPr marL="0" indent="0">
              <a:lnSpc>
                <a:spcPct val="105000"/>
              </a:lnSpc>
              <a:buNone/>
            </a:pPr>
            <a:r>
              <a:rPr lang="en-US" sz="1050" b="1" dirty="0">
                <a:solidFill>
                  <a:srgbClr val="1F497D"/>
                </a:solidFill>
                <a:latin typeface="Calibri" pitchFamily="34" charset="0"/>
                <a:ea typeface="Calibri" pitchFamily="34" charset="-122"/>
                <a:cs typeface="Calibri" pitchFamily="34" charset="-120"/>
              </a:rPr>
              <a:t>Term &amp; ceiling
</a:t>
            </a:r>
            <a:r>
              <a:rPr lang="en-US" sz="950" dirty="0">
                <a:solidFill>
                  <a:srgbClr val="1A1A1A"/>
                </a:solidFill>
                <a:latin typeface="Calibri" pitchFamily="34" charset="0"/>
                <a:ea typeface="Calibri" pitchFamily="34" charset="-122"/>
                <a:cs typeface="Calibri" pitchFamily="34" charset="-120"/>
              </a:rPr>
              <a:t>Five years, firm-fixed-price, $1 billion ceiling across DHS</a:t>
            </a:r>
            <a:endParaRPr lang="en-US" sz="1050" dirty="0"/>
          </a:p>
        </p:txBody>
      </p:sp>
      <p:sp>
        <p:nvSpPr>
          <p:cNvPr id="8" name="Shape 5"/>
          <p:cNvSpPr/>
          <p:nvPr/>
        </p:nvSpPr>
        <p:spPr>
          <a:xfrm>
            <a:off x="320040" y="2084832"/>
            <a:ext cx="4114800" cy="932688"/>
          </a:xfrm>
          <a:prstGeom prst="roundRect">
            <a:avLst>
              <a:gd name="adj" fmla="val 4902"/>
            </a:avLst>
          </a:prstGeom>
          <a:solidFill>
            <a:srgbClr val="FFFFFF"/>
          </a:solidFill>
          <a:ln w="12700">
            <a:solidFill>
              <a:srgbClr val="DCE6F1"/>
            </a:solidFill>
            <a:prstDash val="solid"/>
          </a:ln>
        </p:spPr>
        <p:txBody>
          <a:bodyPr/>
          <a:lstStyle/>
          <a:p>
            <a:endParaRPr lang="en-US"/>
          </a:p>
        </p:txBody>
      </p:sp>
      <p:sp>
        <p:nvSpPr>
          <p:cNvPr id="9" name="Text 6"/>
          <p:cNvSpPr/>
          <p:nvPr/>
        </p:nvSpPr>
        <p:spPr>
          <a:xfrm>
            <a:off x="429768" y="2157984"/>
            <a:ext cx="3895344" cy="786384"/>
          </a:xfrm>
          <a:prstGeom prst="rect">
            <a:avLst/>
          </a:prstGeom>
          <a:noFill/>
          <a:ln/>
        </p:spPr>
        <p:txBody>
          <a:bodyPr wrap="square" lIns="0" tIns="0" rIns="0" bIns="0" rtlCol="0" anchor="t"/>
          <a:lstStyle/>
          <a:p>
            <a:pPr marL="0" indent="0">
              <a:lnSpc>
                <a:spcPct val="105000"/>
              </a:lnSpc>
              <a:buNone/>
            </a:pPr>
            <a:r>
              <a:rPr lang="en-US" sz="1050" b="1" dirty="0">
                <a:solidFill>
                  <a:srgbClr val="1F497D"/>
                </a:solidFill>
                <a:latin typeface="Calibri" pitchFamily="34" charset="0"/>
                <a:ea typeface="Calibri" pitchFamily="34" charset="-122"/>
                <a:cs typeface="Calibri" pitchFamily="34" charset="-120"/>
              </a:rPr>
              <a:t>First call order
</a:t>
            </a:r>
            <a:r>
              <a:rPr lang="en-US" sz="950" dirty="0">
                <a:solidFill>
                  <a:srgbClr val="1A1A1A"/>
                </a:solidFill>
                <a:latin typeface="Calibri" pitchFamily="34" charset="0"/>
                <a:ea typeface="Calibri" pitchFamily="34" charset="-122"/>
                <a:cs typeface="Calibri" pitchFamily="34" charset="-120"/>
              </a:rPr>
              <a:t>70RTAC26FC0000024 — ~$57M for platform products, technical support, and program-management services</a:t>
            </a:r>
            <a:endParaRPr lang="en-US" sz="1050" dirty="0"/>
          </a:p>
        </p:txBody>
      </p:sp>
      <p:sp>
        <p:nvSpPr>
          <p:cNvPr id="10" name="Shape 7"/>
          <p:cNvSpPr/>
          <p:nvPr/>
        </p:nvSpPr>
        <p:spPr>
          <a:xfrm>
            <a:off x="4709160" y="2084832"/>
            <a:ext cx="4114800" cy="932688"/>
          </a:xfrm>
          <a:prstGeom prst="roundRect">
            <a:avLst>
              <a:gd name="adj" fmla="val 4902"/>
            </a:avLst>
          </a:prstGeom>
          <a:solidFill>
            <a:srgbClr val="FFFFFF"/>
          </a:solidFill>
          <a:ln w="12700">
            <a:solidFill>
              <a:srgbClr val="DCE6F1"/>
            </a:solidFill>
            <a:prstDash val="solid"/>
          </a:ln>
        </p:spPr>
        <p:txBody>
          <a:bodyPr/>
          <a:lstStyle/>
          <a:p>
            <a:endParaRPr lang="en-US"/>
          </a:p>
        </p:txBody>
      </p:sp>
      <p:sp>
        <p:nvSpPr>
          <p:cNvPr id="11" name="Text 8"/>
          <p:cNvSpPr/>
          <p:nvPr/>
        </p:nvSpPr>
        <p:spPr>
          <a:xfrm>
            <a:off x="4818888" y="2157984"/>
            <a:ext cx="3895344" cy="786384"/>
          </a:xfrm>
          <a:prstGeom prst="rect">
            <a:avLst/>
          </a:prstGeom>
          <a:noFill/>
          <a:ln/>
        </p:spPr>
        <p:txBody>
          <a:bodyPr wrap="square" lIns="0" tIns="0" rIns="0" bIns="0" rtlCol="0" anchor="t"/>
          <a:lstStyle/>
          <a:p>
            <a:pPr marL="0" indent="0">
              <a:lnSpc>
                <a:spcPct val="105000"/>
              </a:lnSpc>
              <a:buNone/>
            </a:pPr>
            <a:r>
              <a:rPr lang="en-US" sz="1050" b="1" dirty="0">
                <a:solidFill>
                  <a:srgbClr val="1F497D"/>
                </a:solidFill>
                <a:latin typeface="Calibri" pitchFamily="34" charset="0"/>
                <a:ea typeface="Calibri" pitchFamily="34" charset="-122"/>
                <a:cs typeface="Calibri" pitchFamily="34" charset="-120"/>
              </a:rPr>
              <a:t>Prior USCIS forecast
</a:t>
            </a:r>
            <a:r>
              <a:rPr lang="en-US" sz="950" dirty="0">
                <a:solidFill>
                  <a:srgbClr val="1A1A1A"/>
                </a:solidFill>
                <a:latin typeface="Calibri" pitchFamily="34" charset="0"/>
                <a:ea typeface="Calibri" pitchFamily="34" charset="-122"/>
                <a:cs typeface="Calibri" pitchFamily="34" charset="-120"/>
              </a:rPr>
              <a:t>Forecast F2025072084 described platform DBUs, unlimited enterprise user licenses, and enhanced support; public BPA records do not disclose the final entitlement mix.</a:t>
            </a:r>
            <a:endParaRPr lang="en-US" sz="1050" dirty="0"/>
          </a:p>
        </p:txBody>
      </p:sp>
      <p:sp>
        <p:nvSpPr>
          <p:cNvPr id="12" name="Shape 9"/>
          <p:cNvSpPr/>
          <p:nvPr/>
        </p:nvSpPr>
        <p:spPr>
          <a:xfrm>
            <a:off x="320040" y="3200400"/>
            <a:ext cx="8503920" cy="914400"/>
          </a:xfrm>
          <a:prstGeom prst="roundRect">
            <a:avLst>
              <a:gd name="adj" fmla="val 5000"/>
            </a:avLst>
          </a:prstGeom>
          <a:solidFill>
            <a:srgbClr val="EEF3FA"/>
          </a:solidFill>
          <a:ln w="12700">
            <a:solidFill>
              <a:srgbClr val="DCE6F1"/>
            </a:solidFill>
            <a:prstDash val="solid"/>
          </a:ln>
        </p:spPr>
        <p:txBody>
          <a:bodyPr/>
          <a:lstStyle/>
          <a:p>
            <a:endParaRPr lang="en-US"/>
          </a:p>
        </p:txBody>
      </p:sp>
      <p:sp>
        <p:nvSpPr>
          <p:cNvPr id="13" name="Text 10"/>
          <p:cNvSpPr/>
          <p:nvPr/>
        </p:nvSpPr>
        <p:spPr>
          <a:xfrm>
            <a:off x="429768" y="3273552"/>
            <a:ext cx="8284464" cy="768096"/>
          </a:xfrm>
          <a:prstGeom prst="rect">
            <a:avLst/>
          </a:prstGeom>
          <a:noFill/>
          <a:ln/>
        </p:spPr>
        <p:txBody>
          <a:bodyPr wrap="square" lIns="0" tIns="0" rIns="0" bIns="0" rtlCol="0" anchor="t"/>
          <a:lstStyle/>
          <a:p>
            <a:pPr marL="0" indent="0">
              <a:lnSpc>
                <a:spcPct val="105000"/>
              </a:lnSpc>
              <a:buNone/>
            </a:pPr>
            <a:r>
              <a:rPr lang="en-US" sz="1050" b="1" dirty="0">
                <a:solidFill>
                  <a:srgbClr val="1F497D"/>
                </a:solidFill>
                <a:latin typeface="Calibri" pitchFamily="34" charset="0"/>
                <a:ea typeface="Calibri" pitchFamily="34" charset="-122"/>
                <a:cs typeface="Calibri" pitchFamily="34" charset="-120"/>
              </a:rPr>
              <a:t>What the public record does not show
</a:t>
            </a:r>
            <a:r>
              <a:rPr lang="en-US" sz="950" dirty="0">
                <a:solidFill>
                  <a:srgbClr val="1A1A1A"/>
                </a:solidFill>
                <a:latin typeface="Calibri" pitchFamily="34" charset="0"/>
                <a:ea typeface="Calibri" pitchFamily="34" charset="-122"/>
                <a:cs typeface="Calibri" pitchFamily="34" charset="-120"/>
              </a:rPr>
              <a:t>Negotiated DBU rates, committed-use pools, product-level entitlements, promotional-credit treatment, and chargeback rules are not public. That is why usage tracking matters: we measure consumption precisely, then apply the contract terms.</a:t>
            </a:r>
            <a:endParaRPr lang="en-US" sz="1050" dirty="0"/>
          </a:p>
        </p:txBody>
      </p:sp>
      <p:sp>
        <p:nvSpPr>
          <p:cNvPr id="14" name="Text 11"/>
          <p:cNvSpPr/>
          <p:nvPr/>
        </p:nvSpPr>
        <p:spPr>
          <a:xfrm>
            <a:off x="320040" y="4251960"/>
            <a:ext cx="8503920" cy="320040"/>
          </a:xfrm>
          <a:prstGeom prst="rect">
            <a:avLst/>
          </a:prstGeom>
          <a:noFill/>
          <a:ln/>
        </p:spPr>
        <p:txBody>
          <a:bodyPr wrap="square" lIns="0" tIns="0" rIns="0" bIns="0" rtlCol="0" anchor="ctr"/>
          <a:lstStyle/>
          <a:p>
            <a:pPr marL="0" indent="0" algn="ctr">
              <a:buNone/>
            </a:pPr>
            <a:r>
              <a:rPr lang="en-US" sz="900" i="1" dirty="0">
                <a:solidFill>
                  <a:srgbClr val="595959"/>
                </a:solidFill>
                <a:latin typeface="Calibri" pitchFamily="34" charset="0"/>
                <a:ea typeface="Calibri" pitchFamily="34" charset="-122"/>
                <a:cs typeface="Calibri" pitchFamily="34" charset="-120"/>
              </a:rPr>
              <a:t>Sources: HigherGov BPA/call record — </a:t>
            </a:r>
            <a:r>
              <a:rPr lang="en-US" sz="900" u="sng" dirty="0">
                <a:solidFill>
                  <a:srgbClr val="1F497D"/>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highergov.com/idv/70RTAC26A00000010</a:t>
            </a:r>
            <a:r>
              <a:rPr sz="900" i="1">
                <a:solidFill>
                  <a:srgbClr val="595959"/>
                </a:solidFill>
                <a:latin typeface="Calibri"/>
              </a:rPr>
              <a:t>  •  USCIS forecast F2025072084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475488"/>
            <a:ext cx="6949440" cy="384048"/>
          </a:xfrm>
          <a:prstGeom prst="rect">
            <a:avLst/>
          </a:prstGeom>
          <a:noFill/>
          <a:ln/>
        </p:spPr>
        <p:txBody>
          <a:bodyPr wrap="square" lIns="0" tIns="0" rIns="0" bIns="0" rtlCol="0" anchor="ctr"/>
          <a:lstStyle/>
          <a:p>
            <a:pPr marL="0" indent="0">
              <a:buNone/>
            </a:pPr>
            <a:r>
              <a:rPr lang="en-US" sz="1700" b="1" dirty="0">
                <a:solidFill>
                  <a:srgbClr val="1F497D"/>
                </a:solidFill>
                <a:latin typeface="Calibri" pitchFamily="34" charset="0"/>
                <a:ea typeface="Calibri" pitchFamily="34" charset="-122"/>
                <a:cs typeface="Calibri" pitchFamily="34" charset="-120"/>
              </a:rPr>
              <a:t>Next Steps</a:t>
            </a:r>
            <a:endParaRPr lang="en-US" sz="1700" dirty="0"/>
          </a:p>
        </p:txBody>
      </p:sp>
      <p:sp>
        <p:nvSpPr>
          <p:cNvPr id="4" name="Shape 1"/>
          <p:cNvSpPr/>
          <p:nvPr/>
        </p:nvSpPr>
        <p:spPr>
          <a:xfrm>
            <a:off x="320040" y="1115568"/>
            <a:ext cx="8503920" cy="850392"/>
          </a:xfrm>
          <a:prstGeom prst="roundRect">
            <a:avLst>
              <a:gd name="adj" fmla="val 4762"/>
            </a:avLst>
          </a:prstGeom>
          <a:solidFill>
            <a:srgbClr val="1F497D"/>
          </a:solidFill>
          <a:ln w="12700">
            <a:solidFill>
              <a:srgbClr val="DCE6F1"/>
            </a:solidFill>
            <a:prstDash val="solid"/>
          </a:ln>
        </p:spPr>
        <p:txBody>
          <a:bodyPr/>
          <a:lstStyle/>
          <a:p>
            <a:endParaRPr lang="en-US"/>
          </a:p>
        </p:txBody>
      </p:sp>
      <p:sp>
        <p:nvSpPr>
          <p:cNvPr id="5" name="Text 2"/>
          <p:cNvSpPr/>
          <p:nvPr/>
        </p:nvSpPr>
        <p:spPr>
          <a:xfrm>
            <a:off x="429768" y="1261872"/>
            <a:ext cx="8284464" cy="813816"/>
          </a:xfrm>
          <a:prstGeom prst="rect">
            <a:avLst/>
          </a:prstGeom>
          <a:noFill/>
          <a:ln/>
        </p:spPr>
        <p:txBody>
          <a:bodyPr wrap="square" lIns="0" tIns="0" rIns="0" bIns="0" rtlCol="0" anchor="t"/>
          <a:lstStyle/>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Proof of Concept
</a:t>
            </a:r>
            <a:r>
              <a:rPr lang="en-US" sz="1000" dirty="0">
                <a:solidFill>
                  <a:srgbClr val="D6E2F2"/>
                </a:solidFill>
                <a:latin typeface="Calibri" pitchFamily="34" charset="0"/>
                <a:ea typeface="Calibri" pitchFamily="34" charset="-122"/>
                <a:cs typeface="Calibri" pitchFamily="34" charset="-120"/>
              </a:rPr>
              <a:t>The NPD agent: real questions on filings, completions, and cycle time, with accuracy measured against answers we already trust. This is where we learn how the tools actually behave on our data.</a:t>
            </a:r>
            <a:endParaRPr lang="en-US" sz="1100" dirty="0"/>
          </a:p>
        </p:txBody>
      </p:sp>
      <p:sp>
        <p:nvSpPr>
          <p:cNvPr id="6" name="Shape 3"/>
          <p:cNvSpPr/>
          <p:nvPr/>
        </p:nvSpPr>
        <p:spPr>
          <a:xfrm>
            <a:off x="320040" y="2148840"/>
            <a:ext cx="4114800" cy="1325880"/>
          </a:xfrm>
          <a:prstGeom prst="roundRect">
            <a:avLst>
              <a:gd name="adj" fmla="val 3448"/>
            </a:avLst>
          </a:prstGeom>
          <a:solidFill>
            <a:srgbClr val="FFFFFF"/>
          </a:solidFill>
          <a:ln w="12700">
            <a:solidFill>
              <a:srgbClr val="DCE6F1"/>
            </a:solidFill>
            <a:prstDash val="solid"/>
          </a:ln>
        </p:spPr>
        <p:txBody>
          <a:bodyPr/>
          <a:lstStyle/>
          <a:p>
            <a:endParaRPr lang="en-US"/>
          </a:p>
        </p:txBody>
      </p:sp>
      <p:sp>
        <p:nvSpPr>
          <p:cNvPr id="7" name="Text 4"/>
          <p:cNvSpPr/>
          <p:nvPr/>
        </p:nvSpPr>
        <p:spPr>
          <a:xfrm>
            <a:off x="429768" y="2221992"/>
            <a:ext cx="3895344" cy="1179576"/>
          </a:xfrm>
          <a:prstGeom prst="rect">
            <a:avLst/>
          </a:prstGeom>
          <a:noFill/>
          <a:ln/>
        </p:spPr>
        <p:txBody>
          <a:bodyPr wrap="square" lIns="0" tIns="0" rIns="0" bIns="0" rtlCol="0" anchor="t"/>
          <a:lstStyle/>
          <a:p>
            <a:pPr marL="0" indent="0">
              <a:lnSpc>
                <a:spcPct val="105000"/>
              </a:lnSpc>
              <a:buNone/>
            </a:pPr>
            <a:r>
              <a:rPr lang="en-US" sz="1050" b="1" dirty="0">
                <a:solidFill>
                  <a:srgbClr val="1F497D"/>
                </a:solidFill>
                <a:latin typeface="Calibri" pitchFamily="34" charset="0"/>
                <a:ea typeface="Calibri" pitchFamily="34" charset="-122"/>
                <a:cs typeface="Calibri" pitchFamily="34" charset="-120"/>
              </a:rPr>
              <a:t>Data Governance Tool
</a:t>
            </a:r>
            <a:r>
              <a:rPr lang="en-US" sz="950" dirty="0">
                <a:solidFill>
                  <a:srgbClr val="1A1A1A"/>
                </a:solidFill>
                <a:latin typeface="Calibri" pitchFamily="34" charset="0"/>
                <a:ea typeface="Calibri" pitchFamily="34" charset="-122"/>
                <a:cs typeface="Calibri" pitchFamily="34" charset="-120"/>
              </a:rPr>
              <a:t>Test metadata proof of concept: tap into Databricks tables and verify the refresh works end-to-end. This will allow for much easier maintenance of key terms and confirmed definitions that already exist in the tool (e.g. Collibra).</a:t>
            </a:r>
            <a:endParaRPr lang="en-US" sz="1050" dirty="0"/>
          </a:p>
        </p:txBody>
      </p:sp>
      <p:sp>
        <p:nvSpPr>
          <p:cNvPr id="8" name="Shape 5"/>
          <p:cNvSpPr/>
          <p:nvPr/>
        </p:nvSpPr>
        <p:spPr>
          <a:xfrm>
            <a:off x="4709160" y="2148840"/>
            <a:ext cx="4114800" cy="1325880"/>
          </a:xfrm>
          <a:prstGeom prst="roundRect">
            <a:avLst>
              <a:gd name="adj" fmla="val 3448"/>
            </a:avLst>
          </a:prstGeom>
          <a:solidFill>
            <a:srgbClr val="FFFFFF"/>
          </a:solidFill>
          <a:ln w="12700">
            <a:solidFill>
              <a:srgbClr val="DCE6F1"/>
            </a:solidFill>
            <a:prstDash val="solid"/>
          </a:ln>
        </p:spPr>
        <p:txBody>
          <a:bodyPr/>
          <a:lstStyle/>
          <a:p>
            <a:endParaRPr lang="en-US"/>
          </a:p>
        </p:txBody>
      </p:sp>
      <p:sp>
        <p:nvSpPr>
          <p:cNvPr id="9" name="Text 6"/>
          <p:cNvSpPr/>
          <p:nvPr/>
        </p:nvSpPr>
        <p:spPr>
          <a:xfrm>
            <a:off x="4818888" y="2221992"/>
            <a:ext cx="3895344" cy="1179576"/>
          </a:xfrm>
          <a:prstGeom prst="rect">
            <a:avLst/>
          </a:prstGeom>
          <a:noFill/>
          <a:ln/>
        </p:spPr>
        <p:txBody>
          <a:bodyPr wrap="square" lIns="0" tIns="0" rIns="0" bIns="0" rtlCol="0" anchor="t"/>
          <a:lstStyle/>
          <a:p>
            <a:pPr marL="0" indent="0">
              <a:lnSpc>
                <a:spcPct val="105000"/>
              </a:lnSpc>
              <a:buNone/>
            </a:pPr>
            <a:r>
              <a:rPr lang="en-US" sz="1050" b="1" dirty="0">
                <a:solidFill>
                  <a:srgbClr val="1F497D"/>
                </a:solidFill>
                <a:latin typeface="Calibri" pitchFamily="34" charset="0"/>
                <a:ea typeface="Calibri" pitchFamily="34" charset="-122"/>
                <a:cs typeface="Calibri" pitchFamily="34" charset="-120"/>
              </a:rPr>
              <a:t>Q&amp;A review
</a:t>
            </a:r>
            <a:r>
              <a:rPr lang="en-US" sz="950" dirty="0">
                <a:solidFill>
                  <a:srgbClr val="1A1A1A"/>
                </a:solidFill>
                <a:latin typeface="Calibri" pitchFamily="34" charset="0"/>
                <a:ea typeface="Calibri" pitchFamily="34" charset="-122"/>
                <a:cs typeface="Calibri" pitchFamily="34" charset="-120"/>
              </a:rPr>
              <a:t>Log and store every question and answer where our stewards can review and verify them — this is the “CDAO knows what's asked and answered” piece. Stewards also use Genie's built-in feedback loop: a thumbs-up or thumbs-down on any answer prompts the agent to propose what it learned, and nothing is kept until a steward accepts it.</a:t>
            </a:r>
            <a:endParaRPr lang="en-US" sz="1050" dirty="0"/>
          </a:p>
        </p:txBody>
      </p:sp>
      <p:sp>
        <p:nvSpPr>
          <p:cNvPr id="10" name="Shape 7"/>
          <p:cNvSpPr/>
          <p:nvPr/>
        </p:nvSpPr>
        <p:spPr>
          <a:xfrm>
            <a:off x="320040" y="3611880"/>
            <a:ext cx="8503920" cy="1005840"/>
          </a:xfrm>
          <a:prstGeom prst="roundRect">
            <a:avLst>
              <a:gd name="adj" fmla="val 4545"/>
            </a:avLst>
          </a:prstGeom>
          <a:solidFill>
            <a:srgbClr val="EEF3FA"/>
          </a:solidFill>
          <a:ln w="12700">
            <a:solidFill>
              <a:srgbClr val="DCE6F1"/>
            </a:solidFill>
            <a:prstDash val="solid"/>
          </a:ln>
        </p:spPr>
        <p:txBody>
          <a:bodyPr/>
          <a:lstStyle/>
          <a:p>
            <a:endParaRPr lang="en-US"/>
          </a:p>
        </p:txBody>
      </p:sp>
      <p:sp>
        <p:nvSpPr>
          <p:cNvPr id="11" name="Text 8"/>
          <p:cNvSpPr/>
          <p:nvPr/>
        </p:nvSpPr>
        <p:spPr>
          <a:xfrm>
            <a:off x="429768" y="3685032"/>
            <a:ext cx="8284464" cy="859536"/>
          </a:xfrm>
          <a:prstGeom prst="rect">
            <a:avLst/>
          </a:prstGeom>
          <a:noFill/>
          <a:ln/>
        </p:spPr>
        <p:txBody>
          <a:bodyPr wrap="square" lIns="0" tIns="0" rIns="0" bIns="0" rtlCol="0" anchor="t"/>
          <a:lstStyle/>
          <a:p>
            <a:pPr marL="0" indent="0">
              <a:lnSpc>
                <a:spcPct val="105000"/>
              </a:lnSpc>
              <a:buNone/>
            </a:pPr>
            <a:r>
              <a:rPr lang="en-US" sz="1100" b="1" dirty="0">
                <a:solidFill>
                  <a:srgbClr val="1F497D"/>
                </a:solidFill>
                <a:latin typeface="Calibri" pitchFamily="34" charset="0"/>
                <a:ea typeface="Calibri" pitchFamily="34" charset="-122"/>
                <a:cs typeface="Calibri" pitchFamily="34" charset="-120"/>
              </a:rPr>
              <a:t>Honest expectations
</a:t>
            </a:r>
            <a:r>
              <a:rPr lang="en-US" sz="1000" dirty="0">
                <a:solidFill>
                  <a:srgbClr val="1A1A1A"/>
                </a:solidFill>
                <a:latin typeface="Calibri" pitchFamily="34" charset="0"/>
                <a:ea typeface="Calibri" pitchFamily="34" charset="-122"/>
                <a:cs typeface="Calibri" pitchFamily="34" charset="-120"/>
              </a:rPr>
              <a:t>All information in this presentation is taken directly from Databricks documentation and the publicly available DHS contract information, and the approach was reviewed with Databricks engineers on August 21. Once our teams have access to the tools, the first thing they will do is test and confirm the Databricks features work as expected. </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2103120"/>
            <a:ext cx="8138160" cy="640080"/>
          </a:xfrm>
          <a:prstGeom prst="rect">
            <a:avLst/>
          </a:prstGeom>
          <a:noFill/>
          <a:ln/>
        </p:spPr>
        <p:txBody>
          <a:bodyPr wrap="square" lIns="0" tIns="0" rIns="0" bIns="0" rtlCol="0" anchor="ctr"/>
          <a:lstStyle/>
          <a:p>
            <a:pPr marL="0" indent="0">
              <a:buNone/>
            </a:pPr>
            <a:r>
              <a:rPr lang="en-US" sz="3000" b="1" dirty="0">
                <a:solidFill>
                  <a:srgbClr val="1F497D"/>
                </a:solidFill>
                <a:latin typeface="Calibri" pitchFamily="34" charset="0"/>
                <a:ea typeface="Calibri" pitchFamily="34" charset="-122"/>
                <a:cs typeface="Calibri" pitchFamily="34" charset="-120"/>
              </a:rPr>
              <a:t>Appendix</a:t>
            </a:r>
            <a:endParaRPr lang="en-US" sz="3000" dirty="0"/>
          </a:p>
        </p:txBody>
      </p:sp>
      <p:sp>
        <p:nvSpPr>
          <p:cNvPr id="3" name="Text 1"/>
          <p:cNvSpPr/>
          <p:nvPr/>
        </p:nvSpPr>
        <p:spPr>
          <a:xfrm>
            <a:off x="502920" y="2788920"/>
            <a:ext cx="7863840" cy="457200"/>
          </a:xfrm>
          <a:prstGeom prst="rect">
            <a:avLst/>
          </a:prstGeom>
          <a:noFill/>
          <a:ln/>
        </p:spPr>
        <p:txBody>
          <a:bodyPr wrap="square" lIns="0" tIns="0" rIns="0" bIns="0" rtlCol="0" anchor="ctr"/>
          <a:lstStyle/>
          <a:p>
            <a:pPr marL="0" indent="0">
              <a:buNone/>
            </a:pPr>
            <a:r>
              <a:rPr lang="en-US" sz="1200" dirty="0">
                <a:solidFill>
                  <a:srgbClr val="595959"/>
                </a:solidFill>
                <a:latin typeface="Calibri" pitchFamily="34" charset="0"/>
                <a:ea typeface="Calibri" pitchFamily="34" charset="-122"/>
                <a:cs typeface="Calibri" pitchFamily="34" charset="-120"/>
              </a:rPr>
              <a:t>Reference guide.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475488"/>
            <a:ext cx="6949440" cy="384048"/>
          </a:xfrm>
          <a:prstGeom prst="rect">
            <a:avLst/>
          </a:prstGeom>
          <a:noFill/>
          <a:ln/>
        </p:spPr>
        <p:txBody>
          <a:bodyPr wrap="square" lIns="0" tIns="0" rIns="0" bIns="0" rtlCol="0" anchor="ctr"/>
          <a:lstStyle/>
          <a:p>
            <a:pPr marL="0" indent="0">
              <a:buNone/>
            </a:pPr>
            <a:r>
              <a:rPr lang="en-US" sz="1700" b="1" dirty="0">
                <a:solidFill>
                  <a:srgbClr val="1F497D"/>
                </a:solidFill>
                <a:latin typeface="Calibri" pitchFamily="34" charset="0"/>
                <a:ea typeface="Calibri" pitchFamily="34" charset="-122"/>
                <a:cs typeface="Calibri" pitchFamily="34" charset="-120"/>
              </a:rPr>
              <a:t>Appendix — What “the Harness” Means</a:t>
            </a:r>
            <a:endParaRPr lang="en-US" sz="1700" dirty="0"/>
          </a:p>
        </p:txBody>
      </p:sp>
      <p:sp>
        <p:nvSpPr>
          <p:cNvPr id="4" name="Text 1"/>
          <p:cNvSpPr/>
          <p:nvPr/>
        </p:nvSpPr>
        <p:spPr>
          <a:xfrm>
            <a:off x="320040" y="1005840"/>
            <a:ext cx="8503920" cy="365760"/>
          </a:xfrm>
          <a:prstGeom prst="rect">
            <a:avLst/>
          </a:prstGeom>
          <a:noFill/>
          <a:ln/>
        </p:spPr>
        <p:txBody>
          <a:bodyPr wrap="square" lIns="0" tIns="0" rIns="0" bIns="0" rtlCol="0" anchor="ctr"/>
          <a:lstStyle/>
          <a:p>
            <a:pPr marL="0" indent="0" algn="ctr">
              <a:buNone/>
            </a:pPr>
            <a:r>
              <a:rPr lang="en-US" sz="1400" b="1" dirty="0">
                <a:solidFill>
                  <a:srgbClr val="1F497D"/>
                </a:solidFill>
                <a:latin typeface="Calibri" pitchFamily="34" charset="0"/>
                <a:ea typeface="Calibri" pitchFamily="34" charset="-122"/>
                <a:cs typeface="Calibri" pitchFamily="34" charset="-120"/>
              </a:rPr>
              <a:t>Agent  =  AI model  +  harness</a:t>
            </a:r>
            <a:endParaRPr lang="en-US" sz="1400" dirty="0"/>
          </a:p>
        </p:txBody>
      </p:sp>
      <p:sp>
        <p:nvSpPr>
          <p:cNvPr id="5" name="Shape 2"/>
          <p:cNvSpPr/>
          <p:nvPr/>
        </p:nvSpPr>
        <p:spPr>
          <a:xfrm>
            <a:off x="685800" y="1554480"/>
            <a:ext cx="3566160" cy="2103120"/>
          </a:xfrm>
          <a:prstGeom prst="roundRect">
            <a:avLst>
              <a:gd name="adj" fmla="val 2174"/>
            </a:avLst>
          </a:prstGeom>
          <a:solidFill>
            <a:srgbClr val="FFFFFF"/>
          </a:solidFill>
          <a:ln w="12700">
            <a:solidFill>
              <a:srgbClr val="DCE6F1"/>
            </a:solidFill>
            <a:prstDash val="solid"/>
          </a:ln>
        </p:spPr>
        <p:txBody>
          <a:bodyPr/>
          <a:lstStyle/>
          <a:p>
            <a:endParaRPr lang="en-US"/>
          </a:p>
        </p:txBody>
      </p:sp>
      <p:sp>
        <p:nvSpPr>
          <p:cNvPr id="6" name="Text 3"/>
          <p:cNvSpPr/>
          <p:nvPr/>
        </p:nvSpPr>
        <p:spPr>
          <a:xfrm>
            <a:off x="795528" y="1627632"/>
            <a:ext cx="3346704" cy="1956816"/>
          </a:xfrm>
          <a:prstGeom prst="rect">
            <a:avLst/>
          </a:prstGeom>
          <a:noFill/>
          <a:ln/>
        </p:spPr>
        <p:txBody>
          <a:bodyPr wrap="square" lIns="0" tIns="0" rIns="0" bIns="0" rtlCol="0" anchor="t"/>
          <a:lstStyle/>
          <a:p>
            <a:pPr marL="0" indent="0">
              <a:lnSpc>
                <a:spcPct val="105000"/>
              </a:lnSpc>
              <a:buNone/>
            </a:pPr>
            <a:r>
              <a:rPr lang="en-US" sz="1200" b="1" dirty="0">
                <a:solidFill>
                  <a:srgbClr val="1F497D"/>
                </a:solidFill>
                <a:latin typeface="Calibri" pitchFamily="34" charset="0"/>
                <a:ea typeface="Calibri" pitchFamily="34" charset="-122"/>
                <a:cs typeface="Calibri" pitchFamily="34" charset="-120"/>
              </a:rPr>
              <a:t>The AI model
</a:t>
            </a:r>
            <a:r>
              <a:rPr lang="en-US" sz="1000" dirty="0">
                <a:solidFill>
                  <a:srgbClr val="1A1A1A"/>
                </a:solidFill>
                <a:latin typeface="Calibri" pitchFamily="34" charset="0"/>
                <a:ea typeface="Calibri" pitchFamily="34" charset="-122"/>
                <a:cs typeface="Calibri" pitchFamily="34" charset="-120"/>
              </a:rPr>
              <a:t>The engine — it can read, reason, and write SQL, but it knows nothing about USCIS on its own.</a:t>
            </a:r>
            <a:endParaRPr lang="en-US" sz="1200" dirty="0"/>
          </a:p>
        </p:txBody>
      </p:sp>
      <p:sp>
        <p:nvSpPr>
          <p:cNvPr id="7" name="Shape 4"/>
          <p:cNvSpPr/>
          <p:nvPr/>
        </p:nvSpPr>
        <p:spPr>
          <a:xfrm>
            <a:off x="4892040" y="1554480"/>
            <a:ext cx="3566160" cy="2103120"/>
          </a:xfrm>
          <a:prstGeom prst="roundRect">
            <a:avLst>
              <a:gd name="adj" fmla="val 2174"/>
            </a:avLst>
          </a:prstGeom>
          <a:solidFill>
            <a:srgbClr val="FFFFFF"/>
          </a:solidFill>
          <a:ln w="12700">
            <a:solidFill>
              <a:srgbClr val="DCE6F1"/>
            </a:solidFill>
            <a:prstDash val="solid"/>
          </a:ln>
        </p:spPr>
        <p:txBody>
          <a:bodyPr/>
          <a:lstStyle/>
          <a:p>
            <a:endParaRPr lang="en-US" dirty="0"/>
          </a:p>
        </p:txBody>
      </p:sp>
      <p:sp>
        <p:nvSpPr>
          <p:cNvPr id="8" name="Text 5"/>
          <p:cNvSpPr/>
          <p:nvPr/>
        </p:nvSpPr>
        <p:spPr>
          <a:xfrm>
            <a:off x="5001768" y="1627632"/>
            <a:ext cx="3346704" cy="1956816"/>
          </a:xfrm>
          <a:prstGeom prst="rect">
            <a:avLst/>
          </a:prstGeom>
          <a:noFill/>
          <a:ln/>
        </p:spPr>
        <p:txBody>
          <a:bodyPr wrap="square" lIns="0" tIns="0" rIns="0" bIns="0" rtlCol="0" anchor="t"/>
          <a:lstStyle/>
          <a:p>
            <a:pPr marL="0" indent="0">
              <a:lnSpc>
                <a:spcPct val="105000"/>
              </a:lnSpc>
              <a:buNone/>
            </a:pPr>
            <a:r>
              <a:rPr lang="en-US" sz="1200" b="1" dirty="0">
                <a:solidFill>
                  <a:srgbClr val="1F497D"/>
                </a:solidFill>
                <a:latin typeface="Calibri" pitchFamily="34" charset="0"/>
                <a:ea typeface="Calibri" pitchFamily="34" charset="-122"/>
                <a:cs typeface="Calibri" pitchFamily="34" charset="-120"/>
              </a:rPr>
              <a:t>The harness (Databricks owns this)
</a:t>
            </a:r>
            <a:r>
              <a:rPr lang="en-US" sz="1000" dirty="0">
                <a:solidFill>
                  <a:srgbClr val="1A1A1A"/>
                </a:solidFill>
                <a:latin typeface="Calibri" pitchFamily="34" charset="0"/>
                <a:ea typeface="Calibri" pitchFamily="34" charset="-122"/>
                <a:cs typeface="Calibri" pitchFamily="34" charset="-120"/>
              </a:rPr>
              <a:t>Everything around the engine: the loop that reasons and acts, the SQL engine, retries when something fails, permission checks, and audit logs.</a:t>
            </a:r>
            <a:endParaRPr lang="en-US" sz="1200" dirty="0"/>
          </a:p>
        </p:txBody>
      </p:sp>
      <p:sp>
        <p:nvSpPr>
          <p:cNvPr id="9" name="Shape 6"/>
          <p:cNvSpPr/>
          <p:nvPr/>
        </p:nvSpPr>
        <p:spPr>
          <a:xfrm>
            <a:off x="685800" y="3840480"/>
            <a:ext cx="7772400" cy="777240"/>
          </a:xfrm>
          <a:prstGeom prst="roundRect">
            <a:avLst>
              <a:gd name="adj" fmla="val 5882"/>
            </a:avLst>
          </a:prstGeom>
          <a:solidFill>
            <a:srgbClr val="EEF3FA"/>
          </a:solidFill>
          <a:ln w="12700">
            <a:solidFill>
              <a:srgbClr val="DCE6F1"/>
            </a:solidFill>
            <a:prstDash val="solid"/>
          </a:ln>
        </p:spPr>
        <p:txBody>
          <a:bodyPr/>
          <a:lstStyle/>
          <a:p>
            <a:endParaRPr lang="en-US"/>
          </a:p>
        </p:txBody>
      </p:sp>
      <p:sp>
        <p:nvSpPr>
          <p:cNvPr id="10" name="Text 7"/>
          <p:cNvSpPr/>
          <p:nvPr/>
        </p:nvSpPr>
        <p:spPr>
          <a:xfrm>
            <a:off x="795528" y="3913632"/>
            <a:ext cx="7552944" cy="630936"/>
          </a:xfrm>
          <a:prstGeom prst="rect">
            <a:avLst/>
          </a:prstGeom>
          <a:noFill/>
          <a:ln/>
        </p:spPr>
        <p:txBody>
          <a:bodyPr wrap="square" lIns="0" tIns="0" rIns="0" bIns="0" rtlCol="0" anchor="t"/>
          <a:lstStyle/>
          <a:p>
            <a:pPr marL="0" indent="0">
              <a:lnSpc>
                <a:spcPct val="105000"/>
              </a:lnSpc>
              <a:buNone/>
            </a:pPr>
            <a:r>
              <a:rPr lang="en-US" sz="1100" b="1" dirty="0">
                <a:solidFill>
                  <a:srgbClr val="1F497D"/>
                </a:solidFill>
                <a:latin typeface="Calibri" pitchFamily="34" charset="0"/>
                <a:ea typeface="Calibri" pitchFamily="34" charset="-122"/>
                <a:cs typeface="Calibri" pitchFamily="34" charset="-120"/>
              </a:rPr>
              <a:t>What we supply
</a:t>
            </a:r>
            <a:r>
              <a:rPr lang="en-US" sz="1000" dirty="0">
                <a:solidFill>
                  <a:srgbClr val="1A1A1A"/>
                </a:solidFill>
                <a:latin typeface="Calibri" pitchFamily="34" charset="0"/>
                <a:ea typeface="Calibri" pitchFamily="34" charset="-122"/>
                <a:cs typeface="Calibri" pitchFamily="34" charset="-120"/>
              </a:rPr>
              <a:t>The map and the rules of the road: our data knowledge, the accuracy tests, the review process, and the budgets.</a:t>
            </a:r>
            <a:endParaRPr lang="en-US" sz="1100" dirty="0"/>
          </a:p>
        </p:txBody>
      </p:sp>
      <p:sp>
        <p:nvSpPr>
          <p:cNvPr id="11" name="Shape 8"/>
          <p:cNvSpPr/>
          <p:nvPr/>
        </p:nvSpPr>
        <p:spPr>
          <a:xfrm>
            <a:off x="7315200" y="502920"/>
            <a:ext cx="1463040" cy="274320"/>
          </a:xfrm>
          <a:prstGeom prst="roundRect">
            <a:avLst>
              <a:gd name="adj" fmla="val 26667"/>
            </a:avLst>
          </a:prstGeom>
          <a:solidFill>
            <a:srgbClr val="EEF3FA"/>
          </a:solidFill>
          <a:ln w="9525">
            <a:solidFill>
              <a:srgbClr val="1F497D"/>
            </a:solidFill>
            <a:prstDash val="solid"/>
          </a:ln>
        </p:spPr>
        <p:txBody>
          <a:bodyPr/>
          <a:lstStyle/>
          <a:p>
            <a:endParaRPr lang="en-US"/>
          </a:p>
        </p:txBody>
      </p:sp>
      <p:sp>
        <p:nvSpPr>
          <p:cNvPr id="12" name="Text 9">
            <a:hlinkClick r:id="rId4" action="ppaction://hlinksldjump"/>
          </p:cNvPr>
          <p:cNvSpPr/>
          <p:nvPr/>
        </p:nvSpPr>
        <p:spPr>
          <a:xfrm>
            <a:off x="7315200" y="502920"/>
            <a:ext cx="1463040" cy="274320"/>
          </a:xfrm>
          <a:prstGeom prst="rect">
            <a:avLst/>
          </a:prstGeom>
          <a:noFill/>
          <a:ln/>
        </p:spPr>
        <p:txBody>
          <a:bodyPr wrap="square" lIns="0" tIns="0" rIns="0" bIns="0" rtlCol="0" anchor="ctr"/>
          <a:lstStyle/>
          <a:p>
            <a:pPr marL="0" indent="0" algn="ctr">
              <a:buNone/>
            </a:pPr>
            <a:r>
              <a:rPr lang="en-US" sz="800" b="1" u="sng" dirty="0">
                <a:solidFill>
                  <a:srgbClr val="1F497D"/>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Back to overview  →</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475488"/>
            <a:ext cx="6949440" cy="384048"/>
          </a:xfrm>
          <a:prstGeom prst="rect">
            <a:avLst/>
          </a:prstGeom>
          <a:noFill/>
          <a:ln/>
        </p:spPr>
        <p:txBody>
          <a:bodyPr wrap="square" lIns="0" tIns="0" rIns="0" bIns="0" rtlCol="0" anchor="ctr"/>
          <a:lstStyle/>
          <a:p>
            <a:pPr marL="0" indent="0">
              <a:buNone/>
            </a:pPr>
            <a:r>
              <a:rPr lang="en-US" sz="1700" b="1" dirty="0">
                <a:solidFill>
                  <a:srgbClr val="1F497D"/>
                </a:solidFill>
                <a:latin typeface="Calibri" pitchFamily="34" charset="0"/>
                <a:ea typeface="Calibri" pitchFamily="34" charset="-122"/>
                <a:cs typeface="Calibri" pitchFamily="34" charset="-120"/>
              </a:rPr>
              <a:t>Appendix — The Engineers' Assistant (Genie Code)</a:t>
            </a:r>
            <a:endParaRPr lang="en-US" sz="1700" dirty="0"/>
          </a:p>
        </p:txBody>
      </p:sp>
      <p:sp>
        <p:nvSpPr>
          <p:cNvPr id="4" name="Shape 1"/>
          <p:cNvSpPr/>
          <p:nvPr/>
        </p:nvSpPr>
        <p:spPr>
          <a:xfrm>
            <a:off x="320040" y="1051560"/>
            <a:ext cx="4114800" cy="1051560"/>
          </a:xfrm>
          <a:prstGeom prst="roundRect">
            <a:avLst>
              <a:gd name="adj" fmla="val 4348"/>
            </a:avLst>
          </a:prstGeom>
          <a:solidFill>
            <a:srgbClr val="FFFFFF"/>
          </a:solidFill>
          <a:ln w="12700">
            <a:solidFill>
              <a:srgbClr val="DCE6F1"/>
            </a:solidFill>
            <a:prstDash val="solid"/>
          </a:ln>
        </p:spPr>
        <p:txBody>
          <a:bodyPr/>
          <a:lstStyle/>
          <a:p>
            <a:endParaRPr lang="en-US"/>
          </a:p>
        </p:txBody>
      </p:sp>
      <p:sp>
        <p:nvSpPr>
          <p:cNvPr id="5" name="Text 2"/>
          <p:cNvSpPr/>
          <p:nvPr/>
        </p:nvSpPr>
        <p:spPr>
          <a:xfrm>
            <a:off x="429768" y="1124712"/>
            <a:ext cx="3895344" cy="905256"/>
          </a:xfrm>
          <a:prstGeom prst="rect">
            <a:avLst/>
          </a:prstGeom>
          <a:noFill/>
          <a:ln/>
        </p:spPr>
        <p:txBody>
          <a:bodyPr wrap="square" lIns="0" tIns="0" rIns="0" bIns="0" rtlCol="0" anchor="t"/>
          <a:lstStyle/>
          <a:p>
            <a:pPr marL="0" indent="0">
              <a:lnSpc>
                <a:spcPct val="105000"/>
              </a:lnSpc>
              <a:buNone/>
            </a:pPr>
            <a:r>
              <a:rPr lang="en-US" sz="1050" b="1" dirty="0">
                <a:solidFill>
                  <a:srgbClr val="1F497D"/>
                </a:solidFill>
                <a:latin typeface="Calibri" pitchFamily="34" charset="0"/>
                <a:ea typeface="Calibri" pitchFamily="34" charset="-122"/>
                <a:cs typeface="Calibri" pitchFamily="34" charset="-120"/>
              </a:rPr>
              <a:t>Write &amp; explain code
</a:t>
            </a:r>
            <a:r>
              <a:rPr lang="en-US" sz="950" dirty="0">
                <a:solidFill>
                  <a:srgbClr val="1A1A1A"/>
                </a:solidFill>
                <a:latin typeface="Calibri" pitchFamily="34" charset="0"/>
                <a:ea typeface="Calibri" pitchFamily="34" charset="-122"/>
                <a:cs typeface="Calibri" pitchFamily="34" charset="-120"/>
              </a:rPr>
              <a:t>SQL and Python, in place, in our notebooks</a:t>
            </a:r>
            <a:endParaRPr lang="en-US" sz="1050" dirty="0"/>
          </a:p>
        </p:txBody>
      </p:sp>
      <p:sp>
        <p:nvSpPr>
          <p:cNvPr id="6" name="Shape 3"/>
          <p:cNvSpPr/>
          <p:nvPr/>
        </p:nvSpPr>
        <p:spPr>
          <a:xfrm>
            <a:off x="4709160" y="1051560"/>
            <a:ext cx="4114800" cy="1051560"/>
          </a:xfrm>
          <a:prstGeom prst="roundRect">
            <a:avLst>
              <a:gd name="adj" fmla="val 4348"/>
            </a:avLst>
          </a:prstGeom>
          <a:solidFill>
            <a:srgbClr val="FFFFFF"/>
          </a:solidFill>
          <a:ln w="12700">
            <a:solidFill>
              <a:srgbClr val="DCE6F1"/>
            </a:solidFill>
            <a:prstDash val="solid"/>
          </a:ln>
        </p:spPr>
        <p:txBody>
          <a:bodyPr/>
          <a:lstStyle/>
          <a:p>
            <a:endParaRPr lang="en-US"/>
          </a:p>
        </p:txBody>
      </p:sp>
      <p:sp>
        <p:nvSpPr>
          <p:cNvPr id="7" name="Text 4"/>
          <p:cNvSpPr/>
          <p:nvPr/>
        </p:nvSpPr>
        <p:spPr>
          <a:xfrm>
            <a:off x="4818888" y="1124712"/>
            <a:ext cx="3895344" cy="905256"/>
          </a:xfrm>
          <a:prstGeom prst="rect">
            <a:avLst/>
          </a:prstGeom>
          <a:noFill/>
          <a:ln/>
        </p:spPr>
        <p:txBody>
          <a:bodyPr wrap="square" lIns="0" tIns="0" rIns="0" bIns="0" rtlCol="0" anchor="t"/>
          <a:lstStyle/>
          <a:p>
            <a:pPr marL="0" indent="0">
              <a:lnSpc>
                <a:spcPct val="105000"/>
              </a:lnSpc>
              <a:buNone/>
            </a:pPr>
            <a:r>
              <a:rPr lang="en-US" sz="1050" b="1" dirty="0">
                <a:solidFill>
                  <a:srgbClr val="1F497D"/>
                </a:solidFill>
                <a:latin typeface="Calibri" pitchFamily="34" charset="0"/>
                <a:ea typeface="Calibri" pitchFamily="34" charset="-122"/>
                <a:cs typeface="Calibri" pitchFamily="34" charset="-120"/>
              </a:rPr>
              <a:t>Diagnose failures
</a:t>
            </a:r>
            <a:r>
              <a:rPr lang="en-US" sz="950" dirty="0">
                <a:solidFill>
                  <a:srgbClr val="1A1A1A"/>
                </a:solidFill>
                <a:latin typeface="Calibri" pitchFamily="34" charset="0"/>
                <a:ea typeface="Calibri" pitchFamily="34" charset="-122"/>
                <a:cs typeface="Calibri" pitchFamily="34" charset="-120"/>
              </a:rPr>
              <a:t>reads the error and points at the cause</a:t>
            </a:r>
            <a:endParaRPr lang="en-US" sz="1050" dirty="0"/>
          </a:p>
        </p:txBody>
      </p:sp>
      <p:sp>
        <p:nvSpPr>
          <p:cNvPr id="8" name="Shape 5"/>
          <p:cNvSpPr/>
          <p:nvPr/>
        </p:nvSpPr>
        <p:spPr>
          <a:xfrm>
            <a:off x="320040" y="2240280"/>
            <a:ext cx="4114800" cy="1051560"/>
          </a:xfrm>
          <a:prstGeom prst="roundRect">
            <a:avLst>
              <a:gd name="adj" fmla="val 4348"/>
            </a:avLst>
          </a:prstGeom>
          <a:solidFill>
            <a:srgbClr val="FFFFFF"/>
          </a:solidFill>
          <a:ln w="12700">
            <a:solidFill>
              <a:srgbClr val="DCE6F1"/>
            </a:solidFill>
            <a:prstDash val="solid"/>
          </a:ln>
        </p:spPr>
        <p:txBody>
          <a:bodyPr/>
          <a:lstStyle/>
          <a:p>
            <a:endParaRPr lang="en-US"/>
          </a:p>
        </p:txBody>
      </p:sp>
      <p:sp>
        <p:nvSpPr>
          <p:cNvPr id="9" name="Text 6"/>
          <p:cNvSpPr/>
          <p:nvPr/>
        </p:nvSpPr>
        <p:spPr>
          <a:xfrm>
            <a:off x="429768" y="2313432"/>
            <a:ext cx="3895344" cy="905256"/>
          </a:xfrm>
          <a:prstGeom prst="rect">
            <a:avLst/>
          </a:prstGeom>
          <a:noFill/>
          <a:ln/>
        </p:spPr>
        <p:txBody>
          <a:bodyPr wrap="square" lIns="0" tIns="0" rIns="0" bIns="0" rtlCol="0" anchor="t"/>
          <a:lstStyle/>
          <a:p>
            <a:pPr marL="0" indent="0">
              <a:lnSpc>
                <a:spcPct val="105000"/>
              </a:lnSpc>
              <a:buNone/>
            </a:pPr>
            <a:r>
              <a:rPr lang="en-US" sz="1050" b="1" dirty="0">
                <a:solidFill>
                  <a:srgbClr val="1F497D"/>
                </a:solidFill>
                <a:latin typeface="Calibri" pitchFamily="34" charset="0"/>
                <a:ea typeface="Calibri" pitchFamily="34" charset="-122"/>
                <a:cs typeface="Calibri" pitchFamily="34" charset="-120"/>
              </a:rPr>
              <a:t>Quick fixes &amp; tests
</a:t>
            </a:r>
            <a:r>
              <a:rPr lang="en-US" sz="950" dirty="0">
                <a:solidFill>
                  <a:srgbClr val="1A1A1A"/>
                </a:solidFill>
                <a:latin typeface="Calibri" pitchFamily="34" charset="0"/>
                <a:ea typeface="Calibri" pitchFamily="34" charset="-122"/>
                <a:cs typeface="Calibri" pitchFamily="34" charset="-120"/>
              </a:rPr>
              <a:t>suggests the correction and a test to catch it next time</a:t>
            </a:r>
            <a:endParaRPr lang="en-US" sz="1050" dirty="0"/>
          </a:p>
        </p:txBody>
      </p:sp>
      <p:sp>
        <p:nvSpPr>
          <p:cNvPr id="10" name="Shape 7"/>
          <p:cNvSpPr/>
          <p:nvPr/>
        </p:nvSpPr>
        <p:spPr>
          <a:xfrm>
            <a:off x="4709160" y="2240280"/>
            <a:ext cx="4114800" cy="1051560"/>
          </a:xfrm>
          <a:prstGeom prst="roundRect">
            <a:avLst>
              <a:gd name="adj" fmla="val 4348"/>
            </a:avLst>
          </a:prstGeom>
          <a:solidFill>
            <a:srgbClr val="FFFFFF"/>
          </a:solidFill>
          <a:ln w="12700">
            <a:solidFill>
              <a:srgbClr val="DCE6F1"/>
            </a:solidFill>
            <a:prstDash val="solid"/>
          </a:ln>
        </p:spPr>
        <p:txBody>
          <a:bodyPr/>
          <a:lstStyle/>
          <a:p>
            <a:endParaRPr lang="en-US"/>
          </a:p>
        </p:txBody>
      </p:sp>
      <p:sp>
        <p:nvSpPr>
          <p:cNvPr id="11" name="Text 8"/>
          <p:cNvSpPr/>
          <p:nvPr/>
        </p:nvSpPr>
        <p:spPr>
          <a:xfrm>
            <a:off x="4818888" y="2313432"/>
            <a:ext cx="3895344" cy="905256"/>
          </a:xfrm>
          <a:prstGeom prst="rect">
            <a:avLst/>
          </a:prstGeom>
          <a:noFill/>
          <a:ln/>
        </p:spPr>
        <p:txBody>
          <a:bodyPr wrap="square" lIns="0" tIns="0" rIns="0" bIns="0" rtlCol="0" anchor="t"/>
          <a:lstStyle/>
          <a:p>
            <a:pPr marL="0" indent="0">
              <a:lnSpc>
                <a:spcPct val="105000"/>
              </a:lnSpc>
              <a:buNone/>
            </a:pPr>
            <a:r>
              <a:rPr lang="en-US" sz="1050" b="1" dirty="0">
                <a:solidFill>
                  <a:srgbClr val="1F497D"/>
                </a:solidFill>
                <a:latin typeface="Calibri" pitchFamily="34" charset="0"/>
                <a:ea typeface="Calibri" pitchFamily="34" charset="-122"/>
                <a:cs typeface="Calibri" pitchFamily="34" charset="-120"/>
              </a:rPr>
              <a:t>Review
</a:t>
            </a:r>
            <a:r>
              <a:rPr lang="en-US" sz="950" dirty="0">
                <a:solidFill>
                  <a:srgbClr val="1A1A1A"/>
                </a:solidFill>
                <a:latin typeface="Calibri" pitchFamily="34" charset="0"/>
                <a:ea typeface="Calibri" pitchFamily="34" charset="-122"/>
                <a:cs typeface="Calibri" pitchFamily="34" charset="-120"/>
              </a:rPr>
              <a:t>a second set of eyes on engineers' work</a:t>
            </a:r>
            <a:endParaRPr lang="en-US" sz="1050" dirty="0"/>
          </a:p>
        </p:txBody>
      </p:sp>
      <p:sp>
        <p:nvSpPr>
          <p:cNvPr id="12" name="Shape 9"/>
          <p:cNvSpPr/>
          <p:nvPr/>
        </p:nvSpPr>
        <p:spPr>
          <a:xfrm>
            <a:off x="320040" y="3566160"/>
            <a:ext cx="8503920" cy="777240"/>
          </a:xfrm>
          <a:prstGeom prst="roundRect">
            <a:avLst>
              <a:gd name="adj" fmla="val 5882"/>
            </a:avLst>
          </a:prstGeom>
          <a:solidFill>
            <a:srgbClr val="EEF3FA"/>
          </a:solidFill>
          <a:ln w="12700">
            <a:solidFill>
              <a:srgbClr val="DCE6F1"/>
            </a:solidFill>
            <a:prstDash val="solid"/>
          </a:ln>
        </p:spPr>
        <p:txBody>
          <a:bodyPr/>
          <a:lstStyle/>
          <a:p>
            <a:endParaRPr lang="en-US"/>
          </a:p>
        </p:txBody>
      </p:sp>
      <p:sp>
        <p:nvSpPr>
          <p:cNvPr id="13" name="Text 10"/>
          <p:cNvSpPr/>
          <p:nvPr/>
        </p:nvSpPr>
        <p:spPr>
          <a:xfrm>
            <a:off x="429768" y="3639312"/>
            <a:ext cx="8284464" cy="630936"/>
          </a:xfrm>
          <a:prstGeom prst="rect">
            <a:avLst/>
          </a:prstGeom>
          <a:noFill/>
          <a:ln/>
        </p:spPr>
        <p:txBody>
          <a:bodyPr wrap="square" lIns="0" tIns="0" rIns="0" bIns="0" rtlCol="0" anchor="t"/>
          <a:lstStyle/>
          <a:p>
            <a:pPr marL="0" indent="0">
              <a:lnSpc>
                <a:spcPct val="105000"/>
              </a:lnSpc>
              <a:buNone/>
            </a:pPr>
            <a:r>
              <a:rPr lang="en-US" sz="1050" b="1" dirty="0">
                <a:solidFill>
                  <a:srgbClr val="1F497D"/>
                </a:solidFill>
                <a:latin typeface="Calibri" pitchFamily="34" charset="0"/>
                <a:ea typeface="Calibri" pitchFamily="34" charset="-122"/>
                <a:cs typeface="Calibri" pitchFamily="34" charset="-120"/>
              </a:rPr>
              <a:t>Guardrails
</a:t>
            </a:r>
            <a:r>
              <a:rPr lang="en-US" sz="950" dirty="0">
                <a:solidFill>
                  <a:srgbClr val="1A1A1A"/>
                </a:solidFill>
                <a:latin typeface="Calibri" pitchFamily="34" charset="0"/>
                <a:ea typeface="Calibri" pitchFamily="34" charset="-122"/>
                <a:cs typeface="Calibri" pitchFamily="34" charset="-120"/>
              </a:rPr>
              <a:t>Sees only what the engineer is already allowed to see. Usage past each person's monthly free allowance is billed — covered by the budgets on the metering slide.</a:t>
            </a:r>
            <a:endParaRPr lang="en-US" sz="1050" dirty="0"/>
          </a:p>
        </p:txBody>
      </p:sp>
      <p:sp>
        <p:nvSpPr>
          <p:cNvPr id="14" name="Shape 11"/>
          <p:cNvSpPr/>
          <p:nvPr/>
        </p:nvSpPr>
        <p:spPr>
          <a:xfrm>
            <a:off x="7315200" y="502920"/>
            <a:ext cx="1463040" cy="274320"/>
          </a:xfrm>
          <a:prstGeom prst="roundRect">
            <a:avLst>
              <a:gd name="adj" fmla="val 26667"/>
            </a:avLst>
          </a:prstGeom>
          <a:solidFill>
            <a:srgbClr val="EEF3FA"/>
          </a:solidFill>
          <a:ln w="9525">
            <a:solidFill>
              <a:srgbClr val="1F497D"/>
            </a:solidFill>
            <a:prstDash val="solid"/>
          </a:ln>
        </p:spPr>
        <p:txBody>
          <a:bodyPr/>
          <a:lstStyle/>
          <a:p>
            <a:endParaRPr lang="en-US"/>
          </a:p>
        </p:txBody>
      </p:sp>
      <p:sp>
        <p:nvSpPr>
          <p:cNvPr id="15" name="Text 12">
            <a:hlinkClick r:id="rId4" action="ppaction://hlinksldjump"/>
          </p:cNvPr>
          <p:cNvSpPr/>
          <p:nvPr/>
        </p:nvSpPr>
        <p:spPr>
          <a:xfrm>
            <a:off x="7315200" y="502920"/>
            <a:ext cx="1463040" cy="274320"/>
          </a:xfrm>
          <a:prstGeom prst="rect">
            <a:avLst/>
          </a:prstGeom>
          <a:noFill/>
          <a:ln/>
        </p:spPr>
        <p:txBody>
          <a:bodyPr wrap="square" lIns="0" tIns="0" rIns="0" bIns="0" rtlCol="0" anchor="ctr"/>
          <a:lstStyle/>
          <a:p>
            <a:pPr marL="0" indent="0" algn="ctr">
              <a:buNone/>
            </a:pPr>
            <a:r>
              <a:rPr lang="en-US" sz="800" b="1" u="sng" dirty="0">
                <a:solidFill>
                  <a:srgbClr val="1F497D"/>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Back to overview  →</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475488"/>
            <a:ext cx="6949440" cy="384048"/>
          </a:xfrm>
          <a:prstGeom prst="rect">
            <a:avLst/>
          </a:prstGeom>
          <a:noFill/>
          <a:ln/>
        </p:spPr>
        <p:txBody>
          <a:bodyPr wrap="square" lIns="0" tIns="0" rIns="0" bIns="0" rtlCol="0" anchor="ctr"/>
          <a:lstStyle/>
          <a:p>
            <a:pPr marL="0" indent="0">
              <a:buNone/>
            </a:pPr>
            <a:r>
              <a:rPr lang="en-US" sz="1700" b="1" dirty="0">
                <a:solidFill>
                  <a:srgbClr val="1F497D"/>
                </a:solidFill>
                <a:latin typeface="Calibri" pitchFamily="34" charset="0"/>
                <a:ea typeface="Calibri" pitchFamily="34" charset="-122"/>
                <a:cs typeface="Calibri" pitchFamily="34" charset="-120"/>
              </a:rPr>
              <a:t>Appendix — Data Governance Sync, One Level Deeper</a:t>
            </a:r>
            <a:endParaRPr lang="en-US" sz="1700" dirty="0"/>
          </a:p>
        </p:txBody>
      </p:sp>
      <p:sp>
        <p:nvSpPr>
          <p:cNvPr id="4" name="Shape 1"/>
          <p:cNvSpPr/>
          <p:nvPr/>
        </p:nvSpPr>
        <p:spPr>
          <a:xfrm>
            <a:off x="320040" y="1005840"/>
            <a:ext cx="8503920" cy="731520"/>
          </a:xfrm>
          <a:prstGeom prst="roundRect">
            <a:avLst>
              <a:gd name="adj" fmla="val 6250"/>
            </a:avLst>
          </a:prstGeom>
          <a:solidFill>
            <a:srgbClr val="FFFFFF"/>
          </a:solidFill>
          <a:ln w="12700">
            <a:solidFill>
              <a:srgbClr val="DCE6F1"/>
            </a:solidFill>
            <a:prstDash val="solid"/>
          </a:ln>
        </p:spPr>
        <p:txBody>
          <a:bodyPr/>
          <a:lstStyle/>
          <a:p>
            <a:endParaRPr lang="en-US"/>
          </a:p>
        </p:txBody>
      </p:sp>
      <p:sp>
        <p:nvSpPr>
          <p:cNvPr id="5" name="Text 2"/>
          <p:cNvSpPr/>
          <p:nvPr/>
        </p:nvSpPr>
        <p:spPr>
          <a:xfrm>
            <a:off x="429768" y="1078992"/>
            <a:ext cx="8284464" cy="585216"/>
          </a:xfrm>
          <a:prstGeom prst="rect">
            <a:avLst/>
          </a:prstGeom>
          <a:noFill/>
          <a:ln/>
        </p:spPr>
        <p:txBody>
          <a:bodyPr wrap="square" lIns="0" tIns="0" rIns="0" bIns="0" rtlCol="0" anchor="t"/>
          <a:lstStyle/>
          <a:p>
            <a:pPr marL="0" indent="0">
              <a:lnSpc>
                <a:spcPct val="105000"/>
              </a:lnSpc>
              <a:buNone/>
            </a:pPr>
            <a:r>
              <a:rPr lang="en-US" sz="1050" b="1" dirty="0">
                <a:solidFill>
                  <a:srgbClr val="1F497D"/>
                </a:solidFill>
                <a:latin typeface="Calibri" pitchFamily="34" charset="0"/>
                <a:ea typeface="Calibri" pitchFamily="34" charset="-122"/>
                <a:cs typeface="Calibri" pitchFamily="34" charset="-120"/>
              </a:rPr>
              <a:t>1 — Read
</a:t>
            </a:r>
            <a:r>
              <a:rPr lang="en-US" sz="950" dirty="0">
                <a:solidFill>
                  <a:srgbClr val="1A1A1A"/>
                </a:solidFill>
                <a:latin typeface="Calibri" pitchFamily="34" charset="0"/>
                <a:ea typeface="Calibri" pitchFamily="34" charset="-122"/>
                <a:cs typeface="Calibri" pitchFamily="34" charset="-120"/>
              </a:rPr>
              <a:t>A scheduled job reads definitions from the tool (e.g. Collibra) through its API — acronyms, form types, calculations, owners.</a:t>
            </a:r>
            <a:endParaRPr lang="en-US" sz="1050" dirty="0"/>
          </a:p>
        </p:txBody>
      </p:sp>
      <p:sp>
        <p:nvSpPr>
          <p:cNvPr id="6" name="Shape 3"/>
          <p:cNvSpPr/>
          <p:nvPr/>
        </p:nvSpPr>
        <p:spPr>
          <a:xfrm>
            <a:off x="320040" y="1847088"/>
            <a:ext cx="8503920" cy="731520"/>
          </a:xfrm>
          <a:prstGeom prst="roundRect">
            <a:avLst>
              <a:gd name="adj" fmla="val 6250"/>
            </a:avLst>
          </a:prstGeom>
          <a:solidFill>
            <a:srgbClr val="FFFFFF"/>
          </a:solidFill>
          <a:ln w="12700">
            <a:solidFill>
              <a:srgbClr val="DCE6F1"/>
            </a:solidFill>
            <a:prstDash val="solid"/>
          </a:ln>
        </p:spPr>
        <p:txBody>
          <a:bodyPr/>
          <a:lstStyle/>
          <a:p>
            <a:endParaRPr lang="en-US"/>
          </a:p>
        </p:txBody>
      </p:sp>
      <p:sp>
        <p:nvSpPr>
          <p:cNvPr id="7" name="Text 4"/>
          <p:cNvSpPr/>
          <p:nvPr/>
        </p:nvSpPr>
        <p:spPr>
          <a:xfrm>
            <a:off x="429768" y="1920240"/>
            <a:ext cx="8284464" cy="585216"/>
          </a:xfrm>
          <a:prstGeom prst="rect">
            <a:avLst/>
          </a:prstGeom>
          <a:noFill/>
          <a:ln/>
        </p:spPr>
        <p:txBody>
          <a:bodyPr wrap="square" lIns="0" tIns="0" rIns="0" bIns="0" rtlCol="0" anchor="t"/>
          <a:lstStyle/>
          <a:p>
            <a:pPr marL="0" indent="0">
              <a:lnSpc>
                <a:spcPct val="105000"/>
              </a:lnSpc>
              <a:buNone/>
            </a:pPr>
            <a:r>
              <a:rPr lang="en-US" sz="1050" b="1" dirty="0">
                <a:solidFill>
                  <a:srgbClr val="1F497D"/>
                </a:solidFill>
                <a:latin typeface="Calibri" pitchFamily="34" charset="0"/>
                <a:ea typeface="Calibri" pitchFamily="34" charset="-122"/>
                <a:cs typeface="Calibri" pitchFamily="34" charset="-120"/>
              </a:rPr>
              <a:t>2 — Check &amp; land
</a:t>
            </a:r>
            <a:r>
              <a:rPr lang="en-US" sz="950" dirty="0">
                <a:solidFill>
                  <a:srgbClr val="1A1A1A"/>
                </a:solidFill>
                <a:latin typeface="Calibri" pitchFamily="34" charset="0"/>
                <a:ea typeface="Calibri" pitchFamily="34" charset="-122"/>
                <a:cs typeface="Calibri" pitchFamily="34" charset="-120"/>
              </a:rPr>
              <a:t>Definitions are validated and stored in a small governance schema — our single copy inside Databricks.</a:t>
            </a:r>
            <a:endParaRPr lang="en-US" sz="1050" dirty="0"/>
          </a:p>
        </p:txBody>
      </p:sp>
      <p:sp>
        <p:nvSpPr>
          <p:cNvPr id="8" name="Shape 5"/>
          <p:cNvSpPr/>
          <p:nvPr/>
        </p:nvSpPr>
        <p:spPr>
          <a:xfrm>
            <a:off x="320040" y="2688336"/>
            <a:ext cx="8503920" cy="731520"/>
          </a:xfrm>
          <a:prstGeom prst="roundRect">
            <a:avLst>
              <a:gd name="adj" fmla="val 6250"/>
            </a:avLst>
          </a:prstGeom>
          <a:solidFill>
            <a:srgbClr val="FFFFFF"/>
          </a:solidFill>
          <a:ln w="12700">
            <a:solidFill>
              <a:srgbClr val="DCE6F1"/>
            </a:solidFill>
            <a:prstDash val="solid"/>
          </a:ln>
        </p:spPr>
        <p:txBody>
          <a:bodyPr/>
          <a:lstStyle/>
          <a:p>
            <a:endParaRPr lang="en-US"/>
          </a:p>
        </p:txBody>
      </p:sp>
      <p:sp>
        <p:nvSpPr>
          <p:cNvPr id="9" name="Text 6"/>
          <p:cNvSpPr/>
          <p:nvPr/>
        </p:nvSpPr>
        <p:spPr>
          <a:xfrm>
            <a:off x="429768" y="2761488"/>
            <a:ext cx="8284464" cy="585216"/>
          </a:xfrm>
          <a:prstGeom prst="rect">
            <a:avLst/>
          </a:prstGeom>
          <a:noFill/>
          <a:ln/>
        </p:spPr>
        <p:txBody>
          <a:bodyPr wrap="square" lIns="0" tIns="0" rIns="0" bIns="0" rtlCol="0" anchor="t"/>
          <a:lstStyle/>
          <a:p>
            <a:pPr marL="0" indent="0">
              <a:lnSpc>
                <a:spcPct val="105000"/>
              </a:lnSpc>
              <a:buNone/>
            </a:pPr>
            <a:r>
              <a:rPr lang="en-US" sz="1050" b="1" dirty="0">
                <a:solidFill>
                  <a:srgbClr val="1F497D"/>
                </a:solidFill>
                <a:latin typeface="Calibri" pitchFamily="34" charset="0"/>
                <a:ea typeface="Calibri" pitchFamily="34" charset="-122"/>
                <a:cs typeface="Calibri" pitchFamily="34" charset="-120"/>
              </a:rPr>
              <a:t>3 — Write
</a:t>
            </a:r>
            <a:r>
              <a:rPr lang="en-US" sz="950" dirty="0">
                <a:solidFill>
                  <a:srgbClr val="1A1A1A"/>
                </a:solidFill>
                <a:latin typeface="Calibri" pitchFamily="34" charset="0"/>
                <a:ea typeface="Calibri" pitchFamily="34" charset="-122"/>
                <a:cs typeface="Calibri" pitchFamily="34" charset="-120"/>
              </a:rPr>
              <a:t>From there they're written into catalog descriptions, certified metric formulas, and each agent's examples.</a:t>
            </a:r>
            <a:endParaRPr lang="en-US" sz="1050" dirty="0"/>
          </a:p>
        </p:txBody>
      </p:sp>
      <p:sp>
        <p:nvSpPr>
          <p:cNvPr id="10" name="Shape 7"/>
          <p:cNvSpPr/>
          <p:nvPr/>
        </p:nvSpPr>
        <p:spPr>
          <a:xfrm>
            <a:off x="320040" y="3529584"/>
            <a:ext cx="8503920" cy="731520"/>
          </a:xfrm>
          <a:prstGeom prst="roundRect">
            <a:avLst>
              <a:gd name="adj" fmla="val 6250"/>
            </a:avLst>
          </a:prstGeom>
          <a:solidFill>
            <a:srgbClr val="FFFFFF"/>
          </a:solidFill>
          <a:ln w="12700">
            <a:solidFill>
              <a:srgbClr val="DCE6F1"/>
            </a:solidFill>
            <a:prstDash val="solid"/>
          </a:ln>
        </p:spPr>
        <p:txBody>
          <a:bodyPr/>
          <a:lstStyle/>
          <a:p>
            <a:endParaRPr lang="en-US"/>
          </a:p>
        </p:txBody>
      </p:sp>
      <p:sp>
        <p:nvSpPr>
          <p:cNvPr id="11" name="Text 8"/>
          <p:cNvSpPr/>
          <p:nvPr/>
        </p:nvSpPr>
        <p:spPr>
          <a:xfrm>
            <a:off x="429768" y="3602736"/>
            <a:ext cx="8284464" cy="585216"/>
          </a:xfrm>
          <a:prstGeom prst="rect">
            <a:avLst/>
          </a:prstGeom>
          <a:noFill/>
          <a:ln/>
        </p:spPr>
        <p:txBody>
          <a:bodyPr wrap="square" lIns="0" tIns="0" rIns="0" bIns="0" rtlCol="0" anchor="t"/>
          <a:lstStyle/>
          <a:p>
            <a:pPr marL="0" indent="0">
              <a:lnSpc>
                <a:spcPct val="105000"/>
              </a:lnSpc>
              <a:buNone/>
            </a:pPr>
            <a:r>
              <a:rPr lang="en-US" sz="1050" b="1" dirty="0">
                <a:solidFill>
                  <a:srgbClr val="1F497D"/>
                </a:solidFill>
                <a:latin typeface="Calibri" pitchFamily="34" charset="0"/>
                <a:ea typeface="Calibri" pitchFamily="34" charset="-122"/>
                <a:cs typeface="Calibri" pitchFamily="34" charset="-120"/>
              </a:rPr>
              <a:t>4 — Test &amp; release
</a:t>
            </a:r>
            <a:r>
              <a:rPr lang="en-US" sz="950" dirty="0">
                <a:solidFill>
                  <a:srgbClr val="1A1A1A"/>
                </a:solidFill>
                <a:latin typeface="Calibri" pitchFamily="34" charset="0"/>
                <a:ea typeface="Calibri" pitchFamily="34" charset="-122"/>
                <a:cs typeface="Calibri" pitchFamily="34" charset="-120"/>
              </a:rPr>
              <a:t>Every change is scored against a set of benchmark questions with known-correct answers before users see it.</a:t>
            </a:r>
            <a:endParaRPr lang="en-US" sz="1050" dirty="0"/>
          </a:p>
        </p:txBody>
      </p:sp>
      <p:sp>
        <p:nvSpPr>
          <p:cNvPr id="12" name="Shape 9"/>
          <p:cNvSpPr/>
          <p:nvPr/>
        </p:nvSpPr>
        <p:spPr>
          <a:xfrm>
            <a:off x="7315200" y="502920"/>
            <a:ext cx="1463040" cy="274320"/>
          </a:xfrm>
          <a:prstGeom prst="roundRect">
            <a:avLst>
              <a:gd name="adj" fmla="val 26667"/>
            </a:avLst>
          </a:prstGeom>
          <a:solidFill>
            <a:srgbClr val="EEF3FA"/>
          </a:solidFill>
          <a:ln w="9525">
            <a:solidFill>
              <a:srgbClr val="1F497D"/>
            </a:solidFill>
            <a:prstDash val="solid"/>
          </a:ln>
        </p:spPr>
        <p:txBody>
          <a:bodyPr/>
          <a:lstStyle/>
          <a:p>
            <a:endParaRPr lang="en-US"/>
          </a:p>
        </p:txBody>
      </p:sp>
      <p:sp>
        <p:nvSpPr>
          <p:cNvPr id="13" name="Text 10">
            <a:hlinkClick r:id="rId4" action="ppaction://hlinksldjump"/>
          </p:cNvPr>
          <p:cNvSpPr/>
          <p:nvPr/>
        </p:nvSpPr>
        <p:spPr>
          <a:xfrm>
            <a:off x="7315200" y="502920"/>
            <a:ext cx="1463040" cy="274320"/>
          </a:xfrm>
          <a:prstGeom prst="rect">
            <a:avLst/>
          </a:prstGeom>
          <a:noFill/>
          <a:ln/>
        </p:spPr>
        <p:txBody>
          <a:bodyPr wrap="square" lIns="0" tIns="0" rIns="0" bIns="0" rtlCol="0" anchor="ctr"/>
          <a:lstStyle/>
          <a:p>
            <a:pPr marL="0" indent="0" algn="ctr">
              <a:buNone/>
            </a:pPr>
            <a:r>
              <a:rPr lang="en-US" sz="800" b="1" u="sng" dirty="0">
                <a:solidFill>
                  <a:srgbClr val="1F497D"/>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Back to overview  →</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475488"/>
            <a:ext cx="6949440" cy="384048"/>
          </a:xfrm>
          <a:prstGeom prst="rect">
            <a:avLst/>
          </a:prstGeom>
          <a:noFill/>
          <a:ln/>
        </p:spPr>
        <p:txBody>
          <a:bodyPr wrap="square" lIns="0" tIns="0" rIns="0" bIns="0" rtlCol="0" anchor="ctr"/>
          <a:lstStyle/>
          <a:p>
            <a:pPr marL="0" indent="0">
              <a:buNone/>
            </a:pPr>
            <a:r>
              <a:rPr lang="en-US" sz="1700" b="1" dirty="0">
                <a:solidFill>
                  <a:srgbClr val="1F497D"/>
                </a:solidFill>
                <a:latin typeface="Calibri" pitchFamily="34" charset="0"/>
                <a:ea typeface="Calibri" pitchFamily="34" charset="-122"/>
                <a:cs typeface="Calibri" pitchFamily="34" charset="-120"/>
              </a:rPr>
              <a:t>Appendix — Platform Limits That Shape the Design</a:t>
            </a:r>
            <a:endParaRPr lang="en-US" sz="1700" dirty="0"/>
          </a:p>
        </p:txBody>
      </p:sp>
      <p:sp>
        <p:nvSpPr>
          <p:cNvPr id="4" name="Shape 1"/>
          <p:cNvSpPr/>
          <p:nvPr/>
        </p:nvSpPr>
        <p:spPr>
          <a:xfrm>
            <a:off x="320040" y="1097280"/>
            <a:ext cx="2048256" cy="1188720"/>
          </a:xfrm>
          <a:prstGeom prst="roundRect">
            <a:avLst>
              <a:gd name="adj" fmla="val 3846"/>
            </a:avLst>
          </a:prstGeom>
          <a:solidFill>
            <a:srgbClr val="1F497D"/>
          </a:solidFill>
          <a:ln/>
        </p:spPr>
        <p:txBody>
          <a:bodyPr/>
          <a:lstStyle/>
          <a:p>
            <a:endParaRPr lang="en-US"/>
          </a:p>
        </p:txBody>
      </p:sp>
      <p:sp>
        <p:nvSpPr>
          <p:cNvPr id="5" name="Text 2"/>
          <p:cNvSpPr/>
          <p:nvPr/>
        </p:nvSpPr>
        <p:spPr>
          <a:xfrm>
            <a:off x="429768" y="1188720"/>
            <a:ext cx="1828800" cy="10058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30 tables
</a:t>
            </a:r>
            <a:r>
              <a:rPr lang="en-US" sz="850" dirty="0">
                <a:solidFill>
                  <a:srgbClr val="D6E2F2"/>
                </a:solidFill>
                <a:latin typeface="Calibri" pitchFamily="34" charset="0"/>
                <a:ea typeface="Calibri" pitchFamily="34" charset="-122"/>
                <a:cs typeface="Calibri" pitchFamily="34" charset="-120"/>
              </a:rPr>
              <a:t>max per agent — 5 or fewer, or one metric view, performs best (Databricks guidance)</a:t>
            </a:r>
            <a:endParaRPr lang="en-US" sz="1400" dirty="0"/>
          </a:p>
        </p:txBody>
      </p:sp>
      <p:sp>
        <p:nvSpPr>
          <p:cNvPr id="6" name="Shape 3"/>
          <p:cNvSpPr/>
          <p:nvPr/>
        </p:nvSpPr>
        <p:spPr>
          <a:xfrm>
            <a:off x="2505456" y="1097280"/>
            <a:ext cx="2048256" cy="1188720"/>
          </a:xfrm>
          <a:prstGeom prst="roundRect">
            <a:avLst>
              <a:gd name="adj" fmla="val 3846"/>
            </a:avLst>
          </a:prstGeom>
          <a:solidFill>
            <a:srgbClr val="1F497D"/>
          </a:solidFill>
          <a:ln/>
        </p:spPr>
        <p:txBody>
          <a:bodyPr/>
          <a:lstStyle/>
          <a:p>
            <a:endParaRPr lang="en-US"/>
          </a:p>
        </p:txBody>
      </p:sp>
      <p:sp>
        <p:nvSpPr>
          <p:cNvPr id="7" name="Text 4"/>
          <p:cNvSpPr/>
          <p:nvPr/>
        </p:nvSpPr>
        <p:spPr>
          <a:xfrm>
            <a:off x="2615184" y="1188720"/>
            <a:ext cx="1828800" cy="10058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100 instructions
</a:t>
            </a:r>
            <a:r>
              <a:rPr lang="en-US" sz="850" dirty="0">
                <a:solidFill>
                  <a:srgbClr val="D6E2F2"/>
                </a:solidFill>
                <a:latin typeface="Calibri" pitchFamily="34" charset="0"/>
                <a:ea typeface="Calibri" pitchFamily="34" charset="-122"/>
                <a:cs typeface="Calibri" pitchFamily="34" charset="-120"/>
              </a:rPr>
              <a:t>example queries and guidance per agent</a:t>
            </a:r>
            <a:endParaRPr lang="en-US" sz="1400" dirty="0"/>
          </a:p>
        </p:txBody>
      </p:sp>
      <p:sp>
        <p:nvSpPr>
          <p:cNvPr id="8" name="Shape 5"/>
          <p:cNvSpPr/>
          <p:nvPr/>
        </p:nvSpPr>
        <p:spPr>
          <a:xfrm>
            <a:off x="4690872" y="1097280"/>
            <a:ext cx="2048256" cy="1188720"/>
          </a:xfrm>
          <a:prstGeom prst="roundRect">
            <a:avLst>
              <a:gd name="adj" fmla="val 3846"/>
            </a:avLst>
          </a:prstGeom>
          <a:solidFill>
            <a:srgbClr val="1F497D"/>
          </a:solidFill>
          <a:ln/>
        </p:spPr>
        <p:txBody>
          <a:bodyPr/>
          <a:lstStyle/>
          <a:p>
            <a:endParaRPr lang="en-US"/>
          </a:p>
        </p:txBody>
      </p:sp>
      <p:sp>
        <p:nvSpPr>
          <p:cNvPr id="9" name="Text 6"/>
          <p:cNvSpPr/>
          <p:nvPr/>
        </p:nvSpPr>
        <p:spPr>
          <a:xfrm>
            <a:off x="4800600" y="1188720"/>
            <a:ext cx="1828800" cy="10058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200 snippets
</a:t>
            </a:r>
            <a:r>
              <a:rPr lang="en-US" sz="850" dirty="0">
                <a:solidFill>
                  <a:srgbClr val="D6E2F2"/>
                </a:solidFill>
                <a:latin typeface="Calibri" pitchFamily="34" charset="0"/>
                <a:ea typeface="Calibri" pitchFamily="34" charset="-122"/>
                <a:cs typeface="Calibri" pitchFamily="34" charset="-120"/>
              </a:rPr>
              <a:t>stored definitions and relationships per agent</a:t>
            </a:r>
            <a:endParaRPr lang="en-US" sz="1400" dirty="0"/>
          </a:p>
        </p:txBody>
      </p:sp>
      <p:sp>
        <p:nvSpPr>
          <p:cNvPr id="10" name="Shape 7"/>
          <p:cNvSpPr/>
          <p:nvPr/>
        </p:nvSpPr>
        <p:spPr>
          <a:xfrm>
            <a:off x="6876288" y="1097280"/>
            <a:ext cx="2048256" cy="1188720"/>
          </a:xfrm>
          <a:prstGeom prst="roundRect">
            <a:avLst>
              <a:gd name="adj" fmla="val 3846"/>
            </a:avLst>
          </a:prstGeom>
          <a:solidFill>
            <a:srgbClr val="1F497D"/>
          </a:solidFill>
          <a:ln/>
        </p:spPr>
        <p:txBody>
          <a:bodyPr/>
          <a:lstStyle/>
          <a:p>
            <a:endParaRPr lang="en-US"/>
          </a:p>
        </p:txBody>
      </p:sp>
      <p:sp>
        <p:nvSpPr>
          <p:cNvPr id="11" name="Text 8"/>
          <p:cNvSpPr/>
          <p:nvPr/>
        </p:nvSpPr>
        <p:spPr>
          <a:xfrm>
            <a:off x="6986016" y="1188720"/>
            <a:ext cx="1828800" cy="10058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20 questions/min
</a:t>
            </a:r>
            <a:r>
              <a:rPr lang="en-US" sz="850" dirty="0">
                <a:solidFill>
                  <a:srgbClr val="D6E2F2"/>
                </a:solidFill>
                <a:latin typeface="Calibri" pitchFamily="34" charset="0"/>
                <a:ea typeface="Calibri" pitchFamily="34" charset="-122"/>
                <a:cs typeface="Calibri" pitchFamily="34" charset="-120"/>
              </a:rPr>
              <a:t>throughput per agent</a:t>
            </a:r>
            <a:endParaRPr lang="en-US" sz="1400" dirty="0"/>
          </a:p>
        </p:txBody>
      </p:sp>
      <p:sp>
        <p:nvSpPr>
          <p:cNvPr id="12" name="Shape 9"/>
          <p:cNvSpPr/>
          <p:nvPr/>
        </p:nvSpPr>
        <p:spPr>
          <a:xfrm>
            <a:off x="320040" y="2560320"/>
            <a:ext cx="8503920" cy="914400"/>
          </a:xfrm>
          <a:prstGeom prst="roundRect">
            <a:avLst>
              <a:gd name="adj" fmla="val 5000"/>
            </a:avLst>
          </a:prstGeom>
          <a:solidFill>
            <a:srgbClr val="EEF3FA"/>
          </a:solidFill>
          <a:ln w="12700">
            <a:solidFill>
              <a:srgbClr val="DCE6F1"/>
            </a:solidFill>
            <a:prstDash val="solid"/>
          </a:ln>
        </p:spPr>
        <p:txBody>
          <a:bodyPr/>
          <a:lstStyle/>
          <a:p>
            <a:endParaRPr lang="en-US"/>
          </a:p>
        </p:txBody>
      </p:sp>
      <p:sp>
        <p:nvSpPr>
          <p:cNvPr id="13" name="Text 10"/>
          <p:cNvSpPr/>
          <p:nvPr/>
        </p:nvSpPr>
        <p:spPr>
          <a:xfrm>
            <a:off x="429768" y="2633472"/>
            <a:ext cx="8284464" cy="768096"/>
          </a:xfrm>
          <a:prstGeom prst="rect">
            <a:avLst/>
          </a:prstGeom>
          <a:noFill/>
          <a:ln/>
        </p:spPr>
        <p:txBody>
          <a:bodyPr wrap="square" lIns="0" tIns="0" rIns="0" bIns="0" rtlCol="0" anchor="t"/>
          <a:lstStyle/>
          <a:p>
            <a:pPr marL="0" indent="0">
              <a:lnSpc>
                <a:spcPct val="105000"/>
              </a:lnSpc>
              <a:buNone/>
            </a:pPr>
            <a:r>
              <a:rPr lang="en-US" sz="1050" b="1" dirty="0">
                <a:solidFill>
                  <a:srgbClr val="1F497D"/>
                </a:solidFill>
                <a:latin typeface="Calibri" pitchFamily="34" charset="0"/>
                <a:ea typeface="Calibri" pitchFamily="34" charset="-122"/>
                <a:cs typeface="Calibri" pitchFamily="34" charset="-120"/>
              </a:rPr>
              <a:t>Why this drives the design
</a:t>
            </a:r>
            <a:r>
              <a:rPr lang="en-US" sz="950" dirty="0">
                <a:solidFill>
                  <a:srgbClr val="1A1A1A"/>
                </a:solidFill>
                <a:latin typeface="Calibri" pitchFamily="34" charset="0"/>
                <a:ea typeface="Calibri" pitchFamily="34" charset="-122"/>
                <a:cs typeface="Calibri" pitchFamily="34" charset="-120"/>
              </a:rPr>
              <a:t>Each agent's own memory is limited — the shared catalog is not. Universal knowledge goes in the catalog once; each agent's limited memory is spent only on what is specific to its area.</a:t>
            </a:r>
            <a:endParaRPr lang="en-US" sz="1050" dirty="0"/>
          </a:p>
        </p:txBody>
      </p:sp>
      <p:sp>
        <p:nvSpPr>
          <p:cNvPr id="14" name="Shape 11"/>
          <p:cNvSpPr/>
          <p:nvPr/>
        </p:nvSpPr>
        <p:spPr>
          <a:xfrm>
            <a:off x="7315200" y="502920"/>
            <a:ext cx="1463040" cy="274320"/>
          </a:xfrm>
          <a:prstGeom prst="roundRect">
            <a:avLst>
              <a:gd name="adj" fmla="val 26667"/>
            </a:avLst>
          </a:prstGeom>
          <a:solidFill>
            <a:srgbClr val="EEF3FA"/>
          </a:solidFill>
          <a:ln w="9525">
            <a:solidFill>
              <a:srgbClr val="1F497D"/>
            </a:solidFill>
            <a:prstDash val="solid"/>
          </a:ln>
        </p:spPr>
        <p:txBody>
          <a:bodyPr/>
          <a:lstStyle/>
          <a:p>
            <a:endParaRPr lang="en-US"/>
          </a:p>
        </p:txBody>
      </p:sp>
      <p:sp>
        <p:nvSpPr>
          <p:cNvPr id="15" name="Text 12">
            <a:hlinkClick r:id="rId4" action="ppaction://hlinksldjump"/>
          </p:cNvPr>
          <p:cNvSpPr/>
          <p:nvPr/>
        </p:nvSpPr>
        <p:spPr>
          <a:xfrm>
            <a:off x="7315200" y="502920"/>
            <a:ext cx="1463040" cy="274320"/>
          </a:xfrm>
          <a:prstGeom prst="rect">
            <a:avLst/>
          </a:prstGeom>
          <a:noFill/>
          <a:ln/>
        </p:spPr>
        <p:txBody>
          <a:bodyPr wrap="square" lIns="0" tIns="0" rIns="0" bIns="0" rtlCol="0" anchor="ctr"/>
          <a:lstStyle/>
          <a:p>
            <a:pPr marL="0" indent="0" algn="ctr">
              <a:buNone/>
            </a:pPr>
            <a:r>
              <a:rPr lang="en-US" sz="800" b="1" u="sng" dirty="0">
                <a:solidFill>
                  <a:srgbClr val="1F497D"/>
                </a:solidFill>
                <a:latin typeface="Calibri" pitchFamily="34" charset="0"/>
                <a:ea typeface="Calibri" pitchFamily="34" charset="-122"/>
                <a:cs typeface="Calibri" pitchFamily="34" charset="-120"/>
                <a:hlinkClick r:id="rId4" action="ppaction://hlinksldjump">
                  <a:extLst>
                    <a:ext uri="{A12FA001-AC4F-418D-AE19-62706E023703}">
                      <ahyp:hlinkClr xmlns:ahyp="http://schemas.microsoft.com/office/drawing/2018/hyperlinkcolor" val="tx"/>
                    </a:ext>
                  </a:extLst>
                </a:hlinkClick>
              </a:rPr>
              <a:t>Back to overview  →</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20040" y="475488"/>
            <a:ext cx="6949440" cy="384048"/>
          </a:xfrm>
          <a:prstGeom prst="rect">
            <a:avLst/>
          </a:prstGeom>
          <a:noFill/>
          <a:ln/>
        </p:spPr>
        <p:txBody>
          <a:bodyPr wrap="square" lIns="0" tIns="0" rIns="0" bIns="0" rtlCol="0" anchor="ctr"/>
          <a:lstStyle/>
          <a:p>
            <a:pPr marL="0" indent="0">
              <a:buNone/>
            </a:pPr>
            <a:r>
              <a:rPr lang="en-US" sz="1700" b="1" dirty="0">
                <a:solidFill>
                  <a:srgbClr val="1F497D"/>
                </a:solidFill>
                <a:latin typeface="Calibri" pitchFamily="34" charset="0"/>
                <a:ea typeface="Calibri" pitchFamily="34" charset="-122"/>
                <a:cs typeface="Calibri" pitchFamily="34" charset="-120"/>
              </a:rPr>
              <a:t>The Roadmap: Crawl, Walk, Run</a:t>
            </a:r>
            <a:endParaRPr lang="en-US" sz="1700" dirty="0"/>
          </a:p>
        </p:txBody>
      </p:sp>
      <p:sp>
        <p:nvSpPr>
          <p:cNvPr id="4" name="Shape 1"/>
          <p:cNvSpPr/>
          <p:nvPr/>
        </p:nvSpPr>
        <p:spPr>
          <a:xfrm>
            <a:off x="365760" y="1234440"/>
            <a:ext cx="2395728" cy="1508760"/>
          </a:xfrm>
          <a:prstGeom prst="roundRect">
            <a:avLst>
              <a:gd name="adj" fmla="val 2857"/>
            </a:avLst>
          </a:prstGeom>
          <a:solidFill>
            <a:srgbClr val="EEF3FA"/>
          </a:solidFill>
          <a:ln w="12700">
            <a:solidFill>
              <a:srgbClr val="DCE6F1"/>
            </a:solidFill>
            <a:prstDash val="solid"/>
          </a:ln>
        </p:spPr>
        <p:txBody>
          <a:bodyPr/>
          <a:lstStyle/>
          <a:p>
            <a:endParaRPr lang="en-US" sz="2400"/>
          </a:p>
        </p:txBody>
      </p:sp>
      <p:sp>
        <p:nvSpPr>
          <p:cNvPr id="5" name="Text 2"/>
          <p:cNvSpPr/>
          <p:nvPr/>
        </p:nvSpPr>
        <p:spPr>
          <a:xfrm>
            <a:off x="475488" y="1344168"/>
            <a:ext cx="2194560" cy="1325880"/>
          </a:xfrm>
          <a:prstGeom prst="rect">
            <a:avLst/>
          </a:prstGeom>
          <a:noFill/>
          <a:ln/>
        </p:spPr>
        <p:txBody>
          <a:bodyPr wrap="square" lIns="0" tIns="0" rIns="0" bIns="0" rtlCol="0" anchor="t"/>
          <a:lstStyle/>
          <a:p>
            <a:pPr marL="0" indent="0">
              <a:buNone/>
            </a:pPr>
            <a:r>
              <a:rPr lang="en-US" sz="1400" b="1" dirty="0">
                <a:solidFill>
                  <a:srgbClr val="1F497D"/>
                </a:solidFill>
                <a:latin typeface="Calibri" pitchFamily="34" charset="0"/>
                <a:ea typeface="Calibri" pitchFamily="34" charset="-122"/>
                <a:cs typeface="Calibri" pitchFamily="34" charset="-120"/>
              </a:rPr>
              <a:t>CRAWL — now</a:t>
            </a:r>
            <a:endParaRPr lang="en-US" sz="1400" dirty="0"/>
          </a:p>
          <a:p>
            <a:pPr marL="0" indent="0">
              <a:spcBef>
                <a:spcPts val="300"/>
              </a:spcBef>
              <a:buNone/>
            </a:pPr>
            <a:r>
              <a:rPr lang="en-US" sz="1100" b="1" dirty="0">
                <a:solidFill>
                  <a:srgbClr val="1F497D"/>
                </a:solidFill>
                <a:latin typeface="Calibri" pitchFamily="34" charset="0"/>
                <a:ea typeface="Calibri" pitchFamily="34" charset="-122"/>
                <a:cs typeface="Calibri" pitchFamily="34" charset="-120"/>
              </a:rPr>
              <a:t>Curate the foundation</a:t>
            </a:r>
            <a:endParaRPr lang="en-US" sz="1100" dirty="0"/>
          </a:p>
          <a:p>
            <a:pPr marL="0" indent="0">
              <a:spcBef>
                <a:spcPts val="300"/>
              </a:spcBef>
              <a:buNone/>
            </a:pPr>
            <a:r>
              <a:rPr lang="en-US" sz="1000" dirty="0">
                <a:solidFill>
                  <a:srgbClr val="1F497D"/>
                </a:solidFill>
                <a:latin typeface="Calibri" pitchFamily="34" charset="0"/>
                <a:ea typeface="Calibri" pitchFamily="34" charset="-122"/>
                <a:cs typeface="Calibri" pitchFamily="34" charset="-120"/>
              </a:rPr>
              <a:t>Table and column descriptions, synonyms, and certified metric views in Unity Catalog. This is the USCIS knowledge work described in this deck — and it is the bulk of the effort.</a:t>
            </a:r>
            <a:endParaRPr lang="en-US" sz="1000" dirty="0"/>
          </a:p>
        </p:txBody>
      </p:sp>
      <p:sp>
        <p:nvSpPr>
          <p:cNvPr id="6" name="Text 3"/>
          <p:cNvSpPr/>
          <p:nvPr/>
        </p:nvSpPr>
        <p:spPr>
          <a:xfrm>
            <a:off x="2798064" y="1760220"/>
            <a:ext cx="320040" cy="457200"/>
          </a:xfrm>
          <a:prstGeom prst="rect">
            <a:avLst/>
          </a:prstGeom>
          <a:noFill/>
          <a:ln/>
        </p:spPr>
        <p:txBody>
          <a:bodyPr wrap="square" lIns="0" tIns="0" rIns="0" bIns="0" rtlCol="0" anchor="ctr"/>
          <a:lstStyle/>
          <a:p>
            <a:pPr marL="0" indent="0" algn="ctr">
              <a:buNone/>
            </a:pPr>
            <a:r>
              <a:rPr lang="en-US" sz="2800" b="1" dirty="0">
                <a:solidFill>
                  <a:srgbClr val="BF9000"/>
                </a:solidFill>
              </a:rPr>
              <a:t>→</a:t>
            </a:r>
            <a:endParaRPr lang="en-US" sz="2800" dirty="0"/>
          </a:p>
        </p:txBody>
      </p:sp>
      <p:sp>
        <p:nvSpPr>
          <p:cNvPr id="7" name="Shape 4"/>
          <p:cNvSpPr/>
          <p:nvPr/>
        </p:nvSpPr>
        <p:spPr>
          <a:xfrm>
            <a:off x="3291840" y="1234440"/>
            <a:ext cx="2395728" cy="1508760"/>
          </a:xfrm>
          <a:prstGeom prst="roundRect">
            <a:avLst>
              <a:gd name="adj" fmla="val 2857"/>
            </a:avLst>
          </a:prstGeom>
          <a:solidFill>
            <a:srgbClr val="FFFFFF"/>
          </a:solidFill>
          <a:ln w="12700">
            <a:solidFill>
              <a:srgbClr val="DCE6F1"/>
            </a:solidFill>
            <a:prstDash val="solid"/>
          </a:ln>
        </p:spPr>
        <p:txBody>
          <a:bodyPr/>
          <a:lstStyle/>
          <a:p>
            <a:endParaRPr lang="en-US" sz="2400"/>
          </a:p>
        </p:txBody>
      </p:sp>
      <p:sp>
        <p:nvSpPr>
          <p:cNvPr id="8" name="Text 5"/>
          <p:cNvSpPr/>
          <p:nvPr/>
        </p:nvSpPr>
        <p:spPr>
          <a:xfrm>
            <a:off x="3401568" y="1344168"/>
            <a:ext cx="2194560" cy="1325880"/>
          </a:xfrm>
          <a:prstGeom prst="rect">
            <a:avLst/>
          </a:prstGeom>
          <a:noFill/>
          <a:ln/>
        </p:spPr>
        <p:txBody>
          <a:bodyPr wrap="square" lIns="0" tIns="0" rIns="0" bIns="0" rtlCol="0" anchor="t"/>
          <a:lstStyle/>
          <a:p>
            <a:pPr marL="0" indent="0">
              <a:buNone/>
            </a:pPr>
            <a:r>
              <a:rPr lang="en-US" sz="1400" b="1" dirty="0">
                <a:solidFill>
                  <a:srgbClr val="1F497D"/>
                </a:solidFill>
                <a:latin typeface="Calibri" pitchFamily="34" charset="0"/>
                <a:ea typeface="Calibri" pitchFamily="34" charset="-122"/>
                <a:cs typeface="Calibri" pitchFamily="34" charset="-120"/>
              </a:rPr>
              <a:t>WALK — following</a:t>
            </a:r>
            <a:endParaRPr lang="en-US" sz="1400" dirty="0"/>
          </a:p>
          <a:p>
            <a:pPr marL="0" indent="0">
              <a:spcBef>
                <a:spcPts val="300"/>
              </a:spcBef>
              <a:buNone/>
            </a:pPr>
            <a:r>
              <a:rPr lang="en-US" sz="1100" b="1" dirty="0">
                <a:solidFill>
                  <a:srgbClr val="1F497D"/>
                </a:solidFill>
                <a:latin typeface="Calibri" pitchFamily="34" charset="0"/>
                <a:ea typeface="Calibri" pitchFamily="34" charset="-122"/>
                <a:cs typeface="Calibri" pitchFamily="34" charset="-120"/>
              </a:rPr>
              <a:t>Stand up focused agents</a:t>
            </a:r>
            <a:endParaRPr lang="en-US" sz="1100" dirty="0"/>
          </a:p>
          <a:p>
            <a:pPr marL="0" indent="0">
              <a:spcBef>
                <a:spcPts val="300"/>
              </a:spcBef>
              <a:buNone/>
            </a:pPr>
            <a:r>
              <a:rPr lang="en-US" sz="1000" dirty="0">
                <a:solidFill>
                  <a:srgbClr val="1F497D"/>
                </a:solidFill>
                <a:latin typeface="Calibri" pitchFamily="34" charset="0"/>
                <a:ea typeface="Calibri" pitchFamily="34" charset="-122"/>
                <a:cs typeface="Calibri" pitchFamily="34" charset="-120"/>
              </a:rPr>
              <a:t>Small, tested agents built on that foundation — NPD agents first, then other specialized agents after — each with an owner and accuracy testing.</a:t>
            </a:r>
            <a:endParaRPr lang="en-US" sz="1000" dirty="0"/>
          </a:p>
        </p:txBody>
      </p:sp>
      <p:sp>
        <p:nvSpPr>
          <p:cNvPr id="9" name="Text 6"/>
          <p:cNvSpPr/>
          <p:nvPr/>
        </p:nvSpPr>
        <p:spPr>
          <a:xfrm>
            <a:off x="5724144" y="1760220"/>
            <a:ext cx="320040" cy="457200"/>
          </a:xfrm>
          <a:prstGeom prst="rect">
            <a:avLst/>
          </a:prstGeom>
          <a:noFill/>
          <a:ln/>
        </p:spPr>
        <p:txBody>
          <a:bodyPr wrap="square" lIns="0" tIns="0" rIns="0" bIns="0" rtlCol="0" anchor="ctr"/>
          <a:lstStyle/>
          <a:p>
            <a:pPr marL="0" indent="0" algn="ctr">
              <a:buNone/>
            </a:pPr>
            <a:r>
              <a:rPr lang="en-US" sz="2800" b="1" dirty="0">
                <a:solidFill>
                  <a:srgbClr val="BF9000"/>
                </a:solidFill>
              </a:rPr>
              <a:t>→</a:t>
            </a:r>
            <a:endParaRPr lang="en-US" sz="2800" dirty="0"/>
          </a:p>
        </p:txBody>
      </p:sp>
      <p:sp>
        <p:nvSpPr>
          <p:cNvPr id="10" name="Shape 7"/>
          <p:cNvSpPr/>
          <p:nvPr/>
        </p:nvSpPr>
        <p:spPr>
          <a:xfrm>
            <a:off x="6217920" y="1234440"/>
            <a:ext cx="2395728" cy="1508760"/>
          </a:xfrm>
          <a:prstGeom prst="roundRect">
            <a:avLst>
              <a:gd name="adj" fmla="val 2857"/>
            </a:avLst>
          </a:prstGeom>
          <a:solidFill>
            <a:srgbClr val="1F497D"/>
          </a:solidFill>
          <a:ln w="12700">
            <a:solidFill>
              <a:srgbClr val="DCE6F1"/>
            </a:solidFill>
            <a:prstDash val="solid"/>
          </a:ln>
        </p:spPr>
        <p:txBody>
          <a:bodyPr/>
          <a:lstStyle/>
          <a:p>
            <a:endParaRPr lang="en-US" sz="2400"/>
          </a:p>
        </p:txBody>
      </p:sp>
      <p:sp>
        <p:nvSpPr>
          <p:cNvPr id="11" name="Text 8"/>
          <p:cNvSpPr/>
          <p:nvPr/>
        </p:nvSpPr>
        <p:spPr>
          <a:xfrm>
            <a:off x="6327648" y="1344168"/>
            <a:ext cx="2194560" cy="132588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RUN — several quarters out</a:t>
            </a:r>
            <a:endParaRPr lang="en-US" sz="1400" dirty="0"/>
          </a:p>
          <a:p>
            <a:pPr marL="0" indent="0">
              <a:spcBef>
                <a:spcPts val="300"/>
              </a:spcBef>
              <a:buNone/>
            </a:pPr>
            <a:r>
              <a:rPr lang="en-US" sz="1100" b="1" dirty="0">
                <a:solidFill>
                  <a:srgbClr val="FFFFFF"/>
                </a:solidFill>
                <a:latin typeface="Calibri" pitchFamily="34" charset="0"/>
                <a:ea typeface="Calibri" pitchFamily="34" charset="-122"/>
                <a:cs typeface="Calibri" pitchFamily="34" charset="-120"/>
              </a:rPr>
              <a:t>Genie Ontology</a:t>
            </a:r>
            <a:endParaRPr lang="en-US" sz="1100" dirty="0"/>
          </a:p>
          <a:p>
            <a:pPr marL="0" indent="0">
              <a:spcBef>
                <a:spcPts val="300"/>
              </a:spcBef>
              <a:buNone/>
            </a:pPr>
            <a:r>
              <a:rPr lang="en-US" sz="1000" dirty="0">
                <a:solidFill>
                  <a:srgbClr val="FFFFFF"/>
                </a:solidFill>
                <a:latin typeface="Calibri" pitchFamily="34" charset="0"/>
                <a:ea typeface="Calibri" pitchFamily="34" charset="-122"/>
                <a:cs typeface="Calibri" pitchFamily="34" charset="-120"/>
              </a:rPr>
              <a:t>A Databricks feature not yet released that will connect agents into one governed knowledge layer, so a question routes to the right data automatically. It will come to USCIS eventually.</a:t>
            </a:r>
            <a:endParaRPr lang="en-US" sz="1000" dirty="0"/>
          </a:p>
        </p:txBody>
      </p:sp>
      <p:sp>
        <p:nvSpPr>
          <p:cNvPr id="12" name="Shape 9"/>
          <p:cNvSpPr/>
          <p:nvPr/>
        </p:nvSpPr>
        <p:spPr>
          <a:xfrm>
            <a:off x="358140" y="2971800"/>
            <a:ext cx="8458200" cy="1417320"/>
          </a:xfrm>
          <a:prstGeom prst="roundRect">
            <a:avLst>
              <a:gd name="adj" fmla="val 4348"/>
            </a:avLst>
          </a:prstGeom>
          <a:solidFill>
            <a:srgbClr val="EEF3FA"/>
          </a:solidFill>
          <a:ln w="12700">
            <a:solidFill>
              <a:srgbClr val="DCE6F1"/>
            </a:solidFill>
            <a:prstDash val="solid"/>
          </a:ln>
        </p:spPr>
        <p:txBody>
          <a:bodyPr/>
          <a:lstStyle/>
          <a:p>
            <a:endParaRPr lang="en-US"/>
          </a:p>
        </p:txBody>
      </p:sp>
      <p:sp>
        <p:nvSpPr>
          <p:cNvPr id="13" name="Text 10"/>
          <p:cNvSpPr/>
          <p:nvPr/>
        </p:nvSpPr>
        <p:spPr>
          <a:xfrm>
            <a:off x="475488" y="3063240"/>
            <a:ext cx="8238744" cy="1280160"/>
          </a:xfrm>
          <a:prstGeom prst="rect">
            <a:avLst/>
          </a:prstGeom>
          <a:noFill/>
          <a:ln/>
        </p:spPr>
        <p:txBody>
          <a:bodyPr wrap="square" lIns="0" tIns="0" rIns="0" bIns="0" rtlCol="0" anchor="t"/>
          <a:lstStyle/>
          <a:p>
            <a:pPr marL="0" indent="0">
              <a:buNone/>
            </a:pPr>
            <a:r>
              <a:rPr lang="en-US" sz="1100" b="1" dirty="0">
                <a:solidFill>
                  <a:srgbClr val="1F497D"/>
                </a:solidFill>
                <a:latin typeface="Calibri" pitchFamily="34" charset="0"/>
                <a:ea typeface="Calibri" pitchFamily="34" charset="-122"/>
                <a:cs typeface="Calibri" pitchFamily="34" charset="-120"/>
              </a:rPr>
              <a:t>What the Crawl work looks like — one table</a:t>
            </a:r>
            <a:endParaRPr lang="en-US" sz="1100" dirty="0"/>
          </a:p>
          <a:p>
            <a:pPr marL="0" indent="0">
              <a:spcBef>
                <a:spcPts val="200"/>
              </a:spcBef>
              <a:buNone/>
            </a:pPr>
            <a:r>
              <a:rPr lang="en-US" sz="1000" dirty="0">
                <a:solidFill>
                  <a:srgbClr val="1A1A1A"/>
                </a:solidFill>
                <a:latin typeface="Calibri" pitchFamily="34" charset="0"/>
                <a:ea typeface="Calibri" pitchFamily="34" charset="-122"/>
                <a:cs typeface="Calibri" pitchFamily="34" charset="-120"/>
              </a:rPr>
              <a:t>A single NPD receipts table can have dozens of columns. Each one will need a description along with the aliases or alternate names a user might enter — a specific form number, an acronym, or even common terms like “visa” or “permit” — plus any calculation it feeds written once as a certified formula, all reviewed by a data steward. Multiply that by every table in scope.</a:t>
            </a:r>
            <a:endParaRPr lang="en-US" sz="1000" dirty="0"/>
          </a:p>
          <a:p>
            <a:pPr marL="0" indent="0">
              <a:spcBef>
                <a:spcPts val="300"/>
              </a:spcBef>
              <a:buNone/>
            </a:pPr>
            <a:r>
              <a:rPr lang="en-US" sz="1000" b="1" dirty="0">
                <a:solidFill>
                  <a:srgbClr val="1F497D"/>
                </a:solidFill>
                <a:latin typeface="Calibri" pitchFamily="34" charset="0"/>
                <a:ea typeface="Calibri" pitchFamily="34" charset="-122"/>
                <a:cs typeface="Calibri" pitchFamily="34" charset="-120"/>
              </a:rPr>
              <a:t>Why it is worth it: </a:t>
            </a:r>
            <a:r>
              <a:rPr lang="en-US" sz="1000" dirty="0">
                <a:solidFill>
                  <a:srgbClr val="1A1A1A"/>
                </a:solidFill>
                <a:latin typeface="Calibri" pitchFamily="34" charset="0"/>
                <a:ea typeface="Calibri" pitchFamily="34" charset="-122"/>
                <a:cs typeface="Calibri" pitchFamily="34" charset="-120"/>
              </a:rPr>
              <a:t>Databricks confirmed everything in Crawl and Walk is foundational to Ontology — additive, not redundant. Start now and USCIS is ready the day the feature arrives.</a:t>
            </a:r>
            <a:endParaRPr lang="en-US" sz="1000" dirty="0"/>
          </a:p>
        </p:txBody>
      </p:sp>
      <p:sp>
        <p:nvSpPr>
          <p:cNvPr id="40" name="Subtitle"/>
          <p:cNvSpPr/>
          <p:nvPr/>
        </p:nvSpPr>
        <p:spPr>
          <a:xfrm>
            <a:off x="320040" y="868680"/>
            <a:ext cx="8458200" cy="274320"/>
          </a:xfrm>
          <a:prstGeom prst="rect">
            <a:avLst/>
          </a:prstGeom>
          <a:noFill/>
          <a:ln/>
        </p:spPr>
        <p:txBody>
          <a:bodyPr wrap="square" lIns="0" tIns="0" rIns="0" bIns="0" rtlCol="0" anchor="t"/>
          <a:lstStyle/>
          <a:p>
            <a:pPr marL="0" indent="0">
              <a:buNone/>
            </a:pPr>
            <a:r>
              <a:rPr lang="en-US" sz="1000" i="1" dirty="0">
                <a:solidFill>
                  <a:srgbClr val="1A1A1A"/>
                </a:solidFill>
                <a:latin typeface="Calibri" pitchFamily="34" charset="0"/>
                <a:ea typeface="Calibri" pitchFamily="34" charset="-122"/>
                <a:cs typeface="Calibri" pitchFamily="34" charset="-120"/>
              </a:rPr>
              <a:t>Databricks’ recommended path — and why the work in this deck is never thrown away.</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1" name="T101"/>
          <p:cNvSpPr/>
          <p:nvPr/>
        </p:nvSpPr>
        <p:spPr>
          <a:xfrm>
            <a:off x="320040" y="475488"/>
            <a:ext cx="6949440" cy="384048"/>
          </a:xfrm>
          <a:prstGeom prst="rect">
            <a:avLst/>
          </a:prstGeom>
          <a:noFill/>
          <a:ln/>
        </p:spPr>
        <p:txBody>
          <a:bodyPr wrap="square" lIns="0" tIns="0" rIns="0" bIns="0" rtlCol="0" anchor="ctr"/>
          <a:lstStyle/>
          <a:p>
            <a:pPr marL="0" indent="0">
              <a:buNone/>
            </a:pPr>
            <a:r>
              <a:rPr lang="en-US" sz="1700" b="1" dirty="0">
                <a:solidFill>
                  <a:srgbClr val="1F497D"/>
                </a:solidFill>
                <a:latin typeface="Calibri" pitchFamily="34" charset="0"/>
                <a:ea typeface="Calibri" pitchFamily="34" charset="-122"/>
                <a:cs typeface="Calibri" pitchFamily="34" charset="-120"/>
              </a:rPr>
              <a:t>What Users Will See</a:t>
            </a:r>
            <a:endParaRPr lang="en-US" sz="1700" dirty="0"/>
          </a:p>
        </p:txBody>
      </p:sp>
      <p:sp>
        <p:nvSpPr>
          <p:cNvPr id="102" name="T102"/>
          <p:cNvSpPr/>
          <p:nvPr/>
        </p:nvSpPr>
        <p:spPr>
          <a:xfrm>
            <a:off x="320040" y="868680"/>
            <a:ext cx="6949440" cy="274320"/>
          </a:xfrm>
          <a:prstGeom prst="rect">
            <a:avLst/>
          </a:prstGeom>
          <a:noFill/>
          <a:ln/>
        </p:spPr>
        <p:txBody>
          <a:bodyPr wrap="square" lIns="0" tIns="0" rIns="0" bIns="0" rtlCol="0" anchor="t"/>
          <a:lstStyle/>
          <a:p>
            <a:pPr marL="0" indent="0">
              <a:buNone/>
            </a:pPr>
            <a:r>
              <a:rPr lang="en-US" sz="1000" i="1" dirty="0">
                <a:solidFill>
                  <a:srgbClr val="1A1A1A"/>
                </a:solidFill>
                <a:latin typeface="Calibri" pitchFamily="34" charset="0"/>
                <a:ea typeface="Calibri" pitchFamily="34" charset="-122"/>
                <a:cs typeface="Calibri" pitchFamily="34" charset="-120"/>
              </a:rPr>
              <a:t>Genie One — a plain chat screen. No notebooks, no SQL, no training required.</a:t>
            </a:r>
            <a:endParaRPr lang="en-US" sz="1000" dirty="0"/>
          </a:p>
        </p:txBody>
      </p:sp>
      <p:pic>
        <p:nvPicPr>
          <p:cNvPr id="103" name="P103"/>
          <p:cNvPicPr>
            <a:picLocks noChangeAspect="1"/>
          </p:cNvPicPr>
          <p:nvPr/>
        </p:nvPicPr>
        <p:blipFill>
          <a:blip r:embed="rId10"/>
          <a:stretch>
            <a:fillRect/>
          </a:stretch>
        </p:blipFill>
        <p:spPr>
          <a:xfrm>
            <a:off x="365760" y="1234440"/>
            <a:ext cx="4297680" cy="2935516"/>
          </a:xfrm>
          <a:prstGeom prst="roundRect">
            <a:avLst>
              <a:gd name="adj" fmla="val 3000"/>
            </a:avLst>
          </a:prstGeom>
          <a:ln w="12700">
            <a:solidFill>
              <a:srgbClr val="DCE6F1"/>
            </a:solidFill>
          </a:ln>
        </p:spPr>
      </p:pic>
      <p:sp>
        <p:nvSpPr>
          <p:cNvPr id="104" name="S104"/>
          <p:cNvSpPr/>
          <p:nvPr/>
        </p:nvSpPr>
        <p:spPr>
          <a:xfrm>
            <a:off x="4937760" y="1234440"/>
            <a:ext cx="3840480" cy="1234440"/>
          </a:xfrm>
          <a:prstGeom prst="roundRect">
            <a:avLst>
              <a:gd name="adj" fmla="val 4348"/>
            </a:avLst>
          </a:prstGeom>
          <a:solidFill>
            <a:srgbClr val="EEF3FA"/>
          </a:solidFill>
          <a:ln w="12700">
            <a:solidFill>
              <a:srgbClr val="DCE6F1"/>
            </a:solidFill>
          </a:ln>
        </p:spPr>
        <p:txBody>
          <a:bodyPr/>
          <a:lstStyle/>
          <a:p>
            <a:endParaRPr lang="en-US"/>
          </a:p>
        </p:txBody>
      </p:sp>
      <p:sp>
        <p:nvSpPr>
          <p:cNvPr id="105" name="T105"/>
          <p:cNvSpPr/>
          <p:nvPr/>
        </p:nvSpPr>
        <p:spPr>
          <a:xfrm>
            <a:off x="5074920" y="1325880"/>
            <a:ext cx="3611880" cy="1097280"/>
          </a:xfrm>
          <a:prstGeom prst="rect">
            <a:avLst/>
          </a:prstGeom>
          <a:noFill/>
          <a:ln/>
        </p:spPr>
        <p:txBody>
          <a:bodyPr wrap="square" lIns="0" tIns="0" rIns="0" bIns="0" rtlCol="0" anchor="t"/>
          <a:lstStyle/>
          <a:p>
            <a:pPr marL="0" indent="0">
              <a:buNone/>
            </a:pPr>
            <a:r>
              <a:rPr lang="en-US" sz="1100" b="1" dirty="0">
                <a:solidFill>
                  <a:srgbClr val="1F497D"/>
                </a:solidFill>
                <a:latin typeface="Calibri" pitchFamily="34" charset="0"/>
                <a:ea typeface="Calibri" pitchFamily="34" charset="-122"/>
                <a:cs typeface="Calibri" pitchFamily="34" charset="-120"/>
              </a:rPr>
              <a:t>One front door</a:t>
            </a:r>
            <a:endParaRPr lang="en-US" sz="1100" dirty="0"/>
          </a:p>
          <a:p>
            <a:pPr marL="0" indent="0">
              <a:spcBef>
                <a:spcPts val="300"/>
              </a:spcBef>
              <a:buNone/>
            </a:pPr>
            <a:r>
              <a:rPr lang="en-US" sz="1000" dirty="0">
                <a:solidFill>
                  <a:srgbClr val="1A1A1A"/>
                </a:solidFill>
                <a:latin typeface="Calibri" pitchFamily="34" charset="0"/>
                <a:ea typeface="Calibri" pitchFamily="34" charset="-122"/>
                <a:cs typeface="Calibri" pitchFamily="34" charset="-120"/>
              </a:rPr>
              <a:t>Program staff open Genie One on desktop or mobile, type a question, and get an answer with its sources. The engineering workspace stays behind the scenes.</a:t>
            </a:r>
            <a:endParaRPr lang="en-US" sz="1000" dirty="0"/>
          </a:p>
        </p:txBody>
      </p:sp>
      <p:sp>
        <p:nvSpPr>
          <p:cNvPr id="106" name="S106"/>
          <p:cNvSpPr/>
          <p:nvPr/>
        </p:nvSpPr>
        <p:spPr>
          <a:xfrm>
            <a:off x="4937760" y="2651760"/>
            <a:ext cx="3840480" cy="1234440"/>
          </a:xfrm>
          <a:prstGeom prst="roundRect">
            <a:avLst>
              <a:gd name="adj" fmla="val 4348"/>
            </a:avLst>
          </a:prstGeom>
          <a:solidFill>
            <a:srgbClr val="FFFFFF"/>
          </a:solidFill>
          <a:ln w="12700">
            <a:solidFill>
              <a:srgbClr val="DCE6F1"/>
            </a:solidFill>
          </a:ln>
        </p:spPr>
        <p:txBody>
          <a:bodyPr/>
          <a:lstStyle/>
          <a:p>
            <a:endParaRPr lang="en-US"/>
          </a:p>
        </p:txBody>
      </p:sp>
      <p:sp>
        <p:nvSpPr>
          <p:cNvPr id="107" name="T107"/>
          <p:cNvSpPr/>
          <p:nvPr/>
        </p:nvSpPr>
        <p:spPr>
          <a:xfrm>
            <a:off x="5074920" y="2743200"/>
            <a:ext cx="3611880" cy="1097280"/>
          </a:xfrm>
          <a:prstGeom prst="rect">
            <a:avLst/>
          </a:prstGeom>
          <a:noFill/>
          <a:ln/>
        </p:spPr>
        <p:txBody>
          <a:bodyPr wrap="square" lIns="0" tIns="0" rIns="0" bIns="0" rtlCol="0" anchor="t"/>
          <a:lstStyle/>
          <a:p>
            <a:pPr marL="0" indent="0">
              <a:buNone/>
            </a:pPr>
            <a:r>
              <a:rPr lang="en-US" sz="1100" b="1" dirty="0">
                <a:solidFill>
                  <a:srgbClr val="1F497D"/>
                </a:solidFill>
                <a:latin typeface="Calibri" pitchFamily="34" charset="0"/>
                <a:ea typeface="Calibri" pitchFamily="34" charset="-122"/>
                <a:cs typeface="Calibri" pitchFamily="34" charset="-120"/>
              </a:rPr>
              <a:t>Meets users where they already are</a:t>
            </a:r>
            <a:endParaRPr lang="en-US" sz="1100" dirty="0"/>
          </a:p>
          <a:p>
            <a:pPr marL="0" indent="0">
              <a:spcBef>
                <a:spcPts val="300"/>
              </a:spcBef>
              <a:buNone/>
            </a:pPr>
            <a:r>
              <a:rPr lang="en-US" sz="1000" dirty="0">
                <a:solidFill>
                  <a:srgbClr val="1A1A1A"/>
                </a:solidFill>
                <a:latin typeface="Calibri" pitchFamily="34" charset="0"/>
                <a:ea typeface="Calibri" pitchFamily="34" charset="-122"/>
                <a:cs typeface="Calibri" pitchFamily="34" charset="-120"/>
              </a:rPr>
              <a:t>Agents can be embedded (as an iframe) inside Tableau dashboards, SharePoint sites, and other USCIS pages — so a user can ask a question without leaving the tool they are in.</a:t>
            </a:r>
            <a:endParaRPr lang="en-US" sz="1000" dirty="0"/>
          </a:p>
        </p:txBody>
      </p:sp>
      <p:sp>
        <p:nvSpPr>
          <p:cNvPr id="108" name="T108"/>
          <p:cNvSpPr/>
          <p:nvPr/>
        </p:nvSpPr>
        <p:spPr>
          <a:xfrm>
            <a:off x="365760" y="4288828"/>
            <a:ext cx="4297680" cy="274320"/>
          </a:xfrm>
          <a:prstGeom prst="rect">
            <a:avLst/>
          </a:prstGeom>
          <a:noFill/>
          <a:ln/>
        </p:spPr>
        <p:txBody>
          <a:bodyPr wrap="square" lIns="0" tIns="0" rIns="0" bIns="0" rtlCol="0" anchor="t"/>
          <a:lstStyle/>
          <a:p>
            <a:pPr marL="0" indent="0">
              <a:buNone/>
            </a:pPr>
            <a:r>
              <a:rPr lang="en-US" sz="900" i="1" dirty="0">
                <a:solidFill>
                  <a:srgbClr val="666666"/>
                </a:solidFill>
                <a:latin typeface="Calibri" pitchFamily="34" charset="0"/>
                <a:ea typeface="Calibri" pitchFamily="34" charset="-122"/>
                <a:cs typeface="Calibri" pitchFamily="34" charset="-120"/>
              </a:rPr>
              <a:t>Genie One home screen, as shown by Databricks on Aug 21.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9" name="T109"/>
          <p:cNvSpPr/>
          <p:nvPr/>
        </p:nvSpPr>
        <p:spPr>
          <a:xfrm>
            <a:off x="320040" y="475488"/>
            <a:ext cx="6949440" cy="384048"/>
          </a:xfrm>
          <a:prstGeom prst="rect">
            <a:avLst/>
          </a:prstGeom>
          <a:noFill/>
          <a:ln/>
        </p:spPr>
        <p:txBody>
          <a:bodyPr wrap="square" lIns="0" tIns="0" rIns="0" bIns="0" rtlCol="0" anchor="ctr"/>
          <a:lstStyle/>
          <a:p>
            <a:pPr marL="0" indent="0">
              <a:buNone/>
            </a:pPr>
            <a:r>
              <a:rPr lang="en-US" sz="1700" b="1" dirty="0">
                <a:solidFill>
                  <a:srgbClr val="1F497D"/>
                </a:solidFill>
                <a:latin typeface="Calibri" pitchFamily="34" charset="0"/>
                <a:ea typeface="Calibri" pitchFamily="34" charset="-122"/>
                <a:cs typeface="Calibri" pitchFamily="34" charset="-120"/>
              </a:rPr>
              <a:t>What the Work Looks Like — One Table, Start to Finish</a:t>
            </a:r>
            <a:endParaRPr lang="en-US" sz="1700" dirty="0"/>
          </a:p>
        </p:txBody>
      </p:sp>
      <p:sp>
        <p:nvSpPr>
          <p:cNvPr id="110" name="T110"/>
          <p:cNvSpPr/>
          <p:nvPr/>
        </p:nvSpPr>
        <p:spPr>
          <a:xfrm>
            <a:off x="320040" y="868680"/>
            <a:ext cx="6949440" cy="274320"/>
          </a:xfrm>
          <a:prstGeom prst="rect">
            <a:avLst/>
          </a:prstGeom>
          <a:noFill/>
          <a:ln/>
        </p:spPr>
        <p:txBody>
          <a:bodyPr wrap="square" lIns="0" tIns="0" rIns="0" bIns="0" rtlCol="0" anchor="t"/>
          <a:lstStyle/>
          <a:p>
            <a:pPr marL="0" indent="0">
              <a:buNone/>
            </a:pPr>
            <a:r>
              <a:rPr lang="en-US" sz="1000" i="1" dirty="0">
                <a:solidFill>
                  <a:srgbClr val="1A1A1A"/>
                </a:solidFill>
                <a:latin typeface="Calibri" pitchFamily="34" charset="0"/>
                <a:ea typeface="Calibri" pitchFamily="34" charset="-122"/>
                <a:cs typeface="Calibri" pitchFamily="34" charset="-120"/>
              </a:rPr>
              <a:t>The same six steps repeat for every table we bring into scope. This is where the effort goes.</a:t>
            </a:r>
            <a:endParaRPr lang="en-US" sz="1000" dirty="0"/>
          </a:p>
        </p:txBody>
      </p:sp>
      <p:sp>
        <p:nvSpPr>
          <p:cNvPr id="111" name="S111"/>
          <p:cNvSpPr/>
          <p:nvPr/>
        </p:nvSpPr>
        <p:spPr>
          <a:xfrm>
            <a:off x="457200" y="1234440"/>
            <a:ext cx="2514600" cy="1143000"/>
          </a:xfrm>
          <a:prstGeom prst="roundRect">
            <a:avLst>
              <a:gd name="adj" fmla="val 4348"/>
            </a:avLst>
          </a:prstGeom>
          <a:solidFill>
            <a:srgbClr val="EEF3FA"/>
          </a:solidFill>
          <a:ln w="12700">
            <a:solidFill>
              <a:srgbClr val="DCE6F1"/>
            </a:solidFill>
          </a:ln>
        </p:spPr>
        <p:txBody>
          <a:bodyPr/>
          <a:lstStyle/>
          <a:p>
            <a:endParaRPr lang="en-US"/>
          </a:p>
        </p:txBody>
      </p:sp>
      <p:sp>
        <p:nvSpPr>
          <p:cNvPr id="112" name="C112"/>
          <p:cNvSpPr/>
          <p:nvPr/>
        </p:nvSpPr>
        <p:spPr>
          <a:xfrm>
            <a:off x="566928" y="1344168"/>
            <a:ext cx="292608" cy="292608"/>
          </a:xfrm>
          <a:prstGeom prst="ellipse">
            <a:avLst/>
          </a:prstGeom>
          <a:solidFill>
            <a:srgbClr val="BF9000"/>
          </a:solidFill>
          <a:ln>
            <a:noFill/>
          </a:ln>
        </p:spPr>
        <p:txBody>
          <a:bodyPr lIns="0" tIns="0" rIns="0" bIns="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3" name="T113"/>
          <p:cNvSpPr/>
          <p:nvPr/>
        </p:nvSpPr>
        <p:spPr>
          <a:xfrm>
            <a:off x="960120" y="1344168"/>
            <a:ext cx="1874519" cy="320040"/>
          </a:xfrm>
          <a:prstGeom prst="rect">
            <a:avLst/>
          </a:prstGeom>
          <a:noFill/>
          <a:ln/>
        </p:spPr>
        <p:txBody>
          <a:bodyPr wrap="square" lIns="0" tIns="0" rIns="0" bIns="0" rtlCol="0" anchor="ctr"/>
          <a:lstStyle/>
          <a:p>
            <a:pPr marL="0" indent="0">
              <a:buNone/>
            </a:pPr>
            <a:r>
              <a:rPr lang="en-US" sz="1200" b="1" dirty="0">
                <a:solidFill>
                  <a:srgbClr val="1F497D"/>
                </a:solidFill>
                <a:latin typeface="Calibri" pitchFamily="34" charset="0"/>
                <a:ea typeface="Calibri" pitchFamily="34" charset="-122"/>
                <a:cs typeface="Calibri" pitchFamily="34" charset="-120"/>
              </a:rPr>
              <a:t>Inventory</a:t>
            </a:r>
            <a:endParaRPr lang="en-US" sz="1200" dirty="0"/>
          </a:p>
        </p:txBody>
      </p:sp>
      <p:sp>
        <p:nvSpPr>
          <p:cNvPr id="114" name="T114"/>
          <p:cNvSpPr/>
          <p:nvPr/>
        </p:nvSpPr>
        <p:spPr>
          <a:xfrm>
            <a:off x="594360" y="1691640"/>
            <a:ext cx="2240280" cy="685800"/>
          </a:xfrm>
          <a:prstGeom prst="rect">
            <a:avLst/>
          </a:prstGeom>
          <a:noFill/>
          <a:ln/>
        </p:spPr>
        <p:txBody>
          <a:bodyPr wrap="square" lIns="0" tIns="0" rIns="0" bIns="0" rtlCol="0" anchor="t"/>
          <a:lstStyle/>
          <a:p>
            <a:pPr marL="0" indent="0">
              <a:buNone/>
            </a:pPr>
            <a:r>
              <a:rPr lang="en-US" sz="900" dirty="0">
                <a:solidFill>
                  <a:srgbClr val="1A1A1A"/>
                </a:solidFill>
                <a:latin typeface="Calibri" pitchFamily="34" charset="0"/>
                <a:ea typeface="Calibri" pitchFamily="34" charset="-122"/>
                <a:cs typeface="Calibri" pitchFamily="34" charset="-120"/>
              </a:rPr>
              <a:t>Pick the table and confirm it is in scope.</a:t>
            </a:r>
            <a:endParaRPr lang="en-US" sz="900" dirty="0"/>
          </a:p>
          <a:p>
            <a:pPr marL="0" indent="0">
              <a:spcBef>
                <a:spcPts val="200"/>
              </a:spcBef>
              <a:buNone/>
            </a:pPr>
            <a:r>
              <a:rPr lang="en-US" sz="900" i="1" dirty="0">
                <a:solidFill>
                  <a:srgbClr val="1F497D"/>
                </a:solidFill>
                <a:latin typeface="Calibri" pitchFamily="34" charset="0"/>
                <a:ea typeface="Calibri" pitchFamily="34" charset="-122"/>
                <a:cs typeface="Calibri" pitchFamily="34" charset="-120"/>
              </a:rPr>
              <a:t>e.g. NPD receipts table</a:t>
            </a:r>
            <a:endParaRPr lang="en-US" sz="900" dirty="0"/>
          </a:p>
        </p:txBody>
      </p:sp>
      <p:sp>
        <p:nvSpPr>
          <p:cNvPr id="115" name="A115"/>
          <p:cNvSpPr/>
          <p:nvPr/>
        </p:nvSpPr>
        <p:spPr>
          <a:xfrm rot="0">
            <a:off x="3017520" y="1696212"/>
            <a:ext cx="228600" cy="219456"/>
          </a:xfrm>
          <a:prstGeom prst="rightArrow">
            <a:avLst/>
          </a:prstGeom>
          <a:solidFill>
            <a:srgbClr val="BF9000"/>
          </a:solidFill>
          <a:ln>
            <a:noFill/>
          </a:ln>
        </p:spPr>
        <p:txBody>
          <a:bodyPr/>
          <a:lstStyle/>
          <a:p>
            <a:endParaRPr lang="en-US"/>
          </a:p>
        </p:txBody>
      </p:sp>
      <p:sp>
        <p:nvSpPr>
          <p:cNvPr id="116" name="S116"/>
          <p:cNvSpPr/>
          <p:nvPr/>
        </p:nvSpPr>
        <p:spPr>
          <a:xfrm>
            <a:off x="3291840" y="1234440"/>
            <a:ext cx="2514600" cy="1143000"/>
          </a:xfrm>
          <a:prstGeom prst="roundRect">
            <a:avLst>
              <a:gd name="adj" fmla="val 4348"/>
            </a:avLst>
          </a:prstGeom>
          <a:solidFill>
            <a:srgbClr val="EEF3FA"/>
          </a:solidFill>
          <a:ln w="12700">
            <a:solidFill>
              <a:srgbClr val="DCE6F1"/>
            </a:solidFill>
          </a:ln>
        </p:spPr>
        <p:txBody>
          <a:bodyPr/>
          <a:lstStyle/>
          <a:p>
            <a:endParaRPr lang="en-US"/>
          </a:p>
        </p:txBody>
      </p:sp>
      <p:sp>
        <p:nvSpPr>
          <p:cNvPr id="117" name="C117"/>
          <p:cNvSpPr/>
          <p:nvPr/>
        </p:nvSpPr>
        <p:spPr>
          <a:xfrm>
            <a:off x="3401568" y="1344168"/>
            <a:ext cx="292608" cy="292608"/>
          </a:xfrm>
          <a:prstGeom prst="ellipse">
            <a:avLst/>
          </a:prstGeom>
          <a:solidFill>
            <a:srgbClr val="BF9000"/>
          </a:solidFill>
          <a:ln>
            <a:noFill/>
          </a:ln>
        </p:spPr>
        <p:txBody>
          <a:bodyPr lIns="0" tIns="0" rIns="0" bIns="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8" name="T118"/>
          <p:cNvSpPr/>
          <p:nvPr/>
        </p:nvSpPr>
        <p:spPr>
          <a:xfrm>
            <a:off x="3794760" y="1344168"/>
            <a:ext cx="1874519" cy="320040"/>
          </a:xfrm>
          <a:prstGeom prst="rect">
            <a:avLst/>
          </a:prstGeom>
          <a:noFill/>
          <a:ln/>
        </p:spPr>
        <p:txBody>
          <a:bodyPr wrap="square" lIns="0" tIns="0" rIns="0" bIns="0" rtlCol="0" anchor="ctr"/>
          <a:lstStyle/>
          <a:p>
            <a:pPr marL="0" indent="0">
              <a:buNone/>
            </a:pPr>
            <a:r>
              <a:rPr lang="en-US" sz="1200" b="1" dirty="0">
                <a:solidFill>
                  <a:srgbClr val="1F497D"/>
                </a:solidFill>
                <a:latin typeface="Calibri" pitchFamily="34" charset="0"/>
                <a:ea typeface="Calibri" pitchFamily="34" charset="-122"/>
                <a:cs typeface="Calibri" pitchFamily="34" charset="-120"/>
              </a:rPr>
              <a:t>Describe</a:t>
            </a:r>
            <a:endParaRPr lang="en-US" sz="1200" dirty="0"/>
          </a:p>
        </p:txBody>
      </p:sp>
      <p:sp>
        <p:nvSpPr>
          <p:cNvPr id="119" name="T119"/>
          <p:cNvSpPr/>
          <p:nvPr/>
        </p:nvSpPr>
        <p:spPr>
          <a:xfrm>
            <a:off x="3429000" y="1691640"/>
            <a:ext cx="2240280" cy="685800"/>
          </a:xfrm>
          <a:prstGeom prst="rect">
            <a:avLst/>
          </a:prstGeom>
          <a:noFill/>
          <a:ln/>
        </p:spPr>
        <p:txBody>
          <a:bodyPr wrap="square" lIns="0" tIns="0" rIns="0" bIns="0" rtlCol="0" anchor="t"/>
          <a:lstStyle/>
          <a:p>
            <a:pPr marL="0" indent="0">
              <a:buNone/>
            </a:pPr>
            <a:r>
              <a:rPr lang="en-US" sz="900" dirty="0">
                <a:solidFill>
                  <a:srgbClr val="1A1A1A"/>
                </a:solidFill>
                <a:latin typeface="Calibri" pitchFamily="34" charset="0"/>
                <a:ea typeface="Calibri" pitchFamily="34" charset="-122"/>
                <a:cs typeface="Calibri" pitchFamily="34" charset="-120"/>
              </a:rPr>
              <a:t>Every column gets a plain-English description plus the aliases users might type.</a:t>
            </a:r>
            <a:endParaRPr lang="en-US" sz="900" dirty="0"/>
          </a:p>
          <a:p>
            <a:pPr marL="0" indent="0">
              <a:spcBef>
                <a:spcPts val="200"/>
              </a:spcBef>
              <a:buNone/>
            </a:pPr>
            <a:r>
              <a:rPr lang="en-US" sz="900" i="1" dirty="0">
                <a:solidFill>
                  <a:srgbClr val="1F497D"/>
                </a:solidFill>
                <a:latin typeface="Calibri" pitchFamily="34" charset="0"/>
                <a:ea typeface="Calibri" pitchFamily="34" charset="-122"/>
                <a:cs typeface="Calibri" pitchFamily="34" charset="-120"/>
              </a:rPr>
              <a:t>e.g. “I-765,” “EAD,” “work permit”</a:t>
            </a:r>
            <a:endParaRPr lang="en-US" sz="900" dirty="0"/>
          </a:p>
        </p:txBody>
      </p:sp>
      <p:sp>
        <p:nvSpPr>
          <p:cNvPr id="120" name="A120"/>
          <p:cNvSpPr/>
          <p:nvPr/>
        </p:nvSpPr>
        <p:spPr>
          <a:xfrm rot="0">
            <a:off x="5852159" y="1696212"/>
            <a:ext cx="228600" cy="219456"/>
          </a:xfrm>
          <a:prstGeom prst="rightArrow">
            <a:avLst/>
          </a:prstGeom>
          <a:solidFill>
            <a:srgbClr val="BF9000"/>
          </a:solidFill>
          <a:ln>
            <a:noFill/>
          </a:ln>
        </p:spPr>
        <p:txBody>
          <a:bodyPr/>
          <a:lstStyle/>
          <a:p>
            <a:endParaRPr lang="en-US"/>
          </a:p>
        </p:txBody>
      </p:sp>
      <p:sp>
        <p:nvSpPr>
          <p:cNvPr id="121" name="S121"/>
          <p:cNvSpPr/>
          <p:nvPr/>
        </p:nvSpPr>
        <p:spPr>
          <a:xfrm>
            <a:off x="6126480" y="1234440"/>
            <a:ext cx="2514600" cy="1143000"/>
          </a:xfrm>
          <a:prstGeom prst="roundRect">
            <a:avLst>
              <a:gd name="adj" fmla="val 4348"/>
            </a:avLst>
          </a:prstGeom>
          <a:solidFill>
            <a:srgbClr val="EEF3FA"/>
          </a:solidFill>
          <a:ln w="12700">
            <a:solidFill>
              <a:srgbClr val="DCE6F1"/>
            </a:solidFill>
          </a:ln>
        </p:spPr>
        <p:txBody>
          <a:bodyPr/>
          <a:lstStyle/>
          <a:p>
            <a:endParaRPr lang="en-US"/>
          </a:p>
        </p:txBody>
      </p:sp>
      <p:sp>
        <p:nvSpPr>
          <p:cNvPr id="122" name="C122"/>
          <p:cNvSpPr/>
          <p:nvPr/>
        </p:nvSpPr>
        <p:spPr>
          <a:xfrm>
            <a:off x="6236208" y="1344168"/>
            <a:ext cx="292608" cy="292608"/>
          </a:xfrm>
          <a:prstGeom prst="ellipse">
            <a:avLst/>
          </a:prstGeom>
          <a:solidFill>
            <a:srgbClr val="BF9000"/>
          </a:solidFill>
          <a:ln>
            <a:noFill/>
          </a:ln>
        </p:spPr>
        <p:txBody>
          <a:bodyPr lIns="0" tIns="0" rIns="0" bIns="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3" name="T123"/>
          <p:cNvSpPr/>
          <p:nvPr/>
        </p:nvSpPr>
        <p:spPr>
          <a:xfrm>
            <a:off x="6629400" y="1344168"/>
            <a:ext cx="1874519" cy="320040"/>
          </a:xfrm>
          <a:prstGeom prst="rect">
            <a:avLst/>
          </a:prstGeom>
          <a:noFill/>
          <a:ln/>
        </p:spPr>
        <p:txBody>
          <a:bodyPr wrap="square" lIns="0" tIns="0" rIns="0" bIns="0" rtlCol="0" anchor="ctr"/>
          <a:lstStyle/>
          <a:p>
            <a:pPr marL="0" indent="0">
              <a:buNone/>
            </a:pPr>
            <a:r>
              <a:rPr lang="en-US" sz="1200" b="1" dirty="0">
                <a:solidFill>
                  <a:srgbClr val="1F497D"/>
                </a:solidFill>
                <a:latin typeface="Calibri" pitchFamily="34" charset="0"/>
                <a:ea typeface="Calibri" pitchFamily="34" charset="-122"/>
                <a:cs typeface="Calibri" pitchFamily="34" charset="-120"/>
              </a:rPr>
              <a:t>Certify</a:t>
            </a:r>
            <a:endParaRPr lang="en-US" sz="1200" dirty="0"/>
          </a:p>
        </p:txBody>
      </p:sp>
      <p:sp>
        <p:nvSpPr>
          <p:cNvPr id="124" name="T124"/>
          <p:cNvSpPr/>
          <p:nvPr/>
        </p:nvSpPr>
        <p:spPr>
          <a:xfrm>
            <a:off x="6263640" y="1691640"/>
            <a:ext cx="2240280" cy="685800"/>
          </a:xfrm>
          <a:prstGeom prst="rect">
            <a:avLst/>
          </a:prstGeom>
          <a:noFill/>
          <a:ln/>
        </p:spPr>
        <p:txBody>
          <a:bodyPr wrap="square" lIns="0" tIns="0" rIns="0" bIns="0" rtlCol="0" anchor="t"/>
          <a:lstStyle/>
          <a:p>
            <a:pPr marL="0" indent="0">
              <a:buNone/>
            </a:pPr>
            <a:r>
              <a:rPr lang="en-US" sz="900" dirty="0">
                <a:solidFill>
                  <a:srgbClr val="1A1A1A"/>
                </a:solidFill>
                <a:latin typeface="Calibri" pitchFamily="34" charset="0"/>
                <a:ea typeface="Calibri" pitchFamily="34" charset="-122"/>
                <a:cs typeface="Calibri" pitchFamily="34" charset="-120"/>
              </a:rPr>
              <a:t>Each metric is written once as a certified formula the agent runs as-is.</a:t>
            </a:r>
            <a:endParaRPr lang="en-US" sz="900" dirty="0"/>
          </a:p>
          <a:p>
            <a:pPr marL="0" indent="0">
              <a:spcBef>
                <a:spcPts val="200"/>
              </a:spcBef>
              <a:buNone/>
            </a:pPr>
            <a:r>
              <a:rPr lang="en-US" sz="900" i="1" dirty="0">
                <a:solidFill>
                  <a:srgbClr val="1F497D"/>
                </a:solidFill>
                <a:latin typeface="Calibri" pitchFamily="34" charset="0"/>
                <a:ea typeface="Calibri" pitchFamily="34" charset="-122"/>
                <a:cs typeface="Calibri" pitchFamily="34" charset="-120"/>
              </a:rPr>
              <a:t>e.g. Cycle time = receipt → completion</a:t>
            </a:r>
            <a:endParaRPr lang="en-US" sz="900" dirty="0"/>
          </a:p>
        </p:txBody>
      </p:sp>
      <p:sp>
        <p:nvSpPr>
          <p:cNvPr id="125" name="S125"/>
          <p:cNvSpPr/>
          <p:nvPr/>
        </p:nvSpPr>
        <p:spPr>
          <a:xfrm>
            <a:off x="6126480" y="2880360"/>
            <a:ext cx="2514600" cy="1143000"/>
          </a:xfrm>
          <a:prstGeom prst="roundRect">
            <a:avLst>
              <a:gd name="adj" fmla="val 4348"/>
            </a:avLst>
          </a:prstGeom>
          <a:solidFill>
            <a:srgbClr val="FFFFFF"/>
          </a:solidFill>
          <a:ln w="12700">
            <a:solidFill>
              <a:srgbClr val="DCE6F1"/>
            </a:solidFill>
          </a:ln>
        </p:spPr>
        <p:txBody>
          <a:bodyPr/>
          <a:lstStyle/>
          <a:p>
            <a:endParaRPr lang="en-US"/>
          </a:p>
        </p:txBody>
      </p:sp>
      <p:sp>
        <p:nvSpPr>
          <p:cNvPr id="126" name="C126"/>
          <p:cNvSpPr/>
          <p:nvPr/>
        </p:nvSpPr>
        <p:spPr>
          <a:xfrm>
            <a:off x="6236208" y="2990088"/>
            <a:ext cx="292608" cy="292608"/>
          </a:xfrm>
          <a:prstGeom prst="ellipse">
            <a:avLst/>
          </a:prstGeom>
          <a:solidFill>
            <a:srgbClr val="BF9000"/>
          </a:solidFill>
          <a:ln>
            <a:noFill/>
          </a:ln>
        </p:spPr>
        <p:txBody>
          <a:bodyPr lIns="0" tIns="0" rIns="0" bIns="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27" name="T127"/>
          <p:cNvSpPr/>
          <p:nvPr/>
        </p:nvSpPr>
        <p:spPr>
          <a:xfrm>
            <a:off x="6629400" y="2990088"/>
            <a:ext cx="1874519" cy="320040"/>
          </a:xfrm>
          <a:prstGeom prst="rect">
            <a:avLst/>
          </a:prstGeom>
          <a:noFill/>
          <a:ln/>
        </p:spPr>
        <p:txBody>
          <a:bodyPr wrap="square" lIns="0" tIns="0" rIns="0" bIns="0" rtlCol="0" anchor="ctr"/>
          <a:lstStyle/>
          <a:p>
            <a:pPr marL="0" indent="0">
              <a:buNone/>
            </a:pPr>
            <a:r>
              <a:rPr lang="en-US" sz="1200" b="1" dirty="0">
                <a:solidFill>
                  <a:srgbClr val="1F497D"/>
                </a:solidFill>
                <a:latin typeface="Calibri" pitchFamily="34" charset="0"/>
                <a:ea typeface="Calibri" pitchFamily="34" charset="-122"/>
                <a:cs typeface="Calibri" pitchFamily="34" charset="-120"/>
              </a:rPr>
              <a:t>Sync</a:t>
            </a:r>
            <a:endParaRPr lang="en-US" sz="1200" dirty="0"/>
          </a:p>
        </p:txBody>
      </p:sp>
      <p:sp>
        <p:nvSpPr>
          <p:cNvPr id="128" name="T128"/>
          <p:cNvSpPr/>
          <p:nvPr/>
        </p:nvSpPr>
        <p:spPr>
          <a:xfrm>
            <a:off x="6263640" y="3337560"/>
            <a:ext cx="2240280" cy="685800"/>
          </a:xfrm>
          <a:prstGeom prst="rect">
            <a:avLst/>
          </a:prstGeom>
          <a:noFill/>
          <a:ln/>
        </p:spPr>
        <p:txBody>
          <a:bodyPr wrap="square" lIns="0" tIns="0" rIns="0" bIns="0" rtlCol="0" anchor="t"/>
          <a:lstStyle/>
          <a:p>
            <a:pPr marL="0" indent="0">
              <a:buNone/>
            </a:pPr>
            <a:r>
              <a:rPr lang="en-US" sz="900" dirty="0">
                <a:solidFill>
                  <a:srgbClr val="1A1A1A"/>
                </a:solidFill>
                <a:latin typeface="Calibri" pitchFamily="34" charset="0"/>
                <a:ea typeface="Calibri" pitchFamily="34" charset="-122"/>
                <a:cs typeface="Calibri" pitchFamily="34" charset="-120"/>
              </a:rPr>
              <a:t>Approved Collibra definitions flow in automatically and stay current.</a:t>
            </a:r>
            <a:endParaRPr lang="en-US" sz="900" dirty="0"/>
          </a:p>
          <a:p>
            <a:pPr marL="0" indent="0">
              <a:spcBef>
                <a:spcPts val="200"/>
              </a:spcBef>
              <a:buNone/>
            </a:pPr>
            <a:r>
              <a:rPr lang="en-US" sz="900" i="1" dirty="0">
                <a:solidFill>
                  <a:srgbClr val="1F497D"/>
                </a:solidFill>
                <a:latin typeface="Calibri" pitchFamily="34" charset="0"/>
                <a:ea typeface="Calibri" pitchFamily="34" charset="-122"/>
                <a:cs typeface="Calibri" pitchFamily="34" charset="-120"/>
              </a:rPr>
              <a:t>e.g. Nightly, no re-typing</a:t>
            </a:r>
            <a:endParaRPr lang="en-US" sz="900" dirty="0"/>
          </a:p>
        </p:txBody>
      </p:sp>
      <p:sp>
        <p:nvSpPr>
          <p:cNvPr id="129" name="A129"/>
          <p:cNvSpPr/>
          <p:nvPr/>
        </p:nvSpPr>
        <p:spPr>
          <a:xfrm rot="10800000">
            <a:off x="3017520" y="3342132"/>
            <a:ext cx="228600" cy="219456"/>
          </a:xfrm>
          <a:prstGeom prst="rightArrow">
            <a:avLst/>
          </a:prstGeom>
          <a:solidFill>
            <a:srgbClr val="BF9000"/>
          </a:solidFill>
          <a:ln>
            <a:noFill/>
          </a:ln>
        </p:spPr>
        <p:txBody>
          <a:bodyPr/>
          <a:lstStyle/>
          <a:p>
            <a:endParaRPr lang="en-US"/>
          </a:p>
        </p:txBody>
      </p:sp>
      <p:sp>
        <p:nvSpPr>
          <p:cNvPr id="130" name="S130"/>
          <p:cNvSpPr/>
          <p:nvPr/>
        </p:nvSpPr>
        <p:spPr>
          <a:xfrm rot="10800000">
            <a:off x="3291840" y="2880360"/>
            <a:ext cx="2514600" cy="1143000"/>
          </a:xfrm>
          <a:prstGeom prst="roundRect">
            <a:avLst>
              <a:gd name="adj" fmla="val 4348"/>
            </a:avLst>
          </a:prstGeom>
          <a:solidFill>
            <a:srgbClr val="FFFFFF"/>
          </a:solidFill>
          <a:ln w="12700">
            <a:solidFill>
              <a:srgbClr val="DCE6F1"/>
            </a:solidFill>
          </a:ln>
        </p:spPr>
        <p:txBody>
          <a:bodyPr/>
          <a:lstStyle/>
          <a:p>
            <a:endParaRPr lang="en-US"/>
          </a:p>
        </p:txBody>
      </p:sp>
      <p:sp>
        <p:nvSpPr>
          <p:cNvPr id="131" name="C131"/>
          <p:cNvSpPr/>
          <p:nvPr/>
        </p:nvSpPr>
        <p:spPr>
          <a:xfrm>
            <a:off x="3401568" y="2990088"/>
            <a:ext cx="292608" cy="292608"/>
          </a:xfrm>
          <a:prstGeom prst="ellipse">
            <a:avLst/>
          </a:prstGeom>
          <a:solidFill>
            <a:srgbClr val="BF9000"/>
          </a:solidFill>
          <a:ln>
            <a:noFill/>
          </a:ln>
        </p:spPr>
        <p:txBody>
          <a:bodyPr lIns="0" tIns="0" rIns="0" bIns="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32" name="T132"/>
          <p:cNvSpPr/>
          <p:nvPr/>
        </p:nvSpPr>
        <p:spPr>
          <a:xfrm>
            <a:off x="3794760" y="2990088"/>
            <a:ext cx="1874519" cy="320040"/>
          </a:xfrm>
          <a:prstGeom prst="rect">
            <a:avLst/>
          </a:prstGeom>
          <a:noFill/>
          <a:ln/>
        </p:spPr>
        <p:txBody>
          <a:bodyPr wrap="square" lIns="0" tIns="0" rIns="0" bIns="0" rtlCol="0" anchor="ctr"/>
          <a:lstStyle/>
          <a:p>
            <a:pPr marL="0" indent="0">
              <a:buNone/>
            </a:pPr>
            <a:r>
              <a:rPr lang="en-US" sz="1200" b="1" dirty="0">
                <a:solidFill>
                  <a:srgbClr val="1F497D"/>
                </a:solidFill>
                <a:latin typeface="Calibri" pitchFamily="34" charset="0"/>
                <a:ea typeface="Calibri" pitchFamily="34" charset="-122"/>
                <a:cs typeface="Calibri" pitchFamily="34" charset="-120"/>
              </a:rPr>
              <a:t>Build &amp; test</a:t>
            </a:r>
            <a:endParaRPr lang="en-US" sz="1200" dirty="0"/>
          </a:p>
        </p:txBody>
      </p:sp>
      <p:sp>
        <p:nvSpPr>
          <p:cNvPr id="133" name="T133"/>
          <p:cNvSpPr/>
          <p:nvPr/>
        </p:nvSpPr>
        <p:spPr>
          <a:xfrm>
            <a:off x="3429000" y="3337560"/>
            <a:ext cx="2240280" cy="685800"/>
          </a:xfrm>
          <a:prstGeom prst="rect">
            <a:avLst/>
          </a:prstGeom>
          <a:noFill/>
          <a:ln/>
        </p:spPr>
        <p:txBody>
          <a:bodyPr wrap="square" lIns="0" tIns="0" rIns="0" bIns="0" rtlCol="0" anchor="t"/>
          <a:lstStyle/>
          <a:p>
            <a:pPr marL="0" indent="0">
              <a:buNone/>
            </a:pPr>
            <a:r>
              <a:rPr lang="en-US" sz="900" dirty="0">
                <a:solidFill>
                  <a:srgbClr val="1A1A1A"/>
                </a:solidFill>
                <a:latin typeface="Calibri" pitchFamily="34" charset="0"/>
                <a:ea typeface="Calibri" pitchFamily="34" charset="-122"/>
                <a:cs typeface="Calibri" pitchFamily="34" charset="-120"/>
              </a:rPr>
              <a:t>A focused agent (≤5 tables) is scored against questions with known answers.</a:t>
            </a:r>
            <a:endParaRPr lang="en-US" sz="900" dirty="0"/>
          </a:p>
          <a:p>
            <a:pPr marL="0" indent="0">
              <a:spcBef>
                <a:spcPts val="200"/>
              </a:spcBef>
              <a:buNone/>
            </a:pPr>
            <a:r>
              <a:rPr lang="en-US" sz="900" i="1" dirty="0">
                <a:solidFill>
                  <a:srgbClr val="1F497D"/>
                </a:solidFill>
                <a:latin typeface="Calibri" pitchFamily="34" charset="0"/>
                <a:ea typeface="Calibri" pitchFamily="34" charset="-122"/>
                <a:cs typeface="Calibri" pitchFamily="34" charset="-120"/>
              </a:rPr>
              <a:t>e.g. “How many I-765s in June?”</a:t>
            </a:r>
            <a:endParaRPr lang="en-US" sz="900" dirty="0"/>
          </a:p>
        </p:txBody>
      </p:sp>
      <p:sp>
        <p:nvSpPr>
          <p:cNvPr id="134" name="A134"/>
          <p:cNvSpPr/>
          <p:nvPr/>
        </p:nvSpPr>
        <p:spPr>
          <a:xfrm rot="10800000">
            <a:off x="5852159" y="3342132"/>
            <a:ext cx="228600" cy="219456"/>
          </a:xfrm>
          <a:prstGeom prst="rightArrow">
            <a:avLst/>
          </a:prstGeom>
          <a:solidFill>
            <a:srgbClr val="BF9000"/>
          </a:solidFill>
          <a:ln>
            <a:noFill/>
          </a:ln>
        </p:spPr>
        <p:txBody>
          <a:bodyPr/>
          <a:lstStyle/>
          <a:p>
            <a:endParaRPr lang="en-US"/>
          </a:p>
        </p:txBody>
      </p:sp>
      <p:sp>
        <p:nvSpPr>
          <p:cNvPr id="135" name="S135"/>
          <p:cNvSpPr/>
          <p:nvPr/>
        </p:nvSpPr>
        <p:spPr>
          <a:xfrm rot="10800000">
            <a:off x="457200" y="2880360"/>
            <a:ext cx="2514600" cy="1143000"/>
          </a:xfrm>
          <a:prstGeom prst="roundRect">
            <a:avLst>
              <a:gd name="adj" fmla="val 4348"/>
            </a:avLst>
          </a:prstGeom>
          <a:solidFill>
            <a:srgbClr val="FFFFFF"/>
          </a:solidFill>
          <a:ln w="12700">
            <a:solidFill>
              <a:srgbClr val="DCE6F1"/>
            </a:solidFill>
          </a:ln>
        </p:spPr>
        <p:txBody>
          <a:bodyPr/>
          <a:lstStyle/>
          <a:p>
            <a:endParaRPr lang="en-US"/>
          </a:p>
        </p:txBody>
      </p:sp>
      <p:sp>
        <p:nvSpPr>
          <p:cNvPr id="136" name="C136"/>
          <p:cNvSpPr/>
          <p:nvPr/>
        </p:nvSpPr>
        <p:spPr>
          <a:xfrm>
            <a:off x="566928" y="2990088"/>
            <a:ext cx="292608" cy="292608"/>
          </a:xfrm>
          <a:prstGeom prst="ellipse">
            <a:avLst/>
          </a:prstGeom>
          <a:solidFill>
            <a:srgbClr val="BF9000"/>
          </a:solidFill>
          <a:ln>
            <a:noFill/>
          </a:ln>
        </p:spPr>
        <p:txBody>
          <a:bodyPr lIns="0" tIns="0" rIns="0" bIns="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37" name="T137"/>
          <p:cNvSpPr/>
          <p:nvPr/>
        </p:nvSpPr>
        <p:spPr>
          <a:xfrm>
            <a:off x="960120" y="2990088"/>
            <a:ext cx="1874519" cy="320040"/>
          </a:xfrm>
          <a:prstGeom prst="rect">
            <a:avLst/>
          </a:prstGeom>
          <a:noFill/>
          <a:ln/>
        </p:spPr>
        <p:txBody>
          <a:bodyPr wrap="square" lIns="0" tIns="0" rIns="0" bIns="0" rtlCol="0" anchor="ctr"/>
          <a:lstStyle/>
          <a:p>
            <a:pPr marL="0" indent="0">
              <a:buNone/>
            </a:pPr>
            <a:r>
              <a:rPr lang="en-US" sz="1200" b="1" dirty="0">
                <a:solidFill>
                  <a:srgbClr val="1F497D"/>
                </a:solidFill>
                <a:latin typeface="Calibri" pitchFamily="34" charset="0"/>
                <a:ea typeface="Calibri" pitchFamily="34" charset="-122"/>
                <a:cs typeface="Calibri" pitchFamily="34" charset="-120"/>
              </a:rPr>
              <a:t>Review</a:t>
            </a:r>
            <a:endParaRPr lang="en-US" sz="1200" dirty="0"/>
          </a:p>
        </p:txBody>
      </p:sp>
      <p:sp>
        <p:nvSpPr>
          <p:cNvPr id="138" name="T138"/>
          <p:cNvSpPr/>
          <p:nvPr/>
        </p:nvSpPr>
        <p:spPr>
          <a:xfrm>
            <a:off x="594360" y="3337560"/>
            <a:ext cx="2240280" cy="685800"/>
          </a:xfrm>
          <a:prstGeom prst="rect">
            <a:avLst/>
          </a:prstGeom>
          <a:noFill/>
          <a:ln/>
        </p:spPr>
        <p:txBody>
          <a:bodyPr wrap="square" lIns="0" tIns="0" rIns="0" bIns="0" rtlCol="0" anchor="t"/>
          <a:lstStyle/>
          <a:p>
            <a:pPr marL="0" indent="0">
              <a:buNone/>
            </a:pPr>
            <a:r>
              <a:rPr lang="en-US" sz="900" dirty="0">
                <a:solidFill>
                  <a:srgbClr val="1A1A1A"/>
                </a:solidFill>
                <a:latin typeface="Calibri" pitchFamily="34" charset="0"/>
                <a:ea typeface="Calibri" pitchFamily="34" charset="-122"/>
                <a:cs typeface="Calibri" pitchFamily="34" charset="-120"/>
              </a:rPr>
              <a:t>Stewards approve what the agent learns; thumbs-up/down keeps it improving.</a:t>
            </a:r>
            <a:endParaRPr lang="en-US" sz="900" dirty="0"/>
          </a:p>
          <a:p>
            <a:pPr marL="0" indent="0">
              <a:spcBef>
                <a:spcPts val="200"/>
              </a:spcBef>
              <a:buNone/>
            </a:pPr>
            <a:r>
              <a:rPr lang="en-US" sz="900" i="1" dirty="0">
                <a:solidFill>
                  <a:srgbClr val="1F497D"/>
                </a:solidFill>
                <a:latin typeface="Calibri" pitchFamily="34" charset="0"/>
                <a:ea typeface="Calibri" pitchFamily="34" charset="-122"/>
                <a:cs typeface="Calibri" pitchFamily="34" charset="-120"/>
              </a:rPr>
              <a:t>e.g. Nothing kept until a steward accepts</a:t>
            </a:r>
            <a:endParaRPr lang="en-US" sz="900" dirty="0"/>
          </a:p>
        </p:txBody>
      </p:sp>
      <p:sp>
        <p:nvSpPr>
          <p:cNvPr id="139" name="A139"/>
          <p:cNvSpPr/>
          <p:nvPr/>
        </p:nvSpPr>
        <p:spPr>
          <a:xfrm rot="5400000">
            <a:off x="6720840" y="2395728"/>
            <a:ext cx="228600" cy="219456"/>
          </a:xfrm>
          <a:prstGeom prst="rightArrow">
            <a:avLst/>
          </a:prstGeom>
          <a:solidFill>
            <a:srgbClr val="BF9000"/>
          </a:solidFill>
          <a:ln>
            <a:noFill/>
          </a:ln>
        </p:spPr>
        <p:txBody>
          <a:bodyPr/>
          <a:lstStyle/>
          <a:p>
            <a:endParaRPr lang="en-US"/>
          </a:p>
        </p:txBody>
      </p:sp>
      <p:sp>
        <p:nvSpPr>
          <p:cNvPr id="140" name="T140"/>
          <p:cNvSpPr/>
          <p:nvPr/>
        </p:nvSpPr>
        <p:spPr>
          <a:xfrm>
            <a:off x="6995159" y="2395728"/>
            <a:ext cx="1463040" cy="274320"/>
          </a:xfrm>
          <a:prstGeom prst="rect">
            <a:avLst/>
          </a:prstGeom>
          <a:noFill/>
          <a:ln/>
        </p:spPr>
        <p:txBody>
          <a:bodyPr wrap="square" lIns="0" tIns="0" rIns="0" bIns="0" rtlCol="0" anchor="ctr"/>
          <a:lstStyle/>
          <a:p>
            <a:pPr marL="0" indent="0">
              <a:buNone/>
            </a:pPr>
            <a:r>
              <a:rPr lang="en-US" sz="900" i="1" dirty="0">
                <a:solidFill>
                  <a:srgbClr val="BF9000"/>
                </a:solidFill>
                <a:latin typeface="Calibri" pitchFamily="34" charset="0"/>
                <a:ea typeface="Calibri" pitchFamily="34" charset="-122"/>
                <a:cs typeface="Calibri" pitchFamily="34" charset="-120"/>
              </a:rPr>
              <a:t>continues</a:t>
            </a:r>
            <a:endParaRPr lang="en-US" sz="900" dirty="0"/>
          </a:p>
        </p:txBody>
      </p:sp>
      <p:sp>
        <p:nvSpPr>
          <p:cNvPr id="141" name="S141"/>
          <p:cNvSpPr/>
          <p:nvPr/>
        </p:nvSpPr>
        <p:spPr>
          <a:xfrm>
            <a:off x="457200" y="4206240"/>
            <a:ext cx="8183879" cy="548640"/>
          </a:xfrm>
          <a:prstGeom prst="roundRect">
            <a:avLst>
              <a:gd name="adj" fmla="val 4348"/>
            </a:avLst>
          </a:prstGeom>
          <a:solidFill>
            <a:srgbClr val="EEF3FA"/>
          </a:solidFill>
          <a:ln w="12700">
            <a:solidFill>
              <a:srgbClr val="DCE6F1"/>
            </a:solidFill>
          </a:ln>
        </p:spPr>
        <p:txBody>
          <a:bodyPr/>
          <a:lstStyle/>
          <a:p>
            <a:endParaRPr lang="en-US"/>
          </a:p>
        </p:txBody>
      </p:sp>
      <p:sp>
        <p:nvSpPr>
          <p:cNvPr id="142" name="T142"/>
          <p:cNvSpPr/>
          <p:nvPr/>
        </p:nvSpPr>
        <p:spPr>
          <a:xfrm>
            <a:off x="594360" y="4261104"/>
            <a:ext cx="7909560" cy="457200"/>
          </a:xfrm>
          <a:prstGeom prst="rect">
            <a:avLst/>
          </a:prstGeom>
          <a:noFill/>
          <a:ln/>
        </p:spPr>
        <p:txBody>
          <a:bodyPr wrap="square" lIns="0" tIns="0" rIns="0" bIns="0" rtlCol="0" anchor="ctr"/>
          <a:lstStyle/>
          <a:p>
            <a:pPr marL="0" indent="0">
              <a:buNone/>
            </a:pPr>
            <a:r>
              <a:rPr lang="en-US" sz="1000" b="1" dirty="0">
                <a:solidFill>
                  <a:srgbClr val="1F497D"/>
                </a:solidFill>
                <a:latin typeface="Calibri" pitchFamily="34" charset="0"/>
                <a:ea typeface="Calibri" pitchFamily="34" charset="-122"/>
                <a:cs typeface="Calibri" pitchFamily="34" charset="-120"/>
              </a:rPr>
              <a:t>Repeat for every table. </a:t>
            </a:r>
            <a:r>
              <a:rPr lang="en-US" sz="1000" dirty="0">
                <a:solidFill>
                  <a:srgbClr val="1A1A1A"/>
                </a:solidFill>
                <a:latin typeface="Calibri" pitchFamily="34" charset="0"/>
                <a:ea typeface="Calibri" pitchFamily="34" charset="-122"/>
                <a:cs typeface="Calibri" pitchFamily="34" charset="-120"/>
              </a:rPr>
              <a:t>Steps 1–4 are the Crawl phase and are reusable by every future agent; steps 5–6 are per agent. Skip 1–4 and each agent has to be hand-fed the same knowledge separately.</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43" name="T143"/>
          <p:cNvSpPr/>
          <p:nvPr/>
        </p:nvSpPr>
        <p:spPr>
          <a:xfrm>
            <a:off x="320040" y="475488"/>
            <a:ext cx="6949440" cy="384048"/>
          </a:xfrm>
          <a:prstGeom prst="rect">
            <a:avLst/>
          </a:prstGeom>
          <a:noFill/>
          <a:ln/>
        </p:spPr>
        <p:txBody>
          <a:bodyPr wrap="square" lIns="0" tIns="0" rIns="0" bIns="0" rtlCol="0" anchor="ctr"/>
          <a:lstStyle/>
          <a:p>
            <a:pPr marL="0" indent="0">
              <a:buNone/>
            </a:pPr>
            <a:r>
              <a:rPr lang="en-US" sz="1700" b="1" dirty="0">
                <a:solidFill>
                  <a:srgbClr val="1F497D"/>
                </a:solidFill>
                <a:latin typeface="Calibri" pitchFamily="34" charset="0"/>
                <a:ea typeface="Calibri" pitchFamily="34" charset="-122"/>
                <a:cs typeface="Calibri" pitchFamily="34" charset="-120"/>
              </a:rPr>
              <a:t>Cost Visibility — What USCIS Will Be Able to See</a:t>
            </a:r>
            <a:endParaRPr lang="en-US" sz="1700" dirty="0"/>
          </a:p>
        </p:txBody>
      </p:sp>
      <p:sp>
        <p:nvSpPr>
          <p:cNvPr id="144" name="T144"/>
          <p:cNvSpPr/>
          <p:nvPr/>
        </p:nvSpPr>
        <p:spPr>
          <a:xfrm>
            <a:off x="320040" y="868680"/>
            <a:ext cx="6949440" cy="274320"/>
          </a:xfrm>
          <a:prstGeom prst="rect">
            <a:avLst/>
          </a:prstGeom>
          <a:noFill/>
          <a:ln/>
        </p:spPr>
        <p:txBody>
          <a:bodyPr wrap="square" lIns="0" tIns="0" rIns="0" bIns="0" rtlCol="0" anchor="t"/>
          <a:lstStyle/>
          <a:p>
            <a:pPr marL="0" indent="0">
              <a:buNone/>
            </a:pPr>
            <a:r>
              <a:rPr lang="en-US" sz="1000" i="1" dirty="0">
                <a:solidFill>
                  <a:srgbClr val="1A1A1A"/>
                </a:solidFill>
                <a:latin typeface="Calibri" pitchFamily="34" charset="0"/>
                <a:ea typeface="Calibri" pitchFamily="34" charset="-122"/>
                <a:cs typeface="Calibri" pitchFamily="34" charset="-120"/>
              </a:rPr>
              <a:t>Databricks demonstrated the dashboards they run on their own usage. We can build the same views on ours.</a:t>
            </a:r>
            <a:endParaRPr lang="en-US" sz="1000" dirty="0"/>
          </a:p>
        </p:txBody>
      </p:sp>
      <p:pic>
        <p:nvPicPr>
          <p:cNvPr id="145" name="P145"/>
          <p:cNvPicPr>
            <a:picLocks noChangeAspect="1"/>
          </p:cNvPicPr>
          <p:nvPr/>
        </p:nvPicPr>
        <p:blipFill>
          <a:blip r:embed="rId10"/>
          <a:stretch>
            <a:fillRect/>
          </a:stretch>
        </p:blipFill>
        <p:spPr>
          <a:xfrm>
            <a:off x="365760" y="1188720"/>
            <a:ext cx="3819607" cy="2240280"/>
          </a:xfrm>
          <a:prstGeom prst="roundRect">
            <a:avLst>
              <a:gd name="adj" fmla="val 3000"/>
            </a:avLst>
          </a:prstGeom>
          <a:ln w="12700">
            <a:solidFill>
              <a:srgbClr val="DCE6F1"/>
            </a:solidFill>
          </a:ln>
        </p:spPr>
      </p:pic>
      <p:pic>
        <p:nvPicPr>
          <p:cNvPr id="146" name="P146"/>
          <p:cNvPicPr>
            <a:picLocks noChangeAspect="1"/>
          </p:cNvPicPr>
          <p:nvPr/>
        </p:nvPicPr>
        <p:blipFill>
          <a:blip r:embed="rId11"/>
          <a:stretch>
            <a:fillRect/>
          </a:stretch>
        </p:blipFill>
        <p:spPr>
          <a:xfrm>
            <a:off x="5202909" y="1188720"/>
            <a:ext cx="3575330" cy="2240280"/>
          </a:xfrm>
          <a:prstGeom prst="roundRect">
            <a:avLst>
              <a:gd name="adj" fmla="val 3000"/>
            </a:avLst>
          </a:prstGeom>
          <a:ln w="12700">
            <a:solidFill>
              <a:srgbClr val="DCE6F1"/>
            </a:solidFill>
          </a:ln>
        </p:spPr>
      </p:pic>
      <p:sp>
        <p:nvSpPr>
          <p:cNvPr id="147" name="T147"/>
          <p:cNvSpPr/>
          <p:nvPr/>
        </p:nvSpPr>
        <p:spPr>
          <a:xfrm>
            <a:off x="365760" y="3520440"/>
            <a:ext cx="3819607" cy="502920"/>
          </a:xfrm>
          <a:prstGeom prst="rect">
            <a:avLst/>
          </a:prstGeom>
          <a:noFill/>
          <a:ln/>
        </p:spPr>
        <p:txBody>
          <a:bodyPr wrap="square" lIns="0" tIns="0" rIns="0" bIns="0" rtlCol="0" anchor="t"/>
          <a:lstStyle/>
          <a:p>
            <a:pPr marL="0" indent="0">
              <a:buNone/>
            </a:pPr>
            <a:r>
              <a:rPr lang="en-US" sz="1000" b="1" dirty="0">
                <a:solidFill>
                  <a:srgbClr val="1F497D"/>
                </a:solidFill>
                <a:latin typeface="Calibri" pitchFamily="34" charset="0"/>
                <a:ea typeface="Calibri" pitchFamily="34" charset="-122"/>
                <a:cs typeface="Calibri" pitchFamily="34" charset="-120"/>
              </a:rPr>
              <a:t>Genie cost tracking</a:t>
            </a:r>
            <a:endParaRPr lang="en-US" sz="1000" dirty="0"/>
          </a:p>
          <a:p>
            <a:pPr marL="0" indent="0">
              <a:spcBef>
                <a:spcPts val="100"/>
              </a:spcBef>
              <a:buNone/>
            </a:pPr>
            <a:r>
              <a:rPr lang="en-US" sz="900" dirty="0">
                <a:solidFill>
                  <a:srgbClr val="1A1A1A"/>
                </a:solidFill>
                <a:latin typeface="Calibri" pitchFamily="34" charset="0"/>
                <a:ea typeface="Calibri" pitchFamily="34" charset="-122"/>
                <a:cs typeface="Calibri" pitchFamily="34" charset="-120"/>
              </a:rPr>
              <a:t>Spend split between AI inference and compute, by day and by source — so Genie’s share of the bill is never a mystery.</a:t>
            </a:r>
            <a:endParaRPr lang="en-US" sz="900" dirty="0"/>
          </a:p>
        </p:txBody>
      </p:sp>
      <p:sp>
        <p:nvSpPr>
          <p:cNvPr id="148" name="T148"/>
          <p:cNvSpPr/>
          <p:nvPr/>
        </p:nvSpPr>
        <p:spPr>
          <a:xfrm>
            <a:off x="5202909" y="3520440"/>
            <a:ext cx="3575330" cy="502920"/>
          </a:xfrm>
          <a:prstGeom prst="rect">
            <a:avLst/>
          </a:prstGeom>
          <a:noFill/>
          <a:ln/>
        </p:spPr>
        <p:txBody>
          <a:bodyPr wrap="square" lIns="0" tIns="0" rIns="0" bIns="0" rtlCol="0" anchor="t"/>
          <a:lstStyle/>
          <a:p>
            <a:pPr marL="0" indent="0">
              <a:buNone/>
            </a:pPr>
            <a:r>
              <a:rPr lang="en-US" sz="1000" b="1" dirty="0">
                <a:solidFill>
                  <a:srgbClr val="1F497D"/>
                </a:solidFill>
                <a:latin typeface="Calibri" pitchFamily="34" charset="0"/>
                <a:ea typeface="Calibri" pitchFamily="34" charset="-122"/>
                <a:cs typeface="Calibri" pitchFamily="34" charset="-120"/>
              </a:rPr>
              <a:t>AI usage monitoring</a:t>
            </a:r>
            <a:endParaRPr lang="en-US" sz="1000" dirty="0"/>
          </a:p>
          <a:p>
            <a:pPr marL="0" indent="0">
              <a:spcBef>
                <a:spcPts val="100"/>
              </a:spcBef>
              <a:buNone/>
            </a:pPr>
            <a:r>
              <a:rPr lang="en-US" sz="900" dirty="0">
                <a:solidFill>
                  <a:srgbClr val="1A1A1A"/>
                </a:solidFill>
                <a:latin typeface="Calibri" pitchFamily="34" charset="0"/>
                <a:ea typeface="Calibri" pitchFamily="34" charset="-122"/>
                <a:cs typeface="Calibri" pitchFamily="34" charset="-120"/>
              </a:rPr>
              <a:t>Queries, tokens, errors, and latency per model in near-real time — the early-warning view for a spike in use.</a:t>
            </a:r>
            <a:endParaRPr lang="en-US" sz="900" dirty="0"/>
          </a:p>
        </p:txBody>
      </p:sp>
      <p:sp>
        <p:nvSpPr>
          <p:cNvPr id="149" name="S149"/>
          <p:cNvSpPr/>
          <p:nvPr/>
        </p:nvSpPr>
        <p:spPr>
          <a:xfrm>
            <a:off x="365760" y="4069080"/>
            <a:ext cx="8412480" cy="594360"/>
          </a:xfrm>
          <a:prstGeom prst="roundRect">
            <a:avLst>
              <a:gd name="adj" fmla="val 4348"/>
            </a:avLst>
          </a:prstGeom>
          <a:solidFill>
            <a:srgbClr val="EEF3FA"/>
          </a:solidFill>
          <a:ln w="12700">
            <a:solidFill>
              <a:srgbClr val="DCE6F1"/>
            </a:solidFill>
          </a:ln>
        </p:spPr>
        <p:txBody>
          <a:bodyPr/>
          <a:lstStyle/>
          <a:p>
            <a:endParaRPr lang="en-US"/>
          </a:p>
        </p:txBody>
      </p:sp>
      <p:sp>
        <p:nvSpPr>
          <p:cNvPr id="150" name="T150"/>
          <p:cNvSpPr/>
          <p:nvPr/>
        </p:nvSpPr>
        <p:spPr>
          <a:xfrm>
            <a:off x="502920" y="4114800"/>
            <a:ext cx="8138160" cy="502920"/>
          </a:xfrm>
          <a:prstGeom prst="rect">
            <a:avLst/>
          </a:prstGeom>
          <a:noFill/>
          <a:ln/>
        </p:spPr>
        <p:txBody>
          <a:bodyPr wrap="square" lIns="0" tIns="0" rIns="0" bIns="0" rtlCol="0" anchor="ctr"/>
          <a:lstStyle/>
          <a:p>
            <a:pPr marL="0" indent="0">
              <a:buNone/>
            </a:pPr>
            <a:r>
              <a:rPr lang="en-US" sz="1000" b="1" dirty="0">
                <a:solidFill>
                  <a:srgbClr val="1F497D"/>
                </a:solidFill>
                <a:latin typeface="Calibri" pitchFamily="34" charset="0"/>
                <a:ea typeface="Calibri" pitchFamily="34" charset="-122"/>
                <a:cs typeface="Calibri" pitchFamily="34" charset="-120"/>
              </a:rPr>
              <a:t>What this means for CDAO: </a:t>
            </a:r>
            <a:r>
              <a:rPr lang="en-US" sz="1000" dirty="0">
                <a:solidFill>
                  <a:srgbClr val="1A1A1A"/>
                </a:solidFill>
                <a:latin typeface="Calibri" pitchFamily="34" charset="0"/>
                <a:ea typeface="Calibri" pitchFamily="34" charset="-122"/>
                <a:cs typeface="Calibri" pitchFamily="34" charset="-120"/>
              </a:rPr>
              <a:t>usage and cost, including the AI portion, are visible and attributable. Our data engineering team can build custom dashboards like these from the system tables — the ask to DBIS is access to those tables.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2019</TotalTime>
  <Words>3380</Words>
  <Application>Microsoft Office PowerPoint</Application>
  <PresentationFormat>On-screen Show (16:9)</PresentationFormat>
  <Paragraphs>179</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Hobbs, William J (Jake) (CTR)</cp:lastModifiedBy>
  <cp:revision>4</cp:revision>
  <dcterms:created xsi:type="dcterms:W3CDTF">2026-08-13T03:26:16Z</dcterms:created>
  <dcterms:modified xsi:type="dcterms:W3CDTF">2026-08-17T18:03:20Z</dcterms:modified>
</cp:coreProperties>
</file>