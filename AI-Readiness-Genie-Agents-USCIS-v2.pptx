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8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  <Relationship Id="rId18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123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brief non-technical leadership on Databricks Genie Agents and Genie Code ahead of enablement for USCIS. All product facts verified against official Databricks documentation as of Aug 2,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readiness brief, not a procurement ask. GovCloud GA (Feb 2026) removes the compliance blocker. The ask at the end is enablement + a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renames are official: docs say 'Genie Agents (formerly Genie Spaces)' and Databricks Assistant became Genie Code in March 2026. 'Harness' is official Databricks terminology (their blog: 'What is an AI Agent Harness?').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defensible line: we are NOT building an AI harness. Databricks' own DAIS 2026 line: 'the core agent loop is just 1% of the work.' We configure a vendor harness and own governance, context, evaluation, and cost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Demo-ready framing. Emphasize: agent enforces the same Unity Catalog permissions, row filters, and column masks the user already has. Metric lookups are Genie's strength; open-ended 'why' diagnostics stay analyst-led in phase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Genie Code = new name for Databricks Assistant (renamed March 2026); GA in GovCloud. Pay-as-you-go began July 8, 2026 with a monthly per-user free allowance.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the 84.5% honestly as vendor-internal. The self-service point is the ROI driver: it converts engineer-hours into seconds of agent time for routine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guidance ('Curate an effective Genie Agent'): UC metadata first, SQL expressions second, example queries third, text instructions last — SQL definitions are executed exactly, prose gets interpreted. Collibra's out-of-box integration pulls FROM Unity Catalog INTO Collibra; pushing definitions the other way is a small custom job (Collibra API → Databricks SDK), deployable as versioned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rule worth saying aloud: no number gets presented without its query. Users tolerate an unverified answer labeled unverified; they don't forgive a wrong answer that looked identical to a right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Verified: docs confirm usage tracking needs no list-price access — system.billing.usage carries DBU quantities; system.billing.list_prices only converts to dollars. Genie One/Agents free window ended July 31, 2026, so metering starts clean in August. Budgets: resource type Unity AI Gateway, tag databricks-product: genie; up to 4 shared thresholds + 20 per-user overrides.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100+ hrs/month clearly labeled an estimate to be validated in the pilot — leadership trusts a measured claim more than a big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in Databricks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Agents, Genie Code, and the Context Layer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tools are, why our data teams need them, how we guarantee accuracy,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we track every dollar of spend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7498080" cy="18288"/>
          </a:xfrm>
          <a:prstGeom prst="roundRect">
            <a:avLst>
              <a:gd name="adj" fmla="val 300000"/>
            </a:avLst>
          </a:prstGeom>
          <a:solidFill>
            <a:srgbClr val="4F81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Division  •  DSSS3  •  August 3,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upcoming Databricks AI capabilities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Here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29844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are coming soon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0" y="1298448"/>
            <a:ext cx="5806440" cy="749808"/>
          </a:xfrm>
          <a:prstGeom prst="roundRect">
            <a:avLst>
              <a:gd name="adj" fmla="val 7317"/>
            </a:avLst>
          </a:prstGeom>
          <a:solidFill>
            <a:srgbClr val="EEF3FA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63240" y="1298448"/>
            <a:ext cx="5532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Genie became generally available in AWS GovCloud (FedRAMP High / DoD IL5) in February 2026. Genie Agents are not yet unlocked for USCIS users — this brief is the case for enabling them.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16712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216712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natural language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2167128"/>
            <a:ext cx="5806440" cy="749808"/>
          </a:xfrm>
          <a:prstGeom prst="roundRect">
            <a:avLst>
              <a:gd name="adj" fmla="val 7317"/>
            </a:avLst>
          </a:prstGeom>
          <a:solidFill>
            <a:srgbClr val="EEF3FA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2167128"/>
            <a:ext cx="5532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Agents allow users with access to ask questions of governed USCIS data in natural language and get answers with the SQL and source tables shown.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3580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303580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engineered, not hoped for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3035808"/>
            <a:ext cx="5806440" cy="749808"/>
          </a:xfrm>
          <a:prstGeom prst="roundRect">
            <a:avLst>
              <a:gd name="adj" fmla="val 7317"/>
            </a:avLst>
          </a:prstGeom>
          <a:solidFill>
            <a:srgbClr val="EEF3FA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63240" y="3035808"/>
            <a:ext cx="5532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control accuracy by building a context layer from USCIS knowledge — definitions, acronyms, form types, metrics — and every answer is traceable to its source.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0448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90448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are trackable from day 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3904488"/>
            <a:ext cx="5806440" cy="749808"/>
          </a:xfrm>
          <a:prstGeom prst="roundRect">
            <a:avLst>
              <a:gd name="adj" fmla="val 7317"/>
            </a:avLst>
          </a:prstGeom>
          <a:solidFill>
            <a:srgbClr val="EEF3FA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63240" y="3904488"/>
            <a:ext cx="5532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without direct access to Databricks pricing tables, we can meter our own usage (DBUs) through Databricks system tables, with budgets and alerts.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— Six Terms That Cover Everything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298448"/>
            <a:ext cx="2651760" cy="1627632"/>
          </a:xfrm>
          <a:prstGeom prst="roundRect">
            <a:avLst>
              <a:gd name="adj" fmla="val 3371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Agent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5216" y="16459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 “Genie Space”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5216" y="1883664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interface over a curated set of our data tables (max 30). User asks a question in English; it writes and runs the SQL and shows its work.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4408" y="1298448"/>
            <a:ext cx="2651760" cy="1627632"/>
          </a:xfrm>
          <a:prstGeom prst="roundRect">
            <a:avLst>
              <a:gd name="adj" fmla="val 3371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92424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92424" y="16459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 “Databricks Assistant”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92424" y="1883664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coding assistant inside Databricks notebooks and the SQL editor — writes, fixes, and explains code for our engineers.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71616" y="1298448"/>
            <a:ext cx="2651760" cy="1627632"/>
          </a:xfrm>
          <a:prstGeom prst="roundRect">
            <a:avLst>
              <a:gd name="adj" fmla="val 3371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99632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99632" y="16459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according to Databricks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99632" y="1883664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machinery around an AI model that turns it into a working agent — tools, loops, guardrails. </a:t>
            </a:r>
          </a:p>
          <a:p>
            <a:pPr marL="0" indent="0">
              <a:buNone/>
            </a:pPr>
            <a:endParaRPr lang="en-US" sz="10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engine; harness = the rest of the car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2651760" cy="1627632"/>
          </a:xfrm>
          <a:prstGeom prst="roundRect">
            <a:avLst>
              <a:gd name="adj" fmla="val 3371"/>
            </a:avLst>
          </a:prstGeom>
          <a:solidFill>
            <a:srgbClr val="DCE6F1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" y="31272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Layer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5216" y="34015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us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5216" y="3639312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USCIS knowledge the agent reads before answering: table descriptions, metric formulas, acronyms, form types. This is where accuracy comes from.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64408" y="3054096"/>
            <a:ext cx="2651760" cy="1627632"/>
          </a:xfrm>
          <a:prstGeom prst="roundRect">
            <a:avLst>
              <a:gd name="adj" fmla="val 3371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92424" y="31272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392424" y="34015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backbone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92424" y="3639312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Databricks' catalog of every table, column, permission, and lineage record. Agents only see what a user is already allowed to see.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71616" y="3054096"/>
            <a:ext cx="2651760" cy="1627632"/>
          </a:xfrm>
          <a:prstGeom prst="roundRect">
            <a:avLst>
              <a:gd name="adj" fmla="val 3371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99632" y="31272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DBU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199632" y="34015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Unit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99632" y="3639312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usage meter for all Databricks consumption — like kilowatt-hours for compute and AI. We track burn in DBUs; OIT-DBIS has not given us access to see actual pricing. But, DBUs are a sound way for us to measure if we are using the tools efficiently.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— What It Is &amp; How Databricks Applies 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=  Model  +  Harness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901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(Databricks builds &amp; operates this)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554480" y="23317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engine)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•  query engine  •  retries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 •  permissions  •  audit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reason → act → check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2743200"/>
            <a:ext cx="502920" cy="201168"/>
          </a:xfrm>
          <a:prstGeom prst="rightArrow">
            <a:avLst/>
          </a:prstGeom>
          <a:solidFill>
            <a:srgbClr val="4F81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74920" y="1828800"/>
            <a:ext cx="3383280" cy="2011680"/>
          </a:xfrm>
          <a:prstGeom prst="roundRect">
            <a:avLst>
              <a:gd name="adj" fmla="val 2727"/>
            </a:avLst>
          </a:prstGeom>
          <a:solidFill>
            <a:srgbClr val="DCE6F1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0" y="1901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12080" y="2212848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layer (USCIS knowledge)</a:t>
            </a:r>
            <a:endParaRPr lang="en-US" sz="105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tests that score accuracy</a:t>
            </a:r>
            <a:endParaRPr lang="en-US" sz="105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workflow for disputed answers</a:t>
            </a:r>
            <a:endParaRPr lang="en-US" sz="105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guardrails: DBU monitoring &amp; alerts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analogy: the large language model is the engine; the harness is the wheels, steering, brakes, and dashboard. </a:t>
            </a:r>
          </a:p>
          <a:p>
            <a:pPr marL="0" indent="0" algn="ctr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ships the whole car — we supply the map and the rules of the road.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Genie Agent Answers a Question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2618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I-765 forms were filed in June, and how does that compare to May?”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856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Question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2157984"/>
            <a:ext cx="1700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from an analyst or program office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95728" y="2487168"/>
            <a:ext cx="182880" cy="201168"/>
          </a:xfrm>
          <a:prstGeom prst="rightArrow">
            <a:avLst/>
          </a:prstGeom>
          <a:solidFill>
            <a:srgbClr val="4F81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87752" y="178308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97480" y="1856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Context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97480" y="2157984"/>
            <a:ext cx="1700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USCIS definitions: what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I-765 is (Application for Employment Authorization), which table is certified, how “filed” is counted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2487168"/>
            <a:ext cx="182880" cy="201168"/>
          </a:xfrm>
          <a:prstGeom prst="rightArrow">
            <a:avLst/>
          </a:prstGeom>
          <a:solidFill>
            <a:srgbClr val="4F81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18304" y="178308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28032" y="1856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SQL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28032" y="2157984"/>
            <a:ext cx="1700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query against governed Unity Catalog tables — only data the user may see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56832" y="2487168"/>
            <a:ext cx="182880" cy="201168"/>
          </a:xfrm>
          <a:prstGeom prst="rightArrow">
            <a:avLst/>
          </a:prstGeom>
          <a:solidFill>
            <a:srgbClr val="4F81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48856" y="178308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DCE6F1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58584" y="1856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Answer + proof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58584" y="2157984"/>
            <a:ext cx="1700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Result, chart, the SQL it ran, and the source tables — every number traceable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16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D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with a verified query ✓ 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even set it up to where when an answer comes from a query our team pre-approved (a “trusted asset”), Genie labels it verified. Generated answers are labeled, too. Therefore, users would always know which kind of answer they got.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Code: the AI Assistant for Our Engineers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298448"/>
            <a:ext cx="4846320" cy="329184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846320" cy="310896"/>
          </a:xfrm>
          <a:prstGeom prst="roundRect">
            <a:avLst>
              <a:gd name="adj" fmla="val 17647"/>
            </a:avLst>
          </a:prstGeom>
          <a:solidFill>
            <a:srgbClr val="16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Notebook — pipeline_i765_monthly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37360"/>
            <a:ext cx="4526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last night’s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completions_data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load fail?”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E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Code: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 on receipt_number failed — the source added a new NULL-heavy column on 7/28. Here is the one-line fix, and a test to catch it next time.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3291840"/>
            <a:ext cx="4480560" cy="109728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346704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D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df.withColumn("receipt_number",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D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trim(col("receipt_number")))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D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suggested fix + unit test generated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engineers will use it for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0" y="1700784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explain SQL and Python in place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failed jobs and error messages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“Quick Fix” for broken code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pipelines, dashboards and other products at a faster rate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code written by the engineers with recommendations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Unity Catalog permissions — it sees only what the engineer can see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Data Science &amp; Engineering Teams Need These Tools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402336"/>
          </a:xfrm>
          <a:prstGeom prst="roundRect">
            <a:avLst>
              <a:gd name="adj" fmla="val 13636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without them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73936"/>
            <a:ext cx="4023360" cy="2286000"/>
          </a:xfrm>
          <a:prstGeom prst="roundRect">
            <a:avLst>
              <a:gd name="adj" fmla="val 2400"/>
            </a:avLst>
          </a:prstGeom>
          <a:solidFill>
            <a:srgbClr val="EEF3FA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920240"/>
            <a:ext cx="3703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leadership question becomes a ticket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take too long; context lives in a few experts' heads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hours on boilerplate SQL and debugging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issues found after a dashboard breaks or a job run fails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4023360" cy="402336"/>
          </a:xfrm>
          <a:prstGeom prst="roundRect">
            <a:avLst>
              <a:gd name="adj" fmla="val 13636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Genie Agents + Genie Code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773936"/>
            <a:ext cx="4023360" cy="2286000"/>
          </a:xfrm>
          <a:prstGeom prst="roundRect">
            <a:avLst>
              <a:gd name="adj" fmla="val 2400"/>
            </a:avLst>
          </a:prstGeom>
          <a:solidFill>
            <a:srgbClr val="EEF3FA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3752" y="1920240"/>
            <a:ext cx="3703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offices self-serve routine metric questions in seconds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focus on pipelines and models, not ad-hoc lookup requests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and code review accelerated in place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checks catch issues before downstream breakage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2452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DCE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4224528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own benchmark: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answered 84.5% of real-world data questions correctly on the first attempt vs 52.4% for the strongest general-purpose coding agent (vendor-internal, 28-question suite).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Guaranteeing Accuracy With the Context Layer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already speaks English and SQL. It does not know USCIS-specific language, acronyms &amp; calculations. 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layer teaches it from the sources we already govern.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514600" cy="3017520"/>
          </a:xfrm>
          <a:prstGeom prst="roundRect">
            <a:avLst>
              <a:gd name="adj" fmla="val 2182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already have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066544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Collibra: acronyms, form types (I-765 = Employment Authorization), system info</a:t>
            </a:r>
            <a:endParaRPr lang="en-US" sz="10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formulas: cycle time, processing time, completions calculations</a:t>
            </a:r>
            <a:endParaRPr lang="en-US" sz="10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tables &amp; ERDs</a:t>
            </a:r>
            <a:endParaRPr lang="en-US" sz="10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knowledge of table joins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3017520"/>
            <a:ext cx="457200" cy="201168"/>
          </a:xfrm>
          <a:prstGeom prst="rightArrow">
            <a:avLst/>
          </a:prstGeom>
          <a:solidFill>
            <a:srgbClr val="4F81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11880" y="1645920"/>
            <a:ext cx="2834640" cy="3017520"/>
          </a:xfrm>
          <a:prstGeom prst="roundRect">
            <a:avLst>
              <a:gd name="adj" fmla="val 1935"/>
            </a:avLst>
          </a:prstGeom>
          <a:solidFill>
            <a:srgbClr val="DCE6F1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49040" y="1737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49040" y="2139696"/>
            <a:ext cx="274320" cy="274320"/>
          </a:xfrm>
          <a:prstGeom prst="ellipse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4904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2060248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 descriptions in Unity Catalog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0" y="2761488"/>
            <a:ext cx="274320" cy="274320"/>
          </a:xfrm>
          <a:prstGeom prst="ellipse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63894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SQL-defined metrics &amp; filters (exact formulas, executed not interpreted)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49040" y="3383280"/>
            <a:ext cx="274320" cy="274320"/>
          </a:xfrm>
          <a:prstGeom prst="ellipse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4904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3217639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 &amp; trusted assets (pre-verified answers)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49040" y="4005072"/>
            <a:ext cx="274320" cy="274320"/>
          </a:xfrm>
          <a:prstGeom prst="ellipse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4904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4077175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instructions — last resort only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37960" y="3017520"/>
            <a:ext cx="457200" cy="201168"/>
          </a:xfrm>
          <a:prstGeom prst="rightArrow">
            <a:avLst/>
          </a:prstGeom>
          <a:solidFill>
            <a:srgbClr val="4F81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86600" y="1645920"/>
            <a:ext cx="1627632" cy="3017520"/>
          </a:xfrm>
          <a:prstGeom prst="roundRect">
            <a:avLst>
              <a:gd name="adj" fmla="val 3371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2376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223760" y="2084832"/>
            <a:ext cx="1371600" cy="1663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 of every metric.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run exactly as written.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in USCIS meaning, not guesses.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7000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b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item is a governed pipeline that projects Collibra definitions into Databricks — a data engineering task that we have already scoped.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But Verify: Every Answer Shows Its Sources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536192" cy="960120"/>
          </a:xfrm>
          <a:prstGeom prst="roundRect">
            <a:avLst>
              <a:gd name="adj" fmla="val 5714"/>
            </a:avLst>
          </a:prstGeom>
          <a:solidFill>
            <a:srgbClr val="1F497D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0352" y="175564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“41,238 I-765 receipts in June”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947672" y="1801368"/>
            <a:ext cx="164592" cy="201168"/>
          </a:xfrm>
          <a:prstGeom prst="rightArrow">
            <a:avLst/>
          </a:prstGeom>
          <a:solidFill>
            <a:srgbClr val="4F81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48840" y="1417320"/>
            <a:ext cx="1536192" cy="96012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21992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shown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21992" y="175564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query Genie ran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39312" y="1801368"/>
            <a:ext cx="164592" cy="201168"/>
          </a:xfrm>
          <a:prstGeom prst="rightArrow">
            <a:avLst/>
          </a:prstGeom>
          <a:solidFill>
            <a:srgbClr val="4F81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0" y="1417320"/>
            <a:ext cx="1536192" cy="96012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13632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columns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63340" y="173736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npdataset.npd_current_pending.receipt_number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30952" y="1801368"/>
            <a:ext cx="164592" cy="201168"/>
          </a:xfrm>
          <a:prstGeom prst="rightArrow">
            <a:avLst/>
          </a:prstGeom>
          <a:solidFill>
            <a:srgbClr val="4F81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32120" y="1417320"/>
            <a:ext cx="1536192" cy="96012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05272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05272" y="175564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traces upstream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022592" y="1801368"/>
            <a:ext cx="164592" cy="201168"/>
          </a:xfrm>
          <a:prstGeom prst="rightArrow">
            <a:avLst/>
          </a:prstGeom>
          <a:solidFill>
            <a:srgbClr val="4F81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3760" y="1417320"/>
            <a:ext cx="1536192" cy="96012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96912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96912" y="175564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eCISCOR → C3 / ELIS / GLOBAL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2487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fact-check any number back to its root — no black box.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EEF3FA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" y="2935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vs. generated badges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5216" y="319125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pre-approved queries are flagged verified; novel answers are labeled generated. Users always know the difference.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288036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EEF3FA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37176" y="2935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testing before launch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37176" y="319125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maintain a golden set of real USCIS questions with known-correct SQL; every agent change is scored against it before users see it.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849624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EEF3FA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5216" y="3904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feedback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85216" y="4160520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question, answer, and thumbs-up/down is logged. SMEs review flagged answers; audit logs cover the rest.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849624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EEF3FA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37176" y="3904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permissions as the user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37176" y="4160520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row filters and column masks apply inside the agent — it can never show data the user couldn't already query.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Spend Without the Pricing Tables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2435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OIT-DBIS controls the cost tables — and we don't need them to manage our burn. Usage is metered in DBUs, and the meter is ours to read.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4023360" cy="1042416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1 — AI usage (Genie LLM)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975104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in DBUs through the AI Gateway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627632"/>
            <a:ext cx="4023360" cy="1042416"/>
          </a:xfrm>
          <a:prstGeom prst="roundRect">
            <a:avLst>
              <a:gd name="adj" fmla="val 5263"/>
            </a:avLst>
          </a:prstGeom>
          <a:solidFill>
            <a:srgbClr val="DCE6F1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2 — Compute (SQL warehouse)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975104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warehouse that runs each generated query bills as standard serverless SQL DBUs — usually the larger number. Not covered by Genie budgets.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watch it — built into Databricks, no price access needed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18688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tables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11680" y="320040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system.billing.usage records every DBU hourly, attributed to user, product, and tag — our burn-rate dashboard reads straight from it.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6210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policies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3602736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budget policies auto-tag each team's usage, so spend rolls up by branch, project, or contract line.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&amp; alerts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11680" y="4005072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Account-level budgets with e-mail thresholds; per-user limits on Genie AI usage. Alerts fire as spend happens — not after month-end.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425696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4256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Dollars when needed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11680" y="4407408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OIT-DBIS applies rates to the same records — one number, two views, no dispute about the underlying usage.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— Hours, Speed, and Early Warnings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→ Minutes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9933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on routine data questions once program offices self-serve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64408" y="137160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1F497D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55848" y="1463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hrs/mo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01568" y="19933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time redirected from ad-hoc lookups &amp; boilerplate to pipelines and models (est. — validated in pilot)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71616" y="137160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EEF3FA"/>
          </a:solidFill>
          <a:ln w="9525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63056" y="1463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Before, not after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08776" y="19933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data quality and spend catch issues before a dashboard or briefing breaks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EEF3FA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" y="30632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analytics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" y="330098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Agents answer the recurring “how many / how long / which center” questions instantly, with sources.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EEF3FA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37176" y="30632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engineering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37176" y="330098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Code accelerates SQL/Python writing, debugging, and pipeline builds inside the tools engineers already use.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858768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EEF3FA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" y="39044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escalations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" y="414223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answers + traceability reduce the back-and-forth of “where did this number come from?”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858768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EEF3FA"/>
          </a:solidFill>
          <a:ln w="9525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9044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from day one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37176" y="414223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defines the baseline: ticket counts and turnaround now vs. with agents — ROI reported in hours and days saved, not vibes.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xt Layer in Databricks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11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54000" tIns="45720" rIns="54000" bIns="3600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97D"/>
                </a:solidFill>
                <a:latin typeface="Calibri"/>
              </a:rPr>
              <a:t xml:space="preserve">The Context Layer Inside Databricks</a:t>
            </a:r>
          </a:p>
        </p:txBody>
      </p:sp>
      <p:sp>
        <p:nvSpPr>
          <p:cNvPr id="12" name="s12"/>
          <p:cNvSpPr/>
          <p:nvPr/>
        </p:nvSpPr>
        <p:spPr>
          <a:xfrm>
            <a:off x="457200" y="8503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54000" tIns="45720" rIns="54000" bIns="360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95959"/>
                </a:solidFill>
                <a:latin typeface="Calibri"/>
              </a:rPr>
              <a:t xml:space="preserve">Four governed assets — all catalog metadata and SQL, versioned as code. No new platform, no new procurement.</a:t>
            </a:r>
          </a:p>
        </p:txBody>
      </p:sp>
      <p:sp>
        <p:nvSpPr>
          <p:cNvPr id="13" name="s13"/>
          <p:cNvSpPr/>
          <p:nvPr/>
        </p:nvSpPr>
        <p:spPr>
          <a:xfrm>
            <a:off x="457200" y="1481328"/>
            <a:ext cx="1371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000" tIns="45720" rIns="54000" bIns="360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97D"/>
                </a:solidFill>
                <a:latin typeface="Calibri"/>
              </a:rPr>
              <a:t xml:space="preserve">COLLIBRA</a:t>
            </a:r>
          </a:p>
          <a:p>
            <a:pPr marL="0" indent="0" algn="l">
              <a:buNone/>
            </a:pPr>
            <a:r>
              <a:rPr lang="en-US" sz="900" b="1" dirty="0">
                <a:solidFill>
                  <a:srgbClr val="BF9000"/>
                </a:solidFill>
                <a:latin typeface="Calibri"/>
              </a:rPr>
              <a:t xml:space="preserve">System of record</a:t>
            </a:r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/>
              </a:rPr>
              <a:t xml:space="preserve">Acronyms, form types, metric definitions (cycle time, processing time)</a:t>
            </a:r>
          </a:p>
        </p:txBody>
      </p:sp>
      <p:sp>
        <p:nvSpPr>
          <p:cNvPr id="14" name="s14"/>
          <p:cNvSpPr/>
          <p:nvPr/>
        </p:nvSpPr>
        <p:spPr>
          <a:xfrm>
            <a:off x="384048" y="3913632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wrap="square" lIns="54000" tIns="45720" rIns="54000" bIns="3600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9000"/>
                </a:solidFill>
                <a:latin typeface="Calibri"/>
              </a:rPr>
              <a:t xml:space="preserve">governed pipeline — the build item</a:t>
            </a:r>
          </a:p>
        </p:txBody>
      </p:sp>
      <p:sp>
        <p:nvSpPr>
          <p:cNvPr id="15" name="a15"/>
          <p:cNvSpPr/>
          <p:nvPr/>
        </p:nvSpPr>
        <p:spPr>
          <a:xfrm>
            <a:off x="1883664" y="2578608"/>
            <a:ext cx="384048" cy="146304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s16"/>
          <p:cNvSpPr/>
          <p:nvPr/>
        </p:nvSpPr>
        <p:spPr>
          <a:xfrm>
            <a:off x="2304288" y="1298448"/>
            <a:ext cx="4370832" cy="2999232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9525">
            <a:solidFill>
              <a:srgbClr val="1F497D"/>
            </a:solidFill>
          </a:ln>
        </p:spPr>
        <p:txBody>
          <a:bodyPr wrap="square" lIns="54000" tIns="45720" rIns="54000" bIns="36000" rtlCol="0" anchor="t"/>
          <a:lstStyle/>
          <a:p>
            <a:endParaRPr lang="en-US"/>
          </a:p>
        </p:txBody>
      </p:sp>
      <p:sp>
        <p:nvSpPr>
          <p:cNvPr id="17" name="s17"/>
          <p:cNvSpPr/>
          <p:nvPr/>
        </p:nvSpPr>
        <p:spPr>
          <a:xfrm>
            <a:off x="2395728" y="13441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54000" tIns="45720" rIns="54000" bIns="360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497D"/>
                </a:solidFill>
                <a:latin typeface="Calibri"/>
              </a:rPr>
              <a:t xml:space="preserve">DATABRICKS</a:t>
            </a:r>
          </a:p>
        </p:txBody>
      </p:sp>
      <p:sp>
        <p:nvSpPr>
          <p:cNvPr id="18" name="s18"/>
          <p:cNvSpPr/>
          <p:nvPr/>
        </p:nvSpPr>
        <p:spPr>
          <a:xfrm>
            <a:off x="2450592" y="1682496"/>
            <a:ext cx="201168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000" tIns="45720" rIns="54000" bIns="360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497D"/>
                </a:solidFill>
                <a:latin typeface="Calibri"/>
              </a:rPr>
              <a:t xml:space="preserve">1 · Unity Catalog metadata</a:t>
            </a:r>
          </a:p>
          <a:p>
            <a:pPr marL="0" indent="0" algn="l">
              <a:buNone/>
            </a:pPr>
            <a:r>
              <a:rPr lang="en-US" sz="850" dirty="0">
                <a:solidFill>
                  <a:srgbClr val="595959"/>
                </a:solidFill>
                <a:latin typeface="Calibri"/>
              </a:rPr>
              <a:t xml:space="preserve">Table &amp; column comments and synonyms — “I-765 = Employment Authorization”</a:t>
            </a:r>
          </a:p>
        </p:txBody>
      </p:sp>
      <p:sp>
        <p:nvSpPr>
          <p:cNvPr id="19" name="s19"/>
          <p:cNvSpPr/>
          <p:nvPr/>
        </p:nvSpPr>
        <p:spPr>
          <a:xfrm>
            <a:off x="4590288" y="1682496"/>
            <a:ext cx="201168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000" tIns="45720" rIns="54000" bIns="360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497D"/>
                </a:solidFill>
                <a:latin typeface="Calibri"/>
              </a:rPr>
              <a:t xml:space="preserve">2 · Metric views + SQL expressions</a:t>
            </a:r>
          </a:p>
          <a:p>
            <a:pPr marL="0" indent="0" algn="l">
              <a:buNone/>
            </a:pPr>
            <a:r>
              <a:rPr lang="en-US" sz="850" dirty="0">
                <a:solidFill>
                  <a:srgbClr val="595959"/>
                </a:solidFill>
                <a:latin typeface="Calibri"/>
              </a:rPr>
              <a:t xml:space="preserve">Cycle time, processing time, completions as exact formulas — executed, not interpreted</a:t>
            </a:r>
          </a:p>
        </p:txBody>
      </p:sp>
      <p:sp>
        <p:nvSpPr>
          <p:cNvPr id="20" name="s20"/>
          <p:cNvSpPr/>
          <p:nvPr/>
        </p:nvSpPr>
        <p:spPr>
          <a:xfrm>
            <a:off x="2450592" y="2962656"/>
            <a:ext cx="201168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000" tIns="45720" rIns="54000" bIns="360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497D"/>
                </a:solidFill>
                <a:latin typeface="Calibri"/>
              </a:rPr>
              <a:t xml:space="preserve">3 · Agent knowledge store</a:t>
            </a:r>
          </a:p>
          <a:p>
            <a:pPr marL="0" indent="0" algn="l">
              <a:buNone/>
            </a:pPr>
            <a:r>
              <a:rPr lang="en-US" sz="850" dirty="0">
                <a:solidFill>
                  <a:srgbClr val="595959"/>
                </a:solidFill>
                <a:latin typeface="Calibri"/>
              </a:rPr>
              <a:t xml:space="preserve">Join relationships · entity matching for service-center codes · trusted example queries</a:t>
            </a:r>
          </a:p>
        </p:txBody>
      </p:sp>
      <p:sp>
        <p:nvSpPr>
          <p:cNvPr id="21" name="s21"/>
          <p:cNvSpPr/>
          <p:nvPr/>
        </p:nvSpPr>
        <p:spPr>
          <a:xfrm>
            <a:off x="4590288" y="2962656"/>
            <a:ext cx="201168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000" tIns="45720" rIns="54000" bIns="360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497D"/>
                </a:solidFill>
                <a:latin typeface="Calibri"/>
              </a:rPr>
              <a:t xml:space="preserve">4 · Benchmarks</a:t>
            </a:r>
          </a:p>
          <a:p>
            <a:pPr marL="0" indent="0" algn="l">
              <a:buNone/>
            </a:pPr>
            <a:r>
              <a:rPr lang="en-US" sz="850" dirty="0">
                <a:solidFill>
                  <a:srgbClr val="595959"/>
                </a:solidFill>
                <a:latin typeface="Calibri"/>
              </a:rPr>
              <a:t xml:space="preserve">Golden set of real USCIS questions with known-correct SQL — scored before changes ship</a:t>
            </a:r>
          </a:p>
        </p:txBody>
      </p:sp>
      <p:sp>
        <p:nvSpPr>
          <p:cNvPr id="22" name="a22"/>
          <p:cNvSpPr/>
          <p:nvPr/>
        </p:nvSpPr>
        <p:spPr>
          <a:xfrm>
            <a:off x="6711696" y="2578608"/>
            <a:ext cx="347472" cy="146304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s23"/>
          <p:cNvSpPr/>
          <p:nvPr/>
        </p:nvSpPr>
        <p:spPr>
          <a:xfrm>
            <a:off x="7095744" y="1938528"/>
            <a:ext cx="1572768" cy="1426464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</p:spPr>
        <p:txBody>
          <a:bodyPr wrap="square" lIns="54000" tIns="45720" rIns="54000" bIns="360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/>
              </a:rPr>
              <a:t xml:space="preserve">GENIE AGENT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DCE6F2"/>
                </a:solidFill>
                <a:latin typeface="Calibri"/>
              </a:rPr>
              <a:t xml:space="preserve">reads all four at question time</a:t>
            </a:r>
          </a:p>
        </p:txBody>
      </p:sp>
      <p:sp>
        <p:nvSpPr>
          <p:cNvPr id="24" name="s24"/>
          <p:cNvSpPr/>
          <p:nvPr/>
        </p:nvSpPr>
        <p:spPr>
          <a:xfrm>
            <a:off x="457200" y="4443984"/>
            <a:ext cx="82296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000" tIns="45720" rIns="54000" bIns="360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/>
              </a:rPr>
              <a:t xml:space="preserve">Runs on the flow we already operate:  </a:t>
            </a:r>
            <a:r>
              <a:rPr lang="en-US" sz="900" b="1" dirty="0">
                <a:solidFill>
                  <a:srgbClr val="1F497D"/>
                </a:solidFill>
                <a:latin typeface="Calibri"/>
              </a:rPr>
              <a:t xml:space="preserve">C3 · ELIS · GLOBAL  →  eCISCOR  →  NPD  →  data products</a:t>
            </a:r>
            <a:r>
              <a:rPr lang="en-US" sz="900" dirty="0">
                <a:solidFill>
                  <a:srgbClr val="595959"/>
                </a:solidFill>
                <a:latin typeface="Calibri"/>
              </a:rPr>
              <a:t xml:space="preserve">   — Unity Catalog lineage traces every answer back down this same path (data diagram, slide 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2158</Words>
  <Application>Microsoft Macintosh PowerPoint</Application>
  <PresentationFormat>On-screen Show (16:9)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Jake Hobbs</cp:lastModifiedBy>
  <cp:revision>2</cp:revision>
  <dcterms:created xsi:type="dcterms:W3CDTF">2026-08-02T19:46:05Z</dcterms:created>
  <dcterms:modified xsi:type="dcterms:W3CDTF">2026-08-02T21:04:13Z</dcterms:modified>
</cp:coreProperties>
</file>