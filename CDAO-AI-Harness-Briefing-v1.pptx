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4247"/>
  </p:normalViewPr>
  <p:slideViewPr>
    <p:cSldViewPr snapToGrid="0" snapToObjects="1">
      <p:cViewPr>
        <p:scale>
          <a:sx n="139" d="100"/>
          <a:sy n="139" d="100"/>
        </p:scale>
        <p:origin x="-16" y="-11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0274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Why AI Needs Context</a:t>
            </a:r>
          </a:p>
          <a:p>
            <a:endParaRPr/>
          </a:p>
          <a:p>
            <a:r>
              <a:t>SUGGESTED SLIDE TEXT:</a:t>
            </a:r>
          </a:p>
          <a:p>
            <a:r>
              <a:t>The same question can produce very different answers depending on the context the AI has.</a:t>
            </a:r>
          </a:p>
          <a:p>
            <a:endParaRPr/>
          </a:p>
          <a:p>
            <a:r>
              <a:t>SPEAKER POINT:</a:t>
            </a:r>
          </a:p>
          <a:p>
            <a:r>
              <a:t>This is not about making the AI smarter in general; it is about giving it the right local context.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Student Without the Course Guide</a:t>
            </a:r>
          </a:p>
          <a:p>
            <a:endParaRPr/>
          </a:p>
          <a:p>
            <a:r>
              <a:t>SUGGESTED SLIDE TEXT:</a:t>
            </a:r>
          </a:p>
          <a:p>
            <a:r>
              <a:t>Without guidance, the assistant may find a fact but miss what matters.</a:t>
            </a:r>
          </a:p>
          <a:p>
            <a:endParaRPr/>
          </a:p>
          <a:p>
            <a:r>
              <a:t>SPEAKER POINT:</a:t>
            </a:r>
          </a:p>
          <a:p>
            <a:r>
              <a:t>The answer can be technically related but still not useful for the actual decision.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Student With the Course Guide</a:t>
            </a:r>
          </a:p>
          <a:p>
            <a:endParaRPr/>
          </a:p>
          <a:p>
            <a:r>
              <a:t>SUGGESTED SLIDE TEXT:</a:t>
            </a:r>
          </a:p>
          <a:p>
            <a:r>
              <a:t>A harness gives the assistant the guidebook before it answers.</a:t>
            </a:r>
          </a:p>
          <a:p>
            <a:endParaRPr/>
          </a:p>
          <a:p>
            <a:r>
              <a:t>SPEAKER POINT:</a:t>
            </a:r>
          </a:p>
          <a:p>
            <a:r>
              <a:t>The harness is not the answer itself; it is the context that helps shape a better answer.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What a Harness Is / Is Not</a:t>
            </a:r>
          </a:p>
          <a:p/>
          <a:p>
            <a:r>
              <a:t>SUGGESTED SLIDE TEXT:</a:t>
            </a:r>
          </a:p>
          <a:p>
            <a:r>
              <a:t>A guide for using data well — not a new system, and not a guarantee.</a:t>
            </a:r>
          </a:p>
          <a:p/>
          <a:p>
            <a:r>
              <a:t>SPEAKER POINT:</a:t>
            </a:r>
          </a:p>
          <a:p>
            <a:r>
              <a:t>This slide sets the boundary early. The harness is a reusable guide for mission context, data meaning, caveats, and answer expectations. It can inform Genie setup, documentation, onboarding, prompts, and future integrations.</a:t>
            </a:r>
          </a:p>
          <a:p/>
          <a:p>
            <a:r>
              <a:t>Just as important, it is not a database, a system of record, a security bypass, a replacement for Genie, a replacement for data owners or stewards, a way to add unlimited tables or views to Genie, a guarantee that every answer is correct, or deployed middleware in V1.</a:t>
            </a:r>
          </a:p>
          <a:p/>
          <a:p>
            <a:r>
              <a:t>The simple message is: the harness improves interpretation and consistency, but it does not override governance.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A USCIS Data Context Example</a:t>
            </a:r>
          </a:p>
          <a:p>
            <a:endParaRPr/>
          </a:p>
          <a:p>
            <a:r>
              <a:t>SUGGESTED SLIDE TEXT:</a:t>
            </a:r>
          </a:p>
          <a:p>
            <a:r>
              <a:t>The metric alone is rarely the whole story.</a:t>
            </a:r>
          </a:p>
          <a:p>
            <a:endParaRPr/>
          </a:p>
          <a:p>
            <a:r>
              <a:t>SPEAKER POINT:</a:t>
            </a:r>
          </a:p>
          <a:p>
            <a:r>
              <a:t>Keep this generic. Do not use real office names, real metrics, named systems, or sensitive workflows.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Before and After a Harness</a:t>
            </a:r>
          </a:p>
          <a:p>
            <a:endParaRPr/>
          </a:p>
          <a:p>
            <a:r>
              <a:t>SUGGESTED SLIDE TEXT:</a:t>
            </a:r>
          </a:p>
          <a:p>
            <a:r>
              <a:t>The harness helps the assistant explain what the number means, not just repeat the number.</a:t>
            </a:r>
          </a:p>
          <a:p>
            <a:endParaRPr/>
          </a:p>
          <a:p>
            <a:r>
              <a:t>SPEAKER POINT:</a:t>
            </a:r>
          </a:p>
          <a:p>
            <a:r>
              <a:t>The improvement is groundedness and usefulness, not guaranteed correctness.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Using the Harness in Databricks</a:t>
            </a:r>
          </a:p>
          <a:p>
            <a:endParaRPr/>
          </a:p>
          <a:p>
            <a:r>
              <a:t>SUGGESTED SLIDE TEXT:</a:t>
            </a:r>
          </a:p>
          <a:p>
            <a:r>
              <a:t>Genie Space supports governed data conversations. The harness helps those conversations carry the right CDAO context.</a:t>
            </a:r>
          </a:p>
          <a:p>
            <a:endParaRPr/>
          </a:p>
          <a:p>
            <a:r>
              <a:t>SPEAKER POINT:</a:t>
            </a:r>
          </a:p>
          <a:p>
            <a:r>
              <a:t>This is an additive relationship. The harness does not replace Genie instructions, metadata, trusted assets, or Unity Catalog governance.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Where the Harness Fits in the Target Architecture</a:t>
            </a:r>
          </a:p>
          <a:p/>
          <a:p>
            <a:r>
              <a:t>SUGGESTED SLIDE TEXT:</a:t>
            </a:r>
          </a:p>
          <a:p>
            <a:r>
              <a:t>Joe's architecture shows how CDAO moves from source systems to standardized, governed data products. The harness adds the reviewed context layer at the point of consumption.</a:t>
            </a:r>
          </a:p>
          <a:p/>
          <a:p>
            <a:r>
              <a:t>SPEAKER POINT:</a:t>
            </a:r>
          </a:p>
          <a:p>
            <a:r>
              <a:t>This slide connects Joe's target architecture to the harness concept without overclaiming the implementation. The flow is source systems, consolidation, semantic/metadata guidance, transformation and standardization, an ODS or serving layer, governed data products, and then consumption through Genie/NL and SQL/Python.</a:t>
            </a:r>
          </a:p>
          <a:p/>
          <a:p>
            <a:r>
              <a:t>The harness does not replace any of those layers. It gives the consumption paths the same reviewed definitions, caveats, counting logic, example questions, and answer expectations.</a:t>
            </a:r>
          </a:p>
          <a:p/>
          <a:p>
            <a:r>
              <a:t>Use careful language: the harness standardizes interpretation and can inform Genie instructions, documentation, trusted examples, and future approved integrations. It should not be described as automatically enforcing every count or as deployed middleware unless that implementation is confirmed.</a:t>
            </a:r>
          </a:p>
          <a:p/>
          <a:p>
            <a:r>
              <a:t>The sharing node remains visible because Joe's diagram included it, but treat it as its own policy/access boundary. External sharing depends on approvals, agreements, privacy, and access controls.</a:t>
            </a:r>
          </a:p>
          <a:p/>
          <a:p>
            <a:r>
              <a:t>The feedback loop is intentionally small: user feedback, benchmark questions, and monitoring can improve the harness, Genie setup, and data products over time.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Governance Stays in Databricks / Unity Catalog</a:t>
            </a:r>
          </a:p>
          <a:p>
            <a:endParaRPr/>
          </a:p>
          <a:p>
            <a:r>
              <a:t>SUGGESTED SLIDE TEXT:</a:t>
            </a:r>
          </a:p>
          <a:p>
            <a:r>
              <a:t>Better context does not replace governed access.</a:t>
            </a:r>
          </a:p>
          <a:p>
            <a:endParaRPr/>
          </a:p>
          <a:p>
            <a:r>
              <a:t>SPEAKER POINT:</a:t>
            </a:r>
          </a:p>
          <a:p>
            <a:r>
              <a:t>This is the trust boundary: the harness helps answers become more useful, but the governed platform remains the control point.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How a Harness Is Built</a:t>
            </a:r>
          </a:p>
          <a:p/>
          <a:p>
            <a:r>
              <a:t>SUGGESTED SLIDE TEXT:</a:t>
            </a:r>
          </a:p>
          <a:p>
            <a:r>
              <a:t>Build the playbook once; reuse the context many ways.</a:t>
            </a:r>
          </a:p>
          <a:p/>
          <a:p>
            <a:r>
              <a:t>SPEAKER POINT:</a:t>
            </a:r>
          </a:p>
          <a:p>
            <a:r>
              <a:t>Keep this practical. Start with one data product or use case. Identify the Genie Space and the tables or views involved. Then write plain-English definitions, caveats, mission context, approved counting logic, example questions, and examples of strong answers.</a:t>
            </a:r>
          </a:p>
          <a:p/>
          <a:p>
            <a:r>
              <a:t>The important addition is review. A Data Management steward checks the source meaning, definitions, lineage, freshness, and appropriate-use guidance. A Data Analytics lead validates the business question, interpretation, caveats, and examples.</a:t>
            </a:r>
          </a:p>
          <a:p/>
          <a:p>
            <a:r>
              <a:t>This keeps the harness from becoming a one-person prompt document. It becomes a small CDAO-owned playbook that can be reused in Genie, documentation, onboarding, and prompts.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How It Gets Reused</a:t>
            </a:r>
          </a:p>
          <a:p>
            <a:endParaRPr/>
          </a:p>
          <a:p>
            <a:r>
              <a:t>SUGGESTED SLIDE TEXT:</a:t>
            </a:r>
          </a:p>
          <a:p>
            <a:r>
              <a:t>The value is not one prompt. The value is reusable shared context.</a:t>
            </a:r>
          </a:p>
          <a:p>
            <a:endParaRPr/>
          </a:p>
          <a:p>
            <a:r>
              <a:t>SPEAKER POINT:</a:t>
            </a:r>
          </a:p>
          <a:p>
            <a:r>
              <a:t>Reuse requires stewardship review, not one-person prompt authorship.</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What We Need From CDAO Leadership</a:t>
            </a:r>
          </a:p>
          <a:p/>
          <a:p>
            <a:r>
              <a:t>SUGGESTED SLIDE TEXT:</a:t>
            </a:r>
          </a:p>
          <a:p>
            <a:r>
              <a:t>Start small, prove usefulness in 30 days, then decide what to scale.</a:t>
            </a:r>
          </a:p>
          <a:p/>
          <a:p>
            <a:r>
              <a:t>SPEAKER POINT:</a:t>
            </a:r>
          </a:p>
          <a:p>
            <a:r>
              <a:t>The ask is intentionally small. V1 is a reviewed playbook, not a new system. To start, CDAO needs one priority data product or use case, one Data Management steward, one Data Analytics validator, one Confluence harness page, one set of example questions and strong-answer examples, and a 30-day usefulness review.</a:t>
            </a:r>
          </a:p>
          <a:p/>
          <a:p>
            <a:r>
              <a:t>Future upgrades should only come after approval. Those could include Genie-specific instruction templates, trusted assets or benchmark questions, hosted interactive HTML, AI Search or retrieval for unstructured documents, and monitoring or feedback loops.</a:t>
            </a:r>
          </a:p>
          <a:p/>
          <a:p>
            <a:r>
              <a:t>The close is: let us prove the value with one small pilot before we scale the pattern.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image" Target="../media/repls4_image-1-1.png"/><Relationship Id="rId2" Type="http://schemas.openxmlformats.org/officeDocument/2006/relationships/image" Target="../media/repls4_image-1-2.png"/><Relationship Id="rId3" Type="http://schemas.openxmlformats.org/officeDocument/2006/relationships/image" Target="../media/repls4_image-1-3.png"/><Relationship Id="rId4" Type="http://schemas.openxmlformats.org/officeDocument/2006/relationships/image" Target="../media/repls4_image-1-4.png"/><Relationship Id="rId5" Type="http://schemas.openxmlformats.org/officeDocument/2006/relationships/image" Target="../media/repls4_image-1-5.png"/><Relationship Id="rId6" Type="http://schemas.openxmlformats.org/officeDocument/2006/relationships/image" Target="../media/repls4_image-1-6.png"/><Relationship Id="rId7" Type="http://schemas.openxmlformats.org/officeDocument/2006/relationships/image" Target="../media/repls4_image-1-7.png"/><Relationship Id="rId8" Type="http://schemas.openxmlformats.org/officeDocument/2006/relationships/image" Target="../media/repls4_image-1-8.png"/><Relationship Id="rId9" Type="http://schemas.openxmlformats.org/officeDocument/2006/relationships/image" Target="../media/repls4_image-1-9.png"/><Relationship Id="rId10" Type="http://schemas.openxmlformats.org/officeDocument/2006/relationships/image" Target="../media/repls4_image-1-10.png"/><Relationship Id="rId11" Type="http://schemas.openxmlformats.org/officeDocument/2006/relationships/image" Target="../media/repls4_image-1-11.png"/><Relationship Id="rId12" Type="http://schemas.openxmlformats.org/officeDocument/2006/relationships/slideLayout" Target="../slideLayouts/slideLayout7.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image" Target="../media/repls12_image-3-1.png"/><Relationship Id="rId2" Type="http://schemas.openxmlformats.org/officeDocument/2006/relationships/image" Target="../media/repls12_image-3-2.png"/><Relationship Id="rId3" Type="http://schemas.openxmlformats.org/officeDocument/2006/relationships/image" Target="../media/repls12_image-3-3.png"/><Relationship Id="rId4" Type="http://schemas.openxmlformats.org/officeDocument/2006/relationships/image" Target="../media/repls12_image-3-4.png"/><Relationship Id="rId5" Type="http://schemas.openxmlformats.org/officeDocument/2006/relationships/image" Target="../media/repls12_image-3-5.png"/><Relationship Id="rId6" Type="http://schemas.openxmlformats.org/officeDocument/2006/relationships/image" Target="../media/repls12_image-3-6.png"/><Relationship Id="rId7" Type="http://schemas.openxmlformats.org/officeDocument/2006/relationships/image" Target="../media/repls12_image-3-7.png"/><Relationship Id="rId8" Type="http://schemas.openxmlformats.org/officeDocument/2006/relationships/image" Target="../media/repls12_image-3-8.png"/><Relationship Id="rId9" Type="http://schemas.openxmlformats.org/officeDocument/2006/relationships/image" Target="../media/repls12_image-3-9.png"/><Relationship Id="rId10" Type="http://schemas.openxmlformats.org/officeDocument/2006/relationships/image" Target="../media/repls12_image-3-10.png"/><Relationship Id="rId11" Type="http://schemas.openxmlformats.org/officeDocument/2006/relationships/image" Target="../media/repls12_image-3-11.png"/><Relationship Id="rId12" Type="http://schemas.openxmlformats.org/officeDocument/2006/relationships/slideLayout" Target="../slideLayouts/slideLayout7.xml"/><Relationship Id="rId1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2920" y="457200"/>
            <a:ext cx="502920" cy="50800"/>
          </a:xfrm>
          <a:prstGeom prst="rect">
            <a:avLst/>
          </a:prstGeom>
          <a:solidFill>
            <a:srgbClr val="005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365760"/>
            <a:ext cx="7315200" cy="320040"/>
          </a:xfrm>
          <a:prstGeom prst="rect">
            <a:avLst/>
          </a:prstGeom>
          <a:noFill/>
        </p:spPr>
        <p:txBody>
          <a:bodyPr wrap="square" lIns="0" tIns="0" rIns="0" bIns="0" anchor="t">
            <a:spAutoFit/>
          </a:bodyPr>
          <a:lstStyle/>
          <a:p>
            <a:pPr algn="l"/>
            <a:r>
              <a:rPr sz="1200" b="1" spc="160">
                <a:solidFill>
                  <a:srgbClr val="005EA2"/>
                </a:solidFill>
                <a:latin typeface="Source Sans Pro"/>
              </a:rPr>
              <a:t>CDAO AI HARNESS BRIEFING</a:t>
            </a:r>
          </a:p>
        </p:txBody>
      </p:sp>
      <p:sp>
        <p:nvSpPr>
          <p:cNvPr id="4" name="TextBox 3"/>
          <p:cNvSpPr txBox="1"/>
          <p:nvPr/>
        </p:nvSpPr>
        <p:spPr>
          <a:xfrm>
            <a:off x="9601200" y="365760"/>
            <a:ext cx="2084831" cy="320040"/>
          </a:xfrm>
          <a:prstGeom prst="rect">
            <a:avLst/>
          </a:prstGeom>
          <a:noFill/>
        </p:spPr>
        <p:txBody>
          <a:bodyPr wrap="square" lIns="0" tIns="0" rIns="0" bIns="0" anchor="t">
            <a:spAutoFit/>
          </a:bodyPr>
          <a:lstStyle/>
          <a:p>
            <a:pPr algn="r"/>
            <a:r>
              <a:rPr sz="1200" b="1" spc="100">
                <a:solidFill>
                  <a:srgbClr val="A9AEB1"/>
                </a:solidFill>
                <a:latin typeface="Source Sans Pro"/>
              </a:rPr>
              <a:t>01 / 12</a:t>
            </a:r>
          </a:p>
        </p:txBody>
      </p:sp>
      <p:sp>
        <p:nvSpPr>
          <p:cNvPr id="5" name="TextBox 4"/>
          <p:cNvSpPr txBox="1"/>
          <p:nvPr/>
        </p:nvSpPr>
        <p:spPr>
          <a:xfrm>
            <a:off x="502920" y="603504"/>
            <a:ext cx="11183112" cy="640080"/>
          </a:xfrm>
          <a:prstGeom prst="rect">
            <a:avLst/>
          </a:prstGeom>
          <a:noFill/>
        </p:spPr>
        <p:txBody>
          <a:bodyPr wrap="square" lIns="0" tIns="0" rIns="0" bIns="0" anchor="t">
            <a:spAutoFit/>
          </a:bodyPr>
          <a:lstStyle/>
          <a:p>
            <a:pPr algn="l"/>
            <a:r>
              <a:rPr sz="3000" b="1">
                <a:solidFill>
                  <a:srgbClr val="162E51"/>
                </a:solidFill>
                <a:latin typeface="Source Sans Pro"/>
              </a:rPr>
              <a:t>Why AI Needs Context</a:t>
            </a:r>
          </a:p>
        </p:txBody>
      </p:sp>
      <p:pic>
        <p:nvPicPr>
          <p:cNvPr id="6" name="Picture 5" descr="01-context-matters.png"/>
          <p:cNvPicPr>
            <a:picLocks noChangeAspect="1"/>
          </p:cNvPicPr>
          <p:nvPr/>
        </p:nvPicPr>
        <p:blipFill>
          <a:blip r:embed="rId3"/>
          <a:stretch>
            <a:fillRect/>
          </a:stretch>
        </p:blipFill>
        <p:spPr>
          <a:xfrm>
            <a:off x="1432407" y="1078992"/>
            <a:ext cx="9326880" cy="5246370"/>
          </a:xfrm>
          <a:prstGeom prst="rect">
            <a:avLst/>
          </a:prstGeom>
        </p:spPr>
      </p:pic>
      <p:sp>
        <p:nvSpPr>
          <p:cNvPr id="7" name="TextBox 6"/>
          <p:cNvSpPr txBox="1"/>
          <p:nvPr/>
        </p:nvSpPr>
        <p:spPr>
          <a:xfrm>
            <a:off x="502920" y="6510528"/>
            <a:ext cx="9144000" cy="274320"/>
          </a:xfrm>
          <a:prstGeom prst="rect">
            <a:avLst/>
          </a:prstGeom>
          <a:noFill/>
        </p:spPr>
        <p:txBody>
          <a:bodyPr wrap="square" lIns="0" tIns="0" rIns="0" bIns="0" anchor="t">
            <a:spAutoFit/>
          </a:bodyPr>
          <a:lstStyle/>
          <a:p>
            <a:pPr algn="l"/>
            <a:r>
              <a:rPr sz="950" b="0">
                <a:solidFill>
                  <a:srgbClr val="A9AEB1"/>
                </a:solidFill>
                <a:latin typeface="Source Sans Pro"/>
              </a:rPr>
              <a:t>USCIS-aligned CDAO briefing style — pre-decisional draft. Not an official USCIS template.</a:t>
            </a:r>
          </a:p>
        </p:txBody>
      </p:sp>
      <p:sp>
        <p:nvSpPr>
          <p:cNvPr id="8" name="TextBox 7"/>
          <p:cNvSpPr txBox="1"/>
          <p:nvPr/>
        </p:nvSpPr>
        <p:spPr>
          <a:xfrm>
            <a:off x="10058400" y="6510528"/>
            <a:ext cx="1627632" cy="274320"/>
          </a:xfrm>
          <a:prstGeom prst="rect">
            <a:avLst/>
          </a:prstGeom>
          <a:noFill/>
        </p:spPr>
        <p:txBody>
          <a:bodyPr wrap="square" lIns="0" tIns="0" rIns="0" bIns="0" anchor="t">
            <a:spAutoFit/>
          </a:bodyPr>
          <a:lstStyle/>
          <a:p>
            <a:pPr algn="r"/>
            <a:r>
              <a:rPr sz="950" b="0">
                <a:solidFill>
                  <a:srgbClr val="A9AEB1"/>
                </a:solidFill>
                <a:latin typeface="Source Sans Pro"/>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2920" y="457200"/>
            <a:ext cx="502920" cy="50800"/>
          </a:xfrm>
          <a:prstGeom prst="rect">
            <a:avLst/>
          </a:prstGeom>
          <a:solidFill>
            <a:srgbClr val="005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365760"/>
            <a:ext cx="7315200" cy="320040"/>
          </a:xfrm>
          <a:prstGeom prst="rect">
            <a:avLst/>
          </a:prstGeom>
          <a:noFill/>
        </p:spPr>
        <p:txBody>
          <a:bodyPr wrap="square" lIns="0" tIns="0" rIns="0" bIns="0" anchor="t">
            <a:spAutoFit/>
          </a:bodyPr>
          <a:lstStyle/>
          <a:p>
            <a:pPr algn="l"/>
            <a:r>
              <a:rPr sz="1200" b="1" spc="160">
                <a:solidFill>
                  <a:srgbClr val="005EA2"/>
                </a:solidFill>
                <a:latin typeface="Source Sans Pro"/>
              </a:rPr>
              <a:t>CDAO AI HARNESS BRIEFING</a:t>
            </a:r>
          </a:p>
        </p:txBody>
      </p:sp>
      <p:sp>
        <p:nvSpPr>
          <p:cNvPr id="4" name="TextBox 3"/>
          <p:cNvSpPr txBox="1"/>
          <p:nvPr/>
        </p:nvSpPr>
        <p:spPr>
          <a:xfrm>
            <a:off x="9601200" y="365760"/>
            <a:ext cx="2084831" cy="320040"/>
          </a:xfrm>
          <a:prstGeom prst="rect">
            <a:avLst/>
          </a:prstGeom>
          <a:noFill/>
        </p:spPr>
        <p:txBody>
          <a:bodyPr wrap="square" lIns="0" tIns="0" rIns="0" bIns="0" anchor="t">
            <a:spAutoFit/>
          </a:bodyPr>
          <a:lstStyle/>
          <a:p>
            <a:pPr algn="r"/>
            <a:r>
              <a:rPr sz="1200" b="1" spc="100">
                <a:solidFill>
                  <a:srgbClr val="A9AEB1"/>
                </a:solidFill>
                <a:latin typeface="Source Sans Pro"/>
              </a:rPr>
              <a:t>02 / 12</a:t>
            </a:r>
          </a:p>
        </p:txBody>
      </p:sp>
      <p:sp>
        <p:nvSpPr>
          <p:cNvPr id="5" name="TextBox 4"/>
          <p:cNvSpPr txBox="1"/>
          <p:nvPr/>
        </p:nvSpPr>
        <p:spPr>
          <a:xfrm>
            <a:off x="502920" y="603504"/>
            <a:ext cx="11183112" cy="640080"/>
          </a:xfrm>
          <a:prstGeom prst="rect">
            <a:avLst/>
          </a:prstGeom>
          <a:noFill/>
        </p:spPr>
        <p:txBody>
          <a:bodyPr wrap="square" lIns="0" tIns="0" rIns="0" bIns="0" anchor="t">
            <a:spAutoFit/>
          </a:bodyPr>
          <a:lstStyle/>
          <a:p>
            <a:pPr algn="l"/>
            <a:r>
              <a:rPr sz="3000" b="1">
                <a:solidFill>
                  <a:srgbClr val="162E51"/>
                </a:solidFill>
                <a:latin typeface="Source Sans Pro"/>
              </a:rPr>
              <a:t>Student Without the Course Guide</a:t>
            </a:r>
          </a:p>
        </p:txBody>
      </p:sp>
      <p:pic>
        <p:nvPicPr>
          <p:cNvPr id="6" name="Picture 5" descr="02-student-without-guide.png"/>
          <p:cNvPicPr>
            <a:picLocks noChangeAspect="1"/>
          </p:cNvPicPr>
          <p:nvPr/>
        </p:nvPicPr>
        <p:blipFill>
          <a:blip r:embed="rId3"/>
          <a:stretch>
            <a:fillRect/>
          </a:stretch>
        </p:blipFill>
        <p:spPr>
          <a:xfrm>
            <a:off x="1432407" y="1078992"/>
            <a:ext cx="9326880" cy="5246370"/>
          </a:xfrm>
          <a:prstGeom prst="rect">
            <a:avLst/>
          </a:prstGeom>
        </p:spPr>
      </p:pic>
      <p:sp>
        <p:nvSpPr>
          <p:cNvPr id="7" name="TextBox 6"/>
          <p:cNvSpPr txBox="1"/>
          <p:nvPr/>
        </p:nvSpPr>
        <p:spPr>
          <a:xfrm>
            <a:off x="502920" y="6510528"/>
            <a:ext cx="9144000" cy="274320"/>
          </a:xfrm>
          <a:prstGeom prst="rect">
            <a:avLst/>
          </a:prstGeom>
          <a:noFill/>
        </p:spPr>
        <p:txBody>
          <a:bodyPr wrap="square" lIns="0" tIns="0" rIns="0" bIns="0" anchor="t">
            <a:spAutoFit/>
          </a:bodyPr>
          <a:lstStyle/>
          <a:p>
            <a:pPr algn="l"/>
            <a:r>
              <a:rPr sz="950" b="0">
                <a:solidFill>
                  <a:srgbClr val="A9AEB1"/>
                </a:solidFill>
                <a:latin typeface="Source Sans Pro"/>
              </a:rPr>
              <a:t>USCIS-aligned CDAO briefing style — pre-decisional draft. Not an official USCIS template.</a:t>
            </a:r>
          </a:p>
        </p:txBody>
      </p:sp>
      <p:sp>
        <p:nvSpPr>
          <p:cNvPr id="8" name="TextBox 7"/>
          <p:cNvSpPr txBox="1"/>
          <p:nvPr/>
        </p:nvSpPr>
        <p:spPr>
          <a:xfrm>
            <a:off x="10058400" y="6510528"/>
            <a:ext cx="1627632" cy="274320"/>
          </a:xfrm>
          <a:prstGeom prst="rect">
            <a:avLst/>
          </a:prstGeom>
          <a:noFill/>
        </p:spPr>
        <p:txBody>
          <a:bodyPr wrap="square" lIns="0" tIns="0" rIns="0" bIns="0" anchor="t">
            <a:spAutoFit/>
          </a:bodyPr>
          <a:lstStyle/>
          <a:p>
            <a:pPr algn="r"/>
            <a:r>
              <a:rPr sz="950" b="0">
                <a:solidFill>
                  <a:srgbClr val="A9AEB1"/>
                </a:solidFill>
                <a:latin typeface="Source Sans Pro"/>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2920" y="457200"/>
            <a:ext cx="502920" cy="50800"/>
          </a:xfrm>
          <a:prstGeom prst="rect">
            <a:avLst/>
          </a:prstGeom>
          <a:solidFill>
            <a:srgbClr val="005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365760"/>
            <a:ext cx="7315200" cy="320040"/>
          </a:xfrm>
          <a:prstGeom prst="rect">
            <a:avLst/>
          </a:prstGeom>
          <a:noFill/>
        </p:spPr>
        <p:txBody>
          <a:bodyPr wrap="square" lIns="0" tIns="0" rIns="0" bIns="0" anchor="t">
            <a:spAutoFit/>
          </a:bodyPr>
          <a:lstStyle/>
          <a:p>
            <a:pPr algn="l"/>
            <a:r>
              <a:rPr sz="1200" b="1" spc="160">
                <a:solidFill>
                  <a:srgbClr val="005EA2"/>
                </a:solidFill>
                <a:latin typeface="Source Sans Pro"/>
              </a:rPr>
              <a:t>CDAO AI HARNESS BRIEFING</a:t>
            </a:r>
          </a:p>
        </p:txBody>
      </p:sp>
      <p:sp>
        <p:nvSpPr>
          <p:cNvPr id="4" name="TextBox 3"/>
          <p:cNvSpPr txBox="1"/>
          <p:nvPr/>
        </p:nvSpPr>
        <p:spPr>
          <a:xfrm>
            <a:off x="9601200" y="365760"/>
            <a:ext cx="2084831" cy="320040"/>
          </a:xfrm>
          <a:prstGeom prst="rect">
            <a:avLst/>
          </a:prstGeom>
          <a:noFill/>
        </p:spPr>
        <p:txBody>
          <a:bodyPr wrap="square" lIns="0" tIns="0" rIns="0" bIns="0" anchor="t">
            <a:spAutoFit/>
          </a:bodyPr>
          <a:lstStyle/>
          <a:p>
            <a:pPr algn="r"/>
            <a:r>
              <a:rPr sz="1200" b="1" spc="100">
                <a:solidFill>
                  <a:srgbClr val="A9AEB1"/>
                </a:solidFill>
                <a:latin typeface="Source Sans Pro"/>
              </a:rPr>
              <a:t>03 / 12</a:t>
            </a:r>
          </a:p>
        </p:txBody>
      </p:sp>
      <p:sp>
        <p:nvSpPr>
          <p:cNvPr id="5" name="TextBox 4"/>
          <p:cNvSpPr txBox="1"/>
          <p:nvPr/>
        </p:nvSpPr>
        <p:spPr>
          <a:xfrm>
            <a:off x="502920" y="603504"/>
            <a:ext cx="11183112" cy="640080"/>
          </a:xfrm>
          <a:prstGeom prst="rect">
            <a:avLst/>
          </a:prstGeom>
          <a:noFill/>
        </p:spPr>
        <p:txBody>
          <a:bodyPr wrap="square" lIns="0" tIns="0" rIns="0" bIns="0" anchor="t">
            <a:spAutoFit/>
          </a:bodyPr>
          <a:lstStyle/>
          <a:p>
            <a:pPr algn="l"/>
            <a:r>
              <a:rPr sz="3000" b="1">
                <a:solidFill>
                  <a:srgbClr val="162E51"/>
                </a:solidFill>
                <a:latin typeface="Source Sans Pro"/>
              </a:rPr>
              <a:t>Student With the Course Guide</a:t>
            </a:r>
          </a:p>
        </p:txBody>
      </p:sp>
      <p:pic>
        <p:nvPicPr>
          <p:cNvPr id="6" name="Picture 5" descr="03-student-with-guide.png"/>
          <p:cNvPicPr>
            <a:picLocks noChangeAspect="1"/>
          </p:cNvPicPr>
          <p:nvPr/>
        </p:nvPicPr>
        <p:blipFill>
          <a:blip r:embed="rId3"/>
          <a:stretch>
            <a:fillRect/>
          </a:stretch>
        </p:blipFill>
        <p:spPr>
          <a:xfrm>
            <a:off x="1432407" y="1078992"/>
            <a:ext cx="9326880" cy="5246370"/>
          </a:xfrm>
          <a:prstGeom prst="rect">
            <a:avLst/>
          </a:prstGeom>
        </p:spPr>
      </p:pic>
      <p:sp>
        <p:nvSpPr>
          <p:cNvPr id="7" name="TextBox 6"/>
          <p:cNvSpPr txBox="1"/>
          <p:nvPr/>
        </p:nvSpPr>
        <p:spPr>
          <a:xfrm>
            <a:off x="502920" y="6510528"/>
            <a:ext cx="9144000" cy="274320"/>
          </a:xfrm>
          <a:prstGeom prst="rect">
            <a:avLst/>
          </a:prstGeom>
          <a:noFill/>
        </p:spPr>
        <p:txBody>
          <a:bodyPr wrap="square" lIns="0" tIns="0" rIns="0" bIns="0" anchor="t">
            <a:spAutoFit/>
          </a:bodyPr>
          <a:lstStyle/>
          <a:p>
            <a:pPr algn="l"/>
            <a:r>
              <a:rPr sz="950" b="0">
                <a:solidFill>
                  <a:srgbClr val="A9AEB1"/>
                </a:solidFill>
                <a:latin typeface="Source Sans Pro"/>
              </a:rPr>
              <a:t>USCIS-aligned CDAO briefing style — pre-decisional draft. Not an official USCIS template.</a:t>
            </a:r>
          </a:p>
        </p:txBody>
      </p:sp>
      <p:sp>
        <p:nvSpPr>
          <p:cNvPr id="8" name="TextBox 7"/>
          <p:cNvSpPr txBox="1"/>
          <p:nvPr/>
        </p:nvSpPr>
        <p:spPr>
          <a:xfrm>
            <a:off x="10058400" y="6510528"/>
            <a:ext cx="1627632" cy="274320"/>
          </a:xfrm>
          <a:prstGeom prst="rect">
            <a:avLst/>
          </a:prstGeom>
          <a:noFill/>
        </p:spPr>
        <p:txBody>
          <a:bodyPr wrap="square" lIns="0" tIns="0" rIns="0" bIns="0" anchor="t">
            <a:spAutoFit/>
          </a:bodyPr>
          <a:lstStyle/>
          <a:p>
            <a:pPr algn="r"/>
            <a:r>
              <a:rPr sz="950" b="0">
                <a:solidFill>
                  <a:srgbClr val="A9AEB1"/>
                </a:solidFill>
                <a:latin typeface="Source Sans Pro"/>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9768"/>
            <a:ext cx="310896" cy="0"/>
          </a:xfrm>
          <a:prstGeom prst="line">
            <a:avLst/>
          </a:prstGeom>
          <a:noFill/>
          <a:ln w="30480">
            <a:solidFill>
              <a:srgbClr val="162E51"/>
            </a:solidFill>
            <a:prstDash val="solid"/>
          </a:ln>
        </p:spPr>
      </p:sp>
      <p:sp>
        <p:nvSpPr>
          <p:cNvPr id="3" name="Text 1"/>
          <p:cNvSpPr/>
          <p:nvPr/>
        </p:nvSpPr>
        <p:spPr>
          <a:xfrm>
            <a:off x="932688" y="347472"/>
            <a:ext cx="7315200" cy="274320"/>
          </a:xfrm>
          <a:prstGeom prst="rect">
            <a:avLst/>
          </a:prstGeom>
          <a:noFill/>
          <a:ln/>
        </p:spPr>
        <p:txBody>
          <a:bodyPr wrap="square" lIns="0" tIns="0" rIns="0" bIns="0" rtlCol="0" anchor="ctr"/>
          <a:lstStyle/>
          <a:p>
            <a:pPr algn="l" indent="0" marL="0">
              <a:lnSpc>
                <a:spcPct val="100000"/>
              </a:lnSpc>
              <a:buNone/>
            </a:pPr>
            <a:r>
              <a:rPr lang="en-US" sz="1100" b="1" spc="140" kern="0" dirty="0">
                <a:solidFill>
                  <a:srgbClr val="162E51"/>
                </a:solidFill>
                <a:latin typeface="Source Sans Pro" pitchFamily="34" charset="0"/>
                <a:ea typeface="Source Sans Pro" pitchFamily="34" charset="-122"/>
                <a:cs typeface="Source Sans Pro" pitchFamily="34" charset="-120"/>
              </a:rPr>
              <a:t>CDAO AI HARNESS BRIEFING</a:t>
            </a:r>
            <a:endParaRPr lang="en-US" sz="1100" dirty="0"/>
          </a:p>
        </p:txBody>
      </p:sp>
      <p:sp>
        <p:nvSpPr>
          <p:cNvPr id="4" name="Text 2"/>
          <p:cNvSpPr/>
          <p:nvPr/>
        </p:nvSpPr>
        <p:spPr>
          <a:xfrm>
            <a:off x="9784080" y="329184"/>
            <a:ext cx="1828800" cy="274320"/>
          </a:xfrm>
          <a:prstGeom prst="rect">
            <a:avLst/>
          </a:prstGeom>
          <a:noFill/>
          <a:ln/>
        </p:spPr>
        <p:txBody>
          <a:bodyPr wrap="square" lIns="0" tIns="0" rIns="0" bIns="0" rtlCol="0" anchor="ctr"/>
          <a:lstStyle/>
          <a:p>
            <a:pPr algn="r" indent="0" marL="0">
              <a:lnSpc>
                <a:spcPct val="100000"/>
              </a:lnSpc>
              <a:buNone/>
            </a:pPr>
            <a:r>
              <a:rPr lang="en-US" sz="1200" b="1" dirty="0">
                <a:solidFill>
                  <a:srgbClr val="162E51"/>
                </a:solidFill>
                <a:latin typeface="Source Sans Pro" pitchFamily="34" charset="0"/>
                <a:ea typeface="Source Sans Pro" pitchFamily="34" charset="-122"/>
                <a:cs typeface="Source Sans Pro" pitchFamily="34" charset="-120"/>
              </a:rPr>
              <a:t>04 / 12</a:t>
            </a:r>
            <a:endParaRPr lang="en-US" sz="1200" dirty="0"/>
          </a:p>
        </p:txBody>
      </p:sp>
      <p:sp>
        <p:nvSpPr>
          <p:cNvPr id="5" name="Text 3"/>
          <p:cNvSpPr/>
          <p:nvPr/>
        </p:nvSpPr>
        <p:spPr>
          <a:xfrm>
            <a:off x="548640" y="713232"/>
            <a:ext cx="11064240" cy="658368"/>
          </a:xfrm>
          <a:prstGeom prst="rect">
            <a:avLst/>
          </a:prstGeom>
          <a:noFill/>
          <a:ln/>
        </p:spPr>
        <p:txBody>
          <a:bodyPr wrap="square" lIns="0" tIns="0" rIns="0" bIns="0" rtlCol="0" anchor="ctr"/>
          <a:lstStyle/>
          <a:p>
            <a:pPr algn="l" indent="0" marL="0">
              <a:lnSpc>
                <a:spcPct val="100000"/>
              </a:lnSpc>
              <a:buNone/>
            </a:pPr>
            <a:r>
              <a:rPr lang="en-US" sz="3000" b="1" dirty="0">
                <a:solidFill>
                  <a:srgbClr val="162E51"/>
                </a:solidFill>
                <a:latin typeface="Source Sans Pro" pitchFamily="34" charset="0"/>
                <a:ea typeface="Source Sans Pro" pitchFamily="34" charset="-122"/>
                <a:cs typeface="Source Sans Pro" pitchFamily="34" charset="-120"/>
              </a:rPr>
              <a:t>What a Harness Is / Is Not</a:t>
            </a:r>
            <a:endParaRPr lang="en-US" sz="3000" dirty="0"/>
          </a:p>
        </p:txBody>
      </p:sp>
      <p:sp>
        <p:nvSpPr>
          <p:cNvPr id="6" name="Shape 4"/>
          <p:cNvSpPr/>
          <p:nvPr/>
        </p:nvSpPr>
        <p:spPr>
          <a:xfrm>
            <a:off x="5852160" y="5870448"/>
            <a:ext cx="457200" cy="0"/>
          </a:xfrm>
          <a:prstGeom prst="line">
            <a:avLst/>
          </a:prstGeom>
          <a:noFill/>
          <a:ln w="25400">
            <a:solidFill>
              <a:srgbClr val="162E51"/>
            </a:solidFill>
            <a:prstDash val="solid"/>
          </a:ln>
        </p:spPr>
      </p:sp>
      <p:sp>
        <p:nvSpPr>
          <p:cNvPr id="7" name="Text 5"/>
          <p:cNvSpPr/>
          <p:nvPr/>
        </p:nvSpPr>
        <p:spPr>
          <a:xfrm>
            <a:off x="1463040" y="5989320"/>
            <a:ext cx="9235440" cy="274320"/>
          </a:xfrm>
          <a:prstGeom prst="rect">
            <a:avLst/>
          </a:prstGeom>
          <a:noFill/>
          <a:ln/>
        </p:spPr>
        <p:txBody>
          <a:bodyPr wrap="square" lIns="0" tIns="0" rIns="0" bIns="0" rtlCol="0" anchor="t"/>
          <a:lstStyle/>
          <a:p>
            <a:pPr algn="ctr" indent="0" marL="0">
              <a:lnSpc>
                <a:spcPct val="100000"/>
              </a:lnSpc>
              <a:buNone/>
            </a:pPr>
            <a:r>
              <a:rPr lang="en-US" sz="1300" b="1" dirty="0">
                <a:solidFill>
                  <a:srgbClr val="162E51"/>
                </a:solidFill>
                <a:latin typeface="Calibri" pitchFamily="34" charset="0"/>
                <a:ea typeface="Calibri" pitchFamily="34" charset="-122"/>
                <a:cs typeface="Calibri" pitchFamily="34" charset="-120"/>
              </a:rPr>
              <a:t>A guide for using data well — not a new system, and not a guarantee.</a:t>
            </a:r>
            <a:endParaRPr lang="en-US" sz="1300" dirty="0"/>
          </a:p>
        </p:txBody>
      </p:sp>
      <p:sp>
        <p:nvSpPr>
          <p:cNvPr id="8" name="Text 6"/>
          <p:cNvSpPr/>
          <p:nvPr/>
        </p:nvSpPr>
        <p:spPr>
          <a:xfrm>
            <a:off x="548640" y="6510528"/>
            <a:ext cx="10058400" cy="274320"/>
          </a:xfrm>
          <a:prstGeom prst="rect">
            <a:avLst/>
          </a:prstGeom>
          <a:noFill/>
          <a:ln/>
        </p:spPr>
        <p:txBody>
          <a:bodyPr wrap="square" lIns="0" tIns="0" rIns="0" bIns="0" rtlCol="0" anchor="t"/>
          <a:lstStyle/>
          <a:p>
            <a:pPr algn="l" indent="0" marL="0">
              <a:lnSpc>
                <a:spcPct val="100000"/>
              </a:lnSpc>
              <a:buNone/>
            </a:pPr>
            <a:r>
              <a:rPr lang="en-US" sz="1000" dirty="0">
                <a:solidFill>
                  <a:srgbClr val="9AA4B2"/>
                </a:solidFill>
                <a:latin typeface="Calibri" pitchFamily="34" charset="0"/>
                <a:ea typeface="Calibri" pitchFamily="34" charset="-122"/>
                <a:cs typeface="Calibri" pitchFamily="34" charset="-120"/>
              </a:rPr>
              <a:t>USCIS-aligned CDAO briefing style — pre-decisional draft. Not an official USCIS template.</a:t>
            </a:r>
            <a:endParaRPr lang="en-US" sz="1000" dirty="0"/>
          </a:p>
        </p:txBody>
      </p:sp>
      <p:sp>
        <p:nvSpPr>
          <p:cNvPr id="9" name="Text 7"/>
          <p:cNvSpPr/>
          <p:nvPr/>
        </p:nvSpPr>
        <p:spPr>
          <a:xfrm>
            <a:off x="11338560" y="6510528"/>
            <a:ext cx="548640" cy="274320"/>
          </a:xfrm>
          <a:prstGeom prst="rect">
            <a:avLst/>
          </a:prstGeom>
          <a:noFill/>
          <a:ln/>
        </p:spPr>
        <p:txBody>
          <a:bodyPr wrap="square" lIns="0" tIns="0" rIns="0" bIns="0" rtlCol="0" anchor="t"/>
          <a:lstStyle/>
          <a:p>
            <a:pPr algn="r" indent="0" marL="0">
              <a:lnSpc>
                <a:spcPct val="100000"/>
              </a:lnSpc>
              <a:buNone/>
            </a:pPr>
            <a:r>
              <a:rPr lang="en-US" sz="1000" dirty="0">
                <a:solidFill>
                  <a:srgbClr val="9AA4B2"/>
                </a:solidFill>
                <a:latin typeface="Calibri" pitchFamily="34" charset="0"/>
                <a:ea typeface="Calibri" pitchFamily="34" charset="-122"/>
                <a:cs typeface="Calibri" pitchFamily="34" charset="-120"/>
              </a:rPr>
              <a:t>04</a:t>
            </a:r>
            <a:endParaRPr lang="en-US" sz="1000" dirty="0"/>
          </a:p>
        </p:txBody>
      </p:sp>
      <p:sp>
        <p:nvSpPr>
          <p:cNvPr id="10" name="Text 8"/>
          <p:cNvSpPr/>
          <p:nvPr/>
        </p:nvSpPr>
        <p:spPr>
          <a:xfrm>
            <a:off x="640080" y="1645920"/>
            <a:ext cx="4206240" cy="310896"/>
          </a:xfrm>
          <a:prstGeom prst="rect">
            <a:avLst/>
          </a:prstGeom>
          <a:noFill/>
          <a:ln/>
        </p:spPr>
        <p:txBody>
          <a:bodyPr wrap="square" lIns="0" tIns="0" rIns="0" bIns="0" rtlCol="0" anchor="t"/>
          <a:lstStyle/>
          <a:p>
            <a:pPr algn="l" indent="0" marL="0">
              <a:lnSpc>
                <a:spcPct val="100000"/>
              </a:lnSpc>
              <a:buNone/>
            </a:pPr>
            <a:r>
              <a:rPr lang="en-US" sz="1300" b="1" spc="120" kern="0" dirty="0">
                <a:solidFill>
                  <a:srgbClr val="2E7D52"/>
                </a:solidFill>
                <a:latin typeface="Calibri" pitchFamily="34" charset="0"/>
                <a:ea typeface="Calibri" pitchFamily="34" charset="-122"/>
                <a:cs typeface="Calibri" pitchFamily="34" charset="-120"/>
              </a:rPr>
              <a:t>IT IS</a:t>
            </a:r>
            <a:endParaRPr lang="en-US" sz="1300" dirty="0"/>
          </a:p>
        </p:txBody>
      </p:sp>
      <p:pic>
        <p:nvPicPr>
          <p:cNvPr id="11" name="Image 0" descr="preencoded.png">    </p:cNvPr>
          <p:cNvPicPr>
            <a:picLocks noChangeAspect="1"/>
          </p:cNvPicPr>
          <p:nvPr/>
        </p:nvPicPr>
        <p:blipFill>
          <a:blip r:embed="rId1"/>
          <a:stretch>
            <a:fillRect/>
          </a:stretch>
        </p:blipFill>
        <p:spPr>
          <a:xfrm>
            <a:off x="640080" y="2075688"/>
            <a:ext cx="237744" cy="237744"/>
          </a:xfrm>
          <a:prstGeom prst="rect">
            <a:avLst/>
          </a:prstGeom>
        </p:spPr>
      </p:pic>
      <p:sp>
        <p:nvSpPr>
          <p:cNvPr id="12" name="Text 9"/>
          <p:cNvSpPr/>
          <p:nvPr/>
        </p:nvSpPr>
        <p:spPr>
          <a:xfrm>
            <a:off x="969264" y="2020824"/>
            <a:ext cx="3886200" cy="914400"/>
          </a:xfrm>
          <a:prstGeom prst="rect">
            <a:avLst/>
          </a:prstGeom>
          <a:noFill/>
          <a:ln/>
        </p:spPr>
        <p:txBody>
          <a:bodyPr wrap="square" lIns="0" tIns="0" rIns="0" bIns="0" rtlCol="0" anchor="t"/>
          <a:lstStyle/>
          <a:p>
            <a:pPr algn="l" indent="0" marL="0">
              <a:lnSpc>
                <a:spcPct val="100000"/>
              </a:lnSpc>
              <a:buNone/>
            </a:pPr>
            <a:r>
              <a:rPr lang="en-US" sz="1350" dirty="0">
                <a:solidFill>
                  <a:srgbClr val="1B2733"/>
                </a:solidFill>
                <a:latin typeface="Calibri" pitchFamily="34" charset="0"/>
                <a:ea typeface="Calibri" pitchFamily="34" charset="-122"/>
                <a:cs typeface="Calibri" pitchFamily="34" charset="-120"/>
              </a:rPr>
              <a:t>A reusable guide for mission context, data meaning, caveats, and answer expectations</a:t>
            </a:r>
            <a:endParaRPr lang="en-US" sz="1350" dirty="0"/>
          </a:p>
        </p:txBody>
      </p:sp>
      <p:pic>
        <p:nvPicPr>
          <p:cNvPr id="13" name="Image 1" descr="preencoded.png">    </p:cNvPr>
          <p:cNvPicPr>
            <a:picLocks noChangeAspect="1"/>
          </p:cNvPicPr>
          <p:nvPr/>
        </p:nvPicPr>
        <p:blipFill>
          <a:blip r:embed="rId2"/>
          <a:stretch>
            <a:fillRect/>
          </a:stretch>
        </p:blipFill>
        <p:spPr>
          <a:xfrm>
            <a:off x="640080" y="3154680"/>
            <a:ext cx="237744" cy="237744"/>
          </a:xfrm>
          <a:prstGeom prst="rect">
            <a:avLst/>
          </a:prstGeom>
        </p:spPr>
      </p:pic>
      <p:sp>
        <p:nvSpPr>
          <p:cNvPr id="14" name="Text 10"/>
          <p:cNvSpPr/>
          <p:nvPr/>
        </p:nvSpPr>
        <p:spPr>
          <a:xfrm>
            <a:off x="969264" y="3099816"/>
            <a:ext cx="3886200" cy="914400"/>
          </a:xfrm>
          <a:prstGeom prst="rect">
            <a:avLst/>
          </a:prstGeom>
          <a:noFill/>
          <a:ln/>
        </p:spPr>
        <p:txBody>
          <a:bodyPr wrap="square" lIns="0" tIns="0" rIns="0" bIns="0" rtlCol="0" anchor="t"/>
          <a:lstStyle/>
          <a:p>
            <a:pPr algn="l" indent="0" marL="0">
              <a:lnSpc>
                <a:spcPct val="100000"/>
              </a:lnSpc>
              <a:buNone/>
            </a:pPr>
            <a:r>
              <a:rPr lang="en-US" sz="1350" dirty="0">
                <a:solidFill>
                  <a:srgbClr val="1B2733"/>
                </a:solidFill>
                <a:latin typeface="Calibri" pitchFamily="34" charset="0"/>
                <a:ea typeface="Calibri" pitchFamily="34" charset="-122"/>
                <a:cs typeface="Calibri" pitchFamily="34" charset="-120"/>
              </a:rPr>
              <a:t>A plain-English playbook for AI-assisted analysis</a:t>
            </a:r>
            <a:endParaRPr lang="en-US" sz="1350" dirty="0"/>
          </a:p>
        </p:txBody>
      </p:sp>
      <p:pic>
        <p:nvPicPr>
          <p:cNvPr id="15" name="Image 2" descr="preencoded.png">    </p:cNvPr>
          <p:cNvPicPr>
            <a:picLocks noChangeAspect="1"/>
          </p:cNvPicPr>
          <p:nvPr/>
        </p:nvPicPr>
        <p:blipFill>
          <a:blip r:embed="rId3"/>
          <a:stretch>
            <a:fillRect/>
          </a:stretch>
        </p:blipFill>
        <p:spPr>
          <a:xfrm>
            <a:off x="640080" y="4233672"/>
            <a:ext cx="237744" cy="237744"/>
          </a:xfrm>
          <a:prstGeom prst="rect">
            <a:avLst/>
          </a:prstGeom>
        </p:spPr>
      </p:pic>
      <p:sp>
        <p:nvSpPr>
          <p:cNvPr id="16" name="Text 11"/>
          <p:cNvSpPr/>
          <p:nvPr/>
        </p:nvSpPr>
        <p:spPr>
          <a:xfrm>
            <a:off x="969264" y="4178808"/>
            <a:ext cx="3886200" cy="914400"/>
          </a:xfrm>
          <a:prstGeom prst="rect">
            <a:avLst/>
          </a:prstGeom>
          <a:noFill/>
          <a:ln/>
        </p:spPr>
        <p:txBody>
          <a:bodyPr wrap="square" lIns="0" tIns="0" rIns="0" bIns="0" rtlCol="0" anchor="t"/>
          <a:lstStyle/>
          <a:p>
            <a:pPr algn="l" indent="0" marL="0">
              <a:lnSpc>
                <a:spcPct val="100000"/>
              </a:lnSpc>
              <a:buNone/>
            </a:pPr>
            <a:r>
              <a:rPr lang="en-US" sz="1350" dirty="0">
                <a:solidFill>
                  <a:srgbClr val="1B2733"/>
                </a:solidFill>
                <a:latin typeface="Calibri" pitchFamily="34" charset="0"/>
                <a:ea typeface="Calibri" pitchFamily="34" charset="-122"/>
                <a:cs typeface="Calibri" pitchFamily="34" charset="-120"/>
              </a:rPr>
              <a:t>Reviewed context that can inform Genie setup, documentation, onboarding, prompts, and future integrations</a:t>
            </a:r>
            <a:endParaRPr lang="en-US" sz="1350" dirty="0"/>
          </a:p>
        </p:txBody>
      </p:sp>
      <p:sp>
        <p:nvSpPr>
          <p:cNvPr id="17" name="Shape 12"/>
          <p:cNvSpPr/>
          <p:nvPr/>
        </p:nvSpPr>
        <p:spPr>
          <a:xfrm>
            <a:off x="5074920" y="1755648"/>
            <a:ext cx="0" cy="3657600"/>
          </a:xfrm>
          <a:prstGeom prst="line">
            <a:avLst/>
          </a:prstGeom>
          <a:noFill/>
          <a:ln w="12700">
            <a:solidFill>
              <a:srgbClr val="D5DEE9"/>
            </a:solidFill>
            <a:prstDash val="solid"/>
          </a:ln>
        </p:spPr>
      </p:sp>
      <p:sp>
        <p:nvSpPr>
          <p:cNvPr id="18" name="Text 13"/>
          <p:cNvSpPr/>
          <p:nvPr/>
        </p:nvSpPr>
        <p:spPr>
          <a:xfrm>
            <a:off x="5349240" y="1645920"/>
            <a:ext cx="6400800" cy="310896"/>
          </a:xfrm>
          <a:prstGeom prst="rect">
            <a:avLst/>
          </a:prstGeom>
          <a:noFill/>
          <a:ln/>
        </p:spPr>
        <p:txBody>
          <a:bodyPr wrap="square" lIns="0" tIns="0" rIns="0" bIns="0" rtlCol="0" anchor="t"/>
          <a:lstStyle/>
          <a:p>
            <a:pPr algn="l" indent="0" marL="0">
              <a:lnSpc>
                <a:spcPct val="100000"/>
              </a:lnSpc>
              <a:buNone/>
            </a:pPr>
            <a:r>
              <a:rPr lang="en-US" sz="1300" b="1" spc="120" kern="0" dirty="0">
                <a:solidFill>
                  <a:srgbClr val="B23A2E"/>
                </a:solidFill>
                <a:latin typeface="Calibri" pitchFamily="34" charset="0"/>
                <a:ea typeface="Calibri" pitchFamily="34" charset="-122"/>
                <a:cs typeface="Calibri" pitchFamily="34" charset="-120"/>
              </a:rPr>
              <a:t>IT IS NOT</a:t>
            </a:r>
            <a:endParaRPr lang="en-US" sz="1300" dirty="0"/>
          </a:p>
        </p:txBody>
      </p:sp>
      <p:pic>
        <p:nvPicPr>
          <p:cNvPr id="19" name="Image 3" descr="preencoded.png">    </p:cNvPr>
          <p:cNvPicPr>
            <a:picLocks noChangeAspect="1"/>
          </p:cNvPicPr>
          <p:nvPr/>
        </p:nvPicPr>
        <p:blipFill>
          <a:blip r:embed="rId4"/>
          <a:stretch>
            <a:fillRect/>
          </a:stretch>
        </p:blipFill>
        <p:spPr>
          <a:xfrm>
            <a:off x="5349240" y="2093976"/>
            <a:ext cx="219456" cy="219456"/>
          </a:xfrm>
          <a:prstGeom prst="rect">
            <a:avLst/>
          </a:prstGeom>
        </p:spPr>
      </p:pic>
      <p:sp>
        <p:nvSpPr>
          <p:cNvPr id="20" name="Text 14"/>
          <p:cNvSpPr/>
          <p:nvPr/>
        </p:nvSpPr>
        <p:spPr>
          <a:xfrm>
            <a:off x="5660136" y="2048256"/>
            <a:ext cx="5852160" cy="365760"/>
          </a:xfrm>
          <a:prstGeom prst="rect">
            <a:avLst/>
          </a:prstGeom>
          <a:noFill/>
          <a:ln/>
        </p:spPr>
        <p:txBody>
          <a:bodyPr wrap="square" lIns="0" tIns="0" rIns="0" bIns="0" rtlCol="0" anchor="ctr"/>
          <a:lstStyle/>
          <a:p>
            <a:pPr algn="l" indent="0" marL="0">
              <a:lnSpc>
                <a:spcPct val="100000"/>
              </a:lnSpc>
              <a:buNone/>
            </a:pPr>
            <a:r>
              <a:rPr lang="en-US" sz="1400" dirty="0">
                <a:solidFill>
                  <a:srgbClr val="1B2733"/>
                </a:solidFill>
                <a:latin typeface="Calibri" pitchFamily="34" charset="0"/>
                <a:ea typeface="Calibri" pitchFamily="34" charset="-122"/>
                <a:cs typeface="Calibri" pitchFamily="34" charset="-120"/>
              </a:rPr>
              <a:t>A new database</a:t>
            </a:r>
            <a:endParaRPr lang="en-US" sz="1400" dirty="0"/>
          </a:p>
        </p:txBody>
      </p:sp>
      <p:pic>
        <p:nvPicPr>
          <p:cNvPr id="21" name="Image 4" descr="preencoded.png">    </p:cNvPr>
          <p:cNvPicPr>
            <a:picLocks noChangeAspect="1"/>
          </p:cNvPicPr>
          <p:nvPr/>
        </p:nvPicPr>
        <p:blipFill>
          <a:blip r:embed="rId5"/>
          <a:stretch>
            <a:fillRect/>
          </a:stretch>
        </p:blipFill>
        <p:spPr>
          <a:xfrm>
            <a:off x="5349240" y="2532888"/>
            <a:ext cx="219456" cy="219456"/>
          </a:xfrm>
          <a:prstGeom prst="rect">
            <a:avLst/>
          </a:prstGeom>
        </p:spPr>
      </p:pic>
      <p:sp>
        <p:nvSpPr>
          <p:cNvPr id="22" name="Text 15"/>
          <p:cNvSpPr/>
          <p:nvPr/>
        </p:nvSpPr>
        <p:spPr>
          <a:xfrm>
            <a:off x="5660136" y="2487168"/>
            <a:ext cx="5852160" cy="365760"/>
          </a:xfrm>
          <a:prstGeom prst="rect">
            <a:avLst/>
          </a:prstGeom>
          <a:noFill/>
          <a:ln/>
        </p:spPr>
        <p:txBody>
          <a:bodyPr wrap="square" lIns="0" tIns="0" rIns="0" bIns="0" rtlCol="0" anchor="ctr"/>
          <a:lstStyle/>
          <a:p>
            <a:pPr algn="l" indent="0" marL="0">
              <a:lnSpc>
                <a:spcPct val="100000"/>
              </a:lnSpc>
              <a:buNone/>
            </a:pPr>
            <a:r>
              <a:rPr lang="en-US" sz="1400" dirty="0">
                <a:solidFill>
                  <a:srgbClr val="1B2733"/>
                </a:solidFill>
                <a:latin typeface="Calibri" pitchFamily="34" charset="0"/>
                <a:ea typeface="Calibri" pitchFamily="34" charset="-122"/>
                <a:cs typeface="Calibri" pitchFamily="34" charset="-120"/>
              </a:rPr>
              <a:t>A system of record</a:t>
            </a:r>
            <a:endParaRPr lang="en-US" sz="1400" dirty="0"/>
          </a:p>
        </p:txBody>
      </p:sp>
      <p:pic>
        <p:nvPicPr>
          <p:cNvPr id="23" name="Image 5" descr="preencoded.png">    </p:cNvPr>
          <p:cNvPicPr>
            <a:picLocks noChangeAspect="1"/>
          </p:cNvPicPr>
          <p:nvPr/>
        </p:nvPicPr>
        <p:blipFill>
          <a:blip r:embed="rId6"/>
          <a:stretch>
            <a:fillRect/>
          </a:stretch>
        </p:blipFill>
        <p:spPr>
          <a:xfrm>
            <a:off x="5349240" y="2971800"/>
            <a:ext cx="219456" cy="219456"/>
          </a:xfrm>
          <a:prstGeom prst="rect">
            <a:avLst/>
          </a:prstGeom>
        </p:spPr>
      </p:pic>
      <p:sp>
        <p:nvSpPr>
          <p:cNvPr id="24" name="Text 16"/>
          <p:cNvSpPr/>
          <p:nvPr/>
        </p:nvSpPr>
        <p:spPr>
          <a:xfrm>
            <a:off x="5660136" y="2926080"/>
            <a:ext cx="5852160" cy="365760"/>
          </a:xfrm>
          <a:prstGeom prst="rect">
            <a:avLst/>
          </a:prstGeom>
          <a:noFill/>
          <a:ln/>
        </p:spPr>
        <p:txBody>
          <a:bodyPr wrap="square" lIns="0" tIns="0" rIns="0" bIns="0" rtlCol="0" anchor="ctr"/>
          <a:lstStyle/>
          <a:p>
            <a:pPr algn="l" indent="0" marL="0">
              <a:lnSpc>
                <a:spcPct val="100000"/>
              </a:lnSpc>
              <a:buNone/>
            </a:pPr>
            <a:r>
              <a:rPr lang="en-US" sz="1400" dirty="0">
                <a:solidFill>
                  <a:srgbClr val="1B2733"/>
                </a:solidFill>
                <a:latin typeface="Calibri" pitchFamily="34" charset="0"/>
                <a:ea typeface="Calibri" pitchFamily="34" charset="-122"/>
                <a:cs typeface="Calibri" pitchFamily="34" charset="-120"/>
              </a:rPr>
              <a:t>A security or permissions bypass</a:t>
            </a:r>
            <a:endParaRPr lang="en-US" sz="1400" dirty="0"/>
          </a:p>
        </p:txBody>
      </p:sp>
      <p:pic>
        <p:nvPicPr>
          <p:cNvPr id="25" name="Image 6" descr="preencoded.png">    </p:cNvPr>
          <p:cNvPicPr>
            <a:picLocks noChangeAspect="1"/>
          </p:cNvPicPr>
          <p:nvPr/>
        </p:nvPicPr>
        <p:blipFill>
          <a:blip r:embed="rId7"/>
          <a:stretch>
            <a:fillRect/>
          </a:stretch>
        </p:blipFill>
        <p:spPr>
          <a:xfrm>
            <a:off x="5349240" y="3410712"/>
            <a:ext cx="219456" cy="219456"/>
          </a:xfrm>
          <a:prstGeom prst="rect">
            <a:avLst/>
          </a:prstGeom>
        </p:spPr>
      </p:pic>
      <p:sp>
        <p:nvSpPr>
          <p:cNvPr id="26" name="Text 17"/>
          <p:cNvSpPr/>
          <p:nvPr/>
        </p:nvSpPr>
        <p:spPr>
          <a:xfrm>
            <a:off x="5660136" y="3364992"/>
            <a:ext cx="5852160" cy="365760"/>
          </a:xfrm>
          <a:prstGeom prst="rect">
            <a:avLst/>
          </a:prstGeom>
          <a:noFill/>
          <a:ln/>
        </p:spPr>
        <p:txBody>
          <a:bodyPr wrap="square" lIns="0" tIns="0" rIns="0" bIns="0" rtlCol="0" anchor="ctr"/>
          <a:lstStyle/>
          <a:p>
            <a:pPr algn="l" indent="0" marL="0">
              <a:lnSpc>
                <a:spcPct val="100000"/>
              </a:lnSpc>
              <a:buNone/>
            </a:pPr>
            <a:r>
              <a:rPr lang="en-US" sz="1400" dirty="0">
                <a:solidFill>
                  <a:srgbClr val="1B2733"/>
                </a:solidFill>
                <a:latin typeface="Calibri" pitchFamily="34" charset="0"/>
                <a:ea typeface="Calibri" pitchFamily="34" charset="-122"/>
                <a:cs typeface="Calibri" pitchFamily="34" charset="-120"/>
              </a:rPr>
              <a:t>A replacement for Databricks Genie</a:t>
            </a:r>
            <a:endParaRPr lang="en-US" sz="1400" dirty="0"/>
          </a:p>
        </p:txBody>
      </p:sp>
      <p:pic>
        <p:nvPicPr>
          <p:cNvPr id="27" name="Image 7" descr="preencoded.png">    </p:cNvPr>
          <p:cNvPicPr>
            <a:picLocks noChangeAspect="1"/>
          </p:cNvPicPr>
          <p:nvPr/>
        </p:nvPicPr>
        <p:blipFill>
          <a:blip r:embed="rId8"/>
          <a:stretch>
            <a:fillRect/>
          </a:stretch>
        </p:blipFill>
        <p:spPr>
          <a:xfrm>
            <a:off x="5349240" y="3849624"/>
            <a:ext cx="219456" cy="219456"/>
          </a:xfrm>
          <a:prstGeom prst="rect">
            <a:avLst/>
          </a:prstGeom>
        </p:spPr>
      </p:pic>
      <p:sp>
        <p:nvSpPr>
          <p:cNvPr id="28" name="Text 18"/>
          <p:cNvSpPr/>
          <p:nvPr/>
        </p:nvSpPr>
        <p:spPr>
          <a:xfrm>
            <a:off x="5660136" y="3803904"/>
            <a:ext cx="5852160" cy="365760"/>
          </a:xfrm>
          <a:prstGeom prst="rect">
            <a:avLst/>
          </a:prstGeom>
          <a:noFill/>
          <a:ln/>
        </p:spPr>
        <p:txBody>
          <a:bodyPr wrap="square" lIns="0" tIns="0" rIns="0" bIns="0" rtlCol="0" anchor="ctr"/>
          <a:lstStyle/>
          <a:p>
            <a:pPr algn="l" indent="0" marL="0">
              <a:lnSpc>
                <a:spcPct val="100000"/>
              </a:lnSpc>
              <a:buNone/>
            </a:pPr>
            <a:r>
              <a:rPr lang="en-US" sz="1400" dirty="0">
                <a:solidFill>
                  <a:srgbClr val="1B2733"/>
                </a:solidFill>
                <a:latin typeface="Calibri" pitchFamily="34" charset="0"/>
                <a:ea typeface="Calibri" pitchFamily="34" charset="-122"/>
                <a:cs typeface="Calibri" pitchFamily="34" charset="-120"/>
              </a:rPr>
              <a:t>A replacement for data owners or stewards</a:t>
            </a:r>
            <a:endParaRPr lang="en-US" sz="1400" dirty="0"/>
          </a:p>
        </p:txBody>
      </p:sp>
      <p:pic>
        <p:nvPicPr>
          <p:cNvPr id="29" name="Image 8" descr="preencoded.png">    </p:cNvPr>
          <p:cNvPicPr>
            <a:picLocks noChangeAspect="1"/>
          </p:cNvPicPr>
          <p:nvPr/>
        </p:nvPicPr>
        <p:blipFill>
          <a:blip r:embed="rId9"/>
          <a:stretch>
            <a:fillRect/>
          </a:stretch>
        </p:blipFill>
        <p:spPr>
          <a:xfrm>
            <a:off x="5349240" y="4288536"/>
            <a:ext cx="219456" cy="219456"/>
          </a:xfrm>
          <a:prstGeom prst="rect">
            <a:avLst/>
          </a:prstGeom>
        </p:spPr>
      </p:pic>
      <p:sp>
        <p:nvSpPr>
          <p:cNvPr id="30" name="Text 19"/>
          <p:cNvSpPr/>
          <p:nvPr/>
        </p:nvSpPr>
        <p:spPr>
          <a:xfrm>
            <a:off x="5660136" y="4242816"/>
            <a:ext cx="5852160" cy="365760"/>
          </a:xfrm>
          <a:prstGeom prst="rect">
            <a:avLst/>
          </a:prstGeom>
          <a:noFill/>
          <a:ln/>
        </p:spPr>
        <p:txBody>
          <a:bodyPr wrap="square" lIns="0" tIns="0" rIns="0" bIns="0" rtlCol="0" anchor="ctr"/>
          <a:lstStyle/>
          <a:p>
            <a:pPr algn="l" indent="0" marL="0">
              <a:lnSpc>
                <a:spcPct val="100000"/>
              </a:lnSpc>
              <a:buNone/>
            </a:pPr>
            <a:r>
              <a:rPr lang="en-US" sz="1400" dirty="0">
                <a:solidFill>
                  <a:srgbClr val="1B2733"/>
                </a:solidFill>
                <a:latin typeface="Calibri" pitchFamily="34" charset="0"/>
                <a:ea typeface="Calibri" pitchFamily="34" charset="-122"/>
                <a:cs typeface="Calibri" pitchFamily="34" charset="-120"/>
              </a:rPr>
              <a:t>A way to add unlimited tables or views to Genie</a:t>
            </a:r>
            <a:endParaRPr lang="en-US" sz="1400" dirty="0"/>
          </a:p>
        </p:txBody>
      </p:sp>
      <p:pic>
        <p:nvPicPr>
          <p:cNvPr id="31" name="Image 9" descr="preencoded.png">    </p:cNvPr>
          <p:cNvPicPr>
            <a:picLocks noChangeAspect="1"/>
          </p:cNvPicPr>
          <p:nvPr/>
        </p:nvPicPr>
        <p:blipFill>
          <a:blip r:embed="rId10"/>
          <a:stretch>
            <a:fillRect/>
          </a:stretch>
        </p:blipFill>
        <p:spPr>
          <a:xfrm>
            <a:off x="5349240" y="4727448"/>
            <a:ext cx="219456" cy="219456"/>
          </a:xfrm>
          <a:prstGeom prst="rect">
            <a:avLst/>
          </a:prstGeom>
        </p:spPr>
      </p:pic>
      <p:sp>
        <p:nvSpPr>
          <p:cNvPr id="32" name="Text 20"/>
          <p:cNvSpPr/>
          <p:nvPr/>
        </p:nvSpPr>
        <p:spPr>
          <a:xfrm>
            <a:off x="5660136" y="4681728"/>
            <a:ext cx="5852160" cy="365760"/>
          </a:xfrm>
          <a:prstGeom prst="rect">
            <a:avLst/>
          </a:prstGeom>
          <a:noFill/>
          <a:ln/>
        </p:spPr>
        <p:txBody>
          <a:bodyPr wrap="square" lIns="0" tIns="0" rIns="0" bIns="0" rtlCol="0" anchor="ctr"/>
          <a:lstStyle/>
          <a:p>
            <a:pPr algn="l" indent="0" marL="0">
              <a:lnSpc>
                <a:spcPct val="100000"/>
              </a:lnSpc>
              <a:buNone/>
            </a:pPr>
            <a:r>
              <a:rPr lang="en-US" sz="1400" dirty="0">
                <a:solidFill>
                  <a:srgbClr val="1B2733"/>
                </a:solidFill>
                <a:latin typeface="Calibri" pitchFamily="34" charset="0"/>
                <a:ea typeface="Calibri" pitchFamily="34" charset="-122"/>
                <a:cs typeface="Calibri" pitchFamily="34" charset="-120"/>
              </a:rPr>
              <a:t>A guarantee that every answer is correct</a:t>
            </a:r>
            <a:endParaRPr lang="en-US" sz="1400" dirty="0"/>
          </a:p>
        </p:txBody>
      </p:sp>
      <p:pic>
        <p:nvPicPr>
          <p:cNvPr id="33" name="Image 10" descr="preencoded.png">    </p:cNvPr>
          <p:cNvPicPr>
            <a:picLocks noChangeAspect="1"/>
          </p:cNvPicPr>
          <p:nvPr/>
        </p:nvPicPr>
        <p:blipFill>
          <a:blip r:embed="rId11"/>
          <a:stretch>
            <a:fillRect/>
          </a:stretch>
        </p:blipFill>
        <p:spPr>
          <a:xfrm>
            <a:off x="5349240" y="5166360"/>
            <a:ext cx="219456" cy="219456"/>
          </a:xfrm>
          <a:prstGeom prst="rect">
            <a:avLst/>
          </a:prstGeom>
        </p:spPr>
      </p:pic>
      <p:sp>
        <p:nvSpPr>
          <p:cNvPr id="34" name="Text 21"/>
          <p:cNvSpPr/>
          <p:nvPr/>
        </p:nvSpPr>
        <p:spPr>
          <a:xfrm>
            <a:off x="5660136" y="5120640"/>
            <a:ext cx="5852160" cy="365760"/>
          </a:xfrm>
          <a:prstGeom prst="rect">
            <a:avLst/>
          </a:prstGeom>
          <a:noFill/>
          <a:ln/>
        </p:spPr>
        <p:txBody>
          <a:bodyPr wrap="square" lIns="0" tIns="0" rIns="0" bIns="0" rtlCol="0" anchor="ctr"/>
          <a:lstStyle/>
          <a:p>
            <a:pPr algn="l" indent="0" marL="0">
              <a:lnSpc>
                <a:spcPct val="100000"/>
              </a:lnSpc>
              <a:buNone/>
            </a:pPr>
            <a:r>
              <a:rPr lang="en-US" sz="1400" dirty="0">
                <a:solidFill>
                  <a:srgbClr val="1B2733"/>
                </a:solidFill>
                <a:latin typeface="Calibri" pitchFamily="34" charset="0"/>
                <a:ea typeface="Calibri" pitchFamily="34" charset="-122"/>
                <a:cs typeface="Calibri" pitchFamily="34" charset="-120"/>
              </a:rPr>
              <a:t>An already-deployed middleware service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2920" y="457200"/>
            <a:ext cx="502920" cy="50800"/>
          </a:xfrm>
          <a:prstGeom prst="rect">
            <a:avLst/>
          </a:prstGeom>
          <a:solidFill>
            <a:srgbClr val="005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365760"/>
            <a:ext cx="7315200" cy="320040"/>
          </a:xfrm>
          <a:prstGeom prst="rect">
            <a:avLst/>
          </a:prstGeom>
          <a:noFill/>
        </p:spPr>
        <p:txBody>
          <a:bodyPr wrap="square" lIns="0" tIns="0" rIns="0" bIns="0" anchor="t">
            <a:spAutoFit/>
          </a:bodyPr>
          <a:lstStyle/>
          <a:p>
            <a:pPr algn="l"/>
            <a:r>
              <a:rPr sz="1200" b="1" spc="160">
                <a:solidFill>
                  <a:srgbClr val="005EA2"/>
                </a:solidFill>
                <a:latin typeface="Source Sans Pro"/>
              </a:rPr>
              <a:t>CDAO AI HARNESS BRIEFING</a:t>
            </a:r>
          </a:p>
        </p:txBody>
      </p:sp>
      <p:sp>
        <p:nvSpPr>
          <p:cNvPr id="4" name="TextBox 3"/>
          <p:cNvSpPr txBox="1"/>
          <p:nvPr/>
        </p:nvSpPr>
        <p:spPr>
          <a:xfrm>
            <a:off x="9601200" y="365760"/>
            <a:ext cx="2084831" cy="320040"/>
          </a:xfrm>
          <a:prstGeom prst="rect">
            <a:avLst/>
          </a:prstGeom>
          <a:noFill/>
        </p:spPr>
        <p:txBody>
          <a:bodyPr wrap="square" lIns="0" tIns="0" rIns="0" bIns="0" anchor="t">
            <a:spAutoFit/>
          </a:bodyPr>
          <a:lstStyle/>
          <a:p>
            <a:pPr algn="r"/>
            <a:r>
              <a:rPr sz="1200" b="1" spc="100">
                <a:solidFill>
                  <a:srgbClr val="A9AEB1"/>
                </a:solidFill>
                <a:latin typeface="Source Sans Pro"/>
              </a:rPr>
              <a:t>05 / 12</a:t>
            </a:r>
          </a:p>
        </p:txBody>
      </p:sp>
      <p:sp>
        <p:nvSpPr>
          <p:cNvPr id="5" name="TextBox 4"/>
          <p:cNvSpPr txBox="1"/>
          <p:nvPr/>
        </p:nvSpPr>
        <p:spPr>
          <a:xfrm>
            <a:off x="502920" y="603504"/>
            <a:ext cx="11183112" cy="640080"/>
          </a:xfrm>
          <a:prstGeom prst="rect">
            <a:avLst/>
          </a:prstGeom>
          <a:noFill/>
        </p:spPr>
        <p:txBody>
          <a:bodyPr wrap="square" lIns="0" tIns="0" rIns="0" bIns="0" anchor="t">
            <a:spAutoFit/>
          </a:bodyPr>
          <a:lstStyle/>
          <a:p>
            <a:pPr algn="l"/>
            <a:r>
              <a:rPr sz="3000" b="1">
                <a:solidFill>
                  <a:srgbClr val="162E51"/>
                </a:solidFill>
                <a:latin typeface="Source Sans Pro"/>
              </a:rPr>
              <a:t>A USCIS Data Context Example</a:t>
            </a:r>
          </a:p>
        </p:txBody>
      </p:sp>
      <p:pic>
        <p:nvPicPr>
          <p:cNvPr id="6" name="Picture 5" descr="05-uscis-context-chips.png"/>
          <p:cNvPicPr>
            <a:picLocks noChangeAspect="1"/>
          </p:cNvPicPr>
          <p:nvPr/>
        </p:nvPicPr>
        <p:blipFill>
          <a:blip r:embed="rId3"/>
          <a:stretch>
            <a:fillRect/>
          </a:stretch>
        </p:blipFill>
        <p:spPr>
          <a:xfrm>
            <a:off x="1450695" y="1078992"/>
            <a:ext cx="9326880" cy="5246370"/>
          </a:xfrm>
          <a:prstGeom prst="rect">
            <a:avLst/>
          </a:prstGeom>
        </p:spPr>
      </p:pic>
      <p:sp>
        <p:nvSpPr>
          <p:cNvPr id="7" name="TextBox 6"/>
          <p:cNvSpPr txBox="1"/>
          <p:nvPr/>
        </p:nvSpPr>
        <p:spPr>
          <a:xfrm>
            <a:off x="502920" y="6510528"/>
            <a:ext cx="9144000" cy="274320"/>
          </a:xfrm>
          <a:prstGeom prst="rect">
            <a:avLst/>
          </a:prstGeom>
          <a:noFill/>
        </p:spPr>
        <p:txBody>
          <a:bodyPr wrap="square" lIns="0" tIns="0" rIns="0" bIns="0" anchor="t">
            <a:spAutoFit/>
          </a:bodyPr>
          <a:lstStyle/>
          <a:p>
            <a:pPr algn="l"/>
            <a:r>
              <a:rPr sz="950" b="0">
                <a:solidFill>
                  <a:srgbClr val="A9AEB1"/>
                </a:solidFill>
                <a:latin typeface="Source Sans Pro"/>
              </a:rPr>
              <a:t>USCIS-aligned CDAO briefing style — pre-decisional draft. Not an official USCIS template.</a:t>
            </a:r>
          </a:p>
        </p:txBody>
      </p:sp>
      <p:sp>
        <p:nvSpPr>
          <p:cNvPr id="8" name="TextBox 7"/>
          <p:cNvSpPr txBox="1"/>
          <p:nvPr/>
        </p:nvSpPr>
        <p:spPr>
          <a:xfrm>
            <a:off x="10058400" y="6510528"/>
            <a:ext cx="1627632" cy="274320"/>
          </a:xfrm>
          <a:prstGeom prst="rect">
            <a:avLst/>
          </a:prstGeom>
          <a:noFill/>
        </p:spPr>
        <p:txBody>
          <a:bodyPr wrap="square" lIns="0" tIns="0" rIns="0" bIns="0" anchor="t">
            <a:spAutoFit/>
          </a:bodyPr>
          <a:lstStyle/>
          <a:p>
            <a:pPr algn="r"/>
            <a:r>
              <a:rPr sz="950" b="0">
                <a:solidFill>
                  <a:srgbClr val="A9AEB1"/>
                </a:solidFill>
                <a:latin typeface="Source Sans Pro"/>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2920" y="457200"/>
            <a:ext cx="502920" cy="50800"/>
          </a:xfrm>
          <a:prstGeom prst="rect">
            <a:avLst/>
          </a:prstGeom>
          <a:solidFill>
            <a:srgbClr val="005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365760"/>
            <a:ext cx="7315200" cy="320040"/>
          </a:xfrm>
          <a:prstGeom prst="rect">
            <a:avLst/>
          </a:prstGeom>
          <a:noFill/>
        </p:spPr>
        <p:txBody>
          <a:bodyPr wrap="square" lIns="0" tIns="0" rIns="0" bIns="0" anchor="t">
            <a:spAutoFit/>
          </a:bodyPr>
          <a:lstStyle/>
          <a:p>
            <a:pPr algn="l"/>
            <a:r>
              <a:rPr sz="1200" b="1" spc="160">
                <a:solidFill>
                  <a:srgbClr val="005EA2"/>
                </a:solidFill>
                <a:latin typeface="Source Sans Pro"/>
              </a:rPr>
              <a:t>CDAO AI HARNESS BRIEFING</a:t>
            </a:r>
          </a:p>
        </p:txBody>
      </p:sp>
      <p:sp>
        <p:nvSpPr>
          <p:cNvPr id="4" name="TextBox 3"/>
          <p:cNvSpPr txBox="1"/>
          <p:nvPr/>
        </p:nvSpPr>
        <p:spPr>
          <a:xfrm>
            <a:off x="9601200" y="365760"/>
            <a:ext cx="2084831" cy="320040"/>
          </a:xfrm>
          <a:prstGeom prst="rect">
            <a:avLst/>
          </a:prstGeom>
          <a:noFill/>
        </p:spPr>
        <p:txBody>
          <a:bodyPr wrap="square" lIns="0" tIns="0" rIns="0" bIns="0" anchor="t">
            <a:spAutoFit/>
          </a:bodyPr>
          <a:lstStyle/>
          <a:p>
            <a:pPr algn="r"/>
            <a:r>
              <a:rPr sz="1200" b="1" spc="100">
                <a:solidFill>
                  <a:srgbClr val="A9AEB1"/>
                </a:solidFill>
                <a:latin typeface="Source Sans Pro"/>
              </a:rPr>
              <a:t>06 / 12</a:t>
            </a:r>
          </a:p>
        </p:txBody>
      </p:sp>
      <p:sp>
        <p:nvSpPr>
          <p:cNvPr id="5" name="TextBox 4"/>
          <p:cNvSpPr txBox="1"/>
          <p:nvPr/>
        </p:nvSpPr>
        <p:spPr>
          <a:xfrm>
            <a:off x="502920" y="603504"/>
            <a:ext cx="11183112" cy="640080"/>
          </a:xfrm>
          <a:prstGeom prst="rect">
            <a:avLst/>
          </a:prstGeom>
          <a:noFill/>
        </p:spPr>
        <p:txBody>
          <a:bodyPr wrap="square" lIns="0" tIns="0" rIns="0" bIns="0" anchor="t">
            <a:spAutoFit/>
          </a:bodyPr>
          <a:lstStyle/>
          <a:p>
            <a:pPr algn="l"/>
            <a:r>
              <a:rPr sz="3000" b="1">
                <a:solidFill>
                  <a:srgbClr val="162E51"/>
                </a:solidFill>
                <a:latin typeface="Source Sans Pro"/>
              </a:rPr>
              <a:t>Before and After a Harness</a:t>
            </a:r>
          </a:p>
        </p:txBody>
      </p:sp>
      <p:pic>
        <p:nvPicPr>
          <p:cNvPr id="6" name="Picture 5" descr="06-before-after-answer.png"/>
          <p:cNvPicPr>
            <a:picLocks noChangeAspect="1"/>
          </p:cNvPicPr>
          <p:nvPr/>
        </p:nvPicPr>
        <p:blipFill>
          <a:blip r:embed="rId3"/>
          <a:stretch>
            <a:fillRect/>
          </a:stretch>
        </p:blipFill>
        <p:spPr>
          <a:xfrm>
            <a:off x="1432407" y="1078992"/>
            <a:ext cx="9326880" cy="5246370"/>
          </a:xfrm>
          <a:prstGeom prst="rect">
            <a:avLst/>
          </a:prstGeom>
        </p:spPr>
      </p:pic>
      <p:sp>
        <p:nvSpPr>
          <p:cNvPr id="7" name="TextBox 6"/>
          <p:cNvSpPr txBox="1"/>
          <p:nvPr/>
        </p:nvSpPr>
        <p:spPr>
          <a:xfrm>
            <a:off x="502920" y="6510528"/>
            <a:ext cx="9144000" cy="274320"/>
          </a:xfrm>
          <a:prstGeom prst="rect">
            <a:avLst/>
          </a:prstGeom>
          <a:noFill/>
        </p:spPr>
        <p:txBody>
          <a:bodyPr wrap="square" lIns="0" tIns="0" rIns="0" bIns="0" anchor="t">
            <a:spAutoFit/>
          </a:bodyPr>
          <a:lstStyle/>
          <a:p>
            <a:pPr algn="l"/>
            <a:r>
              <a:rPr sz="950" b="0">
                <a:solidFill>
                  <a:srgbClr val="A9AEB1"/>
                </a:solidFill>
                <a:latin typeface="Source Sans Pro"/>
              </a:rPr>
              <a:t>USCIS-aligned CDAO briefing style — pre-decisional draft. Not an official USCIS template.</a:t>
            </a:r>
          </a:p>
        </p:txBody>
      </p:sp>
      <p:sp>
        <p:nvSpPr>
          <p:cNvPr id="8" name="TextBox 7"/>
          <p:cNvSpPr txBox="1"/>
          <p:nvPr/>
        </p:nvSpPr>
        <p:spPr>
          <a:xfrm>
            <a:off x="10058400" y="6510528"/>
            <a:ext cx="1627632" cy="274320"/>
          </a:xfrm>
          <a:prstGeom prst="rect">
            <a:avLst/>
          </a:prstGeom>
          <a:noFill/>
        </p:spPr>
        <p:txBody>
          <a:bodyPr wrap="square" lIns="0" tIns="0" rIns="0" bIns="0" anchor="t">
            <a:spAutoFit/>
          </a:bodyPr>
          <a:lstStyle/>
          <a:p>
            <a:pPr algn="r"/>
            <a:r>
              <a:rPr sz="950" b="0">
                <a:solidFill>
                  <a:srgbClr val="A9AEB1"/>
                </a:solidFill>
                <a:latin typeface="Source Sans Pro"/>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2920" y="457200"/>
            <a:ext cx="502920" cy="50800"/>
          </a:xfrm>
          <a:prstGeom prst="rect">
            <a:avLst/>
          </a:prstGeom>
          <a:solidFill>
            <a:srgbClr val="005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365760"/>
            <a:ext cx="7315200" cy="320040"/>
          </a:xfrm>
          <a:prstGeom prst="rect">
            <a:avLst/>
          </a:prstGeom>
          <a:noFill/>
        </p:spPr>
        <p:txBody>
          <a:bodyPr wrap="square" lIns="0" tIns="0" rIns="0" bIns="0" anchor="t">
            <a:spAutoFit/>
          </a:bodyPr>
          <a:lstStyle/>
          <a:p>
            <a:pPr algn="l"/>
            <a:r>
              <a:rPr sz="1200" b="1" spc="160">
                <a:solidFill>
                  <a:srgbClr val="005EA2"/>
                </a:solidFill>
                <a:latin typeface="Source Sans Pro"/>
              </a:rPr>
              <a:t>CDAO AI HARNESS BRIEFING</a:t>
            </a:r>
          </a:p>
        </p:txBody>
      </p:sp>
      <p:sp>
        <p:nvSpPr>
          <p:cNvPr id="4" name="TextBox 3"/>
          <p:cNvSpPr txBox="1"/>
          <p:nvPr/>
        </p:nvSpPr>
        <p:spPr>
          <a:xfrm>
            <a:off x="9601200" y="365760"/>
            <a:ext cx="2084831" cy="320040"/>
          </a:xfrm>
          <a:prstGeom prst="rect">
            <a:avLst/>
          </a:prstGeom>
          <a:noFill/>
        </p:spPr>
        <p:txBody>
          <a:bodyPr wrap="square" lIns="0" tIns="0" rIns="0" bIns="0" anchor="t">
            <a:spAutoFit/>
          </a:bodyPr>
          <a:lstStyle/>
          <a:p>
            <a:pPr algn="r"/>
            <a:r>
              <a:rPr sz="1200" b="1" spc="100">
                <a:solidFill>
                  <a:srgbClr val="A9AEB1"/>
                </a:solidFill>
                <a:latin typeface="Source Sans Pro"/>
              </a:rPr>
              <a:t>07 / 12</a:t>
            </a:r>
          </a:p>
        </p:txBody>
      </p:sp>
      <p:sp>
        <p:nvSpPr>
          <p:cNvPr id="5" name="TextBox 4"/>
          <p:cNvSpPr txBox="1"/>
          <p:nvPr/>
        </p:nvSpPr>
        <p:spPr>
          <a:xfrm>
            <a:off x="502920" y="603504"/>
            <a:ext cx="11183112" cy="640080"/>
          </a:xfrm>
          <a:prstGeom prst="rect">
            <a:avLst/>
          </a:prstGeom>
          <a:noFill/>
        </p:spPr>
        <p:txBody>
          <a:bodyPr wrap="square" lIns="0" tIns="0" rIns="0" bIns="0" anchor="t">
            <a:spAutoFit/>
          </a:bodyPr>
          <a:lstStyle/>
          <a:p>
            <a:pPr algn="l"/>
            <a:r>
              <a:rPr sz="3000" b="1">
                <a:solidFill>
                  <a:srgbClr val="162E51"/>
                </a:solidFill>
                <a:latin typeface="Source Sans Pro"/>
              </a:rPr>
              <a:t>Using the Harness in Databricks</a:t>
            </a:r>
          </a:p>
        </p:txBody>
      </p:sp>
      <p:pic>
        <p:nvPicPr>
          <p:cNvPr id="6" name="Picture 5" descr="07-databricks-genie-flow.png"/>
          <p:cNvPicPr>
            <a:picLocks noChangeAspect="1"/>
          </p:cNvPicPr>
          <p:nvPr/>
        </p:nvPicPr>
        <p:blipFill>
          <a:blip r:embed="rId3"/>
          <a:stretch>
            <a:fillRect/>
          </a:stretch>
        </p:blipFill>
        <p:spPr>
          <a:xfrm>
            <a:off x="1432407" y="1078992"/>
            <a:ext cx="9326880" cy="5246370"/>
          </a:xfrm>
          <a:prstGeom prst="rect">
            <a:avLst/>
          </a:prstGeom>
        </p:spPr>
      </p:pic>
      <p:sp>
        <p:nvSpPr>
          <p:cNvPr id="7" name="TextBox 6"/>
          <p:cNvSpPr txBox="1"/>
          <p:nvPr/>
        </p:nvSpPr>
        <p:spPr>
          <a:xfrm>
            <a:off x="502920" y="6510528"/>
            <a:ext cx="9144000" cy="274320"/>
          </a:xfrm>
          <a:prstGeom prst="rect">
            <a:avLst/>
          </a:prstGeom>
          <a:noFill/>
        </p:spPr>
        <p:txBody>
          <a:bodyPr wrap="square" lIns="0" tIns="0" rIns="0" bIns="0" anchor="t">
            <a:spAutoFit/>
          </a:bodyPr>
          <a:lstStyle/>
          <a:p>
            <a:pPr algn="l"/>
            <a:r>
              <a:rPr sz="950" b="0">
                <a:solidFill>
                  <a:srgbClr val="A9AEB1"/>
                </a:solidFill>
                <a:latin typeface="Source Sans Pro"/>
              </a:rPr>
              <a:t>USCIS-aligned CDAO briefing style — pre-decisional draft. Not an official USCIS template.</a:t>
            </a:r>
          </a:p>
        </p:txBody>
      </p:sp>
      <p:sp>
        <p:nvSpPr>
          <p:cNvPr id="8" name="TextBox 7"/>
          <p:cNvSpPr txBox="1"/>
          <p:nvPr/>
        </p:nvSpPr>
        <p:spPr>
          <a:xfrm>
            <a:off x="10058400" y="6510528"/>
            <a:ext cx="1627632" cy="274320"/>
          </a:xfrm>
          <a:prstGeom prst="rect">
            <a:avLst/>
          </a:prstGeom>
          <a:noFill/>
        </p:spPr>
        <p:txBody>
          <a:bodyPr wrap="square" lIns="0" tIns="0" rIns="0" bIns="0" anchor="t">
            <a:spAutoFit/>
          </a:bodyPr>
          <a:lstStyle/>
          <a:p>
            <a:pPr algn="r"/>
            <a:r>
              <a:rPr sz="950" b="0">
                <a:solidFill>
                  <a:srgbClr val="A9AEB1"/>
                </a:solidFill>
                <a:latin typeface="Source Sans Pro"/>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2920" y="457200"/>
            <a:ext cx="502920" cy="50800"/>
          </a:xfrm>
          <a:prstGeom prst="rect">
            <a:avLst/>
          </a:prstGeom>
          <a:solidFill>
            <a:srgbClr val="005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365760"/>
            <a:ext cx="7315200" cy="320040"/>
          </a:xfrm>
          <a:prstGeom prst="rect">
            <a:avLst/>
          </a:prstGeom>
          <a:noFill/>
        </p:spPr>
        <p:txBody>
          <a:bodyPr wrap="square" lIns="0" tIns="0" rIns="0" bIns="0" anchor="t">
            <a:spAutoFit/>
          </a:bodyPr>
          <a:lstStyle/>
          <a:p>
            <a:pPr algn="l"/>
            <a:r>
              <a:rPr sz="1200" b="1" spc="160">
                <a:solidFill>
                  <a:srgbClr val="005EA2"/>
                </a:solidFill>
                <a:latin typeface="Source Sans Pro"/>
              </a:rPr>
              <a:t>CDAO AI HARNESS BRIEFING</a:t>
            </a:r>
          </a:p>
        </p:txBody>
      </p:sp>
      <p:sp>
        <p:nvSpPr>
          <p:cNvPr id="4" name="TextBox 3"/>
          <p:cNvSpPr txBox="1"/>
          <p:nvPr/>
        </p:nvSpPr>
        <p:spPr>
          <a:xfrm>
            <a:off x="9601200" y="365760"/>
            <a:ext cx="2084831" cy="320040"/>
          </a:xfrm>
          <a:prstGeom prst="rect">
            <a:avLst/>
          </a:prstGeom>
          <a:noFill/>
        </p:spPr>
        <p:txBody>
          <a:bodyPr wrap="square" lIns="0" tIns="0" rIns="0" bIns="0" anchor="t">
            <a:spAutoFit/>
          </a:bodyPr>
          <a:lstStyle/>
          <a:p>
            <a:pPr algn="r"/>
            <a:r>
              <a:rPr sz="1200" b="1" spc="100">
                <a:solidFill>
                  <a:srgbClr val="A9AEB1"/>
                </a:solidFill>
                <a:latin typeface="Source Sans Pro"/>
              </a:rPr>
              <a:t>08 / 12</a:t>
            </a:r>
          </a:p>
        </p:txBody>
      </p:sp>
      <p:sp>
        <p:nvSpPr>
          <p:cNvPr id="5" name="TextBox 4"/>
          <p:cNvSpPr txBox="1"/>
          <p:nvPr/>
        </p:nvSpPr>
        <p:spPr>
          <a:xfrm>
            <a:off x="502920" y="603504"/>
            <a:ext cx="11183112" cy="640080"/>
          </a:xfrm>
          <a:prstGeom prst="rect">
            <a:avLst/>
          </a:prstGeom>
          <a:noFill/>
        </p:spPr>
        <p:txBody>
          <a:bodyPr wrap="square" lIns="0" tIns="0" rIns="0" bIns="0" anchor="t">
            <a:spAutoFit/>
          </a:bodyPr>
          <a:lstStyle/>
          <a:p>
            <a:r>
              <a:t>Where the Harness Fits in the Target Architecture</a:t>
            </a:r>
          </a:p>
        </p:txBody>
      </p:sp>
      <p:sp>
        <p:nvSpPr>
          <p:cNvPr id="7" name="TextBox 6"/>
          <p:cNvSpPr txBox="1"/>
          <p:nvPr/>
        </p:nvSpPr>
        <p:spPr>
          <a:xfrm>
            <a:off x="502920" y="6510528"/>
            <a:ext cx="9144000" cy="274320"/>
          </a:xfrm>
          <a:prstGeom prst="rect">
            <a:avLst/>
          </a:prstGeom>
          <a:noFill/>
        </p:spPr>
        <p:txBody>
          <a:bodyPr wrap="square" lIns="0" tIns="0" rIns="0" bIns="0" anchor="t">
            <a:spAutoFit/>
          </a:bodyPr>
          <a:lstStyle/>
          <a:p>
            <a:pPr algn="l"/>
            <a:r>
              <a:rPr sz="950" b="0">
                <a:solidFill>
                  <a:srgbClr val="A9AEB1"/>
                </a:solidFill>
                <a:latin typeface="Source Sans Pro"/>
              </a:rPr>
              <a:t>USCIS-aligned CDAO briefing style — pre-decisional draft. Not an official USCIS template.</a:t>
            </a:r>
          </a:p>
        </p:txBody>
      </p:sp>
      <p:sp>
        <p:nvSpPr>
          <p:cNvPr id="8" name="TextBox 7"/>
          <p:cNvSpPr txBox="1"/>
          <p:nvPr/>
        </p:nvSpPr>
        <p:spPr>
          <a:xfrm>
            <a:off x="10058400" y="6510528"/>
            <a:ext cx="1627632" cy="274320"/>
          </a:xfrm>
          <a:prstGeom prst="rect">
            <a:avLst/>
          </a:prstGeom>
          <a:noFill/>
        </p:spPr>
        <p:txBody>
          <a:bodyPr wrap="square" lIns="0" tIns="0" rIns="0" bIns="0" anchor="t">
            <a:spAutoFit/>
          </a:bodyPr>
          <a:lstStyle/>
          <a:p>
            <a:pPr algn="r"/>
            <a:r>
              <a:rPr sz="950" b="0">
                <a:solidFill>
                  <a:srgbClr val="A9AEB1"/>
                </a:solidFill>
                <a:latin typeface="Source Sans Pro"/>
              </a:rPr>
              <a:t>8</a:t>
            </a:r>
          </a:p>
        </p:txBody>
      </p:sp>
      <p:sp>
        <p:nvSpPr>
          <p:cNvPr id="9" name="TextBox 8"/>
          <p:cNvSpPr txBox="1"/>
          <p:nvPr/>
        </p:nvSpPr>
        <p:spPr>
          <a:xfrm>
            <a:off x="594360" y="1024128"/>
            <a:ext cx="10881360" cy="228600"/>
          </a:xfrm>
          <a:prstGeom prst="rect">
            <a:avLst/>
          </a:prstGeom>
          <a:noFill/>
        </p:spPr>
        <p:txBody>
          <a:bodyPr wrap="none" lIns="18288" rIns="18288" tIns="0" bIns="0">
            <a:spAutoFit/>
          </a:bodyPr>
          <a:lstStyle/>
          <a:p>
            <a:pPr algn="ctr"/>
            <a:r>
              <a:rPr sz="950" b="0">
                <a:solidFill>
                  <a:srgbClr val="5A6675"/>
                </a:solidFill>
                <a:latin typeface="Aptos"/>
              </a:rPr>
              <a:t>Joe’s flow builds governed data products. The harness adds reviewed context where people and AI tools consume them.</a:t>
            </a:r>
          </a:p>
        </p:txBody>
      </p:sp>
      <p:sp>
        <p:nvSpPr>
          <p:cNvPr id="10" name="TextBox 9"/>
          <p:cNvSpPr txBox="1"/>
          <p:nvPr/>
        </p:nvSpPr>
        <p:spPr>
          <a:xfrm>
            <a:off x="502920" y="1417320"/>
            <a:ext cx="1234440" cy="201168"/>
          </a:xfrm>
          <a:prstGeom prst="rect">
            <a:avLst/>
          </a:prstGeom>
          <a:noFill/>
        </p:spPr>
        <p:txBody>
          <a:bodyPr wrap="none" lIns="18288" rIns="18288" tIns="0" bIns="0">
            <a:spAutoFit/>
          </a:bodyPr>
          <a:lstStyle/>
          <a:p>
            <a:pPr algn="ctr"/>
            <a:r>
              <a:rPr sz="720" b="1">
                <a:solidFill>
                  <a:srgbClr val="5A6675"/>
                </a:solidFill>
                <a:latin typeface="Aptos"/>
              </a:rPr>
              <a:t>SOURCE SYSTEMS</a:t>
            </a:r>
          </a:p>
        </p:txBody>
      </p:sp>
      <p:sp>
        <p:nvSpPr>
          <p:cNvPr id="11" name="Rounded Rectangle 10"/>
          <p:cNvSpPr/>
          <p:nvPr/>
        </p:nvSpPr>
        <p:spPr>
          <a:xfrm>
            <a:off x="502920" y="1691640"/>
            <a:ext cx="1143000" cy="384048"/>
          </a:xfrm>
          <a:prstGeom prst="roundRect">
            <a:avLst/>
          </a:prstGeom>
          <a:solidFill>
            <a:srgbClr val="F6F8FA"/>
          </a:solidFill>
          <a:ln w="12700">
            <a:solidFill>
              <a:srgbClr val="D5DEE9"/>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a:lstStyle/>
          <a:p>
            <a:pPr algn="ctr"/>
            <a:r>
              <a:rPr sz="900" b="1">
                <a:solidFill>
                  <a:srgbClr val="5A6675"/>
                </a:solidFill>
                <a:latin typeface="Aptos"/>
              </a:rPr>
              <a:t>C3</a:t>
            </a:r>
          </a:p>
        </p:txBody>
      </p:sp>
      <p:sp>
        <p:nvSpPr>
          <p:cNvPr id="12" name="Rounded Rectangle 11"/>
          <p:cNvSpPr/>
          <p:nvPr/>
        </p:nvSpPr>
        <p:spPr>
          <a:xfrm>
            <a:off x="502920" y="2148840"/>
            <a:ext cx="1143000" cy="384048"/>
          </a:xfrm>
          <a:prstGeom prst="roundRect">
            <a:avLst/>
          </a:prstGeom>
          <a:solidFill>
            <a:srgbClr val="FFFFFF"/>
          </a:solidFill>
          <a:ln w="12700">
            <a:solidFill>
              <a:srgbClr val="D5DEE9"/>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a:lstStyle/>
          <a:p>
            <a:pPr algn="ctr"/>
            <a:r>
              <a:rPr sz="900" b="1">
                <a:solidFill>
                  <a:srgbClr val="0B2A4A"/>
                </a:solidFill>
                <a:latin typeface="Aptos"/>
              </a:rPr>
              <a:t>ELIS</a:t>
            </a:r>
          </a:p>
        </p:txBody>
      </p:sp>
      <p:sp>
        <p:nvSpPr>
          <p:cNvPr id="13" name="Rounded Rectangle 12"/>
          <p:cNvSpPr/>
          <p:nvPr/>
        </p:nvSpPr>
        <p:spPr>
          <a:xfrm>
            <a:off x="502920" y="2606040"/>
            <a:ext cx="1143000" cy="384048"/>
          </a:xfrm>
          <a:prstGeom prst="roundRect">
            <a:avLst/>
          </a:prstGeom>
          <a:solidFill>
            <a:srgbClr val="FFFFFF"/>
          </a:solidFill>
          <a:ln w="12700">
            <a:solidFill>
              <a:srgbClr val="D5DEE9"/>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a:lstStyle/>
          <a:p>
            <a:pPr algn="ctr"/>
            <a:r>
              <a:rPr sz="900" b="1">
                <a:solidFill>
                  <a:srgbClr val="0B2A4A"/>
                </a:solidFill>
                <a:latin typeface="Aptos"/>
              </a:rPr>
              <a:t>GLOBAL</a:t>
            </a:r>
          </a:p>
        </p:txBody>
      </p:sp>
      <p:sp>
        <p:nvSpPr>
          <p:cNvPr id="14" name="TextBox 13"/>
          <p:cNvSpPr txBox="1"/>
          <p:nvPr/>
        </p:nvSpPr>
        <p:spPr>
          <a:xfrm>
            <a:off x="502920" y="3090672"/>
            <a:ext cx="1143000" cy="274320"/>
          </a:xfrm>
          <a:prstGeom prst="rect">
            <a:avLst/>
          </a:prstGeom>
          <a:noFill/>
        </p:spPr>
        <p:txBody>
          <a:bodyPr wrap="none" lIns="18288" rIns="18288" tIns="0" bIns="0">
            <a:spAutoFit/>
          </a:bodyPr>
          <a:lstStyle/>
          <a:p>
            <a:pPr algn="ctr"/>
            <a:r>
              <a:rPr sz="680" b="0">
                <a:solidFill>
                  <a:srgbClr val="5A6675"/>
                </a:solidFill>
                <a:latin typeface="Aptos"/>
              </a:rPr>
              <a:t>C3 status to validate</a:t>
            </a:r>
          </a:p>
        </p:txBody>
      </p:sp>
      <p:sp>
        <p:nvSpPr>
          <p:cNvPr id="15" name="Rounded Rectangle 14"/>
          <p:cNvSpPr/>
          <p:nvPr/>
        </p:nvSpPr>
        <p:spPr>
          <a:xfrm>
            <a:off x="1965960" y="2148840"/>
            <a:ext cx="1170432" cy="566928"/>
          </a:xfrm>
          <a:prstGeom prst="roundRect">
            <a:avLst/>
          </a:prstGeom>
          <a:solidFill>
            <a:srgbClr val="EAF1F8"/>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a:lstStyle/>
          <a:p>
            <a:pPr algn="ctr"/>
            <a:r>
              <a:rPr sz="1000" b="1">
                <a:solidFill>
                  <a:srgbClr val="0B2A4A"/>
                </a:solidFill>
                <a:latin typeface="Aptos"/>
              </a:rPr>
              <a:t>eCISCOR</a:t>
            </a:r>
          </a:p>
        </p:txBody>
      </p:sp>
      <p:sp>
        <p:nvSpPr>
          <p:cNvPr id="16" name="TextBox 15"/>
          <p:cNvSpPr txBox="1"/>
          <p:nvPr/>
        </p:nvSpPr>
        <p:spPr>
          <a:xfrm>
            <a:off x="1874519" y="2807208"/>
            <a:ext cx="1371600" cy="320040"/>
          </a:xfrm>
          <a:prstGeom prst="rect">
            <a:avLst/>
          </a:prstGeom>
          <a:noFill/>
        </p:spPr>
        <p:txBody>
          <a:bodyPr wrap="none" lIns="18288" rIns="18288" tIns="0" bIns="0">
            <a:spAutoFit/>
          </a:bodyPr>
          <a:lstStyle/>
          <a:p>
            <a:pPr algn="ctr"/>
            <a:r>
              <a:rPr sz="740" b="0">
                <a:solidFill>
                  <a:srgbClr val="5A6675"/>
                </a:solidFill>
                <a:latin typeface="Aptos"/>
              </a:rPr>
              <a:t>consolidation hub</a:t>
            </a:r>
          </a:p>
        </p:txBody>
      </p:sp>
      <p:sp>
        <p:nvSpPr>
          <p:cNvPr id="17" name="Rounded Rectangle 16"/>
          <p:cNvSpPr/>
          <p:nvPr/>
        </p:nvSpPr>
        <p:spPr>
          <a:xfrm>
            <a:off x="3364992" y="1353312"/>
            <a:ext cx="2084831" cy="713232"/>
          </a:xfrm>
          <a:prstGeom prst="roundRect">
            <a:avLst/>
          </a:prstGeom>
          <a:solidFill>
            <a:srgbClr val="EAF1F8"/>
          </a:solidFill>
          <a:ln w="12700">
            <a:solidFill>
              <a:srgbClr val="D5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56432" y="1444752"/>
            <a:ext cx="1901951" cy="370880"/>
          </a:xfrm>
          <a:prstGeom prst="rect">
            <a:avLst/>
          </a:prstGeom>
          <a:noFill/>
        </p:spPr>
        <p:txBody>
          <a:bodyPr wrap="none" lIns="18288" rIns="18288" tIns="0" bIns="0">
            <a:spAutoFit/>
          </a:bodyPr>
          <a:lstStyle/>
          <a:p>
            <a:pPr algn="ctr"/>
            <a:r>
              <a:rPr sz="869" b="1">
                <a:solidFill>
                  <a:srgbClr val="0B2A4A"/>
                </a:solidFill>
                <a:latin typeface="Aptos"/>
              </a:rPr>
              <a:t>Semantic /
Metadata Layer</a:t>
            </a:r>
          </a:p>
        </p:txBody>
      </p:sp>
      <p:sp>
        <p:nvSpPr>
          <p:cNvPr id="19" name="TextBox 18"/>
          <p:cNvSpPr txBox="1"/>
          <p:nvPr/>
        </p:nvSpPr>
        <p:spPr>
          <a:xfrm>
            <a:off x="3456432" y="1856231"/>
            <a:ext cx="1901951" cy="164592"/>
          </a:xfrm>
          <a:prstGeom prst="rect">
            <a:avLst/>
          </a:prstGeom>
          <a:noFill/>
        </p:spPr>
        <p:txBody>
          <a:bodyPr wrap="none" lIns="18288" rIns="18288" tIns="0" bIns="0">
            <a:spAutoFit/>
          </a:bodyPr>
          <a:lstStyle/>
          <a:p>
            <a:pPr algn="ctr"/>
            <a:r>
              <a:rPr sz="640" b="0">
                <a:solidFill>
                  <a:srgbClr val="5A6675"/>
                </a:solidFill>
                <a:latin typeface="Aptos"/>
              </a:rPr>
              <a:t>Collibra / Alation + UC</a:t>
            </a:r>
          </a:p>
        </p:txBody>
      </p:sp>
      <p:sp>
        <p:nvSpPr>
          <p:cNvPr id="20" name="Rounded Rectangle 19"/>
          <p:cNvSpPr/>
          <p:nvPr/>
        </p:nvSpPr>
        <p:spPr>
          <a:xfrm>
            <a:off x="3429000" y="2423160"/>
            <a:ext cx="1965960" cy="566928"/>
          </a:xfrm>
          <a:prstGeom prst="roundRect">
            <a:avLst/>
          </a:prstGeom>
          <a:solidFill>
            <a:srgbClr val="FFFFFF"/>
          </a:solidFill>
          <a:ln w="12700">
            <a:solidFill>
              <a:srgbClr val="D5DEE9"/>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a:lstStyle/>
          <a:p>
            <a:pPr algn="ctr"/>
            <a:r>
              <a:rPr sz="869" b="1">
                <a:solidFill>
                  <a:srgbClr val="0B2A4A"/>
                </a:solidFill>
                <a:latin typeface="Aptos"/>
              </a:rPr>
              <a:t>Transformation &amp;
Standardization</a:t>
            </a:r>
          </a:p>
        </p:txBody>
      </p:sp>
      <p:sp>
        <p:nvSpPr>
          <p:cNvPr id="21" name="Rounded Rectangle 20"/>
          <p:cNvSpPr/>
          <p:nvPr/>
        </p:nvSpPr>
        <p:spPr>
          <a:xfrm>
            <a:off x="5806440" y="2148840"/>
            <a:ext cx="1417320" cy="621792"/>
          </a:xfrm>
          <a:prstGeom prst="roundRect">
            <a:avLst/>
          </a:prstGeom>
          <a:solidFill>
            <a:srgbClr val="EAF1F8"/>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a:lstStyle/>
          <a:p>
            <a:pPr algn="ctr"/>
            <a:r>
              <a:rPr sz="880" b="1">
                <a:solidFill>
                  <a:srgbClr val="0B2A4A"/>
                </a:solidFill>
                <a:latin typeface="Aptos"/>
              </a:rPr>
              <a:t>ODS /
Consumption Service</a:t>
            </a:r>
          </a:p>
        </p:txBody>
      </p:sp>
      <p:sp>
        <p:nvSpPr>
          <p:cNvPr id="22" name="TextBox 21"/>
          <p:cNvSpPr txBox="1"/>
          <p:nvPr/>
        </p:nvSpPr>
        <p:spPr>
          <a:xfrm>
            <a:off x="5742432" y="2834640"/>
            <a:ext cx="1554480" cy="320040"/>
          </a:xfrm>
          <a:prstGeom prst="rect">
            <a:avLst/>
          </a:prstGeom>
          <a:noFill/>
        </p:spPr>
        <p:txBody>
          <a:bodyPr wrap="none" lIns="18288" rIns="18288" tIns="0" bIns="0">
            <a:spAutoFit/>
          </a:bodyPr>
          <a:lstStyle/>
          <a:p>
            <a:pPr algn="ctr"/>
            <a:r>
              <a:rPr sz="720" b="0">
                <a:solidFill>
                  <a:srgbClr val="5A6675"/>
                </a:solidFill>
                <a:latin typeface="Aptos"/>
              </a:rPr>
              <a:t>curated serving layer</a:t>
            </a:r>
          </a:p>
        </p:txBody>
      </p:sp>
      <p:sp>
        <p:nvSpPr>
          <p:cNvPr id="23" name="Rounded Rectangle 22"/>
          <p:cNvSpPr/>
          <p:nvPr/>
        </p:nvSpPr>
        <p:spPr>
          <a:xfrm>
            <a:off x="5897880" y="3429000"/>
            <a:ext cx="1234440" cy="438912"/>
          </a:xfrm>
          <a:prstGeom prst="roundRect">
            <a:avLst/>
          </a:prstGeom>
          <a:solidFill>
            <a:srgbClr val="FFFFFF"/>
          </a:solidFill>
          <a:ln w="12700">
            <a:solidFill>
              <a:srgbClr val="B23A2E"/>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a:lstStyle/>
          <a:p>
            <a:pPr algn="ctr"/>
            <a:r>
              <a:rPr sz="880" b="1">
                <a:solidFill>
                  <a:srgbClr val="B23A2E"/>
                </a:solidFill>
                <a:latin typeface="Aptos"/>
              </a:rPr>
              <a:t>Sharing</a:t>
            </a:r>
          </a:p>
        </p:txBody>
      </p:sp>
      <p:sp>
        <p:nvSpPr>
          <p:cNvPr id="24" name="TextBox 23"/>
          <p:cNvSpPr txBox="1"/>
          <p:nvPr/>
        </p:nvSpPr>
        <p:spPr>
          <a:xfrm>
            <a:off x="5715000" y="3904487"/>
            <a:ext cx="1645920" cy="384048"/>
          </a:xfrm>
          <a:prstGeom prst="rect">
            <a:avLst/>
          </a:prstGeom>
          <a:noFill/>
        </p:spPr>
        <p:txBody>
          <a:bodyPr wrap="none" lIns="18288" rIns="18288" tIns="0" bIns="0">
            <a:spAutoFit/>
          </a:bodyPr>
          <a:lstStyle/>
          <a:p>
            <a:pPr algn="ctr"/>
            <a:r>
              <a:rPr sz="650" b="0">
                <a:solidFill>
                  <a:srgbClr val="B23A2E"/>
                </a:solidFill>
                <a:latin typeface="Aptos"/>
              </a:rPr>
              <a:t>DSA / policy / access approval dependent</a:t>
            </a:r>
          </a:p>
        </p:txBody>
      </p:sp>
      <p:cxnSp>
        <p:nvCxnSpPr>
          <p:cNvPr id="25" name="Connector 24"/>
          <p:cNvCxnSpPr/>
          <p:nvPr/>
        </p:nvCxnSpPr>
        <p:spPr>
          <a:xfrm>
            <a:off x="7360920" y="3401568"/>
            <a:ext cx="0" cy="667512"/>
          </a:xfrm>
          <a:prstGeom prst="line">
            <a:avLst/>
          </a:prstGeom>
          <a:ln w="12700">
            <a:solidFill>
              <a:srgbClr val="B23A2E"/>
            </a:solidFill>
            <a:prstDash val="dash"/>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406640" y="3822191"/>
            <a:ext cx="1051560" cy="320040"/>
          </a:xfrm>
          <a:prstGeom prst="rect">
            <a:avLst/>
          </a:prstGeom>
          <a:noFill/>
        </p:spPr>
        <p:txBody>
          <a:bodyPr wrap="none" lIns="18288" rIns="18288" tIns="0" bIns="0">
            <a:spAutoFit/>
          </a:bodyPr>
          <a:lstStyle/>
          <a:p>
            <a:pPr algn="ctr"/>
            <a:r>
              <a:rPr sz="610" b="0">
                <a:solidFill>
                  <a:srgbClr val="B23A2E"/>
                </a:solidFill>
                <a:latin typeface="Aptos"/>
              </a:rPr>
              <a:t>external sharing
boundary</a:t>
            </a:r>
          </a:p>
        </p:txBody>
      </p:sp>
      <p:sp>
        <p:nvSpPr>
          <p:cNvPr id="27" name="TextBox 26"/>
          <p:cNvSpPr txBox="1"/>
          <p:nvPr/>
        </p:nvSpPr>
        <p:spPr>
          <a:xfrm>
            <a:off x="7818120" y="1417320"/>
            <a:ext cx="1554480" cy="201168"/>
          </a:xfrm>
          <a:prstGeom prst="rect">
            <a:avLst/>
          </a:prstGeom>
          <a:noFill/>
        </p:spPr>
        <p:txBody>
          <a:bodyPr wrap="none" lIns="18288" rIns="18288" tIns="0" bIns="0">
            <a:spAutoFit/>
          </a:bodyPr>
          <a:lstStyle/>
          <a:p>
            <a:pPr algn="ctr"/>
            <a:r>
              <a:rPr sz="710" b="1">
                <a:solidFill>
                  <a:srgbClr val="5A6675"/>
                </a:solidFill>
                <a:latin typeface="Aptos"/>
              </a:rPr>
              <a:t>GOVERNED DATA PRODUCTS</a:t>
            </a:r>
          </a:p>
        </p:txBody>
      </p:sp>
      <p:sp>
        <p:nvSpPr>
          <p:cNvPr id="28" name="Rounded Rectangle 27"/>
          <p:cNvSpPr/>
          <p:nvPr/>
        </p:nvSpPr>
        <p:spPr>
          <a:xfrm>
            <a:off x="7818120" y="1719072"/>
            <a:ext cx="1417320" cy="384048"/>
          </a:xfrm>
          <a:prstGeom prst="roundRect">
            <a:avLst/>
          </a:prstGeom>
          <a:solidFill>
            <a:srgbClr val="FFFFFF"/>
          </a:solidFill>
          <a:ln w="12700">
            <a:solidFill>
              <a:srgbClr val="D5DEE9"/>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a:lstStyle/>
          <a:p>
            <a:pPr algn="ctr"/>
            <a:r>
              <a:rPr sz="840" b="1">
                <a:solidFill>
                  <a:srgbClr val="0B2A4A"/>
                </a:solidFill>
                <a:latin typeface="Aptos"/>
              </a:rPr>
              <a:t>Data Product</a:t>
            </a:r>
          </a:p>
        </p:txBody>
      </p:sp>
      <p:sp>
        <p:nvSpPr>
          <p:cNvPr id="29" name="Rounded Rectangle 28"/>
          <p:cNvSpPr/>
          <p:nvPr/>
        </p:nvSpPr>
        <p:spPr>
          <a:xfrm>
            <a:off x="7818120" y="2267712"/>
            <a:ext cx="1417320" cy="384048"/>
          </a:xfrm>
          <a:prstGeom prst="roundRect">
            <a:avLst/>
          </a:prstGeom>
          <a:solidFill>
            <a:srgbClr val="FFFFFF"/>
          </a:solidFill>
          <a:ln w="12700">
            <a:solidFill>
              <a:srgbClr val="D5DEE9"/>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a:lstStyle/>
          <a:p>
            <a:pPr algn="ctr"/>
            <a:r>
              <a:rPr sz="840" b="1">
                <a:solidFill>
                  <a:srgbClr val="0B2A4A"/>
                </a:solidFill>
                <a:latin typeface="Aptos"/>
              </a:rPr>
              <a:t>Data Product</a:t>
            </a:r>
          </a:p>
        </p:txBody>
      </p:sp>
      <p:sp>
        <p:nvSpPr>
          <p:cNvPr id="30" name="Rounded Rectangle 29"/>
          <p:cNvSpPr/>
          <p:nvPr/>
        </p:nvSpPr>
        <p:spPr>
          <a:xfrm>
            <a:off x="7818120" y="2816352"/>
            <a:ext cx="1417320" cy="384048"/>
          </a:xfrm>
          <a:prstGeom prst="roundRect">
            <a:avLst/>
          </a:prstGeom>
          <a:solidFill>
            <a:srgbClr val="FFFFFF"/>
          </a:solidFill>
          <a:ln w="12700">
            <a:solidFill>
              <a:srgbClr val="D5DEE9"/>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a:lstStyle/>
          <a:p>
            <a:pPr algn="ctr"/>
            <a:r>
              <a:rPr sz="840" b="1">
                <a:solidFill>
                  <a:srgbClr val="0B2A4A"/>
                </a:solidFill>
                <a:latin typeface="Aptos"/>
              </a:rPr>
              <a:t>Data Product</a:t>
            </a:r>
          </a:p>
        </p:txBody>
      </p:sp>
      <p:sp>
        <p:nvSpPr>
          <p:cNvPr id="31" name="TextBox 30"/>
          <p:cNvSpPr txBox="1"/>
          <p:nvPr/>
        </p:nvSpPr>
        <p:spPr>
          <a:xfrm>
            <a:off x="7635240" y="3310128"/>
            <a:ext cx="1783080" cy="292608"/>
          </a:xfrm>
          <a:prstGeom prst="rect">
            <a:avLst/>
          </a:prstGeom>
          <a:noFill/>
        </p:spPr>
        <p:txBody>
          <a:bodyPr wrap="none" lIns="18288" rIns="18288" tIns="0" bIns="0">
            <a:spAutoFit/>
          </a:bodyPr>
          <a:lstStyle/>
          <a:p>
            <a:pPr algn="ctr"/>
            <a:r>
              <a:rPr sz="660" b="0">
                <a:solidFill>
                  <a:srgbClr val="5A6675"/>
                </a:solidFill>
                <a:latin typeface="Aptos"/>
              </a:rPr>
              <a:t>curated views, metrics, documentation</a:t>
            </a:r>
          </a:p>
        </p:txBody>
      </p:sp>
      <p:sp>
        <p:nvSpPr>
          <p:cNvPr id="32" name="Rounded Rectangle 31"/>
          <p:cNvSpPr/>
          <p:nvPr/>
        </p:nvSpPr>
        <p:spPr>
          <a:xfrm>
            <a:off x="9738360" y="1389888"/>
            <a:ext cx="2057400" cy="2487168"/>
          </a:xfrm>
          <a:prstGeom prst="roundRect">
            <a:avLst/>
          </a:prstGeom>
          <a:solidFill>
            <a:srgbClr val="0B2A4A"/>
          </a:solidFill>
          <a:ln>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93808" y="1600200"/>
            <a:ext cx="1755648" cy="237744"/>
          </a:xfrm>
          <a:prstGeom prst="rect">
            <a:avLst/>
          </a:prstGeom>
          <a:noFill/>
        </p:spPr>
        <p:txBody>
          <a:bodyPr wrap="none" lIns="18288" rIns="18288" tIns="0" bIns="0">
            <a:spAutoFit/>
          </a:bodyPr>
          <a:lstStyle/>
          <a:p>
            <a:pPr algn="ctr"/>
            <a:r>
              <a:rPr sz="780" b="1">
                <a:solidFill>
                  <a:srgbClr val="FFFFFF"/>
                </a:solidFill>
                <a:latin typeface="Aptos"/>
              </a:rPr>
              <a:t>CDAO HARNESS / CONTEXT</a:t>
            </a:r>
          </a:p>
        </p:txBody>
      </p:sp>
      <p:sp>
        <p:nvSpPr>
          <p:cNvPr id="34" name="TextBox 33"/>
          <p:cNvSpPr txBox="1"/>
          <p:nvPr/>
        </p:nvSpPr>
        <p:spPr>
          <a:xfrm>
            <a:off x="9893808" y="1865376"/>
            <a:ext cx="1755648" cy="329184"/>
          </a:xfrm>
          <a:prstGeom prst="rect">
            <a:avLst/>
          </a:prstGeom>
          <a:noFill/>
        </p:spPr>
        <p:txBody>
          <a:bodyPr wrap="none" lIns="18288" rIns="18288" tIns="0" bIns="0">
            <a:spAutoFit/>
          </a:bodyPr>
          <a:lstStyle/>
          <a:p>
            <a:pPr algn="ctr"/>
            <a:r>
              <a:rPr sz="630" b="0">
                <a:solidFill>
                  <a:srgbClr val="C7D6E8"/>
                </a:solidFill>
                <a:latin typeface="Aptos"/>
              </a:rPr>
              <a:t>definitions • caveats • counting logic</a:t>
            </a:r>
          </a:p>
        </p:txBody>
      </p:sp>
      <p:sp>
        <p:nvSpPr>
          <p:cNvPr id="35" name="Rounded Rectangle 34"/>
          <p:cNvSpPr/>
          <p:nvPr/>
        </p:nvSpPr>
        <p:spPr>
          <a:xfrm>
            <a:off x="9966960" y="2359152"/>
            <a:ext cx="1572768" cy="393192"/>
          </a:xfrm>
          <a:prstGeom prst="roundRect">
            <a:avLst/>
          </a:prstGeom>
          <a:solidFill>
            <a:srgbClr val="FFFFFF"/>
          </a:solidFill>
          <a:ln w="12700">
            <a:solidFill>
              <a:srgbClr val="D5DEE9"/>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a:lstStyle/>
          <a:p>
            <a:pPr algn="ctr"/>
            <a:r>
              <a:rPr sz="819" b="1">
                <a:solidFill>
                  <a:srgbClr val="0B2A4A"/>
                </a:solidFill>
                <a:latin typeface="Aptos"/>
              </a:rPr>
              <a:t>Genie / NL</a:t>
            </a:r>
          </a:p>
        </p:txBody>
      </p:sp>
      <p:sp>
        <p:nvSpPr>
          <p:cNvPr id="36" name="Rounded Rectangle 35"/>
          <p:cNvSpPr/>
          <p:nvPr/>
        </p:nvSpPr>
        <p:spPr>
          <a:xfrm>
            <a:off x="9966960" y="2926080"/>
            <a:ext cx="1572768" cy="393192"/>
          </a:xfrm>
          <a:prstGeom prst="roundRect">
            <a:avLst/>
          </a:prstGeom>
          <a:solidFill>
            <a:srgbClr val="FFFFFF"/>
          </a:solidFill>
          <a:ln w="12700">
            <a:solidFill>
              <a:srgbClr val="D5DEE9"/>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a:lstStyle/>
          <a:p>
            <a:pPr algn="ctr"/>
            <a:r>
              <a:rPr sz="819" b="1">
                <a:solidFill>
                  <a:srgbClr val="0B2A4A"/>
                </a:solidFill>
                <a:latin typeface="Aptos"/>
              </a:rPr>
              <a:t>SQL / Python</a:t>
            </a:r>
          </a:p>
        </p:txBody>
      </p:sp>
      <p:sp>
        <p:nvSpPr>
          <p:cNvPr id="37" name="TextBox 36"/>
          <p:cNvSpPr txBox="1"/>
          <p:nvPr/>
        </p:nvSpPr>
        <p:spPr>
          <a:xfrm>
            <a:off x="9802368" y="3456432"/>
            <a:ext cx="1901952" cy="292608"/>
          </a:xfrm>
          <a:prstGeom prst="rect">
            <a:avLst/>
          </a:prstGeom>
          <a:noFill/>
        </p:spPr>
        <p:txBody>
          <a:bodyPr wrap="none" lIns="18288" rIns="18288" tIns="0" bIns="0">
            <a:spAutoFit/>
          </a:bodyPr>
          <a:lstStyle/>
          <a:p>
            <a:pPr algn="ctr"/>
            <a:r>
              <a:rPr sz="670" b="0">
                <a:solidFill>
                  <a:srgbClr val="C7D6E8"/>
                </a:solidFill>
                <a:latin typeface="Aptos"/>
              </a:rPr>
              <a:t>reviewed context, not a new access path</a:t>
            </a:r>
          </a:p>
        </p:txBody>
      </p:sp>
      <p:sp>
        <p:nvSpPr>
          <p:cNvPr id="38" name="Right Arrow 37"/>
          <p:cNvSpPr/>
          <p:nvPr/>
        </p:nvSpPr>
        <p:spPr>
          <a:xfrm>
            <a:off x="1645920" y="2281427"/>
            <a:ext cx="320039" cy="100584"/>
          </a:xfrm>
          <a:prstGeom prst="rightArrow">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ight Arrow 38"/>
          <p:cNvSpPr/>
          <p:nvPr/>
        </p:nvSpPr>
        <p:spPr>
          <a:xfrm>
            <a:off x="3136392" y="2382012"/>
            <a:ext cx="292607" cy="100584"/>
          </a:xfrm>
          <a:prstGeom prst="rightArrow">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Down Arrow 39"/>
          <p:cNvSpPr/>
          <p:nvPr/>
        </p:nvSpPr>
        <p:spPr>
          <a:xfrm>
            <a:off x="4366260" y="2066543"/>
            <a:ext cx="82296" cy="356616"/>
          </a:xfrm>
          <a:prstGeom prst="downArrow">
            <a:avLst/>
          </a:prstGeom>
          <a:solidFill>
            <a:srgbClr val="1F3A5F"/>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ight Arrow 40"/>
          <p:cNvSpPr/>
          <p:nvPr/>
        </p:nvSpPr>
        <p:spPr>
          <a:xfrm>
            <a:off x="5394960" y="2656332"/>
            <a:ext cx="411479" cy="100584"/>
          </a:xfrm>
          <a:prstGeom prst="rightArrow">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ight Arrow 41"/>
          <p:cNvSpPr/>
          <p:nvPr/>
        </p:nvSpPr>
        <p:spPr>
          <a:xfrm>
            <a:off x="7223760" y="2400300"/>
            <a:ext cx="594360" cy="100584"/>
          </a:xfrm>
          <a:prstGeom prst="rightArrow">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ight Arrow 42"/>
          <p:cNvSpPr/>
          <p:nvPr/>
        </p:nvSpPr>
        <p:spPr>
          <a:xfrm>
            <a:off x="9235440" y="2400300"/>
            <a:ext cx="502920" cy="100584"/>
          </a:xfrm>
          <a:prstGeom prst="rightArrow">
            <a:avLst/>
          </a:prstGeom>
          <a:solidFill>
            <a:srgbClr val="1F3A5F"/>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6510528" y="2770632"/>
            <a:ext cx="0" cy="658368"/>
          </a:xfrm>
          <a:prstGeom prst="line">
            <a:avLst/>
          </a:prstGeom>
          <a:ln w="12700">
            <a:solidFill>
              <a:srgbClr val="B23A2E"/>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8549640" y="3913632"/>
            <a:ext cx="2423160" cy="0"/>
          </a:xfrm>
          <a:prstGeom prst="line">
            <a:avLst/>
          </a:prstGeom>
          <a:ln w="12700">
            <a:solidFill>
              <a:srgbClr val="B08D3E"/>
            </a:solidFill>
            <a:prstDash val="dash"/>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8577072" y="3995928"/>
            <a:ext cx="2395728" cy="256032"/>
          </a:xfrm>
          <a:prstGeom prst="rect">
            <a:avLst/>
          </a:prstGeom>
          <a:noFill/>
        </p:spPr>
        <p:txBody>
          <a:bodyPr wrap="none" lIns="18288" rIns="18288" tIns="0" bIns="0">
            <a:spAutoFit/>
          </a:bodyPr>
          <a:lstStyle/>
          <a:p>
            <a:pPr algn="ctr"/>
            <a:r>
              <a:rPr sz="720" b="1">
                <a:solidFill>
                  <a:srgbClr val="B08D3E"/>
                </a:solidFill>
                <a:latin typeface="Aptos"/>
              </a:rPr>
              <a:t>feedback, benchmarks, monitoring</a:t>
            </a:r>
          </a:p>
        </p:txBody>
      </p:sp>
      <p:sp>
        <p:nvSpPr>
          <p:cNvPr id="47" name="Rounded Rectangle 46"/>
          <p:cNvSpPr/>
          <p:nvPr/>
        </p:nvSpPr>
        <p:spPr>
          <a:xfrm>
            <a:off x="914400" y="4800600"/>
            <a:ext cx="10287000" cy="566928"/>
          </a:xfrm>
          <a:prstGeom prst="roundRect">
            <a:avLst/>
          </a:prstGeom>
          <a:solidFill>
            <a:srgbClr val="EAF1F8"/>
          </a:solidFill>
          <a:ln w="12700">
            <a:solidFill>
              <a:srgbClr val="D5DEE9"/>
            </a:solidFill>
          </a:ln>
        </p:spPr>
        <p:style>
          <a:lnRef idx="1">
            <a:schemeClr val="accent1"/>
          </a:lnRef>
          <a:fillRef idx="3">
            <a:schemeClr val="accent1"/>
          </a:fillRef>
          <a:effectRef idx="2">
            <a:schemeClr val="accent1"/>
          </a:effectRef>
          <a:fontRef idx="minor">
            <a:schemeClr val="lt1"/>
          </a:fontRef>
        </p:style>
        <p:txBody>
          <a:bodyPr rtlCol="0" anchor="ctr" lIns="146304" rIns="146304"/>
          <a:lstStyle/>
          <a:p>
            <a:pPr algn="ctr"/>
            <a:r>
              <a:rPr sz="900" b="1">
                <a:solidFill>
                  <a:srgbClr val="0B2A4A"/>
                </a:solidFill>
                <a:latin typeface="Aptos"/>
              </a:rPr>
              <a:t>The safe claim: the harness standardizes interpretation. Databricks / Unity Catalog still governs data access and permissions.</a:t>
            </a:r>
          </a:p>
        </p:txBody>
      </p:sp>
      <p:sp>
        <p:nvSpPr>
          <p:cNvPr id="48" name="TextBox 47"/>
          <p:cNvSpPr txBox="1"/>
          <p:nvPr/>
        </p:nvSpPr>
        <p:spPr>
          <a:xfrm>
            <a:off x="1280160" y="5504688"/>
            <a:ext cx="9692640" cy="310896"/>
          </a:xfrm>
          <a:prstGeom prst="rect">
            <a:avLst/>
          </a:prstGeom>
          <a:noFill/>
        </p:spPr>
        <p:txBody>
          <a:bodyPr wrap="none" lIns="18288" rIns="18288" tIns="0" bIns="0">
            <a:spAutoFit/>
          </a:bodyPr>
          <a:lstStyle/>
          <a:p>
            <a:pPr algn="ctr"/>
            <a:r>
              <a:rPr sz="700" b="0">
                <a:solidFill>
                  <a:srgbClr val="5A6675"/>
                </a:solidFill>
                <a:latin typeface="Aptos"/>
              </a:rPr>
              <a:t>Pre-decisional mapping — implementation details must be confirmed through the appropriate USCIS/OIT governance, security, privacy, and approval path.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2920" y="457200"/>
            <a:ext cx="502920" cy="50800"/>
          </a:xfrm>
          <a:prstGeom prst="rect">
            <a:avLst/>
          </a:prstGeom>
          <a:solidFill>
            <a:srgbClr val="005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365760"/>
            <a:ext cx="7315200" cy="320040"/>
          </a:xfrm>
          <a:prstGeom prst="rect">
            <a:avLst/>
          </a:prstGeom>
          <a:noFill/>
        </p:spPr>
        <p:txBody>
          <a:bodyPr wrap="square" lIns="0" tIns="0" rIns="0" bIns="0" anchor="t">
            <a:spAutoFit/>
          </a:bodyPr>
          <a:lstStyle/>
          <a:p>
            <a:pPr algn="l"/>
            <a:r>
              <a:rPr sz="1200" b="1" spc="160">
                <a:solidFill>
                  <a:srgbClr val="005EA2"/>
                </a:solidFill>
                <a:latin typeface="Source Sans Pro"/>
              </a:rPr>
              <a:t>CDAO AI HARNESS BRIEFING</a:t>
            </a:r>
          </a:p>
        </p:txBody>
      </p:sp>
      <p:sp>
        <p:nvSpPr>
          <p:cNvPr id="4" name="TextBox 3"/>
          <p:cNvSpPr txBox="1"/>
          <p:nvPr/>
        </p:nvSpPr>
        <p:spPr>
          <a:xfrm>
            <a:off x="9601200" y="365760"/>
            <a:ext cx="2084831" cy="320040"/>
          </a:xfrm>
          <a:prstGeom prst="rect">
            <a:avLst/>
          </a:prstGeom>
          <a:noFill/>
        </p:spPr>
        <p:txBody>
          <a:bodyPr wrap="square" lIns="0" tIns="0" rIns="0" bIns="0" anchor="t">
            <a:spAutoFit/>
          </a:bodyPr>
          <a:lstStyle/>
          <a:p>
            <a:pPr algn="r"/>
            <a:r>
              <a:rPr sz="1200" b="1" spc="100">
                <a:solidFill>
                  <a:srgbClr val="A9AEB1"/>
                </a:solidFill>
                <a:latin typeface="Source Sans Pro"/>
              </a:rPr>
              <a:t>09 / 12</a:t>
            </a:r>
          </a:p>
        </p:txBody>
      </p:sp>
      <p:sp>
        <p:nvSpPr>
          <p:cNvPr id="5" name="TextBox 4"/>
          <p:cNvSpPr txBox="1"/>
          <p:nvPr/>
        </p:nvSpPr>
        <p:spPr>
          <a:xfrm>
            <a:off x="502920" y="603504"/>
            <a:ext cx="11183112" cy="640080"/>
          </a:xfrm>
          <a:prstGeom prst="rect">
            <a:avLst/>
          </a:prstGeom>
          <a:noFill/>
        </p:spPr>
        <p:txBody>
          <a:bodyPr wrap="square" lIns="0" tIns="0" rIns="0" bIns="0" anchor="t">
            <a:spAutoFit/>
          </a:bodyPr>
          <a:lstStyle/>
          <a:p>
            <a:pPr algn="l"/>
            <a:r>
              <a:rPr sz="3000" b="1">
                <a:solidFill>
                  <a:srgbClr val="162E51"/>
                </a:solidFill>
                <a:latin typeface="Source Sans Pro"/>
              </a:rPr>
              <a:t>Governance Stays in Databricks / Unity Catalog</a:t>
            </a:r>
          </a:p>
        </p:txBody>
      </p:sp>
      <p:pic>
        <p:nvPicPr>
          <p:cNvPr id="6" name="Picture 5" descr="09-governance-foundation.png"/>
          <p:cNvPicPr>
            <a:picLocks noChangeAspect="1"/>
          </p:cNvPicPr>
          <p:nvPr/>
        </p:nvPicPr>
        <p:blipFill>
          <a:blip r:embed="rId3"/>
          <a:stretch>
            <a:fillRect/>
          </a:stretch>
        </p:blipFill>
        <p:spPr>
          <a:xfrm>
            <a:off x="1432407" y="1078992"/>
            <a:ext cx="9326880" cy="5246370"/>
          </a:xfrm>
          <a:prstGeom prst="rect">
            <a:avLst/>
          </a:prstGeom>
        </p:spPr>
      </p:pic>
      <p:sp>
        <p:nvSpPr>
          <p:cNvPr id="7" name="TextBox 6"/>
          <p:cNvSpPr txBox="1"/>
          <p:nvPr/>
        </p:nvSpPr>
        <p:spPr>
          <a:xfrm>
            <a:off x="502920" y="6510528"/>
            <a:ext cx="9144000" cy="274320"/>
          </a:xfrm>
          <a:prstGeom prst="rect">
            <a:avLst/>
          </a:prstGeom>
          <a:noFill/>
        </p:spPr>
        <p:txBody>
          <a:bodyPr wrap="square" lIns="0" tIns="0" rIns="0" bIns="0" anchor="t">
            <a:spAutoFit/>
          </a:bodyPr>
          <a:lstStyle/>
          <a:p>
            <a:pPr algn="l"/>
            <a:r>
              <a:rPr sz="950" b="0">
                <a:solidFill>
                  <a:srgbClr val="A9AEB1"/>
                </a:solidFill>
                <a:latin typeface="Source Sans Pro"/>
              </a:rPr>
              <a:t>USCIS-aligned CDAO briefing style — pre-decisional draft. Not an official USCIS template.</a:t>
            </a:r>
          </a:p>
        </p:txBody>
      </p:sp>
      <p:sp>
        <p:nvSpPr>
          <p:cNvPr id="8" name="TextBox 7"/>
          <p:cNvSpPr txBox="1"/>
          <p:nvPr/>
        </p:nvSpPr>
        <p:spPr>
          <a:xfrm>
            <a:off x="10058400" y="6510528"/>
            <a:ext cx="1627632" cy="274320"/>
          </a:xfrm>
          <a:prstGeom prst="rect">
            <a:avLst/>
          </a:prstGeom>
          <a:noFill/>
        </p:spPr>
        <p:txBody>
          <a:bodyPr wrap="square" lIns="0" tIns="0" rIns="0" bIns="0" anchor="t">
            <a:spAutoFit/>
          </a:bodyPr>
          <a:lstStyle/>
          <a:p>
            <a:pPr algn="r"/>
            <a:r>
              <a:rPr sz="950" b="0">
                <a:solidFill>
                  <a:srgbClr val="A9AEB1"/>
                </a:solidFill>
                <a:latin typeface="Source Sans Pro"/>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9768"/>
            <a:ext cx="310896" cy="0"/>
          </a:xfrm>
          <a:prstGeom prst="line">
            <a:avLst/>
          </a:prstGeom>
          <a:noFill/>
          <a:ln w="30480">
            <a:solidFill>
              <a:srgbClr val="162E51"/>
            </a:solidFill>
            <a:prstDash val="solid"/>
          </a:ln>
        </p:spPr>
      </p:sp>
      <p:sp>
        <p:nvSpPr>
          <p:cNvPr id="3" name="Text 1"/>
          <p:cNvSpPr/>
          <p:nvPr/>
        </p:nvSpPr>
        <p:spPr>
          <a:xfrm>
            <a:off x="932688" y="347472"/>
            <a:ext cx="7315200" cy="274320"/>
          </a:xfrm>
          <a:prstGeom prst="rect">
            <a:avLst/>
          </a:prstGeom>
          <a:noFill/>
          <a:ln/>
        </p:spPr>
        <p:txBody>
          <a:bodyPr wrap="square" lIns="0" tIns="0" rIns="0" bIns="0" rtlCol="0" anchor="ctr"/>
          <a:lstStyle/>
          <a:p>
            <a:pPr algn="l" indent="0" marL="0">
              <a:lnSpc>
                <a:spcPct val="100000"/>
              </a:lnSpc>
              <a:buNone/>
            </a:pPr>
            <a:r>
              <a:rPr lang="en-US" sz="1100" b="1" spc="140" kern="0" dirty="0">
                <a:solidFill>
                  <a:srgbClr val="162E51"/>
                </a:solidFill>
                <a:latin typeface="Source Sans Pro" pitchFamily="34" charset="0"/>
                <a:ea typeface="Source Sans Pro" pitchFamily="34" charset="-122"/>
                <a:cs typeface="Source Sans Pro" pitchFamily="34" charset="-120"/>
              </a:rPr>
              <a:t>CDAO AI HARNESS BRIEFING</a:t>
            </a:r>
            <a:endParaRPr lang="en-US" sz="1100" dirty="0"/>
          </a:p>
        </p:txBody>
      </p:sp>
      <p:sp>
        <p:nvSpPr>
          <p:cNvPr id="4" name="Text 2"/>
          <p:cNvSpPr/>
          <p:nvPr/>
        </p:nvSpPr>
        <p:spPr>
          <a:xfrm>
            <a:off x="9784080" y="329184"/>
            <a:ext cx="1828800" cy="274320"/>
          </a:xfrm>
          <a:prstGeom prst="rect">
            <a:avLst/>
          </a:prstGeom>
          <a:noFill/>
          <a:ln/>
        </p:spPr>
        <p:txBody>
          <a:bodyPr wrap="square" lIns="0" tIns="0" rIns="0" bIns="0" rtlCol="0" anchor="ctr"/>
          <a:lstStyle/>
          <a:p>
            <a:pPr algn="r" indent="0" marL="0">
              <a:lnSpc>
                <a:spcPct val="100000"/>
              </a:lnSpc>
              <a:buNone/>
            </a:pPr>
            <a:r>
              <a:rPr lang="en-US" sz="1200" b="1" dirty="0">
                <a:solidFill>
                  <a:srgbClr val="162E51"/>
                </a:solidFill>
                <a:latin typeface="Source Sans Pro" pitchFamily="34" charset="0"/>
                <a:ea typeface="Source Sans Pro" pitchFamily="34" charset="-122"/>
                <a:cs typeface="Source Sans Pro" pitchFamily="34" charset="-120"/>
              </a:rPr>
              <a:t>10 / 12</a:t>
            </a:r>
            <a:endParaRPr lang="en-US" sz="1200" dirty="0"/>
          </a:p>
        </p:txBody>
      </p:sp>
      <p:sp>
        <p:nvSpPr>
          <p:cNvPr id="5" name="Text 3"/>
          <p:cNvSpPr/>
          <p:nvPr/>
        </p:nvSpPr>
        <p:spPr>
          <a:xfrm>
            <a:off x="548640" y="713232"/>
            <a:ext cx="11064240" cy="658368"/>
          </a:xfrm>
          <a:prstGeom prst="rect">
            <a:avLst/>
          </a:prstGeom>
          <a:noFill/>
          <a:ln/>
        </p:spPr>
        <p:txBody>
          <a:bodyPr wrap="square" lIns="0" tIns="0" rIns="0" bIns="0" rtlCol="0" anchor="ctr"/>
          <a:lstStyle/>
          <a:p>
            <a:pPr algn="l" indent="0" marL="0">
              <a:lnSpc>
                <a:spcPct val="100000"/>
              </a:lnSpc>
              <a:buNone/>
            </a:pPr>
            <a:r>
              <a:rPr lang="en-US" sz="3000" b="1" dirty="0">
                <a:solidFill>
                  <a:srgbClr val="162E51"/>
                </a:solidFill>
                <a:latin typeface="Source Sans Pro" pitchFamily="34" charset="0"/>
                <a:ea typeface="Source Sans Pro" pitchFamily="34" charset="-122"/>
                <a:cs typeface="Source Sans Pro" pitchFamily="34" charset="-120"/>
              </a:rPr>
              <a:t>How a Harness Is Built</a:t>
            </a:r>
            <a:endParaRPr lang="en-US" sz="3000" dirty="0"/>
          </a:p>
        </p:txBody>
      </p:sp>
      <p:sp>
        <p:nvSpPr>
          <p:cNvPr id="6" name="Shape 4"/>
          <p:cNvSpPr/>
          <p:nvPr/>
        </p:nvSpPr>
        <p:spPr>
          <a:xfrm>
            <a:off x="5852160" y="5870448"/>
            <a:ext cx="457200" cy="0"/>
          </a:xfrm>
          <a:prstGeom prst="line">
            <a:avLst/>
          </a:prstGeom>
          <a:noFill/>
          <a:ln w="25400">
            <a:solidFill>
              <a:srgbClr val="162E51"/>
            </a:solidFill>
            <a:prstDash val="solid"/>
          </a:ln>
        </p:spPr>
      </p:sp>
      <p:sp>
        <p:nvSpPr>
          <p:cNvPr id="7" name="Text 5"/>
          <p:cNvSpPr/>
          <p:nvPr/>
        </p:nvSpPr>
        <p:spPr>
          <a:xfrm>
            <a:off x="1463040" y="5989320"/>
            <a:ext cx="9235440" cy="274320"/>
          </a:xfrm>
          <a:prstGeom prst="rect">
            <a:avLst/>
          </a:prstGeom>
          <a:noFill/>
          <a:ln/>
        </p:spPr>
        <p:txBody>
          <a:bodyPr wrap="square" lIns="0" tIns="0" rIns="0" bIns="0" rtlCol="0" anchor="t"/>
          <a:lstStyle/>
          <a:p>
            <a:pPr algn="ctr" indent="0" marL="0">
              <a:lnSpc>
                <a:spcPct val="100000"/>
              </a:lnSpc>
              <a:buNone/>
            </a:pPr>
            <a:r>
              <a:rPr lang="en-US" sz="1300" b="1" dirty="0">
                <a:solidFill>
                  <a:srgbClr val="162E51"/>
                </a:solidFill>
                <a:latin typeface="Calibri" pitchFamily="34" charset="0"/>
                <a:ea typeface="Calibri" pitchFamily="34" charset="-122"/>
                <a:cs typeface="Calibri" pitchFamily="34" charset="-120"/>
              </a:rPr>
              <a:t>Build the playbook once; reuse the context many ways.</a:t>
            </a:r>
            <a:endParaRPr lang="en-US" sz="1300" dirty="0"/>
          </a:p>
        </p:txBody>
      </p:sp>
      <p:sp>
        <p:nvSpPr>
          <p:cNvPr id="8" name="Text 6"/>
          <p:cNvSpPr/>
          <p:nvPr/>
        </p:nvSpPr>
        <p:spPr>
          <a:xfrm>
            <a:off x="548640" y="6510528"/>
            <a:ext cx="10058400" cy="274320"/>
          </a:xfrm>
          <a:prstGeom prst="rect">
            <a:avLst/>
          </a:prstGeom>
          <a:noFill/>
          <a:ln/>
        </p:spPr>
        <p:txBody>
          <a:bodyPr wrap="square" lIns="0" tIns="0" rIns="0" bIns="0" rtlCol="0" anchor="t"/>
          <a:lstStyle/>
          <a:p>
            <a:pPr algn="l" indent="0" marL="0">
              <a:lnSpc>
                <a:spcPct val="100000"/>
              </a:lnSpc>
              <a:buNone/>
            </a:pPr>
            <a:r>
              <a:rPr lang="en-US" sz="1000" dirty="0">
                <a:solidFill>
                  <a:srgbClr val="9AA4B2"/>
                </a:solidFill>
                <a:latin typeface="Calibri" pitchFamily="34" charset="0"/>
                <a:ea typeface="Calibri" pitchFamily="34" charset="-122"/>
                <a:cs typeface="Calibri" pitchFamily="34" charset="-120"/>
              </a:rPr>
              <a:t>USCIS-aligned CDAO briefing style — pre-decisional draft. Not an official USCIS template.</a:t>
            </a:r>
            <a:endParaRPr lang="en-US" sz="1000" dirty="0"/>
          </a:p>
        </p:txBody>
      </p:sp>
      <p:sp>
        <p:nvSpPr>
          <p:cNvPr id="9" name="Text 7"/>
          <p:cNvSpPr/>
          <p:nvPr/>
        </p:nvSpPr>
        <p:spPr>
          <a:xfrm>
            <a:off x="11338560" y="6510528"/>
            <a:ext cx="548640" cy="274320"/>
          </a:xfrm>
          <a:prstGeom prst="rect">
            <a:avLst/>
          </a:prstGeom>
          <a:noFill/>
          <a:ln/>
        </p:spPr>
        <p:txBody>
          <a:bodyPr wrap="square" lIns="0" tIns="0" rIns="0" bIns="0" rtlCol="0" anchor="t"/>
          <a:lstStyle/>
          <a:p>
            <a:pPr algn="r" indent="0" marL="0">
              <a:lnSpc>
                <a:spcPct val="100000"/>
              </a:lnSpc>
              <a:buNone/>
            </a:pPr>
            <a:r>
              <a:rPr lang="en-US" sz="1000" dirty="0">
                <a:solidFill>
                  <a:srgbClr val="9AA4B2"/>
                </a:solidFill>
                <a:latin typeface="Calibri" pitchFamily="34" charset="0"/>
                <a:ea typeface="Calibri" pitchFamily="34" charset="-122"/>
                <a:cs typeface="Calibri" pitchFamily="34" charset="-120"/>
              </a:rPr>
              <a:t>10</a:t>
            </a:r>
            <a:endParaRPr lang="en-US" sz="1000" dirty="0"/>
          </a:p>
        </p:txBody>
      </p:sp>
      <p:sp>
        <p:nvSpPr>
          <p:cNvPr id="10" name="Shape 8"/>
          <p:cNvSpPr/>
          <p:nvPr/>
        </p:nvSpPr>
        <p:spPr>
          <a:xfrm>
            <a:off x="1207008" y="2734056"/>
            <a:ext cx="9793224" cy="0"/>
          </a:xfrm>
          <a:prstGeom prst="line">
            <a:avLst/>
          </a:prstGeom>
          <a:noFill/>
          <a:ln w="19050">
            <a:solidFill>
              <a:srgbClr val="D5DEE9"/>
            </a:solidFill>
            <a:prstDash val="solid"/>
          </a:ln>
        </p:spPr>
      </p:sp>
      <p:sp>
        <p:nvSpPr>
          <p:cNvPr id="11" name="Shape 9"/>
          <p:cNvSpPr/>
          <p:nvPr/>
        </p:nvSpPr>
        <p:spPr>
          <a:xfrm>
            <a:off x="566928" y="2788920"/>
            <a:ext cx="1280160" cy="2057400"/>
          </a:xfrm>
          <a:prstGeom prst="roundRect">
            <a:avLst>
              <a:gd name="adj" fmla="val 5714"/>
            </a:avLst>
          </a:prstGeom>
          <a:solidFill>
            <a:srgbClr val="FFFFFF"/>
          </a:solidFill>
          <a:ln w="12700">
            <a:solidFill>
              <a:srgbClr val="D5DEE9"/>
            </a:solidFill>
            <a:prstDash val="solid"/>
          </a:ln>
          <a:effectLst>
            <a:outerShdw sx="100000" sy="100000" kx="0" ky="0" algn="bl" rotWithShape="0" blurRad="63500" dist="25400" dir="5400000">
              <a:srgbClr val="000000">
                <a:alpha val="12000"/>
              </a:srgbClr>
            </a:outerShdw>
          </a:effectLst>
        </p:spPr>
      </p:sp>
      <p:sp>
        <p:nvSpPr>
          <p:cNvPr id="12" name="Shape 10"/>
          <p:cNvSpPr/>
          <p:nvPr/>
        </p:nvSpPr>
        <p:spPr>
          <a:xfrm>
            <a:off x="1014984" y="2542032"/>
            <a:ext cx="384048" cy="384048"/>
          </a:xfrm>
          <a:prstGeom prst="ellipse">
            <a:avLst/>
          </a:prstGeom>
          <a:solidFill>
            <a:srgbClr val="162E51"/>
          </a:solidFill>
          <a:ln w="25400">
            <a:solidFill>
              <a:srgbClr val="FFFFFF"/>
            </a:solidFill>
            <a:prstDash val="solid"/>
          </a:ln>
        </p:spPr>
      </p:sp>
      <p:sp>
        <p:nvSpPr>
          <p:cNvPr id="13" name="Text 11"/>
          <p:cNvSpPr/>
          <p:nvPr/>
        </p:nvSpPr>
        <p:spPr>
          <a:xfrm>
            <a:off x="1014984" y="2542032"/>
            <a:ext cx="384048" cy="38404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Source Sans Pro" pitchFamily="34" charset="0"/>
                <a:ea typeface="Source Sans Pro" pitchFamily="34" charset="-122"/>
                <a:cs typeface="Source Sans Pro" pitchFamily="34" charset="-120"/>
              </a:rPr>
              <a:t>1</a:t>
            </a:r>
            <a:endParaRPr lang="en-US" sz="1400" dirty="0"/>
          </a:p>
        </p:txBody>
      </p:sp>
      <p:sp>
        <p:nvSpPr>
          <p:cNvPr id="14" name="Text 12"/>
          <p:cNvSpPr/>
          <p:nvPr/>
        </p:nvSpPr>
        <p:spPr>
          <a:xfrm>
            <a:off x="640080" y="3172968"/>
            <a:ext cx="1133856" cy="1554480"/>
          </a:xfrm>
          <a:prstGeom prst="rect">
            <a:avLst/>
          </a:prstGeom>
          <a:noFill/>
          <a:ln/>
        </p:spPr>
        <p:txBody>
          <a:bodyPr wrap="square" lIns="0" tIns="0" rIns="0" bIns="0" rtlCol="0" anchor="t"/>
          <a:lstStyle/>
          <a:p>
            <a:pPr algn="ctr" indent="0" marL="0">
              <a:lnSpc>
                <a:spcPct val="100000"/>
              </a:lnSpc>
              <a:buNone/>
            </a:pPr>
            <a:r>
              <a:rPr lang="en-US" sz="950" dirty="0">
                <a:solidFill>
                  <a:srgbClr val="1B2733"/>
                </a:solidFill>
                <a:latin typeface="Calibri" pitchFamily="34" charset="0"/>
                <a:ea typeface="Calibri" pitchFamily="34" charset="-122"/>
                <a:cs typeface="Calibri" pitchFamily="34" charset="-120"/>
              </a:rPr>
              <a:t>Pick a data product or use case</a:t>
            </a:r>
            <a:endParaRPr lang="en-US" sz="950" dirty="0"/>
          </a:p>
        </p:txBody>
      </p:sp>
      <p:sp>
        <p:nvSpPr>
          <p:cNvPr id="15" name="Shape 13"/>
          <p:cNvSpPr/>
          <p:nvPr/>
        </p:nvSpPr>
        <p:spPr>
          <a:xfrm>
            <a:off x="1965960" y="2788920"/>
            <a:ext cx="1280160" cy="2057400"/>
          </a:xfrm>
          <a:prstGeom prst="roundRect">
            <a:avLst>
              <a:gd name="adj" fmla="val 5714"/>
            </a:avLst>
          </a:prstGeom>
          <a:solidFill>
            <a:srgbClr val="FFFFFF"/>
          </a:solidFill>
          <a:ln w="12700">
            <a:solidFill>
              <a:srgbClr val="D5DEE9"/>
            </a:solidFill>
            <a:prstDash val="solid"/>
          </a:ln>
          <a:effectLst>
            <a:outerShdw sx="100000" sy="100000" kx="0" ky="0" algn="bl" rotWithShape="0" blurRad="63500" dist="25400" dir="5400000">
              <a:srgbClr val="000000">
                <a:alpha val="12000"/>
              </a:srgbClr>
            </a:outerShdw>
          </a:effectLst>
        </p:spPr>
      </p:sp>
      <p:sp>
        <p:nvSpPr>
          <p:cNvPr id="16" name="Shape 14"/>
          <p:cNvSpPr/>
          <p:nvPr/>
        </p:nvSpPr>
        <p:spPr>
          <a:xfrm>
            <a:off x="2414016" y="2542032"/>
            <a:ext cx="384048" cy="384048"/>
          </a:xfrm>
          <a:prstGeom prst="ellipse">
            <a:avLst/>
          </a:prstGeom>
          <a:solidFill>
            <a:srgbClr val="162E51"/>
          </a:solidFill>
          <a:ln w="25400">
            <a:solidFill>
              <a:srgbClr val="FFFFFF"/>
            </a:solidFill>
            <a:prstDash val="solid"/>
          </a:ln>
        </p:spPr>
      </p:sp>
      <p:sp>
        <p:nvSpPr>
          <p:cNvPr id="17" name="Text 15"/>
          <p:cNvSpPr/>
          <p:nvPr/>
        </p:nvSpPr>
        <p:spPr>
          <a:xfrm>
            <a:off x="2414016" y="2542032"/>
            <a:ext cx="384048" cy="38404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Source Sans Pro" pitchFamily="34" charset="0"/>
                <a:ea typeface="Source Sans Pro" pitchFamily="34" charset="-122"/>
                <a:cs typeface="Source Sans Pro" pitchFamily="34" charset="-120"/>
              </a:rPr>
              <a:t>2</a:t>
            </a:r>
            <a:endParaRPr lang="en-US" sz="1400" dirty="0"/>
          </a:p>
        </p:txBody>
      </p:sp>
      <p:sp>
        <p:nvSpPr>
          <p:cNvPr id="18" name="Text 16"/>
          <p:cNvSpPr/>
          <p:nvPr/>
        </p:nvSpPr>
        <p:spPr>
          <a:xfrm>
            <a:off x="2039112" y="3172968"/>
            <a:ext cx="1133856" cy="1554480"/>
          </a:xfrm>
          <a:prstGeom prst="rect">
            <a:avLst/>
          </a:prstGeom>
          <a:noFill/>
          <a:ln/>
        </p:spPr>
        <p:txBody>
          <a:bodyPr wrap="square" lIns="0" tIns="0" rIns="0" bIns="0" rtlCol="0" anchor="t"/>
          <a:lstStyle/>
          <a:p>
            <a:pPr algn="ctr" indent="0" marL="0">
              <a:lnSpc>
                <a:spcPct val="100000"/>
              </a:lnSpc>
              <a:buNone/>
            </a:pPr>
            <a:r>
              <a:rPr lang="en-US" sz="950" dirty="0">
                <a:solidFill>
                  <a:srgbClr val="1B2733"/>
                </a:solidFill>
                <a:latin typeface="Calibri" pitchFamily="34" charset="0"/>
                <a:ea typeface="Calibri" pitchFamily="34" charset="-122"/>
                <a:cs typeface="Calibri" pitchFamily="34" charset="-120"/>
              </a:rPr>
              <a:t>Identify the Genie Space &amp; tables/views</a:t>
            </a:r>
            <a:endParaRPr lang="en-US" sz="950" dirty="0"/>
          </a:p>
        </p:txBody>
      </p:sp>
      <p:sp>
        <p:nvSpPr>
          <p:cNvPr id="19" name="Shape 17"/>
          <p:cNvSpPr/>
          <p:nvPr/>
        </p:nvSpPr>
        <p:spPr>
          <a:xfrm>
            <a:off x="3364992" y="2788920"/>
            <a:ext cx="1280160" cy="2057400"/>
          </a:xfrm>
          <a:prstGeom prst="roundRect">
            <a:avLst>
              <a:gd name="adj" fmla="val 5714"/>
            </a:avLst>
          </a:prstGeom>
          <a:solidFill>
            <a:srgbClr val="FFFFFF"/>
          </a:solidFill>
          <a:ln w="12700">
            <a:solidFill>
              <a:srgbClr val="D5DEE9"/>
            </a:solidFill>
            <a:prstDash val="solid"/>
          </a:ln>
          <a:effectLst>
            <a:outerShdw sx="100000" sy="100000" kx="0" ky="0" algn="bl" rotWithShape="0" blurRad="63500" dist="25400" dir="5400000">
              <a:srgbClr val="000000">
                <a:alpha val="12000"/>
              </a:srgbClr>
            </a:outerShdw>
          </a:effectLst>
        </p:spPr>
      </p:sp>
      <p:sp>
        <p:nvSpPr>
          <p:cNvPr id="20" name="Shape 18"/>
          <p:cNvSpPr/>
          <p:nvPr/>
        </p:nvSpPr>
        <p:spPr>
          <a:xfrm>
            <a:off x="3813048" y="2542032"/>
            <a:ext cx="384048" cy="384048"/>
          </a:xfrm>
          <a:prstGeom prst="ellipse">
            <a:avLst/>
          </a:prstGeom>
          <a:solidFill>
            <a:srgbClr val="162E51"/>
          </a:solidFill>
          <a:ln w="25400">
            <a:solidFill>
              <a:srgbClr val="FFFFFF"/>
            </a:solidFill>
            <a:prstDash val="solid"/>
          </a:ln>
        </p:spPr>
      </p:sp>
      <p:sp>
        <p:nvSpPr>
          <p:cNvPr id="21" name="Text 19"/>
          <p:cNvSpPr/>
          <p:nvPr/>
        </p:nvSpPr>
        <p:spPr>
          <a:xfrm>
            <a:off x="3813048" y="2542032"/>
            <a:ext cx="384048" cy="38404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Source Sans Pro" pitchFamily="34" charset="0"/>
                <a:ea typeface="Source Sans Pro" pitchFamily="34" charset="-122"/>
                <a:cs typeface="Source Sans Pro" pitchFamily="34" charset="-120"/>
              </a:rPr>
              <a:t>3</a:t>
            </a:r>
            <a:endParaRPr lang="en-US" sz="1400" dirty="0"/>
          </a:p>
        </p:txBody>
      </p:sp>
      <p:sp>
        <p:nvSpPr>
          <p:cNvPr id="22" name="Text 20"/>
          <p:cNvSpPr/>
          <p:nvPr/>
        </p:nvSpPr>
        <p:spPr>
          <a:xfrm>
            <a:off x="3438144" y="3172968"/>
            <a:ext cx="1133856" cy="1554480"/>
          </a:xfrm>
          <a:prstGeom prst="rect">
            <a:avLst/>
          </a:prstGeom>
          <a:noFill/>
          <a:ln/>
        </p:spPr>
        <p:txBody>
          <a:bodyPr wrap="square" lIns="0" tIns="0" rIns="0" bIns="0" rtlCol="0" anchor="t"/>
          <a:lstStyle/>
          <a:p>
            <a:pPr algn="ctr" indent="0" marL="0">
              <a:lnSpc>
                <a:spcPct val="100000"/>
              </a:lnSpc>
              <a:buNone/>
            </a:pPr>
            <a:r>
              <a:rPr lang="en-US" sz="950" dirty="0">
                <a:solidFill>
                  <a:srgbClr val="1B2733"/>
                </a:solidFill>
                <a:latin typeface="Calibri" pitchFamily="34" charset="0"/>
                <a:ea typeface="Calibri" pitchFamily="34" charset="-122"/>
                <a:cs typeface="Calibri" pitchFamily="34" charset="-120"/>
              </a:rPr>
              <a:t>Write plain-English definitions &amp; caveats</a:t>
            </a:r>
            <a:endParaRPr lang="en-US" sz="950" dirty="0"/>
          </a:p>
        </p:txBody>
      </p:sp>
      <p:sp>
        <p:nvSpPr>
          <p:cNvPr id="23" name="Shape 21"/>
          <p:cNvSpPr/>
          <p:nvPr/>
        </p:nvSpPr>
        <p:spPr>
          <a:xfrm>
            <a:off x="4764024" y="2788920"/>
            <a:ext cx="1280160" cy="2057400"/>
          </a:xfrm>
          <a:prstGeom prst="roundRect">
            <a:avLst>
              <a:gd name="adj" fmla="val 5714"/>
            </a:avLst>
          </a:prstGeom>
          <a:solidFill>
            <a:srgbClr val="FFFFFF"/>
          </a:solidFill>
          <a:ln w="12700">
            <a:solidFill>
              <a:srgbClr val="D5DEE9"/>
            </a:solidFill>
            <a:prstDash val="solid"/>
          </a:ln>
          <a:effectLst>
            <a:outerShdw sx="100000" sy="100000" kx="0" ky="0" algn="bl" rotWithShape="0" blurRad="63500" dist="25400" dir="5400000">
              <a:srgbClr val="000000">
                <a:alpha val="12000"/>
              </a:srgbClr>
            </a:outerShdw>
          </a:effectLst>
        </p:spPr>
      </p:sp>
      <p:sp>
        <p:nvSpPr>
          <p:cNvPr id="24" name="Shape 22"/>
          <p:cNvSpPr/>
          <p:nvPr/>
        </p:nvSpPr>
        <p:spPr>
          <a:xfrm>
            <a:off x="5212080" y="2542032"/>
            <a:ext cx="384048" cy="384048"/>
          </a:xfrm>
          <a:prstGeom prst="ellipse">
            <a:avLst/>
          </a:prstGeom>
          <a:solidFill>
            <a:srgbClr val="162E51"/>
          </a:solidFill>
          <a:ln w="25400">
            <a:solidFill>
              <a:srgbClr val="FFFFFF"/>
            </a:solidFill>
            <a:prstDash val="solid"/>
          </a:ln>
        </p:spPr>
      </p:sp>
      <p:sp>
        <p:nvSpPr>
          <p:cNvPr id="25" name="Text 23"/>
          <p:cNvSpPr/>
          <p:nvPr/>
        </p:nvSpPr>
        <p:spPr>
          <a:xfrm>
            <a:off x="5212080" y="2542032"/>
            <a:ext cx="384048" cy="38404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Source Sans Pro" pitchFamily="34" charset="0"/>
                <a:ea typeface="Source Sans Pro" pitchFamily="34" charset="-122"/>
                <a:cs typeface="Source Sans Pro" pitchFamily="34" charset="-120"/>
              </a:rPr>
              <a:t>4</a:t>
            </a:r>
            <a:endParaRPr lang="en-US" sz="1400" dirty="0"/>
          </a:p>
        </p:txBody>
      </p:sp>
      <p:sp>
        <p:nvSpPr>
          <p:cNvPr id="26" name="Text 24"/>
          <p:cNvSpPr/>
          <p:nvPr/>
        </p:nvSpPr>
        <p:spPr>
          <a:xfrm>
            <a:off x="4837176" y="3172968"/>
            <a:ext cx="1133856" cy="1554480"/>
          </a:xfrm>
          <a:prstGeom prst="rect">
            <a:avLst/>
          </a:prstGeom>
          <a:noFill/>
          <a:ln/>
        </p:spPr>
        <p:txBody>
          <a:bodyPr wrap="square" lIns="0" tIns="0" rIns="0" bIns="0" rtlCol="0" anchor="t"/>
          <a:lstStyle/>
          <a:p>
            <a:pPr algn="ctr" indent="0" marL="0">
              <a:lnSpc>
                <a:spcPct val="100000"/>
              </a:lnSpc>
              <a:buNone/>
            </a:pPr>
            <a:r>
              <a:rPr lang="en-US" sz="950" dirty="0">
                <a:solidFill>
                  <a:srgbClr val="1B2733"/>
                </a:solidFill>
                <a:latin typeface="Calibri" pitchFamily="34" charset="0"/>
                <a:ea typeface="Calibri" pitchFamily="34" charset="-122"/>
                <a:cs typeface="Calibri" pitchFamily="34" charset="-120"/>
              </a:rPr>
              <a:t>Add mission context &amp; approved counting logic</a:t>
            </a:r>
            <a:endParaRPr lang="en-US" sz="950" dirty="0"/>
          </a:p>
        </p:txBody>
      </p:sp>
      <p:sp>
        <p:nvSpPr>
          <p:cNvPr id="27" name="Shape 25"/>
          <p:cNvSpPr/>
          <p:nvPr/>
        </p:nvSpPr>
        <p:spPr>
          <a:xfrm>
            <a:off x="6163056" y="2788920"/>
            <a:ext cx="1280160" cy="2057400"/>
          </a:xfrm>
          <a:prstGeom prst="roundRect">
            <a:avLst>
              <a:gd name="adj" fmla="val 5714"/>
            </a:avLst>
          </a:prstGeom>
          <a:solidFill>
            <a:srgbClr val="FFFFFF"/>
          </a:solidFill>
          <a:ln w="12700">
            <a:solidFill>
              <a:srgbClr val="D5DEE9"/>
            </a:solidFill>
            <a:prstDash val="solid"/>
          </a:ln>
          <a:effectLst>
            <a:outerShdw sx="100000" sy="100000" kx="0" ky="0" algn="bl" rotWithShape="0" blurRad="63500" dist="25400" dir="5400000">
              <a:srgbClr val="000000">
                <a:alpha val="12000"/>
              </a:srgbClr>
            </a:outerShdw>
          </a:effectLst>
        </p:spPr>
      </p:sp>
      <p:sp>
        <p:nvSpPr>
          <p:cNvPr id="28" name="Shape 26"/>
          <p:cNvSpPr/>
          <p:nvPr/>
        </p:nvSpPr>
        <p:spPr>
          <a:xfrm>
            <a:off x="6611112" y="2542032"/>
            <a:ext cx="384048" cy="384048"/>
          </a:xfrm>
          <a:prstGeom prst="ellipse">
            <a:avLst/>
          </a:prstGeom>
          <a:solidFill>
            <a:srgbClr val="162E51"/>
          </a:solidFill>
          <a:ln w="25400">
            <a:solidFill>
              <a:srgbClr val="FFFFFF"/>
            </a:solidFill>
            <a:prstDash val="solid"/>
          </a:ln>
        </p:spPr>
      </p:sp>
      <p:sp>
        <p:nvSpPr>
          <p:cNvPr id="29" name="Text 27"/>
          <p:cNvSpPr/>
          <p:nvPr/>
        </p:nvSpPr>
        <p:spPr>
          <a:xfrm>
            <a:off x="6611112" y="2542032"/>
            <a:ext cx="384048" cy="38404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Source Sans Pro" pitchFamily="34" charset="0"/>
                <a:ea typeface="Source Sans Pro" pitchFamily="34" charset="-122"/>
                <a:cs typeface="Source Sans Pro" pitchFamily="34" charset="-120"/>
              </a:rPr>
              <a:t>5</a:t>
            </a:r>
            <a:endParaRPr lang="en-US" sz="1400" dirty="0"/>
          </a:p>
        </p:txBody>
      </p:sp>
      <p:sp>
        <p:nvSpPr>
          <p:cNvPr id="30" name="Text 28"/>
          <p:cNvSpPr/>
          <p:nvPr/>
        </p:nvSpPr>
        <p:spPr>
          <a:xfrm>
            <a:off x="6236208" y="3172968"/>
            <a:ext cx="1133856" cy="1554480"/>
          </a:xfrm>
          <a:prstGeom prst="rect">
            <a:avLst/>
          </a:prstGeom>
          <a:noFill/>
          <a:ln/>
        </p:spPr>
        <p:txBody>
          <a:bodyPr wrap="square" lIns="0" tIns="0" rIns="0" bIns="0" rtlCol="0" anchor="t"/>
          <a:lstStyle/>
          <a:p>
            <a:pPr algn="ctr" indent="0" marL="0">
              <a:lnSpc>
                <a:spcPct val="100000"/>
              </a:lnSpc>
              <a:buNone/>
            </a:pPr>
            <a:r>
              <a:rPr lang="en-US" sz="950" dirty="0">
                <a:solidFill>
                  <a:srgbClr val="1B2733"/>
                </a:solidFill>
                <a:latin typeface="Calibri" pitchFamily="34" charset="0"/>
                <a:ea typeface="Calibri" pitchFamily="34" charset="-122"/>
                <a:cs typeface="Calibri" pitchFamily="34" charset="-120"/>
              </a:rPr>
              <a:t>Add example questions &amp; strong-answer examples</a:t>
            </a:r>
            <a:endParaRPr lang="en-US" sz="950" dirty="0"/>
          </a:p>
        </p:txBody>
      </p:sp>
      <p:sp>
        <p:nvSpPr>
          <p:cNvPr id="31" name="Shape 29"/>
          <p:cNvSpPr/>
          <p:nvPr/>
        </p:nvSpPr>
        <p:spPr>
          <a:xfrm>
            <a:off x="7562088" y="2788920"/>
            <a:ext cx="1280160" cy="2057400"/>
          </a:xfrm>
          <a:prstGeom prst="roundRect">
            <a:avLst>
              <a:gd name="adj" fmla="val 5714"/>
            </a:avLst>
          </a:prstGeom>
          <a:solidFill>
            <a:srgbClr val="EAF1F8"/>
          </a:solidFill>
          <a:ln w="12700">
            <a:solidFill>
              <a:srgbClr val="2E5C8A"/>
            </a:solidFill>
            <a:prstDash val="solid"/>
          </a:ln>
          <a:effectLst>
            <a:outerShdw sx="100000" sy="100000" kx="0" ky="0" algn="bl" rotWithShape="0" blurRad="63500" dist="25400" dir="5400000">
              <a:srgbClr val="000000">
                <a:alpha val="12000"/>
              </a:srgbClr>
            </a:outerShdw>
          </a:effectLst>
        </p:spPr>
      </p:sp>
      <p:sp>
        <p:nvSpPr>
          <p:cNvPr id="32" name="Shape 30"/>
          <p:cNvSpPr/>
          <p:nvPr/>
        </p:nvSpPr>
        <p:spPr>
          <a:xfrm>
            <a:off x="8010144" y="2542032"/>
            <a:ext cx="384048" cy="384048"/>
          </a:xfrm>
          <a:prstGeom prst="ellipse">
            <a:avLst/>
          </a:prstGeom>
          <a:solidFill>
            <a:srgbClr val="162E51"/>
          </a:solidFill>
          <a:ln w="25400">
            <a:solidFill>
              <a:srgbClr val="FFFFFF"/>
            </a:solidFill>
            <a:prstDash val="solid"/>
          </a:ln>
        </p:spPr>
      </p:sp>
      <p:sp>
        <p:nvSpPr>
          <p:cNvPr id="33" name="Text 31"/>
          <p:cNvSpPr/>
          <p:nvPr/>
        </p:nvSpPr>
        <p:spPr>
          <a:xfrm>
            <a:off x="8010144" y="2542032"/>
            <a:ext cx="384048" cy="38404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Source Sans Pro" pitchFamily="34" charset="0"/>
                <a:ea typeface="Source Sans Pro" pitchFamily="34" charset="-122"/>
                <a:cs typeface="Source Sans Pro" pitchFamily="34" charset="-120"/>
              </a:rPr>
              <a:t>6</a:t>
            </a:r>
            <a:endParaRPr lang="en-US" sz="1400" dirty="0"/>
          </a:p>
        </p:txBody>
      </p:sp>
      <p:sp>
        <p:nvSpPr>
          <p:cNvPr id="34" name="Text 32"/>
          <p:cNvSpPr/>
          <p:nvPr/>
        </p:nvSpPr>
        <p:spPr>
          <a:xfrm>
            <a:off x="7635240" y="3172968"/>
            <a:ext cx="1133856" cy="1554480"/>
          </a:xfrm>
          <a:prstGeom prst="rect">
            <a:avLst/>
          </a:prstGeom>
          <a:noFill/>
          <a:ln/>
        </p:spPr>
        <p:txBody>
          <a:bodyPr wrap="square" lIns="0" tIns="0" rIns="0" bIns="0" rtlCol="0" anchor="t"/>
          <a:lstStyle/>
          <a:p>
            <a:pPr algn="ctr" indent="0" marL="0">
              <a:lnSpc>
                <a:spcPct val="100000"/>
              </a:lnSpc>
              <a:buNone/>
            </a:pPr>
            <a:r>
              <a:rPr lang="en-US" sz="950" dirty="0">
                <a:solidFill>
                  <a:srgbClr val="1B2733"/>
                </a:solidFill>
                <a:latin typeface="Calibri" pitchFamily="34" charset="0"/>
                <a:ea typeface="Calibri" pitchFamily="34" charset="-122"/>
                <a:cs typeface="Calibri" pitchFamily="34" charset="-120"/>
              </a:rPr>
              <a:t>Review with Data Management steward</a:t>
            </a:r>
            <a:endParaRPr lang="en-US" sz="950" dirty="0"/>
          </a:p>
        </p:txBody>
      </p:sp>
      <p:sp>
        <p:nvSpPr>
          <p:cNvPr id="35" name="Text 33"/>
          <p:cNvSpPr/>
          <p:nvPr/>
        </p:nvSpPr>
        <p:spPr>
          <a:xfrm>
            <a:off x="7635240" y="4535424"/>
            <a:ext cx="1133856" cy="237744"/>
          </a:xfrm>
          <a:prstGeom prst="rect">
            <a:avLst/>
          </a:prstGeom>
          <a:noFill/>
          <a:ln/>
        </p:spPr>
        <p:txBody>
          <a:bodyPr wrap="square" lIns="0" tIns="0" rIns="0" bIns="0" rtlCol="0" anchor="t"/>
          <a:lstStyle/>
          <a:p>
            <a:pPr algn="ctr" indent="0" marL="0">
              <a:lnSpc>
                <a:spcPct val="100000"/>
              </a:lnSpc>
              <a:buNone/>
            </a:pPr>
            <a:r>
              <a:rPr lang="en-US" sz="850" b="1" dirty="0">
                <a:solidFill>
                  <a:srgbClr val="2E5C8A"/>
                </a:solidFill>
                <a:latin typeface="Calibri" pitchFamily="34" charset="0"/>
                <a:ea typeface="Calibri" pitchFamily="34" charset="-122"/>
                <a:cs typeface="Calibri" pitchFamily="34" charset="-120"/>
              </a:rPr>
              <a:t>DM gate</a:t>
            </a:r>
            <a:endParaRPr lang="en-US" sz="850" dirty="0"/>
          </a:p>
        </p:txBody>
      </p:sp>
      <p:sp>
        <p:nvSpPr>
          <p:cNvPr id="36" name="Shape 34"/>
          <p:cNvSpPr/>
          <p:nvPr/>
        </p:nvSpPr>
        <p:spPr>
          <a:xfrm>
            <a:off x="8961120" y="2788920"/>
            <a:ext cx="1280160" cy="2057400"/>
          </a:xfrm>
          <a:prstGeom prst="roundRect">
            <a:avLst>
              <a:gd name="adj" fmla="val 5714"/>
            </a:avLst>
          </a:prstGeom>
          <a:solidFill>
            <a:srgbClr val="EAF1F8"/>
          </a:solidFill>
          <a:ln w="12700">
            <a:solidFill>
              <a:srgbClr val="2E5C8A"/>
            </a:solidFill>
            <a:prstDash val="solid"/>
          </a:ln>
          <a:effectLst>
            <a:outerShdw sx="100000" sy="100000" kx="0" ky="0" algn="bl" rotWithShape="0" blurRad="63500" dist="25400" dir="5400000">
              <a:srgbClr val="000000">
                <a:alpha val="12000"/>
              </a:srgbClr>
            </a:outerShdw>
          </a:effectLst>
        </p:spPr>
      </p:sp>
      <p:sp>
        <p:nvSpPr>
          <p:cNvPr id="37" name="Shape 35"/>
          <p:cNvSpPr/>
          <p:nvPr/>
        </p:nvSpPr>
        <p:spPr>
          <a:xfrm>
            <a:off x="9409176" y="2542032"/>
            <a:ext cx="384048" cy="384048"/>
          </a:xfrm>
          <a:prstGeom prst="ellipse">
            <a:avLst/>
          </a:prstGeom>
          <a:solidFill>
            <a:srgbClr val="162E51"/>
          </a:solidFill>
          <a:ln w="25400">
            <a:solidFill>
              <a:srgbClr val="FFFFFF"/>
            </a:solidFill>
            <a:prstDash val="solid"/>
          </a:ln>
        </p:spPr>
      </p:sp>
      <p:sp>
        <p:nvSpPr>
          <p:cNvPr id="38" name="Text 36"/>
          <p:cNvSpPr/>
          <p:nvPr/>
        </p:nvSpPr>
        <p:spPr>
          <a:xfrm>
            <a:off x="9409176" y="2542032"/>
            <a:ext cx="384048" cy="38404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Source Sans Pro" pitchFamily="34" charset="0"/>
                <a:ea typeface="Source Sans Pro" pitchFamily="34" charset="-122"/>
                <a:cs typeface="Source Sans Pro" pitchFamily="34" charset="-120"/>
              </a:rPr>
              <a:t>7</a:t>
            </a:r>
            <a:endParaRPr lang="en-US" sz="1400" dirty="0"/>
          </a:p>
        </p:txBody>
      </p:sp>
      <p:sp>
        <p:nvSpPr>
          <p:cNvPr id="39" name="Text 37"/>
          <p:cNvSpPr/>
          <p:nvPr/>
        </p:nvSpPr>
        <p:spPr>
          <a:xfrm>
            <a:off x="9034272" y="3172968"/>
            <a:ext cx="1133856" cy="1554480"/>
          </a:xfrm>
          <a:prstGeom prst="rect">
            <a:avLst/>
          </a:prstGeom>
          <a:noFill/>
          <a:ln/>
        </p:spPr>
        <p:txBody>
          <a:bodyPr wrap="square" lIns="0" tIns="0" rIns="0" bIns="0" rtlCol="0" anchor="t"/>
          <a:lstStyle/>
          <a:p>
            <a:pPr algn="ctr" indent="0" marL="0">
              <a:lnSpc>
                <a:spcPct val="100000"/>
              </a:lnSpc>
              <a:buNone/>
            </a:pPr>
            <a:r>
              <a:rPr lang="en-US" sz="950" dirty="0">
                <a:solidFill>
                  <a:srgbClr val="1B2733"/>
                </a:solidFill>
                <a:latin typeface="Calibri" pitchFamily="34" charset="0"/>
                <a:ea typeface="Calibri" pitchFamily="34" charset="-122"/>
                <a:cs typeface="Calibri" pitchFamily="34" charset="-120"/>
              </a:rPr>
              <a:t>Validate with Data Analytics lead</a:t>
            </a:r>
            <a:endParaRPr lang="en-US" sz="950" dirty="0"/>
          </a:p>
        </p:txBody>
      </p:sp>
      <p:sp>
        <p:nvSpPr>
          <p:cNvPr id="40" name="Text 38"/>
          <p:cNvSpPr/>
          <p:nvPr/>
        </p:nvSpPr>
        <p:spPr>
          <a:xfrm>
            <a:off x="9034272" y="4535424"/>
            <a:ext cx="1133856" cy="237744"/>
          </a:xfrm>
          <a:prstGeom prst="rect">
            <a:avLst/>
          </a:prstGeom>
          <a:noFill/>
          <a:ln/>
        </p:spPr>
        <p:txBody>
          <a:bodyPr wrap="square" lIns="0" tIns="0" rIns="0" bIns="0" rtlCol="0" anchor="t"/>
          <a:lstStyle/>
          <a:p>
            <a:pPr algn="ctr" indent="0" marL="0">
              <a:lnSpc>
                <a:spcPct val="100000"/>
              </a:lnSpc>
              <a:buNone/>
            </a:pPr>
            <a:r>
              <a:rPr lang="en-US" sz="850" b="1" dirty="0">
                <a:solidFill>
                  <a:srgbClr val="2E5C8A"/>
                </a:solidFill>
                <a:latin typeface="Calibri" pitchFamily="34" charset="0"/>
                <a:ea typeface="Calibri" pitchFamily="34" charset="-122"/>
                <a:cs typeface="Calibri" pitchFamily="34" charset="-120"/>
              </a:rPr>
              <a:t>DA gate</a:t>
            </a:r>
            <a:endParaRPr lang="en-US" sz="850" dirty="0"/>
          </a:p>
        </p:txBody>
      </p:sp>
      <p:sp>
        <p:nvSpPr>
          <p:cNvPr id="41" name="Shape 39"/>
          <p:cNvSpPr/>
          <p:nvPr/>
        </p:nvSpPr>
        <p:spPr>
          <a:xfrm>
            <a:off x="10360152" y="2788920"/>
            <a:ext cx="1280160" cy="2057400"/>
          </a:xfrm>
          <a:prstGeom prst="roundRect">
            <a:avLst>
              <a:gd name="adj" fmla="val 5714"/>
            </a:avLst>
          </a:prstGeom>
          <a:solidFill>
            <a:srgbClr val="FFFFFF"/>
          </a:solidFill>
          <a:ln w="12700">
            <a:solidFill>
              <a:srgbClr val="D5DEE9"/>
            </a:solidFill>
            <a:prstDash val="solid"/>
          </a:ln>
          <a:effectLst>
            <a:outerShdw sx="100000" sy="100000" kx="0" ky="0" algn="bl" rotWithShape="0" blurRad="63500" dist="25400" dir="5400000">
              <a:srgbClr val="000000">
                <a:alpha val="12000"/>
              </a:srgbClr>
            </a:outerShdw>
          </a:effectLst>
        </p:spPr>
      </p:sp>
      <p:sp>
        <p:nvSpPr>
          <p:cNvPr id="42" name="Shape 40"/>
          <p:cNvSpPr/>
          <p:nvPr/>
        </p:nvSpPr>
        <p:spPr>
          <a:xfrm>
            <a:off x="10808208" y="2542032"/>
            <a:ext cx="384048" cy="384048"/>
          </a:xfrm>
          <a:prstGeom prst="ellipse">
            <a:avLst/>
          </a:prstGeom>
          <a:solidFill>
            <a:srgbClr val="162E51"/>
          </a:solidFill>
          <a:ln w="25400">
            <a:solidFill>
              <a:srgbClr val="FFFFFF"/>
            </a:solidFill>
            <a:prstDash val="solid"/>
          </a:ln>
        </p:spPr>
      </p:sp>
      <p:sp>
        <p:nvSpPr>
          <p:cNvPr id="43" name="Text 41"/>
          <p:cNvSpPr/>
          <p:nvPr/>
        </p:nvSpPr>
        <p:spPr>
          <a:xfrm>
            <a:off x="10808208" y="2542032"/>
            <a:ext cx="384048" cy="38404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Source Sans Pro" pitchFamily="34" charset="0"/>
                <a:ea typeface="Source Sans Pro" pitchFamily="34" charset="-122"/>
                <a:cs typeface="Source Sans Pro" pitchFamily="34" charset="-120"/>
              </a:rPr>
              <a:t>8</a:t>
            </a:r>
            <a:endParaRPr lang="en-US" sz="1400" dirty="0"/>
          </a:p>
        </p:txBody>
      </p:sp>
      <p:sp>
        <p:nvSpPr>
          <p:cNvPr id="44" name="Text 42"/>
          <p:cNvSpPr/>
          <p:nvPr/>
        </p:nvSpPr>
        <p:spPr>
          <a:xfrm>
            <a:off x="10433304" y="3172968"/>
            <a:ext cx="1133856" cy="1554480"/>
          </a:xfrm>
          <a:prstGeom prst="rect">
            <a:avLst/>
          </a:prstGeom>
          <a:noFill/>
          <a:ln/>
        </p:spPr>
        <p:txBody>
          <a:bodyPr wrap="square" lIns="0" tIns="0" rIns="0" bIns="0" rtlCol="0" anchor="t"/>
          <a:lstStyle/>
          <a:p>
            <a:pPr algn="ctr" indent="0" marL="0">
              <a:lnSpc>
                <a:spcPct val="100000"/>
              </a:lnSpc>
              <a:buNone/>
            </a:pPr>
            <a:r>
              <a:rPr lang="en-US" sz="950" dirty="0">
                <a:solidFill>
                  <a:srgbClr val="1B2733"/>
                </a:solidFill>
                <a:latin typeface="Calibri" pitchFamily="34" charset="0"/>
                <a:ea typeface="Calibri" pitchFamily="34" charset="-122"/>
                <a:cs typeface="Calibri" pitchFamily="34" charset="-120"/>
              </a:rPr>
              <a:t>Reuse in Genie, docs, onboarding &amp; prompts</a:t>
            </a:r>
            <a:endParaRPr lang="en-US" sz="950" dirty="0"/>
          </a:p>
        </p:txBody>
      </p:sp>
      <p:sp>
        <p:nvSpPr>
          <p:cNvPr id="45" name="Text 43"/>
          <p:cNvSpPr/>
          <p:nvPr/>
        </p:nvSpPr>
        <p:spPr>
          <a:xfrm>
            <a:off x="566928" y="5010912"/>
            <a:ext cx="11064240" cy="274320"/>
          </a:xfrm>
          <a:prstGeom prst="rect">
            <a:avLst/>
          </a:prstGeom>
          <a:noFill/>
          <a:ln/>
        </p:spPr>
        <p:txBody>
          <a:bodyPr wrap="square" lIns="0" tIns="0" rIns="0" bIns="0" rtlCol="0" anchor="t"/>
          <a:lstStyle/>
          <a:p>
            <a:pPr algn="ctr" indent="0" marL="0">
              <a:lnSpc>
                <a:spcPct val="100000"/>
              </a:lnSpc>
              <a:buNone/>
            </a:pPr>
            <a:r>
              <a:rPr lang="en-US" sz="1100" i="1" dirty="0">
                <a:solidFill>
                  <a:srgbClr val="5A6675"/>
                </a:solidFill>
                <a:latin typeface="Calibri" pitchFamily="34" charset="0"/>
                <a:ea typeface="Calibri" pitchFamily="34" charset="-122"/>
                <a:cs typeface="Calibri" pitchFamily="34" charset="-120"/>
              </a:rPr>
              <a:t>Steps 6–7 add the Data Management and Data Analytics review gates — so the harness is owned by CDAO, not authored by one person.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2920" y="457200"/>
            <a:ext cx="502920" cy="50800"/>
          </a:xfrm>
          <a:prstGeom prst="rect">
            <a:avLst/>
          </a:prstGeom>
          <a:solidFill>
            <a:srgbClr val="005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365760"/>
            <a:ext cx="7315200" cy="320040"/>
          </a:xfrm>
          <a:prstGeom prst="rect">
            <a:avLst/>
          </a:prstGeom>
          <a:noFill/>
        </p:spPr>
        <p:txBody>
          <a:bodyPr wrap="square" lIns="0" tIns="0" rIns="0" bIns="0" anchor="t">
            <a:spAutoFit/>
          </a:bodyPr>
          <a:lstStyle/>
          <a:p>
            <a:pPr algn="l"/>
            <a:r>
              <a:rPr sz="1200" b="1" spc="160">
                <a:solidFill>
                  <a:srgbClr val="005EA2"/>
                </a:solidFill>
                <a:latin typeface="Source Sans Pro"/>
              </a:rPr>
              <a:t>CDAO AI HARNESS BRIEFING</a:t>
            </a:r>
          </a:p>
        </p:txBody>
      </p:sp>
      <p:sp>
        <p:nvSpPr>
          <p:cNvPr id="4" name="TextBox 3"/>
          <p:cNvSpPr txBox="1"/>
          <p:nvPr/>
        </p:nvSpPr>
        <p:spPr>
          <a:xfrm>
            <a:off x="9601200" y="365760"/>
            <a:ext cx="2084831" cy="320040"/>
          </a:xfrm>
          <a:prstGeom prst="rect">
            <a:avLst/>
          </a:prstGeom>
          <a:noFill/>
        </p:spPr>
        <p:txBody>
          <a:bodyPr wrap="square" lIns="0" tIns="0" rIns="0" bIns="0" anchor="t">
            <a:spAutoFit/>
          </a:bodyPr>
          <a:lstStyle/>
          <a:p>
            <a:pPr algn="r"/>
            <a:r>
              <a:rPr sz="1200" b="1" spc="100">
                <a:solidFill>
                  <a:srgbClr val="A9AEB1"/>
                </a:solidFill>
                <a:latin typeface="Source Sans Pro"/>
              </a:rPr>
              <a:t>11 / 12</a:t>
            </a:r>
          </a:p>
        </p:txBody>
      </p:sp>
      <p:sp>
        <p:nvSpPr>
          <p:cNvPr id="5" name="TextBox 4"/>
          <p:cNvSpPr txBox="1"/>
          <p:nvPr/>
        </p:nvSpPr>
        <p:spPr>
          <a:xfrm>
            <a:off x="502920" y="603504"/>
            <a:ext cx="11183112" cy="640080"/>
          </a:xfrm>
          <a:prstGeom prst="rect">
            <a:avLst/>
          </a:prstGeom>
          <a:noFill/>
        </p:spPr>
        <p:txBody>
          <a:bodyPr wrap="square" lIns="0" tIns="0" rIns="0" bIns="0" anchor="t">
            <a:spAutoFit/>
          </a:bodyPr>
          <a:lstStyle/>
          <a:p>
            <a:pPr algn="l"/>
            <a:r>
              <a:rPr sz="3000" b="1">
                <a:solidFill>
                  <a:srgbClr val="162E51"/>
                </a:solidFill>
                <a:latin typeface="Source Sans Pro"/>
              </a:rPr>
              <a:t>How It Gets Reused</a:t>
            </a:r>
          </a:p>
        </p:txBody>
      </p:sp>
      <p:pic>
        <p:nvPicPr>
          <p:cNvPr id="6" name="Picture 5" descr="11-reuse-hub-spoke.png"/>
          <p:cNvPicPr>
            <a:picLocks noChangeAspect="1"/>
          </p:cNvPicPr>
          <p:nvPr/>
        </p:nvPicPr>
        <p:blipFill>
          <a:blip r:embed="rId3"/>
          <a:stretch>
            <a:fillRect/>
          </a:stretch>
        </p:blipFill>
        <p:spPr>
          <a:xfrm>
            <a:off x="1432407" y="1078992"/>
            <a:ext cx="9326880" cy="5246370"/>
          </a:xfrm>
          <a:prstGeom prst="rect">
            <a:avLst/>
          </a:prstGeom>
        </p:spPr>
      </p:pic>
      <p:sp>
        <p:nvSpPr>
          <p:cNvPr id="7" name="TextBox 6"/>
          <p:cNvSpPr txBox="1"/>
          <p:nvPr/>
        </p:nvSpPr>
        <p:spPr>
          <a:xfrm>
            <a:off x="502920" y="6510528"/>
            <a:ext cx="9144000" cy="274320"/>
          </a:xfrm>
          <a:prstGeom prst="rect">
            <a:avLst/>
          </a:prstGeom>
          <a:noFill/>
        </p:spPr>
        <p:txBody>
          <a:bodyPr wrap="square" lIns="0" tIns="0" rIns="0" bIns="0" anchor="t">
            <a:spAutoFit/>
          </a:bodyPr>
          <a:lstStyle/>
          <a:p>
            <a:pPr algn="l"/>
            <a:r>
              <a:rPr sz="950" b="0">
                <a:solidFill>
                  <a:srgbClr val="A9AEB1"/>
                </a:solidFill>
                <a:latin typeface="Source Sans Pro"/>
              </a:rPr>
              <a:t>USCIS-aligned CDAO briefing style — pre-decisional draft. Not an official USCIS template.</a:t>
            </a:r>
          </a:p>
        </p:txBody>
      </p:sp>
      <p:sp>
        <p:nvSpPr>
          <p:cNvPr id="8" name="TextBox 7"/>
          <p:cNvSpPr txBox="1"/>
          <p:nvPr/>
        </p:nvSpPr>
        <p:spPr>
          <a:xfrm>
            <a:off x="10058400" y="6510528"/>
            <a:ext cx="1627632" cy="274320"/>
          </a:xfrm>
          <a:prstGeom prst="rect">
            <a:avLst/>
          </a:prstGeom>
          <a:noFill/>
        </p:spPr>
        <p:txBody>
          <a:bodyPr wrap="square" lIns="0" tIns="0" rIns="0" bIns="0" anchor="t">
            <a:spAutoFit/>
          </a:bodyPr>
          <a:lstStyle/>
          <a:p>
            <a:pPr algn="r"/>
            <a:r>
              <a:rPr sz="950" b="0">
                <a:solidFill>
                  <a:srgbClr val="A9AEB1"/>
                </a:solidFill>
                <a:latin typeface="Source Sans Pro"/>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9768"/>
            <a:ext cx="310896" cy="0"/>
          </a:xfrm>
          <a:prstGeom prst="line">
            <a:avLst/>
          </a:prstGeom>
          <a:noFill/>
          <a:ln w="30480">
            <a:solidFill>
              <a:srgbClr val="162E51"/>
            </a:solidFill>
            <a:prstDash val="solid"/>
          </a:ln>
        </p:spPr>
      </p:sp>
      <p:sp>
        <p:nvSpPr>
          <p:cNvPr id="3" name="Text 1"/>
          <p:cNvSpPr/>
          <p:nvPr/>
        </p:nvSpPr>
        <p:spPr>
          <a:xfrm>
            <a:off x="932688" y="347472"/>
            <a:ext cx="7315200" cy="274320"/>
          </a:xfrm>
          <a:prstGeom prst="rect">
            <a:avLst/>
          </a:prstGeom>
          <a:noFill/>
          <a:ln/>
        </p:spPr>
        <p:txBody>
          <a:bodyPr wrap="square" lIns="0" tIns="0" rIns="0" bIns="0" rtlCol="0" anchor="ctr"/>
          <a:lstStyle/>
          <a:p>
            <a:pPr algn="l" indent="0" marL="0">
              <a:lnSpc>
                <a:spcPct val="100000"/>
              </a:lnSpc>
              <a:buNone/>
            </a:pPr>
            <a:r>
              <a:rPr lang="en-US" sz="1100" b="1" spc="140" kern="0" dirty="0">
                <a:solidFill>
                  <a:srgbClr val="162E51"/>
                </a:solidFill>
                <a:latin typeface="Source Sans Pro" pitchFamily="34" charset="0"/>
                <a:ea typeface="Source Sans Pro" pitchFamily="34" charset="-122"/>
                <a:cs typeface="Source Sans Pro" pitchFamily="34" charset="-120"/>
              </a:rPr>
              <a:t>CDAO AI HARNESS BRIEFING</a:t>
            </a:r>
            <a:endParaRPr lang="en-US" sz="1100" dirty="0"/>
          </a:p>
        </p:txBody>
      </p:sp>
      <p:sp>
        <p:nvSpPr>
          <p:cNvPr id="4" name="Text 2"/>
          <p:cNvSpPr/>
          <p:nvPr/>
        </p:nvSpPr>
        <p:spPr>
          <a:xfrm>
            <a:off x="9784080" y="329184"/>
            <a:ext cx="1828800" cy="274320"/>
          </a:xfrm>
          <a:prstGeom prst="rect">
            <a:avLst/>
          </a:prstGeom>
          <a:noFill/>
          <a:ln/>
        </p:spPr>
        <p:txBody>
          <a:bodyPr wrap="square" lIns="0" tIns="0" rIns="0" bIns="0" rtlCol="0" anchor="ctr"/>
          <a:lstStyle/>
          <a:p>
            <a:pPr algn="r" indent="0" marL="0">
              <a:lnSpc>
                <a:spcPct val="100000"/>
              </a:lnSpc>
              <a:buNone/>
            </a:pPr>
            <a:r>
              <a:rPr lang="en-US" sz="1200" b="1" dirty="0">
                <a:solidFill>
                  <a:srgbClr val="162E51"/>
                </a:solidFill>
                <a:latin typeface="Source Sans Pro" pitchFamily="34" charset="0"/>
                <a:ea typeface="Source Sans Pro" pitchFamily="34" charset="-122"/>
                <a:cs typeface="Source Sans Pro" pitchFamily="34" charset="-120"/>
              </a:rPr>
              <a:t>12 / 12</a:t>
            </a:r>
            <a:endParaRPr lang="en-US" sz="1200" dirty="0"/>
          </a:p>
        </p:txBody>
      </p:sp>
      <p:sp>
        <p:nvSpPr>
          <p:cNvPr id="5" name="Text 3"/>
          <p:cNvSpPr/>
          <p:nvPr/>
        </p:nvSpPr>
        <p:spPr>
          <a:xfrm>
            <a:off x="548640" y="713232"/>
            <a:ext cx="11064240" cy="658368"/>
          </a:xfrm>
          <a:prstGeom prst="rect">
            <a:avLst/>
          </a:prstGeom>
          <a:noFill/>
          <a:ln/>
        </p:spPr>
        <p:txBody>
          <a:bodyPr wrap="square" lIns="0" tIns="0" rIns="0" bIns="0" rtlCol="0" anchor="ctr"/>
          <a:lstStyle/>
          <a:p>
            <a:pPr algn="l" indent="0" marL="0">
              <a:lnSpc>
                <a:spcPct val="100000"/>
              </a:lnSpc>
              <a:buNone/>
            </a:pPr>
            <a:r>
              <a:rPr lang="en-US" sz="3000" b="1" dirty="0">
                <a:solidFill>
                  <a:srgbClr val="162E51"/>
                </a:solidFill>
                <a:latin typeface="Source Sans Pro" pitchFamily="34" charset="0"/>
                <a:ea typeface="Source Sans Pro" pitchFamily="34" charset="-122"/>
                <a:cs typeface="Source Sans Pro" pitchFamily="34" charset="-120"/>
              </a:rPr>
              <a:t>What We Need From CDAO Leadership</a:t>
            </a:r>
            <a:endParaRPr lang="en-US" sz="3000" dirty="0"/>
          </a:p>
        </p:txBody>
      </p:sp>
      <p:sp>
        <p:nvSpPr>
          <p:cNvPr id="6" name="Shape 4"/>
          <p:cNvSpPr/>
          <p:nvPr/>
        </p:nvSpPr>
        <p:spPr>
          <a:xfrm>
            <a:off x="5852160" y="5870448"/>
            <a:ext cx="457200" cy="0"/>
          </a:xfrm>
          <a:prstGeom prst="line">
            <a:avLst/>
          </a:prstGeom>
          <a:noFill/>
          <a:ln w="25400">
            <a:solidFill>
              <a:srgbClr val="162E51"/>
            </a:solidFill>
            <a:prstDash val="solid"/>
          </a:ln>
        </p:spPr>
      </p:sp>
      <p:sp>
        <p:nvSpPr>
          <p:cNvPr id="7" name="Text 5"/>
          <p:cNvSpPr/>
          <p:nvPr/>
        </p:nvSpPr>
        <p:spPr>
          <a:xfrm>
            <a:off x="1463040" y="5989320"/>
            <a:ext cx="9235440" cy="274320"/>
          </a:xfrm>
          <a:prstGeom prst="rect">
            <a:avLst/>
          </a:prstGeom>
          <a:noFill/>
          <a:ln/>
        </p:spPr>
        <p:txBody>
          <a:bodyPr wrap="square" lIns="0" tIns="0" rIns="0" bIns="0" rtlCol="0" anchor="t"/>
          <a:lstStyle/>
          <a:p>
            <a:pPr algn="ctr" indent="0" marL="0">
              <a:lnSpc>
                <a:spcPct val="100000"/>
              </a:lnSpc>
              <a:buNone/>
            </a:pPr>
            <a:r>
              <a:rPr lang="en-US" sz="1300" b="1" dirty="0">
                <a:solidFill>
                  <a:srgbClr val="162E51"/>
                </a:solidFill>
                <a:latin typeface="Calibri" pitchFamily="34" charset="0"/>
                <a:ea typeface="Calibri" pitchFamily="34" charset="-122"/>
                <a:cs typeface="Calibri" pitchFamily="34" charset="-120"/>
              </a:rPr>
              <a:t>Start small, prove usefulness in 30 days, then decide what to scale.</a:t>
            </a:r>
            <a:endParaRPr lang="en-US" sz="1300" dirty="0"/>
          </a:p>
        </p:txBody>
      </p:sp>
      <p:sp>
        <p:nvSpPr>
          <p:cNvPr id="8" name="Text 6"/>
          <p:cNvSpPr/>
          <p:nvPr/>
        </p:nvSpPr>
        <p:spPr>
          <a:xfrm>
            <a:off x="548640" y="6510528"/>
            <a:ext cx="10058400" cy="274320"/>
          </a:xfrm>
          <a:prstGeom prst="rect">
            <a:avLst/>
          </a:prstGeom>
          <a:noFill/>
          <a:ln/>
        </p:spPr>
        <p:txBody>
          <a:bodyPr wrap="square" lIns="0" tIns="0" rIns="0" bIns="0" rtlCol="0" anchor="t"/>
          <a:lstStyle/>
          <a:p>
            <a:pPr algn="l" indent="0" marL="0">
              <a:lnSpc>
                <a:spcPct val="100000"/>
              </a:lnSpc>
              <a:buNone/>
            </a:pPr>
            <a:r>
              <a:rPr lang="en-US" sz="1000" dirty="0">
                <a:solidFill>
                  <a:srgbClr val="9AA4B2"/>
                </a:solidFill>
                <a:latin typeface="Calibri" pitchFamily="34" charset="0"/>
                <a:ea typeface="Calibri" pitchFamily="34" charset="-122"/>
                <a:cs typeface="Calibri" pitchFamily="34" charset="-120"/>
              </a:rPr>
              <a:t>USCIS-aligned CDAO briefing style — pre-decisional draft. Not an official USCIS template.</a:t>
            </a:r>
            <a:endParaRPr lang="en-US" sz="1000" dirty="0"/>
          </a:p>
        </p:txBody>
      </p:sp>
      <p:sp>
        <p:nvSpPr>
          <p:cNvPr id="9" name="Text 7"/>
          <p:cNvSpPr/>
          <p:nvPr/>
        </p:nvSpPr>
        <p:spPr>
          <a:xfrm>
            <a:off x="11338560" y="6510528"/>
            <a:ext cx="548640" cy="274320"/>
          </a:xfrm>
          <a:prstGeom prst="rect">
            <a:avLst/>
          </a:prstGeom>
          <a:noFill/>
          <a:ln/>
        </p:spPr>
        <p:txBody>
          <a:bodyPr wrap="square" lIns="0" tIns="0" rIns="0" bIns="0" rtlCol="0" anchor="t"/>
          <a:lstStyle/>
          <a:p>
            <a:pPr algn="r" indent="0" marL="0">
              <a:lnSpc>
                <a:spcPct val="100000"/>
              </a:lnSpc>
              <a:buNone/>
            </a:pPr>
            <a:r>
              <a:rPr lang="en-US" sz="1000" dirty="0">
                <a:solidFill>
                  <a:srgbClr val="9AA4B2"/>
                </a:solidFill>
                <a:latin typeface="Calibri" pitchFamily="34" charset="0"/>
                <a:ea typeface="Calibri" pitchFamily="34" charset="-122"/>
                <a:cs typeface="Calibri" pitchFamily="34" charset="-120"/>
              </a:rPr>
              <a:t>12</a:t>
            </a:r>
            <a:endParaRPr lang="en-US" sz="1000" dirty="0"/>
          </a:p>
        </p:txBody>
      </p:sp>
      <p:sp>
        <p:nvSpPr>
          <p:cNvPr id="10" name="Text 8"/>
          <p:cNvSpPr/>
          <p:nvPr/>
        </p:nvSpPr>
        <p:spPr>
          <a:xfrm>
            <a:off x="640080" y="1627632"/>
            <a:ext cx="10881360" cy="457200"/>
          </a:xfrm>
          <a:prstGeom prst="rect">
            <a:avLst/>
          </a:prstGeom>
          <a:noFill/>
          <a:ln/>
        </p:spPr>
        <p:txBody>
          <a:bodyPr wrap="square" lIns="0" tIns="0" rIns="0" bIns="0" rtlCol="0" anchor="t"/>
          <a:lstStyle/>
          <a:p>
            <a:pPr algn="l" indent="0" marL="0">
              <a:lnSpc>
                <a:spcPct val="100000"/>
              </a:lnSpc>
              <a:buNone/>
            </a:pPr>
            <a:r>
              <a:rPr lang="en-US" sz="2000" b="1" dirty="0">
                <a:solidFill>
                  <a:srgbClr val="162E51"/>
                </a:solidFill>
                <a:latin typeface="Source Sans Pro" pitchFamily="34" charset="0"/>
                <a:ea typeface="Source Sans Pro" pitchFamily="34" charset="-122"/>
                <a:cs typeface="Source Sans Pro" pitchFamily="34" charset="-120"/>
              </a:rPr>
              <a:t>Approve a small V1 pilot — a reviewed playbook, not a new system.</a:t>
            </a:r>
            <a:endParaRPr lang="en-US" sz="2000" dirty="0"/>
          </a:p>
        </p:txBody>
      </p:sp>
      <p:sp>
        <p:nvSpPr>
          <p:cNvPr id="11" name="Shape 9"/>
          <p:cNvSpPr/>
          <p:nvPr/>
        </p:nvSpPr>
        <p:spPr>
          <a:xfrm>
            <a:off x="640080" y="2377440"/>
            <a:ext cx="5486400" cy="3154680"/>
          </a:xfrm>
          <a:prstGeom prst="roundRect">
            <a:avLst>
              <a:gd name="adj" fmla="val 2319"/>
            </a:avLst>
          </a:prstGeom>
          <a:solidFill>
            <a:srgbClr val="EAF1F8"/>
          </a:solidFill>
          <a:ln w="12700">
            <a:solidFill>
              <a:srgbClr val="DCE8F4"/>
            </a:solidFill>
            <a:prstDash val="solid"/>
          </a:ln>
        </p:spPr>
      </p:sp>
      <p:sp>
        <p:nvSpPr>
          <p:cNvPr id="12" name="Text 10"/>
          <p:cNvSpPr/>
          <p:nvPr/>
        </p:nvSpPr>
        <p:spPr>
          <a:xfrm>
            <a:off x="896112" y="2560320"/>
            <a:ext cx="5029200" cy="310896"/>
          </a:xfrm>
          <a:prstGeom prst="rect">
            <a:avLst/>
          </a:prstGeom>
          <a:noFill/>
          <a:ln/>
        </p:spPr>
        <p:txBody>
          <a:bodyPr wrap="square" lIns="0" tIns="0" rIns="0" bIns="0" rtlCol="0" anchor="t"/>
          <a:lstStyle/>
          <a:p>
            <a:pPr algn="l" indent="0" marL="0">
              <a:lnSpc>
                <a:spcPct val="100000"/>
              </a:lnSpc>
              <a:buNone/>
            </a:pPr>
            <a:r>
              <a:rPr lang="en-US" sz="1250" b="1" spc="100" kern="0" dirty="0">
                <a:solidFill>
                  <a:srgbClr val="162E51"/>
                </a:solidFill>
                <a:latin typeface="Calibri" pitchFamily="34" charset="0"/>
                <a:ea typeface="Calibri" pitchFamily="34" charset="-122"/>
                <a:cs typeface="Calibri" pitchFamily="34" charset="-120"/>
              </a:rPr>
              <a:t>V1 NEEDS</a:t>
            </a:r>
            <a:endParaRPr lang="en-US" sz="1250" dirty="0"/>
          </a:p>
        </p:txBody>
      </p:sp>
      <p:pic>
        <p:nvPicPr>
          <p:cNvPr id="13" name="Image 0" descr="preencoded.png">    </p:cNvPr>
          <p:cNvPicPr>
            <a:picLocks noChangeAspect="1"/>
          </p:cNvPicPr>
          <p:nvPr/>
        </p:nvPicPr>
        <p:blipFill>
          <a:blip r:embed="rId1"/>
          <a:stretch>
            <a:fillRect/>
          </a:stretch>
        </p:blipFill>
        <p:spPr>
          <a:xfrm>
            <a:off x="896112" y="3008376"/>
            <a:ext cx="219456" cy="219456"/>
          </a:xfrm>
          <a:prstGeom prst="rect">
            <a:avLst/>
          </a:prstGeom>
        </p:spPr>
      </p:pic>
      <p:sp>
        <p:nvSpPr>
          <p:cNvPr id="14" name="Text 11"/>
          <p:cNvSpPr/>
          <p:nvPr/>
        </p:nvSpPr>
        <p:spPr>
          <a:xfrm>
            <a:off x="1207008" y="2962656"/>
            <a:ext cx="4663440" cy="457200"/>
          </a:xfrm>
          <a:prstGeom prst="rect">
            <a:avLst/>
          </a:prstGeom>
          <a:noFill/>
          <a:ln/>
        </p:spPr>
        <p:txBody>
          <a:bodyPr wrap="square" lIns="0" tIns="0" rIns="0" bIns="0" rtlCol="0" anchor="ctr"/>
          <a:lstStyle/>
          <a:p>
            <a:pPr algn="l" indent="0" marL="0">
              <a:lnSpc>
                <a:spcPct val="98000"/>
              </a:lnSpc>
              <a:buNone/>
            </a:pPr>
            <a:r>
              <a:rPr lang="en-US" sz="1350" dirty="0">
                <a:solidFill>
                  <a:srgbClr val="1B2733"/>
                </a:solidFill>
                <a:latin typeface="Calibri" pitchFamily="34" charset="0"/>
                <a:ea typeface="Calibri" pitchFamily="34" charset="-122"/>
                <a:cs typeface="Calibri" pitchFamily="34" charset="-120"/>
              </a:rPr>
              <a:t>One priority data product or use case</a:t>
            </a:r>
            <a:endParaRPr lang="en-US" sz="1350" dirty="0"/>
          </a:p>
        </p:txBody>
      </p:sp>
      <p:pic>
        <p:nvPicPr>
          <p:cNvPr id="15" name="Image 1" descr="preencoded.png">    </p:cNvPr>
          <p:cNvPicPr>
            <a:picLocks noChangeAspect="1"/>
          </p:cNvPicPr>
          <p:nvPr/>
        </p:nvPicPr>
        <p:blipFill>
          <a:blip r:embed="rId2"/>
          <a:stretch>
            <a:fillRect/>
          </a:stretch>
        </p:blipFill>
        <p:spPr>
          <a:xfrm>
            <a:off x="896112" y="3429000"/>
            <a:ext cx="219456" cy="219456"/>
          </a:xfrm>
          <a:prstGeom prst="rect">
            <a:avLst/>
          </a:prstGeom>
        </p:spPr>
      </p:pic>
      <p:sp>
        <p:nvSpPr>
          <p:cNvPr id="16" name="Text 12"/>
          <p:cNvSpPr/>
          <p:nvPr/>
        </p:nvSpPr>
        <p:spPr>
          <a:xfrm>
            <a:off x="1207008" y="3383280"/>
            <a:ext cx="4663440" cy="457200"/>
          </a:xfrm>
          <a:prstGeom prst="rect">
            <a:avLst/>
          </a:prstGeom>
          <a:noFill/>
          <a:ln/>
        </p:spPr>
        <p:txBody>
          <a:bodyPr wrap="square" lIns="0" tIns="0" rIns="0" bIns="0" rtlCol="0" anchor="ctr"/>
          <a:lstStyle/>
          <a:p>
            <a:pPr algn="l" indent="0" marL="0">
              <a:lnSpc>
                <a:spcPct val="98000"/>
              </a:lnSpc>
              <a:buNone/>
            </a:pPr>
            <a:r>
              <a:rPr lang="en-US" sz="1350" dirty="0">
                <a:solidFill>
                  <a:srgbClr val="1B2733"/>
                </a:solidFill>
                <a:latin typeface="Calibri" pitchFamily="34" charset="0"/>
                <a:ea typeface="Calibri" pitchFamily="34" charset="-122"/>
                <a:cs typeface="Calibri" pitchFamily="34" charset="-120"/>
              </a:rPr>
              <a:t>One Data Management steward</a:t>
            </a:r>
            <a:endParaRPr lang="en-US" sz="1350" dirty="0"/>
          </a:p>
        </p:txBody>
      </p:sp>
      <p:pic>
        <p:nvPicPr>
          <p:cNvPr id="17" name="Image 2" descr="preencoded.png">    </p:cNvPr>
          <p:cNvPicPr>
            <a:picLocks noChangeAspect="1"/>
          </p:cNvPicPr>
          <p:nvPr/>
        </p:nvPicPr>
        <p:blipFill>
          <a:blip r:embed="rId3"/>
          <a:stretch>
            <a:fillRect/>
          </a:stretch>
        </p:blipFill>
        <p:spPr>
          <a:xfrm>
            <a:off x="896112" y="3849624"/>
            <a:ext cx="219456" cy="219456"/>
          </a:xfrm>
          <a:prstGeom prst="rect">
            <a:avLst/>
          </a:prstGeom>
        </p:spPr>
      </p:pic>
      <p:sp>
        <p:nvSpPr>
          <p:cNvPr id="18" name="Text 13"/>
          <p:cNvSpPr/>
          <p:nvPr/>
        </p:nvSpPr>
        <p:spPr>
          <a:xfrm>
            <a:off x="1207008" y="3803904"/>
            <a:ext cx="4663440" cy="457200"/>
          </a:xfrm>
          <a:prstGeom prst="rect">
            <a:avLst/>
          </a:prstGeom>
          <a:noFill/>
          <a:ln/>
        </p:spPr>
        <p:txBody>
          <a:bodyPr wrap="square" lIns="0" tIns="0" rIns="0" bIns="0" rtlCol="0" anchor="ctr"/>
          <a:lstStyle/>
          <a:p>
            <a:pPr algn="l" indent="0" marL="0">
              <a:lnSpc>
                <a:spcPct val="98000"/>
              </a:lnSpc>
              <a:buNone/>
            </a:pPr>
            <a:r>
              <a:rPr lang="en-US" sz="1350" dirty="0">
                <a:solidFill>
                  <a:srgbClr val="1B2733"/>
                </a:solidFill>
                <a:latin typeface="Calibri" pitchFamily="34" charset="0"/>
                <a:ea typeface="Calibri" pitchFamily="34" charset="-122"/>
                <a:cs typeface="Calibri" pitchFamily="34" charset="-120"/>
              </a:rPr>
              <a:t>One Data Analytics validator</a:t>
            </a:r>
            <a:endParaRPr lang="en-US" sz="1350" dirty="0"/>
          </a:p>
        </p:txBody>
      </p:sp>
      <p:pic>
        <p:nvPicPr>
          <p:cNvPr id="19" name="Image 3" descr="preencoded.png">    </p:cNvPr>
          <p:cNvPicPr>
            <a:picLocks noChangeAspect="1"/>
          </p:cNvPicPr>
          <p:nvPr/>
        </p:nvPicPr>
        <p:blipFill>
          <a:blip r:embed="rId4"/>
          <a:stretch>
            <a:fillRect/>
          </a:stretch>
        </p:blipFill>
        <p:spPr>
          <a:xfrm>
            <a:off x="896112" y="4270248"/>
            <a:ext cx="219456" cy="219456"/>
          </a:xfrm>
          <a:prstGeom prst="rect">
            <a:avLst/>
          </a:prstGeom>
        </p:spPr>
      </p:pic>
      <p:sp>
        <p:nvSpPr>
          <p:cNvPr id="20" name="Text 14"/>
          <p:cNvSpPr/>
          <p:nvPr/>
        </p:nvSpPr>
        <p:spPr>
          <a:xfrm>
            <a:off x="1207008" y="4224528"/>
            <a:ext cx="4663440" cy="457200"/>
          </a:xfrm>
          <a:prstGeom prst="rect">
            <a:avLst/>
          </a:prstGeom>
          <a:noFill/>
          <a:ln/>
        </p:spPr>
        <p:txBody>
          <a:bodyPr wrap="square" lIns="0" tIns="0" rIns="0" bIns="0" rtlCol="0" anchor="ctr"/>
          <a:lstStyle/>
          <a:p>
            <a:pPr algn="l" indent="0" marL="0">
              <a:lnSpc>
                <a:spcPct val="98000"/>
              </a:lnSpc>
              <a:buNone/>
            </a:pPr>
            <a:r>
              <a:rPr lang="en-US" sz="1350" dirty="0">
                <a:solidFill>
                  <a:srgbClr val="1B2733"/>
                </a:solidFill>
                <a:latin typeface="Calibri" pitchFamily="34" charset="0"/>
                <a:ea typeface="Calibri" pitchFamily="34" charset="-122"/>
                <a:cs typeface="Calibri" pitchFamily="34" charset="-120"/>
              </a:rPr>
              <a:t>One Confluence harness page</a:t>
            </a:r>
            <a:endParaRPr lang="en-US" sz="1350" dirty="0"/>
          </a:p>
        </p:txBody>
      </p:sp>
      <p:pic>
        <p:nvPicPr>
          <p:cNvPr id="21" name="Image 4" descr="preencoded.png">    </p:cNvPr>
          <p:cNvPicPr>
            <a:picLocks noChangeAspect="1"/>
          </p:cNvPicPr>
          <p:nvPr/>
        </p:nvPicPr>
        <p:blipFill>
          <a:blip r:embed="rId5"/>
          <a:stretch>
            <a:fillRect/>
          </a:stretch>
        </p:blipFill>
        <p:spPr>
          <a:xfrm>
            <a:off x="896112" y="4690872"/>
            <a:ext cx="219456" cy="219456"/>
          </a:xfrm>
          <a:prstGeom prst="rect">
            <a:avLst/>
          </a:prstGeom>
        </p:spPr>
      </p:pic>
      <p:sp>
        <p:nvSpPr>
          <p:cNvPr id="22" name="Text 15"/>
          <p:cNvSpPr/>
          <p:nvPr/>
        </p:nvSpPr>
        <p:spPr>
          <a:xfrm>
            <a:off x="1207008" y="4645152"/>
            <a:ext cx="4663440" cy="457200"/>
          </a:xfrm>
          <a:prstGeom prst="rect">
            <a:avLst/>
          </a:prstGeom>
          <a:noFill/>
          <a:ln/>
        </p:spPr>
        <p:txBody>
          <a:bodyPr wrap="square" lIns="0" tIns="0" rIns="0" bIns="0" rtlCol="0" anchor="ctr"/>
          <a:lstStyle/>
          <a:p>
            <a:pPr algn="l" indent="0" marL="0">
              <a:lnSpc>
                <a:spcPct val="98000"/>
              </a:lnSpc>
              <a:buNone/>
            </a:pPr>
            <a:r>
              <a:rPr lang="en-US" sz="1350" dirty="0">
                <a:solidFill>
                  <a:srgbClr val="1B2733"/>
                </a:solidFill>
                <a:latin typeface="Calibri" pitchFamily="34" charset="0"/>
                <a:ea typeface="Calibri" pitchFamily="34" charset="-122"/>
                <a:cs typeface="Calibri" pitchFamily="34" charset="-120"/>
              </a:rPr>
              <a:t>One set of example questions and strong-answer examples</a:t>
            </a:r>
            <a:endParaRPr lang="en-US" sz="1350" dirty="0"/>
          </a:p>
        </p:txBody>
      </p:sp>
      <p:pic>
        <p:nvPicPr>
          <p:cNvPr id="23" name="Image 5" descr="preencoded.png">    </p:cNvPr>
          <p:cNvPicPr>
            <a:picLocks noChangeAspect="1"/>
          </p:cNvPicPr>
          <p:nvPr/>
        </p:nvPicPr>
        <p:blipFill>
          <a:blip r:embed="rId6"/>
          <a:stretch>
            <a:fillRect/>
          </a:stretch>
        </p:blipFill>
        <p:spPr>
          <a:xfrm>
            <a:off x="896112" y="5111496"/>
            <a:ext cx="219456" cy="219456"/>
          </a:xfrm>
          <a:prstGeom prst="rect">
            <a:avLst/>
          </a:prstGeom>
        </p:spPr>
      </p:pic>
      <p:sp>
        <p:nvSpPr>
          <p:cNvPr id="24" name="Text 16"/>
          <p:cNvSpPr/>
          <p:nvPr/>
        </p:nvSpPr>
        <p:spPr>
          <a:xfrm>
            <a:off x="1207008" y="5065776"/>
            <a:ext cx="4663440" cy="457200"/>
          </a:xfrm>
          <a:prstGeom prst="rect">
            <a:avLst/>
          </a:prstGeom>
          <a:noFill/>
          <a:ln/>
        </p:spPr>
        <p:txBody>
          <a:bodyPr wrap="square" lIns="0" tIns="0" rIns="0" bIns="0" rtlCol="0" anchor="ctr"/>
          <a:lstStyle/>
          <a:p>
            <a:pPr algn="l" indent="0" marL="0">
              <a:lnSpc>
                <a:spcPct val="98000"/>
              </a:lnSpc>
              <a:buNone/>
            </a:pPr>
            <a:r>
              <a:rPr lang="en-US" sz="1350" dirty="0">
                <a:solidFill>
                  <a:srgbClr val="1B2733"/>
                </a:solidFill>
                <a:latin typeface="Calibri" pitchFamily="34" charset="0"/>
                <a:ea typeface="Calibri" pitchFamily="34" charset="-122"/>
                <a:cs typeface="Calibri" pitchFamily="34" charset="-120"/>
              </a:rPr>
              <a:t>One 30-day usefulness review</a:t>
            </a:r>
            <a:endParaRPr lang="en-US" sz="1350" dirty="0"/>
          </a:p>
        </p:txBody>
      </p:sp>
      <p:sp>
        <p:nvSpPr>
          <p:cNvPr id="25" name="Shape 17"/>
          <p:cNvSpPr/>
          <p:nvPr/>
        </p:nvSpPr>
        <p:spPr>
          <a:xfrm>
            <a:off x="6400800" y="2377440"/>
            <a:ext cx="5120640" cy="3154680"/>
          </a:xfrm>
          <a:prstGeom prst="roundRect">
            <a:avLst>
              <a:gd name="adj" fmla="val 2319"/>
            </a:avLst>
          </a:prstGeom>
          <a:solidFill>
            <a:srgbClr val="FFFFFF"/>
          </a:solidFill>
          <a:ln w="12700">
            <a:solidFill>
              <a:srgbClr val="D5DEE9"/>
            </a:solidFill>
            <a:prstDash val="solid"/>
          </a:ln>
        </p:spPr>
      </p:sp>
      <p:sp>
        <p:nvSpPr>
          <p:cNvPr id="26" name="Text 18"/>
          <p:cNvSpPr/>
          <p:nvPr/>
        </p:nvSpPr>
        <p:spPr>
          <a:xfrm>
            <a:off x="6656832" y="2560320"/>
            <a:ext cx="4663440" cy="310896"/>
          </a:xfrm>
          <a:prstGeom prst="rect">
            <a:avLst/>
          </a:prstGeom>
          <a:noFill/>
          <a:ln/>
        </p:spPr>
        <p:txBody>
          <a:bodyPr wrap="square" lIns="0" tIns="0" rIns="0" bIns="0" rtlCol="0" anchor="t"/>
          <a:lstStyle/>
          <a:p>
            <a:pPr algn="l" indent="0" marL="0">
              <a:lnSpc>
                <a:spcPct val="100000"/>
              </a:lnSpc>
              <a:buNone/>
            </a:pPr>
            <a:r>
              <a:rPr lang="en-US" sz="1200" b="1" spc="60" kern="0" dirty="0">
                <a:solidFill>
                  <a:srgbClr val="9AA4B2"/>
                </a:solidFill>
                <a:latin typeface="Calibri" pitchFamily="34" charset="0"/>
                <a:ea typeface="Calibri" pitchFamily="34" charset="-122"/>
                <a:cs typeface="Calibri" pitchFamily="34" charset="-120"/>
              </a:rPr>
              <a:t>FUTURE UPGRADES — ONLY IF APPROVED</a:t>
            </a:r>
            <a:endParaRPr lang="en-US" sz="1200" dirty="0"/>
          </a:p>
        </p:txBody>
      </p:sp>
      <p:pic>
        <p:nvPicPr>
          <p:cNvPr id="27" name="Image 6" descr="preencoded.png">    </p:cNvPr>
          <p:cNvPicPr>
            <a:picLocks noChangeAspect="1"/>
          </p:cNvPicPr>
          <p:nvPr/>
        </p:nvPicPr>
        <p:blipFill>
          <a:blip r:embed="rId7"/>
          <a:stretch>
            <a:fillRect/>
          </a:stretch>
        </p:blipFill>
        <p:spPr>
          <a:xfrm>
            <a:off x="6656832" y="3081528"/>
            <a:ext cx="182880" cy="182880"/>
          </a:xfrm>
          <a:prstGeom prst="rect">
            <a:avLst/>
          </a:prstGeom>
        </p:spPr>
      </p:pic>
      <p:sp>
        <p:nvSpPr>
          <p:cNvPr id="28" name="Text 19"/>
          <p:cNvSpPr/>
          <p:nvPr/>
        </p:nvSpPr>
        <p:spPr>
          <a:xfrm>
            <a:off x="6931152" y="3017520"/>
            <a:ext cx="4389120" cy="457200"/>
          </a:xfrm>
          <a:prstGeom prst="rect">
            <a:avLst/>
          </a:prstGeom>
          <a:noFill/>
          <a:ln/>
        </p:spPr>
        <p:txBody>
          <a:bodyPr wrap="square" lIns="0" tIns="0" rIns="0" bIns="0" rtlCol="0" anchor="ctr"/>
          <a:lstStyle/>
          <a:p>
            <a:pPr algn="l" indent="0" marL="0">
              <a:lnSpc>
                <a:spcPct val="100000"/>
              </a:lnSpc>
              <a:buNone/>
            </a:pPr>
            <a:r>
              <a:rPr lang="en-US" sz="1350" dirty="0">
                <a:solidFill>
                  <a:srgbClr val="5A6675"/>
                </a:solidFill>
                <a:latin typeface="Calibri" pitchFamily="34" charset="0"/>
                <a:ea typeface="Calibri" pitchFamily="34" charset="-122"/>
                <a:cs typeface="Calibri" pitchFamily="34" charset="-120"/>
              </a:rPr>
              <a:t>Genie-specific instruction templates</a:t>
            </a:r>
            <a:endParaRPr lang="en-US" sz="1350" dirty="0"/>
          </a:p>
        </p:txBody>
      </p:sp>
      <p:pic>
        <p:nvPicPr>
          <p:cNvPr id="29" name="Image 7" descr="preencoded.png">    </p:cNvPr>
          <p:cNvPicPr>
            <a:picLocks noChangeAspect="1"/>
          </p:cNvPicPr>
          <p:nvPr/>
        </p:nvPicPr>
        <p:blipFill>
          <a:blip r:embed="rId8"/>
          <a:stretch>
            <a:fillRect/>
          </a:stretch>
        </p:blipFill>
        <p:spPr>
          <a:xfrm>
            <a:off x="6656832" y="3538728"/>
            <a:ext cx="182880" cy="182880"/>
          </a:xfrm>
          <a:prstGeom prst="rect">
            <a:avLst/>
          </a:prstGeom>
        </p:spPr>
      </p:pic>
      <p:sp>
        <p:nvSpPr>
          <p:cNvPr id="30" name="Text 20"/>
          <p:cNvSpPr/>
          <p:nvPr/>
        </p:nvSpPr>
        <p:spPr>
          <a:xfrm>
            <a:off x="6931152" y="3474720"/>
            <a:ext cx="4389120" cy="457200"/>
          </a:xfrm>
          <a:prstGeom prst="rect">
            <a:avLst/>
          </a:prstGeom>
          <a:noFill/>
          <a:ln/>
        </p:spPr>
        <p:txBody>
          <a:bodyPr wrap="square" lIns="0" tIns="0" rIns="0" bIns="0" rtlCol="0" anchor="ctr"/>
          <a:lstStyle/>
          <a:p>
            <a:pPr algn="l" indent="0" marL="0">
              <a:lnSpc>
                <a:spcPct val="100000"/>
              </a:lnSpc>
              <a:buNone/>
            </a:pPr>
            <a:r>
              <a:rPr lang="en-US" sz="1350" dirty="0">
                <a:solidFill>
                  <a:srgbClr val="5A6675"/>
                </a:solidFill>
                <a:latin typeface="Calibri" pitchFamily="34" charset="0"/>
                <a:ea typeface="Calibri" pitchFamily="34" charset="-122"/>
                <a:cs typeface="Calibri" pitchFamily="34" charset="-120"/>
              </a:rPr>
              <a:t>Trusted assets / benchmark questions</a:t>
            </a:r>
            <a:endParaRPr lang="en-US" sz="1350" dirty="0"/>
          </a:p>
        </p:txBody>
      </p:sp>
      <p:pic>
        <p:nvPicPr>
          <p:cNvPr id="31" name="Image 8" descr="preencoded.png">    </p:cNvPr>
          <p:cNvPicPr>
            <a:picLocks noChangeAspect="1"/>
          </p:cNvPicPr>
          <p:nvPr/>
        </p:nvPicPr>
        <p:blipFill>
          <a:blip r:embed="rId9"/>
          <a:stretch>
            <a:fillRect/>
          </a:stretch>
        </p:blipFill>
        <p:spPr>
          <a:xfrm>
            <a:off x="6656832" y="3995928"/>
            <a:ext cx="182880" cy="182880"/>
          </a:xfrm>
          <a:prstGeom prst="rect">
            <a:avLst/>
          </a:prstGeom>
        </p:spPr>
      </p:pic>
      <p:sp>
        <p:nvSpPr>
          <p:cNvPr id="32" name="Text 21"/>
          <p:cNvSpPr/>
          <p:nvPr/>
        </p:nvSpPr>
        <p:spPr>
          <a:xfrm>
            <a:off x="6931152" y="3931920"/>
            <a:ext cx="4389120" cy="457200"/>
          </a:xfrm>
          <a:prstGeom prst="rect">
            <a:avLst/>
          </a:prstGeom>
          <a:noFill/>
          <a:ln/>
        </p:spPr>
        <p:txBody>
          <a:bodyPr wrap="square" lIns="0" tIns="0" rIns="0" bIns="0" rtlCol="0" anchor="ctr"/>
          <a:lstStyle/>
          <a:p>
            <a:pPr algn="l" indent="0" marL="0">
              <a:lnSpc>
                <a:spcPct val="100000"/>
              </a:lnSpc>
              <a:buNone/>
            </a:pPr>
            <a:r>
              <a:rPr lang="en-US" sz="1350" dirty="0">
                <a:solidFill>
                  <a:srgbClr val="5A6675"/>
                </a:solidFill>
                <a:latin typeface="Calibri" pitchFamily="34" charset="0"/>
                <a:ea typeface="Calibri" pitchFamily="34" charset="-122"/>
                <a:cs typeface="Calibri" pitchFamily="34" charset="-120"/>
              </a:rPr>
              <a:t>Hosted app or interactive HTML</a:t>
            </a:r>
            <a:endParaRPr lang="en-US" sz="1350" dirty="0"/>
          </a:p>
        </p:txBody>
      </p:sp>
      <p:pic>
        <p:nvPicPr>
          <p:cNvPr id="33" name="Image 9" descr="preencoded.png">    </p:cNvPr>
          <p:cNvPicPr>
            <a:picLocks noChangeAspect="1"/>
          </p:cNvPicPr>
          <p:nvPr/>
        </p:nvPicPr>
        <p:blipFill>
          <a:blip r:embed="rId10"/>
          <a:stretch>
            <a:fillRect/>
          </a:stretch>
        </p:blipFill>
        <p:spPr>
          <a:xfrm>
            <a:off x="6656832" y="4453128"/>
            <a:ext cx="182880" cy="182880"/>
          </a:xfrm>
          <a:prstGeom prst="rect">
            <a:avLst/>
          </a:prstGeom>
        </p:spPr>
      </p:pic>
      <p:sp>
        <p:nvSpPr>
          <p:cNvPr id="34" name="Text 22"/>
          <p:cNvSpPr/>
          <p:nvPr/>
        </p:nvSpPr>
        <p:spPr>
          <a:xfrm>
            <a:off x="6931152" y="4389120"/>
            <a:ext cx="4389120" cy="457200"/>
          </a:xfrm>
          <a:prstGeom prst="rect">
            <a:avLst/>
          </a:prstGeom>
          <a:noFill/>
          <a:ln/>
        </p:spPr>
        <p:txBody>
          <a:bodyPr wrap="square" lIns="0" tIns="0" rIns="0" bIns="0" rtlCol="0" anchor="ctr"/>
          <a:lstStyle/>
          <a:p>
            <a:pPr algn="l" indent="0" marL="0">
              <a:lnSpc>
                <a:spcPct val="100000"/>
              </a:lnSpc>
              <a:buNone/>
            </a:pPr>
            <a:r>
              <a:rPr lang="en-US" sz="1350" dirty="0">
                <a:solidFill>
                  <a:srgbClr val="5A6675"/>
                </a:solidFill>
                <a:latin typeface="Calibri" pitchFamily="34" charset="0"/>
                <a:ea typeface="Calibri" pitchFamily="34" charset="-122"/>
                <a:cs typeface="Calibri" pitchFamily="34" charset="-120"/>
              </a:rPr>
              <a:t>AI Search / retrieval for unstructured documents</a:t>
            </a:r>
            <a:endParaRPr lang="en-US" sz="1350" dirty="0"/>
          </a:p>
        </p:txBody>
      </p:sp>
      <p:pic>
        <p:nvPicPr>
          <p:cNvPr id="35" name="Image 10" descr="preencoded.png">    </p:cNvPr>
          <p:cNvPicPr>
            <a:picLocks noChangeAspect="1"/>
          </p:cNvPicPr>
          <p:nvPr/>
        </p:nvPicPr>
        <p:blipFill>
          <a:blip r:embed="rId11"/>
          <a:stretch>
            <a:fillRect/>
          </a:stretch>
        </p:blipFill>
        <p:spPr>
          <a:xfrm>
            <a:off x="6656832" y="4910328"/>
            <a:ext cx="182880" cy="182880"/>
          </a:xfrm>
          <a:prstGeom prst="rect">
            <a:avLst/>
          </a:prstGeom>
        </p:spPr>
      </p:pic>
      <p:sp>
        <p:nvSpPr>
          <p:cNvPr id="36" name="Text 23"/>
          <p:cNvSpPr/>
          <p:nvPr/>
        </p:nvSpPr>
        <p:spPr>
          <a:xfrm>
            <a:off x="6931152" y="4846320"/>
            <a:ext cx="4389120" cy="457200"/>
          </a:xfrm>
          <a:prstGeom prst="rect">
            <a:avLst/>
          </a:prstGeom>
          <a:noFill/>
          <a:ln/>
        </p:spPr>
        <p:txBody>
          <a:bodyPr wrap="square" lIns="0" tIns="0" rIns="0" bIns="0" rtlCol="0" anchor="ctr"/>
          <a:lstStyle/>
          <a:p>
            <a:pPr algn="l" indent="0" marL="0">
              <a:lnSpc>
                <a:spcPct val="100000"/>
              </a:lnSpc>
              <a:buNone/>
            </a:pPr>
            <a:r>
              <a:rPr lang="en-US" sz="1350" dirty="0">
                <a:solidFill>
                  <a:srgbClr val="5A6675"/>
                </a:solidFill>
                <a:latin typeface="Calibri" pitchFamily="34" charset="0"/>
                <a:ea typeface="Calibri" pitchFamily="34" charset="-122"/>
                <a:cs typeface="Calibri" pitchFamily="34" charset="-120"/>
              </a:rPr>
              <a:t>Monitoring and feedback loops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448</TotalTime>
  <Words>896</Words>
  <Application>Microsoft Macintosh PowerPoint</Application>
  <PresentationFormat>Widescreen</PresentationFormat>
  <Paragraphs>144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Source Sans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Harnesses for CDAO Data Analysis</dc:title>
  <dc:subject>Non-technical briefing: a CDAO-designed reusable context layer alongside Databricks Genie Spaces</dc:subject>
  <dc:creator>CDAO</dc:creator>
  <cp:keywords>CDAO; AI harness; Databricks Genie Space; briefing; v1; pre-decisional</cp:keywords>
  <dc:description>Pre-decisional draft. USCIS-aligned CDAO briefing style; not an official USCIS template. Examples are generic.</dc:description>
  <cp:lastModifiedBy>Jake Hobbs</cp:lastModifiedBy>
  <cp:revision>2</cp:revision>
  <dcterms:created xsi:type="dcterms:W3CDTF">2013-01-27T09:14:16Z</dcterms:created>
  <dcterms:modified xsi:type="dcterms:W3CDTF">2026-06-26T14:52:24Z</dcterms:modified>
  <cp:category/>
</cp:coreProperties>
</file>