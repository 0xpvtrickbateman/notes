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4"/>
    <p:sldId id="259" r:id="rId5"/>
    <p:sldId id="260" r:id="rId6"/>
    <p:sldId id="261" r:id="rId7"/>
    <p:sldId id="262" r:id="rId8"/>
    <p:sldId id="263" r:id="rId9"/>
    <p:sldId id="267" r:id="rId18"/>
    <p:sldId id="264" r:id="rId10"/>
    <p:sldId id="268" r:id="rId19"/>
    <p:sldId id="269" r:id="rId20"/>
    <p:sldId id="270" r:id="rId21"/>
    <p:sldId id="271" r:id="rId22"/>
    <p:sldId id="272" r:id="rId23"/>
    <p:sldId id="273" r:id="rId24"/>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7"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123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brief non-technical leadership on Databricks Genie Agents and Genie Code ahead of enablement for USCIS. All product facts verified against official Databricks documentation as of Aug 2,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renames are official: docs say 'Genie Agents (formerly Genie Spaces)' and Databricks Assistant became Genie Code in March 2026. 'Harness' is official Databricks terminology (their blog: 'What is an AI Agent Harness?').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defensible line: we are NOT building an AI harness. Databricks' own DAIS 2026 line: 'the core agent loop is just 1% of the work.' We configure a vendor harness and own governance, context, evaluation, and cost controls.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Demo-ready framing. Emphasize: agent enforces the same Unity Catalog permissions, row filters, and column masks the user already has. Metric lookups are Genie's strength; open-ended 'why' diagnostics stay analyst-led in phase two.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Genie Code = new name for Databricks Assistant (renamed March 2026); generally available in our environment. Pay-as-you-go began July 8, 2026 with a monthly per-user free allowance.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the 84.5% honestly as vendor-internal. The self-service point is the ROI driver: it converts engineer-hours into seconds of agent time for routine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guidance ('Curate an effective Genie Agent'): UC metadata first, SQL expressions second, example queries third, text instructions last — SQL definitions are executed exactly, prose gets interpreted. Collibra's out-of-box integration pulls FROM Unity Catalog INTO Collibra; pushing definitions the other way is a small custom job (Collibra API → Databricks SDK), deployable as versioned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rule worth saying aloud: no number gets presented without its query. Users tolerate an unverified answer labeled unverified; they don't forgive a wrong answer that looked identical to a right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docs confirm usage tracking needs no list-price access — system.billing.usage carries DBU quantities; system.billing.list_prices only converts to dollars. Genie One/Agents free usage for human users was extended through January 31, 2027 (service principals still billed; Genie Code billed past its 150-DBU monthly allowance). Metering now means we know our run-rate before billing begins. Budgets: resource type Unity AI Gateway, tag databricks-product: genie; up to 4 shared thresholds + 20 per-user overrides.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234440"/>
            <a:ext cx="7863840" cy="411480"/>
          </a:xfrm>
          <a:prstGeom prst="rect">
            <a:avLst/>
          </a:prstGeom>
          <a:noFill/>
          <a:ln/>
        </p:spPr>
        <p:txBody>
          <a:bodyPr wrap="square" lIns="0" tIns="0" rIns="0" bIns="0" rtlCol="0" anchor="ctr"/>
          <a:lstStyle/>
          <a:p>
            <a:pPr marL="0" indent="0">
              <a:buNone/>
            </a:pPr>
            <a:r>
              <a:rPr lang="en-US" sz="1600" b="1" kern="0" spc="200" dirty="0">
                <a:solidFill>
                  <a:srgbClr val="4F81BD"/>
                </a:solidFill>
                <a:latin typeface="Calibri" pitchFamily="34" charset="0"/>
                <a:ea typeface="Calibri" pitchFamily="34" charset="-122"/>
                <a:cs typeface="Calibri" pitchFamily="34" charset="-120"/>
              </a:rPr>
              <a:t>AI Readiness in Databricks</a:t>
            </a:r>
            <a:endParaRPr lang="en-US" sz="1600" dirty="0"/>
          </a:p>
        </p:txBody>
      </p:sp>
      <p:sp>
        <p:nvSpPr>
          <p:cNvPr id="3" name="Text 1"/>
          <p:cNvSpPr/>
          <p:nvPr/>
        </p:nvSpPr>
        <p:spPr>
          <a:xfrm>
            <a:off x="640080" y="1737360"/>
            <a:ext cx="7863840" cy="548640"/>
          </a:xfrm>
          <a:prstGeom prst="rect">
            <a:avLst/>
          </a:prstGeom>
          <a:noFill/>
          <a:ln/>
        </p:spPr>
        <p:txBody>
          <a:bodyPr wrap="square" lIns="0" tIns="0" rIns="0" bIns="0" rtlCol="0" anchor="ctr"/>
          <a:lstStyle/>
          <a:p>
            <a:pPr marL="0" indent="0">
              <a:buNone/>
            </a:pPr>
            <a:r>
              <a:rPr lang="en-US" sz="3000" b="1" dirty="0">
                <a:solidFill>
                  <a:srgbClr val="1F497D"/>
                </a:solidFill>
                <a:latin typeface="Calibri" pitchFamily="34" charset="0"/>
                <a:ea typeface="Calibri" pitchFamily="34" charset="-122"/>
                <a:cs typeface="Calibri" pitchFamily="34" charset="-120"/>
              </a:rPr>
              <a:t>Genie Agents, Genie Code, and the Context Layer</a:t>
            </a:r>
            <a:endParaRPr lang="en-US" sz="3000" dirty="0"/>
          </a:p>
        </p:txBody>
      </p:sp>
      <p:sp>
        <p:nvSpPr>
          <p:cNvPr id="4" name="Text 2"/>
          <p:cNvSpPr/>
          <p:nvPr/>
        </p:nvSpPr>
        <p:spPr>
          <a:xfrm>
            <a:off x="640080" y="2377440"/>
            <a:ext cx="7680960" cy="68580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What these tools are, why our data teams need them, how we guarantee accuracy,</a:t>
            </a:r>
            <a:endParaRPr lang="en-US" sz="1500" dirty="0"/>
          </a:p>
          <a:p>
            <a:pPr marL="0" indent="0">
              <a:buNone/>
            </a:pPr>
            <a:r>
              <a:rPr lang="en-US" sz="1500" dirty="0">
                <a:solidFill>
                  <a:srgbClr val="595959"/>
                </a:solidFill>
                <a:latin typeface="Calibri" pitchFamily="34" charset="0"/>
                <a:ea typeface="Calibri" pitchFamily="34" charset="-122"/>
                <a:cs typeface="Calibri" pitchFamily="34" charset="-120"/>
              </a:rPr>
              <a:t>and how we track every dollar of spend</a:t>
            </a:r>
            <a:endParaRPr lang="en-US" sz="1500" dirty="0"/>
          </a:p>
        </p:txBody>
      </p:sp>
      <p:sp>
        <p:nvSpPr>
          <p:cNvPr id="5" name="Shape 3"/>
          <p:cNvSpPr/>
          <p:nvPr/>
        </p:nvSpPr>
        <p:spPr>
          <a:xfrm>
            <a:off x="640080" y="3291840"/>
            <a:ext cx="7498080" cy="18288"/>
          </a:xfrm>
          <a:prstGeom prst="roundRect">
            <a:avLst>
              <a:gd name="adj" fmla="val 300000"/>
            </a:avLst>
          </a:prstGeom>
          <a:solidFill>
            <a:srgbClr val="4F81BD"/>
          </a:solidFill>
          <a:ln/>
        </p:spPr>
        <p:txBody>
          <a:bodyPr/>
          <a:lstStyle/>
          <a:p>
            <a:endParaRPr lang="en-US"/>
          </a:p>
        </p:txBody>
      </p:sp>
      <p:sp>
        <p:nvSpPr>
          <p:cNvPr id="6" name="Text 4"/>
          <p:cNvSpPr/>
          <p:nvPr/>
        </p:nvSpPr>
        <p:spPr>
          <a:xfrm>
            <a:off x="640080" y="3520440"/>
            <a:ext cx="7315200" cy="320040"/>
          </a:xfrm>
          <a:prstGeom prst="rect">
            <a:avLst/>
          </a:prstGeom>
          <a:noFill/>
          <a:ln/>
        </p:spPr>
        <p:txBody>
          <a:bodyPr wrap="square" lIns="0" tIns="0" rIns="0" bIns="0" rtlCol="0" anchor="ctr"/>
          <a:lstStyle/>
          <a:p>
            <a:pPr marL="0" indent="0">
              <a:buNone/>
            </a:pPr>
            <a:r>
              <a:rPr lang="en-US" sz="1300" b="1" dirty="0">
                <a:solidFill>
                  <a:srgbClr val="1F497D"/>
                </a:solidFill>
                <a:latin typeface="Calibri" pitchFamily="34" charset="0"/>
                <a:ea typeface="Calibri" pitchFamily="34" charset="-122"/>
                <a:cs typeface="Calibri" pitchFamily="34" charset="-120"/>
              </a:rPr>
              <a:t>Data Analytics Division  •  DSSS3  •  August 3, 2026</a:t>
            </a:r>
            <a:endParaRPr lang="en-US" sz="1300" dirty="0"/>
          </a:p>
        </p:txBody>
      </p:sp>
      <p:sp>
        <p:nvSpPr>
          <p:cNvPr id="7" name="Text 5"/>
          <p:cNvSpPr/>
          <p:nvPr/>
        </p:nvSpPr>
        <p:spPr>
          <a:xfrm>
            <a:off x="640080" y="3886200"/>
            <a:ext cx="7315200" cy="274320"/>
          </a:xfrm>
          <a:prstGeom prst="rect">
            <a:avLst/>
          </a:prstGeom>
          <a:noFill/>
          <a:ln/>
        </p:spPr>
        <p:txBody>
          <a:bodyPr wrap="square" lIns="0" tIns="0" rIns="0" bIns="0" rtlCol="0" anchor="ctr"/>
          <a:lstStyle/>
          <a:p>
            <a:pPr marL="0" indent="0">
              <a:buNone/>
            </a:pPr>
            <a:r>
              <a:rPr lang="en-US" sz="1100" i="1" dirty="0">
                <a:solidFill>
                  <a:srgbClr val="595959"/>
                </a:solidFill>
                <a:latin typeface="Calibri" pitchFamily="34" charset="0"/>
                <a:ea typeface="Calibri" pitchFamily="34" charset="-122"/>
                <a:cs typeface="Calibri" pitchFamily="34" charset="-120"/>
              </a:rPr>
              <a:t>Enabling upcoming Databricks AI capabilities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The Vocabulary — Six Terms That Cover Everything</a:t>
            </a:r>
            <a:endParaRPr lang="en-US" sz="2500" dirty="0"/>
          </a:p>
        </p:txBody>
      </p:sp>
      <p:sp>
        <p:nvSpPr>
          <p:cNvPr id="3" name="Shape 1"/>
          <p:cNvSpPr/>
          <p:nvPr/>
        </p:nvSpPr>
        <p:spPr>
          <a:xfrm>
            <a:off x="457200" y="1298448"/>
            <a:ext cx="2651760" cy="1627632"/>
          </a:xfrm>
          <a:prstGeom prst="roundRect">
            <a:avLst>
              <a:gd name="adj" fmla="val 3371"/>
            </a:avLst>
          </a:prstGeom>
          <a:solidFill>
            <a:srgbClr val="EEF3FA"/>
          </a:solidFill>
          <a:ln w="9525">
            <a:solidFill>
              <a:srgbClr val="4F81BD"/>
            </a:solidFill>
            <a:prstDash val="solid"/>
          </a:ln>
        </p:spPr>
        <p:txBody>
          <a:bodyPr/>
          <a:lstStyle/>
          <a:p>
            <a:endParaRPr lang="en-US"/>
          </a:p>
        </p:txBody>
      </p:sp>
      <p:sp>
        <p:nvSpPr>
          <p:cNvPr id="4" name="Text 2"/>
          <p:cNvSpPr/>
          <p:nvPr/>
        </p:nvSpPr>
        <p:spPr>
          <a:xfrm>
            <a:off x="585216" y="1371600"/>
            <a:ext cx="2423160" cy="274320"/>
          </a:xfrm>
          <a:prstGeom prst="rect">
            <a:avLst/>
          </a:prstGeom>
          <a:noFill/>
          <a:ln/>
        </p:spPr>
        <p:txBody>
          <a:bodyPr wrap="square" lIns="0" tIns="0" rIns="0" bIns="0" rtlCol="0" anchor="ctr"/>
          <a:lstStyle/>
          <a:p>
            <a:pPr marL="0" indent="0">
              <a:buNone/>
            </a:pPr>
            <a:r>
              <a:rPr lang="en-US" sz="1350" b="1" dirty="0">
                <a:solidFill>
                  <a:srgbClr val="1F497D"/>
                </a:solidFill>
                <a:latin typeface="Calibri" pitchFamily="34" charset="0"/>
                <a:ea typeface="Calibri" pitchFamily="34" charset="-122"/>
                <a:cs typeface="Calibri" pitchFamily="34" charset="-120"/>
              </a:rPr>
              <a:t>Genie Agent</a:t>
            </a:r>
            <a:endParaRPr lang="en-US" sz="1350" dirty="0"/>
          </a:p>
        </p:txBody>
      </p:sp>
      <p:sp>
        <p:nvSpPr>
          <p:cNvPr id="5" name="Text 3"/>
          <p:cNvSpPr/>
          <p:nvPr/>
        </p:nvSpPr>
        <p:spPr>
          <a:xfrm>
            <a:off x="585216" y="1645920"/>
            <a:ext cx="2423160" cy="219456"/>
          </a:xfrm>
          <a:prstGeom prst="rect">
            <a:avLst/>
          </a:prstGeom>
          <a:noFill/>
          <a:ln/>
        </p:spPr>
        <p:txBody>
          <a:bodyPr wrap="square" lIns="0" tIns="0" rIns="0" bIns="0" rtlCol="0" anchor="ctr"/>
          <a:lstStyle/>
          <a:p>
            <a:pPr marL="0" indent="0">
              <a:buNone/>
            </a:pPr>
            <a:r>
              <a:rPr lang="en-US" sz="950" i="1" dirty="0">
                <a:solidFill>
                  <a:srgbClr val="595959"/>
                </a:solidFill>
                <a:latin typeface="Calibri" pitchFamily="34" charset="0"/>
                <a:ea typeface="Calibri" pitchFamily="34" charset="-122"/>
                <a:cs typeface="Calibri" pitchFamily="34" charset="-120"/>
              </a:rPr>
              <a:t>formerly “Genie Space”</a:t>
            </a:r>
            <a:endParaRPr lang="en-US" sz="950" dirty="0"/>
          </a:p>
        </p:txBody>
      </p:sp>
      <p:sp>
        <p:nvSpPr>
          <p:cNvPr id="6" name="Text 4"/>
          <p:cNvSpPr/>
          <p:nvPr/>
        </p:nvSpPr>
        <p:spPr>
          <a:xfrm>
            <a:off x="585216" y="1883664"/>
            <a:ext cx="2395728" cy="960120"/>
          </a:xfrm>
          <a:prstGeom prst="rect">
            <a:avLst/>
          </a:prstGeom>
          <a:noFill/>
          <a:ln/>
        </p:spPr>
        <p:txBody>
          <a:bodyPr wrap="square" lIns="0" tIns="0" rIns="0" bIns="0" rtlCol="0" anchor="t"/>
          <a:lstStyle/>
          <a:p>
            <a:pPr marL="0" indent="0">
              <a:buNone/>
            </a:pPr>
            <a:r>
              <a:rPr lang="en-US" sz="1000" dirty="0">
                <a:solidFill>
                  <a:srgbClr val="1A1A1A"/>
                </a:solidFill>
                <a:latin typeface="Calibri" pitchFamily="34" charset="0"/>
                <a:ea typeface="Calibri" pitchFamily="34" charset="-122"/>
                <a:cs typeface="Calibri" pitchFamily="34" charset="-120"/>
              </a:rPr>
              <a:t>A chat interface over a curated set of our data tables (max 30). User asks a question in English; it writes and runs the SQL and shows its work.</a:t>
            </a:r>
            <a:endParaRPr lang="en-US" sz="1000" dirty="0"/>
          </a:p>
        </p:txBody>
      </p:sp>
      <p:sp>
        <p:nvSpPr>
          <p:cNvPr id="7" name="Shape 5"/>
          <p:cNvSpPr/>
          <p:nvPr/>
        </p:nvSpPr>
        <p:spPr>
          <a:xfrm>
            <a:off x="3264408" y="1298448"/>
            <a:ext cx="2651760" cy="1627632"/>
          </a:xfrm>
          <a:prstGeom prst="roundRect">
            <a:avLst>
              <a:gd name="adj" fmla="val 3371"/>
            </a:avLst>
          </a:prstGeom>
          <a:solidFill>
            <a:srgbClr val="EEF3FA"/>
          </a:solidFill>
          <a:ln w="9525">
            <a:solidFill>
              <a:srgbClr val="4F81BD"/>
            </a:solidFill>
            <a:prstDash val="solid"/>
          </a:ln>
        </p:spPr>
        <p:txBody>
          <a:bodyPr/>
          <a:lstStyle/>
          <a:p>
            <a:endParaRPr lang="en-US"/>
          </a:p>
        </p:txBody>
      </p:sp>
      <p:sp>
        <p:nvSpPr>
          <p:cNvPr id="8" name="Text 6"/>
          <p:cNvSpPr/>
          <p:nvPr/>
        </p:nvSpPr>
        <p:spPr>
          <a:xfrm>
            <a:off x="3392424" y="1371600"/>
            <a:ext cx="2423160" cy="274320"/>
          </a:xfrm>
          <a:prstGeom prst="rect">
            <a:avLst/>
          </a:prstGeom>
          <a:noFill/>
          <a:ln/>
        </p:spPr>
        <p:txBody>
          <a:bodyPr wrap="square" lIns="0" tIns="0" rIns="0" bIns="0" rtlCol="0" anchor="ctr"/>
          <a:lstStyle/>
          <a:p>
            <a:pPr marL="0" indent="0">
              <a:buNone/>
            </a:pPr>
            <a:r>
              <a:rPr lang="en-US" sz="1350" b="1" dirty="0">
                <a:solidFill>
                  <a:srgbClr val="1F497D"/>
                </a:solidFill>
                <a:latin typeface="Calibri" pitchFamily="34" charset="0"/>
                <a:ea typeface="Calibri" pitchFamily="34" charset="-122"/>
                <a:cs typeface="Calibri" pitchFamily="34" charset="-120"/>
              </a:rPr>
              <a:t>Genie Code</a:t>
            </a:r>
            <a:endParaRPr lang="en-US" sz="1350" dirty="0"/>
          </a:p>
        </p:txBody>
      </p:sp>
      <p:sp>
        <p:nvSpPr>
          <p:cNvPr id="9" name="Text 7"/>
          <p:cNvSpPr/>
          <p:nvPr/>
        </p:nvSpPr>
        <p:spPr>
          <a:xfrm>
            <a:off x="3392424" y="1645920"/>
            <a:ext cx="2423160" cy="219456"/>
          </a:xfrm>
          <a:prstGeom prst="rect">
            <a:avLst/>
          </a:prstGeom>
          <a:noFill/>
          <a:ln/>
        </p:spPr>
        <p:txBody>
          <a:bodyPr wrap="square" lIns="0" tIns="0" rIns="0" bIns="0" rtlCol="0" anchor="ctr"/>
          <a:lstStyle/>
          <a:p>
            <a:pPr marL="0" indent="0">
              <a:buNone/>
            </a:pPr>
            <a:r>
              <a:rPr lang="en-US" sz="950" i="1" dirty="0">
                <a:solidFill>
                  <a:srgbClr val="595959"/>
                </a:solidFill>
                <a:latin typeface="Calibri" pitchFamily="34" charset="0"/>
                <a:ea typeface="Calibri" pitchFamily="34" charset="-122"/>
                <a:cs typeface="Calibri" pitchFamily="34" charset="-120"/>
              </a:rPr>
              <a:t>formerly “Databricks Assistant”</a:t>
            </a:r>
            <a:endParaRPr lang="en-US" sz="950" dirty="0"/>
          </a:p>
        </p:txBody>
      </p:sp>
      <p:sp>
        <p:nvSpPr>
          <p:cNvPr id="10" name="Text 8"/>
          <p:cNvSpPr/>
          <p:nvPr/>
        </p:nvSpPr>
        <p:spPr>
          <a:xfrm>
            <a:off x="3392424" y="1883664"/>
            <a:ext cx="2395728" cy="960120"/>
          </a:xfrm>
          <a:prstGeom prst="rect">
            <a:avLst/>
          </a:prstGeom>
          <a:noFill/>
          <a:ln/>
        </p:spPr>
        <p:txBody>
          <a:bodyPr wrap="square" lIns="0" tIns="0" rIns="0" bIns="0" rtlCol="0" anchor="t"/>
          <a:lstStyle/>
          <a:p>
            <a:pPr marL="0" indent="0">
              <a:buNone/>
            </a:pPr>
            <a:r>
              <a:rPr lang="en-US" sz="1000" dirty="0">
                <a:solidFill>
                  <a:srgbClr val="1A1A1A"/>
                </a:solidFill>
                <a:latin typeface="Calibri" pitchFamily="34" charset="0"/>
                <a:ea typeface="Calibri" pitchFamily="34" charset="-122"/>
                <a:cs typeface="Calibri" pitchFamily="34" charset="-120"/>
              </a:rPr>
              <a:t>The AI coding assistant inside Databricks notebooks and the SQL editor — writes, fixes, and explains code for our engineers.</a:t>
            </a:r>
            <a:endParaRPr lang="en-US" sz="1000" dirty="0"/>
          </a:p>
        </p:txBody>
      </p:sp>
      <p:sp>
        <p:nvSpPr>
          <p:cNvPr id="11" name="Shape 9"/>
          <p:cNvSpPr/>
          <p:nvPr/>
        </p:nvSpPr>
        <p:spPr>
          <a:xfrm>
            <a:off x="6071616" y="1298448"/>
            <a:ext cx="2651760" cy="1627632"/>
          </a:xfrm>
          <a:prstGeom prst="roundRect">
            <a:avLst>
              <a:gd name="adj" fmla="val 3371"/>
            </a:avLst>
          </a:prstGeom>
          <a:solidFill>
            <a:srgbClr val="EEF3FA"/>
          </a:solidFill>
          <a:ln w="9525">
            <a:solidFill>
              <a:srgbClr val="4F81BD"/>
            </a:solidFill>
            <a:prstDash val="solid"/>
          </a:ln>
        </p:spPr>
        <p:txBody>
          <a:bodyPr/>
          <a:lstStyle/>
          <a:p>
            <a:endParaRPr lang="en-US"/>
          </a:p>
        </p:txBody>
      </p:sp>
      <p:sp>
        <p:nvSpPr>
          <p:cNvPr id="12" name="Text 10"/>
          <p:cNvSpPr/>
          <p:nvPr/>
        </p:nvSpPr>
        <p:spPr>
          <a:xfrm>
            <a:off x="6199632" y="1371600"/>
            <a:ext cx="2423160" cy="274320"/>
          </a:xfrm>
          <a:prstGeom prst="rect">
            <a:avLst/>
          </a:prstGeom>
          <a:noFill/>
          <a:ln/>
        </p:spPr>
        <p:txBody>
          <a:bodyPr wrap="square" lIns="0" tIns="0" rIns="0" bIns="0" rtlCol="0" anchor="ctr"/>
          <a:lstStyle/>
          <a:p>
            <a:pPr marL="0" indent="0">
              <a:buNone/>
            </a:pPr>
            <a:r>
              <a:rPr lang="en-US" sz="1350" b="1" dirty="0">
                <a:solidFill>
                  <a:srgbClr val="1F497D"/>
                </a:solidFill>
                <a:latin typeface="Calibri" pitchFamily="34" charset="0"/>
                <a:ea typeface="Calibri" pitchFamily="34" charset="-122"/>
                <a:cs typeface="Calibri" pitchFamily="34" charset="-120"/>
              </a:rPr>
              <a:t>Harness</a:t>
            </a:r>
            <a:endParaRPr lang="en-US" sz="1350" dirty="0"/>
          </a:p>
        </p:txBody>
      </p:sp>
      <p:sp>
        <p:nvSpPr>
          <p:cNvPr id="13" name="Text 11"/>
          <p:cNvSpPr/>
          <p:nvPr/>
        </p:nvSpPr>
        <p:spPr>
          <a:xfrm>
            <a:off x="6199632" y="1645920"/>
            <a:ext cx="2423160" cy="219456"/>
          </a:xfrm>
          <a:prstGeom prst="rect">
            <a:avLst/>
          </a:prstGeom>
          <a:noFill/>
          <a:ln/>
        </p:spPr>
        <p:txBody>
          <a:bodyPr wrap="square" lIns="0" tIns="0" rIns="0" bIns="0" rtlCol="0" anchor="ctr"/>
          <a:lstStyle/>
          <a:p>
            <a:pPr marL="0" indent="0">
              <a:buNone/>
            </a:pPr>
            <a:r>
              <a:rPr lang="en-US" sz="950" i="1" dirty="0">
                <a:solidFill>
                  <a:srgbClr val="595959"/>
                </a:solidFill>
                <a:latin typeface="Calibri" pitchFamily="34" charset="0"/>
                <a:ea typeface="Calibri" pitchFamily="34" charset="-122"/>
                <a:cs typeface="Calibri" pitchFamily="34" charset="-120"/>
              </a:rPr>
              <a:t>according to Databricks</a:t>
            </a:r>
            <a:endParaRPr lang="en-US" sz="950" dirty="0"/>
          </a:p>
        </p:txBody>
      </p:sp>
      <p:sp>
        <p:nvSpPr>
          <p:cNvPr id="14" name="Text 12"/>
          <p:cNvSpPr/>
          <p:nvPr/>
        </p:nvSpPr>
        <p:spPr>
          <a:xfrm>
            <a:off x="6199632" y="1883664"/>
            <a:ext cx="2395728" cy="960120"/>
          </a:xfrm>
          <a:prstGeom prst="rect">
            <a:avLst/>
          </a:prstGeom>
          <a:noFill/>
          <a:ln/>
        </p:spPr>
        <p:txBody>
          <a:bodyPr wrap="square" lIns="0" tIns="0" rIns="0" bIns="0" rtlCol="0" anchor="t"/>
          <a:lstStyle/>
          <a:p>
            <a:pPr marL="0" indent="0">
              <a:buNone/>
            </a:pPr>
            <a:r>
              <a:rPr lang="en-US" sz="1000" dirty="0">
                <a:solidFill>
                  <a:srgbClr val="1A1A1A"/>
                </a:solidFill>
                <a:latin typeface="Calibri" pitchFamily="34" charset="0"/>
                <a:ea typeface="Calibri" pitchFamily="34" charset="-122"/>
                <a:cs typeface="Calibri" pitchFamily="34" charset="-120"/>
              </a:rPr>
              <a:t>The machinery around an AI model that turns it into a working agent — tools, loops, guardrails. </a:t>
            </a:r>
          </a:p>
          <a:p>
            <a:pPr marL="0" indent="0">
              <a:buNone/>
            </a:pPr>
            <a:endParaRPr lang="en-US" sz="1000" dirty="0">
              <a:solidFill>
                <a:srgbClr val="1A1A1A"/>
              </a:solidFill>
              <a:latin typeface="Calibri" pitchFamily="34" charset="0"/>
              <a:ea typeface="Calibri" pitchFamily="34" charset="-122"/>
              <a:cs typeface="Calibri" pitchFamily="34" charset="-120"/>
            </a:endParaRPr>
          </a:p>
          <a:p>
            <a:pPr marL="0" indent="0">
              <a:buNone/>
            </a:pPr>
            <a:r>
              <a:rPr lang="en-US" sz="1000" dirty="0">
                <a:solidFill>
                  <a:srgbClr val="1A1A1A"/>
                </a:solidFill>
                <a:latin typeface="Calibri" pitchFamily="34" charset="0"/>
                <a:ea typeface="Calibri" pitchFamily="34" charset="-122"/>
                <a:cs typeface="Calibri" pitchFamily="34" charset="-120"/>
              </a:rPr>
              <a:t>Model = engine; harness = the rest of the car</a:t>
            </a:r>
            <a:endParaRPr lang="en-US" sz="1000" dirty="0"/>
          </a:p>
        </p:txBody>
      </p:sp>
      <p:sp>
        <p:nvSpPr>
          <p:cNvPr id="15" name="Shape 13"/>
          <p:cNvSpPr/>
          <p:nvPr/>
        </p:nvSpPr>
        <p:spPr>
          <a:xfrm>
            <a:off x="457200" y="3054096"/>
            <a:ext cx="2651760" cy="1627632"/>
          </a:xfrm>
          <a:prstGeom prst="roundRect">
            <a:avLst>
              <a:gd name="adj" fmla="val 3371"/>
            </a:avLst>
          </a:prstGeom>
          <a:solidFill>
            <a:srgbClr val="DCE6F1"/>
          </a:solidFill>
          <a:ln w="9525">
            <a:solidFill>
              <a:srgbClr val="4F81BD"/>
            </a:solidFill>
            <a:prstDash val="solid"/>
          </a:ln>
        </p:spPr>
        <p:txBody>
          <a:bodyPr/>
          <a:lstStyle/>
          <a:p>
            <a:endParaRPr lang="en-US"/>
          </a:p>
        </p:txBody>
      </p:sp>
      <p:sp>
        <p:nvSpPr>
          <p:cNvPr id="16" name="Text 14"/>
          <p:cNvSpPr/>
          <p:nvPr/>
        </p:nvSpPr>
        <p:spPr>
          <a:xfrm>
            <a:off x="585216" y="3127248"/>
            <a:ext cx="2423160" cy="274320"/>
          </a:xfrm>
          <a:prstGeom prst="rect">
            <a:avLst/>
          </a:prstGeom>
          <a:noFill/>
          <a:ln/>
        </p:spPr>
        <p:txBody>
          <a:bodyPr wrap="square" lIns="0" tIns="0" rIns="0" bIns="0" rtlCol="0" anchor="ctr"/>
          <a:lstStyle/>
          <a:p>
            <a:pPr marL="0" indent="0">
              <a:buNone/>
            </a:pPr>
            <a:r>
              <a:rPr lang="en-US" sz="1350" b="1" dirty="0">
                <a:solidFill>
                  <a:srgbClr val="1F497D"/>
                </a:solidFill>
                <a:latin typeface="Calibri" pitchFamily="34" charset="0"/>
                <a:ea typeface="Calibri" pitchFamily="34" charset="-122"/>
                <a:cs typeface="Calibri" pitchFamily="34" charset="-120"/>
              </a:rPr>
              <a:t>Context Layer</a:t>
            </a:r>
            <a:endParaRPr lang="en-US" sz="1350" dirty="0"/>
          </a:p>
        </p:txBody>
      </p:sp>
      <p:sp>
        <p:nvSpPr>
          <p:cNvPr id="17" name="Text 15"/>
          <p:cNvSpPr/>
          <p:nvPr/>
        </p:nvSpPr>
        <p:spPr>
          <a:xfrm>
            <a:off x="585216" y="3401568"/>
            <a:ext cx="2423160" cy="219456"/>
          </a:xfrm>
          <a:prstGeom prst="rect">
            <a:avLst/>
          </a:prstGeom>
          <a:noFill/>
          <a:ln/>
        </p:spPr>
        <p:txBody>
          <a:bodyPr wrap="square" lIns="0" tIns="0" rIns="0" bIns="0" rtlCol="0" anchor="ctr"/>
          <a:lstStyle/>
          <a:p>
            <a:pPr marL="0" indent="0">
              <a:buNone/>
            </a:pPr>
            <a:r>
              <a:rPr lang="en-US" sz="950" i="1" dirty="0">
                <a:solidFill>
                  <a:srgbClr val="595959"/>
                </a:solidFill>
                <a:latin typeface="Calibri" pitchFamily="34" charset="0"/>
                <a:ea typeface="Calibri" pitchFamily="34" charset="-122"/>
                <a:cs typeface="Calibri" pitchFamily="34" charset="-120"/>
              </a:rPr>
              <a:t>built by us</a:t>
            </a:r>
            <a:endParaRPr lang="en-US" sz="950" dirty="0"/>
          </a:p>
        </p:txBody>
      </p:sp>
      <p:sp>
        <p:nvSpPr>
          <p:cNvPr id="18" name="Text 16"/>
          <p:cNvSpPr/>
          <p:nvPr/>
        </p:nvSpPr>
        <p:spPr>
          <a:xfrm>
            <a:off x="585216" y="3639312"/>
            <a:ext cx="2395728" cy="960120"/>
          </a:xfrm>
          <a:prstGeom prst="rect">
            <a:avLst/>
          </a:prstGeom>
          <a:noFill/>
          <a:ln/>
        </p:spPr>
        <p:txBody>
          <a:bodyPr wrap="square" lIns="0" tIns="0" rIns="0" bIns="0" rtlCol="0" anchor="t"/>
          <a:lstStyle/>
          <a:p>
            <a:pPr marL="0" indent="0">
              <a:buNone/>
            </a:pPr>
            <a:r>
              <a:rPr lang="en-US" sz="1000" dirty="0">
                <a:solidFill>
                  <a:srgbClr val="1A1A1A"/>
                </a:solidFill>
                <a:latin typeface="Calibri" pitchFamily="34" charset="0"/>
                <a:ea typeface="Calibri" pitchFamily="34" charset="-122"/>
                <a:cs typeface="Calibri" pitchFamily="34" charset="-120"/>
              </a:rPr>
              <a:t>The USCIS knowledge the agent reads before answering: table descriptions, metric formulas, acronyms, form types. This is where accuracy comes from.</a:t>
            </a:r>
            <a:endParaRPr lang="en-US" sz="1000" dirty="0"/>
          </a:p>
        </p:txBody>
      </p:sp>
      <p:sp>
        <p:nvSpPr>
          <p:cNvPr id="19" name="Shape 17"/>
          <p:cNvSpPr/>
          <p:nvPr/>
        </p:nvSpPr>
        <p:spPr>
          <a:xfrm>
            <a:off x="3264408" y="3054096"/>
            <a:ext cx="2651760" cy="1627632"/>
          </a:xfrm>
          <a:prstGeom prst="roundRect">
            <a:avLst>
              <a:gd name="adj" fmla="val 3371"/>
            </a:avLst>
          </a:prstGeom>
          <a:solidFill>
            <a:srgbClr val="EEF3FA"/>
          </a:solidFill>
          <a:ln w="9525">
            <a:solidFill>
              <a:srgbClr val="4F81BD"/>
            </a:solidFill>
            <a:prstDash val="solid"/>
          </a:ln>
        </p:spPr>
        <p:txBody>
          <a:bodyPr/>
          <a:lstStyle/>
          <a:p>
            <a:endParaRPr lang="en-US"/>
          </a:p>
        </p:txBody>
      </p:sp>
      <p:sp>
        <p:nvSpPr>
          <p:cNvPr id="20" name="Text 18"/>
          <p:cNvSpPr/>
          <p:nvPr/>
        </p:nvSpPr>
        <p:spPr>
          <a:xfrm>
            <a:off x="3392424" y="3127248"/>
            <a:ext cx="2423160" cy="274320"/>
          </a:xfrm>
          <a:prstGeom prst="rect">
            <a:avLst/>
          </a:prstGeom>
          <a:noFill/>
          <a:ln/>
        </p:spPr>
        <p:txBody>
          <a:bodyPr wrap="square" lIns="0" tIns="0" rIns="0" bIns="0" rtlCol="0" anchor="ctr"/>
          <a:lstStyle/>
          <a:p>
            <a:pPr marL="0" indent="0">
              <a:buNone/>
            </a:pPr>
            <a:r>
              <a:rPr lang="en-US" sz="1350" b="1" dirty="0">
                <a:solidFill>
                  <a:srgbClr val="1F497D"/>
                </a:solidFill>
                <a:latin typeface="Calibri" pitchFamily="34" charset="0"/>
                <a:ea typeface="Calibri" pitchFamily="34" charset="-122"/>
                <a:cs typeface="Calibri" pitchFamily="34" charset="-120"/>
              </a:rPr>
              <a:t>Unity Catalog</a:t>
            </a:r>
            <a:endParaRPr lang="en-US" sz="1350" dirty="0"/>
          </a:p>
        </p:txBody>
      </p:sp>
      <p:sp>
        <p:nvSpPr>
          <p:cNvPr id="21" name="Text 19"/>
          <p:cNvSpPr/>
          <p:nvPr/>
        </p:nvSpPr>
        <p:spPr>
          <a:xfrm>
            <a:off x="3392424" y="3401568"/>
            <a:ext cx="2423160" cy="219456"/>
          </a:xfrm>
          <a:prstGeom prst="rect">
            <a:avLst/>
          </a:prstGeom>
          <a:noFill/>
          <a:ln/>
        </p:spPr>
        <p:txBody>
          <a:bodyPr wrap="square" lIns="0" tIns="0" rIns="0" bIns="0" rtlCol="0" anchor="ctr"/>
          <a:lstStyle/>
          <a:p>
            <a:pPr marL="0" indent="0">
              <a:buNone/>
            </a:pPr>
            <a:r>
              <a:rPr lang="en-US" sz="950" i="1" dirty="0">
                <a:solidFill>
                  <a:srgbClr val="595959"/>
                </a:solidFill>
                <a:latin typeface="Calibri" pitchFamily="34" charset="0"/>
                <a:ea typeface="Calibri" pitchFamily="34" charset="-122"/>
                <a:cs typeface="Calibri" pitchFamily="34" charset="-120"/>
              </a:rPr>
              <a:t>the governance backbone</a:t>
            </a:r>
            <a:endParaRPr lang="en-US" sz="950" dirty="0"/>
          </a:p>
        </p:txBody>
      </p:sp>
      <p:sp>
        <p:nvSpPr>
          <p:cNvPr id="22" name="Text 20"/>
          <p:cNvSpPr/>
          <p:nvPr/>
        </p:nvSpPr>
        <p:spPr>
          <a:xfrm>
            <a:off x="3392424" y="3639312"/>
            <a:ext cx="2395728" cy="960120"/>
          </a:xfrm>
          <a:prstGeom prst="rect">
            <a:avLst/>
          </a:prstGeom>
          <a:noFill/>
          <a:ln/>
        </p:spPr>
        <p:txBody>
          <a:bodyPr wrap="square" lIns="0" tIns="0" rIns="0" bIns="0" rtlCol="0" anchor="t"/>
          <a:lstStyle/>
          <a:p>
            <a:pPr marL="0" indent="0">
              <a:buNone/>
            </a:pPr>
            <a:r>
              <a:rPr lang="en-US" sz="1000" dirty="0">
                <a:solidFill>
                  <a:srgbClr val="1A1A1A"/>
                </a:solidFill>
                <a:latin typeface="Calibri" pitchFamily="34" charset="0"/>
                <a:ea typeface="Calibri" pitchFamily="34" charset="-122"/>
                <a:cs typeface="Calibri" pitchFamily="34" charset="-120"/>
              </a:rPr>
              <a:t>Databricks' catalog of every table, column, permission, and lineage record. Agents only see what a user is already allowed to see.</a:t>
            </a:r>
            <a:endParaRPr lang="en-US" sz="1000" dirty="0"/>
          </a:p>
        </p:txBody>
      </p:sp>
      <p:sp>
        <p:nvSpPr>
          <p:cNvPr id="23" name="Shape 21"/>
          <p:cNvSpPr/>
          <p:nvPr/>
        </p:nvSpPr>
        <p:spPr>
          <a:xfrm>
            <a:off x="6071616" y="3054096"/>
            <a:ext cx="2651760" cy="1627632"/>
          </a:xfrm>
          <a:prstGeom prst="roundRect">
            <a:avLst>
              <a:gd name="adj" fmla="val 3371"/>
            </a:avLst>
          </a:prstGeom>
          <a:solidFill>
            <a:srgbClr val="EEF3FA"/>
          </a:solidFill>
          <a:ln w="9525">
            <a:solidFill>
              <a:srgbClr val="4F81BD"/>
            </a:solidFill>
            <a:prstDash val="solid"/>
          </a:ln>
        </p:spPr>
        <p:txBody>
          <a:bodyPr/>
          <a:lstStyle/>
          <a:p>
            <a:endParaRPr lang="en-US"/>
          </a:p>
        </p:txBody>
      </p:sp>
      <p:sp>
        <p:nvSpPr>
          <p:cNvPr id="24" name="Text 22"/>
          <p:cNvSpPr/>
          <p:nvPr/>
        </p:nvSpPr>
        <p:spPr>
          <a:xfrm>
            <a:off x="6199632" y="3127248"/>
            <a:ext cx="2423160" cy="274320"/>
          </a:xfrm>
          <a:prstGeom prst="rect">
            <a:avLst/>
          </a:prstGeom>
          <a:noFill/>
          <a:ln/>
        </p:spPr>
        <p:txBody>
          <a:bodyPr wrap="square" lIns="0" tIns="0" rIns="0" bIns="0" rtlCol="0" anchor="ctr"/>
          <a:lstStyle/>
          <a:p>
            <a:pPr marL="0" indent="0">
              <a:buNone/>
            </a:pPr>
            <a:r>
              <a:rPr lang="en-US" sz="1350" b="1" dirty="0">
                <a:solidFill>
                  <a:srgbClr val="1F497D"/>
                </a:solidFill>
                <a:latin typeface="Calibri" pitchFamily="34" charset="0"/>
                <a:ea typeface="Calibri" pitchFamily="34" charset="-122"/>
                <a:cs typeface="Calibri" pitchFamily="34" charset="-120"/>
              </a:rPr>
              <a:t>DBU</a:t>
            </a:r>
            <a:endParaRPr lang="en-US" sz="1350" dirty="0"/>
          </a:p>
        </p:txBody>
      </p:sp>
      <p:sp>
        <p:nvSpPr>
          <p:cNvPr id="25" name="Text 23"/>
          <p:cNvSpPr/>
          <p:nvPr/>
        </p:nvSpPr>
        <p:spPr>
          <a:xfrm>
            <a:off x="6199632" y="3401568"/>
            <a:ext cx="2423160" cy="219456"/>
          </a:xfrm>
          <a:prstGeom prst="rect">
            <a:avLst/>
          </a:prstGeom>
          <a:noFill/>
          <a:ln/>
        </p:spPr>
        <p:txBody>
          <a:bodyPr wrap="square" lIns="0" tIns="0" rIns="0" bIns="0" rtlCol="0" anchor="ctr"/>
          <a:lstStyle/>
          <a:p>
            <a:pPr marL="0" indent="0">
              <a:buNone/>
            </a:pPr>
            <a:r>
              <a:rPr lang="en-US" sz="950" i="1" dirty="0">
                <a:solidFill>
                  <a:srgbClr val="595959"/>
                </a:solidFill>
                <a:latin typeface="Calibri" pitchFamily="34" charset="0"/>
                <a:ea typeface="Calibri" pitchFamily="34" charset="-122"/>
                <a:cs typeface="Calibri" pitchFamily="34" charset="-120"/>
              </a:rPr>
              <a:t>Databricks Unit</a:t>
            </a:r>
            <a:endParaRPr lang="en-US" sz="950" dirty="0"/>
          </a:p>
        </p:txBody>
      </p:sp>
      <p:sp>
        <p:nvSpPr>
          <p:cNvPr id="26" name="Text 24"/>
          <p:cNvSpPr/>
          <p:nvPr/>
        </p:nvSpPr>
        <p:spPr>
          <a:xfrm>
            <a:off x="6199632" y="3639312"/>
            <a:ext cx="2395728" cy="960120"/>
          </a:xfrm>
          <a:prstGeom prst="rect">
            <a:avLst/>
          </a:prstGeom>
          <a:noFill/>
          <a:ln/>
        </p:spPr>
        <p:txBody>
          <a:bodyPr wrap="square" lIns="0" tIns="0" rIns="0" bIns="0" rtlCol="0" anchor="t"/>
          <a:lstStyle/>
          <a:p>
            <a:pPr marL="0" indent="0">
              <a:buNone/>
            </a:pPr>
            <a:r>
              <a:rPr lang="en-US" sz="1000" dirty="0">
                <a:solidFill>
                  <a:srgbClr val="1A1A1A"/>
                </a:solidFill>
                <a:latin typeface="Calibri" pitchFamily="34" charset="0"/>
                <a:ea typeface="Calibri" pitchFamily="34" charset="-122"/>
                <a:cs typeface="Calibri" pitchFamily="34" charset="-120"/>
              </a:rPr>
              <a:t>The usage meter for all Databricks consumption — like kilowatt-hours for compute and AI. We track burn in DBUs; OIT-DBIS has not given us access to see actual pricing. But, DBUs are a sound way for us to measure if we are using the tools efficiently.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Harness — What It Is &amp; How Databricks Applies It</a:t>
            </a:r>
            <a:endParaRPr lang="en-US" sz="2500" dirty="0"/>
          </a:p>
        </p:txBody>
      </p:sp>
      <p:sp>
        <p:nvSpPr>
          <p:cNvPr id="3" name="Text 1"/>
          <p:cNvSpPr/>
          <p:nvPr/>
        </p:nvSpPr>
        <p:spPr>
          <a:xfrm>
            <a:off x="457200" y="1280160"/>
            <a:ext cx="8229600" cy="384048"/>
          </a:xfrm>
          <a:prstGeom prst="rect">
            <a:avLst/>
          </a:prstGeom>
          <a:noFill/>
          <a:ln/>
        </p:spPr>
        <p:txBody>
          <a:bodyPr wrap="square" lIns="0" tIns="0" rIns="0" bIns="0" rtlCol="0" anchor="ctr"/>
          <a:lstStyle/>
          <a:p>
            <a:pPr marL="0" indent="0" algn="ctr">
              <a:buNone/>
            </a:pPr>
            <a:r>
              <a:rPr lang="en-US" sz="2000" b="1" dirty="0">
                <a:solidFill>
                  <a:srgbClr val="1F497D"/>
                </a:solidFill>
                <a:latin typeface="Calibri" pitchFamily="34" charset="0"/>
                <a:ea typeface="Calibri" pitchFamily="34" charset="-122"/>
                <a:cs typeface="Calibri" pitchFamily="34" charset="-120"/>
              </a:rPr>
              <a:t>Agent  =  Model  +  Harness</a:t>
            </a:r>
            <a:endParaRPr lang="en-US" sz="2000" dirty="0"/>
          </a:p>
        </p:txBody>
      </p:sp>
      <p:sp>
        <p:nvSpPr>
          <p:cNvPr id="4" name="Shape 2"/>
          <p:cNvSpPr/>
          <p:nvPr/>
        </p:nvSpPr>
        <p:spPr>
          <a:xfrm>
            <a:off x="731520" y="1828800"/>
            <a:ext cx="3566160" cy="2011680"/>
          </a:xfrm>
          <a:prstGeom prst="roundRect">
            <a:avLst>
              <a:gd name="adj" fmla="val 2727"/>
            </a:avLst>
          </a:prstGeom>
          <a:solidFill>
            <a:srgbClr val="EEF3FA"/>
          </a:solidFill>
          <a:ln w="9525">
            <a:solidFill>
              <a:srgbClr val="4F81BD"/>
            </a:solidFill>
            <a:prstDash val="solid"/>
          </a:ln>
        </p:spPr>
        <p:txBody>
          <a:bodyPr/>
          <a:lstStyle/>
          <a:p>
            <a:endParaRPr lang="en-US"/>
          </a:p>
        </p:txBody>
      </p:sp>
      <p:sp>
        <p:nvSpPr>
          <p:cNvPr id="5" name="Text 3"/>
          <p:cNvSpPr/>
          <p:nvPr/>
        </p:nvSpPr>
        <p:spPr>
          <a:xfrm>
            <a:off x="868680" y="1901952"/>
            <a:ext cx="3383280" cy="256032"/>
          </a:xfrm>
          <a:prstGeom prst="rect">
            <a:avLst/>
          </a:prstGeom>
          <a:noFill/>
          <a:ln/>
        </p:spPr>
        <p:txBody>
          <a:bodyPr wrap="square" lIns="0" tIns="0" rIns="0" bIns="0" rtlCol="0" anchor="ctr"/>
          <a:lstStyle/>
          <a:p>
            <a:pPr marL="0" indent="0">
              <a:buNone/>
            </a:pPr>
            <a:r>
              <a:rPr lang="en-US" sz="1050" b="1" dirty="0">
                <a:solidFill>
                  <a:srgbClr val="1F497D"/>
                </a:solidFill>
                <a:latin typeface="Calibri" pitchFamily="34" charset="0"/>
                <a:ea typeface="Calibri" pitchFamily="34" charset="-122"/>
                <a:cs typeface="Calibri" pitchFamily="34" charset="-120"/>
              </a:rPr>
              <a:t>THE HARNESS (Databricks builds &amp; operates this)</a:t>
            </a:r>
            <a:endParaRPr lang="en-US" sz="1050" dirty="0"/>
          </a:p>
        </p:txBody>
      </p:sp>
      <p:sp>
        <p:nvSpPr>
          <p:cNvPr id="6" name="Shape 4"/>
          <p:cNvSpPr/>
          <p:nvPr/>
        </p:nvSpPr>
        <p:spPr>
          <a:xfrm>
            <a:off x="1554480" y="2331720"/>
            <a:ext cx="1920240" cy="502920"/>
          </a:xfrm>
          <a:prstGeom prst="roundRect">
            <a:avLst>
              <a:gd name="adj" fmla="val 10909"/>
            </a:avLst>
          </a:prstGeom>
          <a:solidFill>
            <a:srgbClr val="1F497D"/>
          </a:solidFill>
          <a:ln/>
        </p:spPr>
        <p:txBody>
          <a:bodyPr/>
          <a:lstStyle/>
          <a:p>
            <a:endParaRPr lang="en-US"/>
          </a:p>
        </p:txBody>
      </p:sp>
      <p:sp>
        <p:nvSpPr>
          <p:cNvPr id="7" name="Text 5"/>
          <p:cNvSpPr/>
          <p:nvPr/>
        </p:nvSpPr>
        <p:spPr>
          <a:xfrm>
            <a:off x="1554480" y="2331720"/>
            <a:ext cx="192024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 MODEL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(the engine)</a:t>
            </a:r>
            <a:endParaRPr lang="en-US" sz="1050" dirty="0"/>
          </a:p>
        </p:txBody>
      </p:sp>
      <p:sp>
        <p:nvSpPr>
          <p:cNvPr id="8" name="Text 6"/>
          <p:cNvSpPr/>
          <p:nvPr/>
        </p:nvSpPr>
        <p:spPr>
          <a:xfrm>
            <a:off x="868680" y="2971800"/>
            <a:ext cx="3291840" cy="77724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Tools  •  query engine  •  retries</a:t>
            </a:r>
            <a:endParaRPr lang="en-US" sz="1050" dirty="0"/>
          </a:p>
          <a:p>
            <a:pPr marL="0" indent="0">
              <a:buNone/>
            </a:pPr>
            <a:r>
              <a:rPr lang="en-US" sz="1050" dirty="0">
                <a:solidFill>
                  <a:srgbClr val="1A1A1A"/>
                </a:solidFill>
                <a:latin typeface="Calibri" pitchFamily="34" charset="0"/>
                <a:ea typeface="Calibri" pitchFamily="34" charset="-122"/>
                <a:cs typeface="Calibri" pitchFamily="34" charset="-120"/>
              </a:rPr>
              <a:t>Guardrails  •  permissions  •  audit</a:t>
            </a:r>
            <a:endParaRPr lang="en-US" sz="1050" dirty="0"/>
          </a:p>
          <a:p>
            <a:pPr marL="0" indent="0">
              <a:buNone/>
            </a:pPr>
            <a:r>
              <a:rPr lang="en-US" sz="1050" dirty="0">
                <a:solidFill>
                  <a:srgbClr val="1A1A1A"/>
                </a:solidFill>
                <a:latin typeface="Calibri" pitchFamily="34" charset="0"/>
                <a:ea typeface="Calibri" pitchFamily="34" charset="-122"/>
                <a:cs typeface="Calibri" pitchFamily="34" charset="-120"/>
              </a:rPr>
              <a:t>The loop: reason → act → check</a:t>
            </a:r>
            <a:endParaRPr lang="en-US" sz="1050" dirty="0"/>
          </a:p>
        </p:txBody>
      </p:sp>
      <p:sp>
        <p:nvSpPr>
          <p:cNvPr id="9" name="Shape 7"/>
          <p:cNvSpPr/>
          <p:nvPr/>
        </p:nvSpPr>
        <p:spPr>
          <a:xfrm>
            <a:off x="4434840" y="2743200"/>
            <a:ext cx="502920" cy="201168"/>
          </a:xfrm>
          <a:prstGeom prst="rightArrow">
            <a:avLst/>
          </a:prstGeom>
          <a:solidFill>
            <a:srgbClr val="4F81BD"/>
          </a:solidFill>
          <a:ln/>
        </p:spPr>
        <p:txBody>
          <a:bodyPr/>
          <a:lstStyle/>
          <a:p>
            <a:endParaRPr lang="en-US"/>
          </a:p>
        </p:txBody>
      </p:sp>
      <p:sp>
        <p:nvSpPr>
          <p:cNvPr id="10" name="Shape 8"/>
          <p:cNvSpPr/>
          <p:nvPr/>
        </p:nvSpPr>
        <p:spPr>
          <a:xfrm>
            <a:off x="5074920" y="1828800"/>
            <a:ext cx="3383280" cy="2011680"/>
          </a:xfrm>
          <a:prstGeom prst="roundRect">
            <a:avLst>
              <a:gd name="adj" fmla="val 2727"/>
            </a:avLst>
          </a:prstGeom>
          <a:solidFill>
            <a:srgbClr val="DCE6F1"/>
          </a:solidFill>
          <a:ln w="9525">
            <a:solidFill>
              <a:srgbClr val="4F81BD"/>
            </a:solidFill>
            <a:prstDash val="solid"/>
          </a:ln>
        </p:spPr>
        <p:txBody>
          <a:bodyPr/>
          <a:lstStyle/>
          <a:p>
            <a:endParaRPr lang="en-US"/>
          </a:p>
        </p:txBody>
      </p:sp>
      <p:sp>
        <p:nvSpPr>
          <p:cNvPr id="11" name="Text 9"/>
          <p:cNvSpPr/>
          <p:nvPr/>
        </p:nvSpPr>
        <p:spPr>
          <a:xfrm>
            <a:off x="5212080" y="1901952"/>
            <a:ext cx="3108960" cy="256032"/>
          </a:xfrm>
          <a:prstGeom prst="rect">
            <a:avLst/>
          </a:prstGeom>
          <a:noFill/>
          <a:ln/>
        </p:spPr>
        <p:txBody>
          <a:bodyPr wrap="square" lIns="0" tIns="0" rIns="0" bIns="0" rtlCol="0" anchor="ctr"/>
          <a:lstStyle/>
          <a:p>
            <a:pPr marL="0" indent="0">
              <a:buNone/>
            </a:pPr>
            <a:r>
              <a:rPr lang="en-US" sz="1050" b="1" dirty="0">
                <a:solidFill>
                  <a:srgbClr val="1F497D"/>
                </a:solidFill>
                <a:latin typeface="Calibri" pitchFamily="34" charset="0"/>
                <a:ea typeface="Calibri" pitchFamily="34" charset="-122"/>
                <a:cs typeface="Calibri" pitchFamily="34" charset="-120"/>
              </a:rPr>
              <a:t>WHAT WE BUILD</a:t>
            </a:r>
            <a:endParaRPr lang="en-US" sz="1050" dirty="0"/>
          </a:p>
        </p:txBody>
      </p:sp>
      <p:sp>
        <p:nvSpPr>
          <p:cNvPr id="12" name="Text 10"/>
          <p:cNvSpPr/>
          <p:nvPr/>
        </p:nvSpPr>
        <p:spPr>
          <a:xfrm>
            <a:off x="5212080" y="2212848"/>
            <a:ext cx="3154680" cy="1554480"/>
          </a:xfrm>
          <a:prstGeom prst="rect">
            <a:avLst/>
          </a:prstGeom>
          <a:noFill/>
          <a:ln/>
        </p:spPr>
        <p:txBody>
          <a:bodyPr wrap="square" lIns="0" tIns="0" rIns="0" bIns="0" rtlCol="0" anchor="t"/>
          <a:lstStyle/>
          <a:p>
            <a:pPr marL="127000" indent="-127000" algn="l">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The context layer (USCIS knowledge)</a:t>
            </a:r>
            <a:endParaRPr lang="en-US" sz="1050" dirty="0"/>
          </a:p>
          <a:p>
            <a:pPr marL="127000" indent="-127000" algn="l">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Benchmark tests that score accuracy</a:t>
            </a:r>
            <a:endParaRPr lang="en-US" sz="1050" dirty="0"/>
          </a:p>
          <a:p>
            <a:pPr marL="127000" indent="-127000" algn="l">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Review workflow for disputed answers</a:t>
            </a:r>
            <a:endParaRPr lang="en-US" sz="1050" dirty="0"/>
          </a:p>
          <a:p>
            <a:pPr marL="127000" indent="-127000" algn="l">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Cost guardrails: DBU monitoring &amp; alerts</a:t>
            </a:r>
            <a:endParaRPr lang="en-US" sz="1050" dirty="0"/>
          </a:p>
        </p:txBody>
      </p:sp>
      <p:sp>
        <p:nvSpPr>
          <p:cNvPr id="13" name="Text 11"/>
          <p:cNvSpPr/>
          <p:nvPr/>
        </p:nvSpPr>
        <p:spPr>
          <a:xfrm>
            <a:off x="457200" y="4069080"/>
            <a:ext cx="8229600" cy="548640"/>
          </a:xfrm>
          <a:prstGeom prst="rect">
            <a:avLst/>
          </a:prstGeom>
          <a:noFill/>
          <a:ln/>
        </p:spPr>
        <p:txBody>
          <a:bodyPr wrap="square" lIns="0" tIns="0" rIns="0" bIns="0" rtlCol="0" anchor="ctr"/>
          <a:lstStyle/>
          <a:p>
            <a:pPr marL="0" indent="0" algn="ctr">
              <a:buNone/>
            </a:pPr>
            <a:r>
              <a:rPr lang="en-US" sz="1150" i="1" dirty="0">
                <a:solidFill>
                  <a:srgbClr val="595959"/>
                </a:solidFill>
                <a:latin typeface="Calibri" pitchFamily="34" charset="0"/>
                <a:ea typeface="Calibri" pitchFamily="34" charset="-122"/>
                <a:cs typeface="Calibri" pitchFamily="34" charset="-120"/>
              </a:rPr>
              <a:t>A car analogy: the large language model is the engine; the harness is the wheels, steering, brakes, and dashboard. </a:t>
            </a:r>
          </a:p>
          <a:p>
            <a:pPr marL="0" indent="0" algn="ctr">
              <a:buNone/>
            </a:pPr>
            <a:r>
              <a:rPr lang="en-US" sz="1150" i="1" dirty="0">
                <a:solidFill>
                  <a:srgbClr val="595959"/>
                </a:solidFill>
                <a:latin typeface="Calibri" pitchFamily="34" charset="0"/>
                <a:ea typeface="Calibri" pitchFamily="34" charset="-122"/>
                <a:cs typeface="Calibri" pitchFamily="34" charset="-120"/>
              </a:rPr>
              <a:t>Databricks ships the whole car — we supply the map and the rules of the road.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How a Genie Agent Answers a Question</a:t>
            </a:r>
            <a:endParaRPr lang="en-US" sz="2500" dirty="0"/>
          </a:p>
        </p:txBody>
      </p:sp>
      <p:sp>
        <p:nvSpPr>
          <p:cNvPr id="3" name="Text 1"/>
          <p:cNvSpPr/>
          <p:nvPr/>
        </p:nvSpPr>
        <p:spPr>
          <a:xfrm>
            <a:off x="457200" y="1261872"/>
            <a:ext cx="8229600" cy="310896"/>
          </a:xfrm>
          <a:prstGeom prst="rect">
            <a:avLst/>
          </a:prstGeom>
          <a:noFill/>
          <a:ln/>
        </p:spPr>
        <p:txBody>
          <a:bodyPr wrap="square" lIns="0" tIns="0" rIns="0" bIns="0" rtlCol="0" anchor="ctr"/>
          <a:lstStyle/>
          <a:p>
            <a:pPr marL="0" indent="0" algn="ctr">
              <a:buNone/>
            </a:pPr>
            <a:r>
              <a:rPr lang="en-US" sz="1300" b="1" i="1" dirty="0">
                <a:solidFill>
                  <a:srgbClr val="16365C"/>
                </a:solidFill>
                <a:latin typeface="Calibri" pitchFamily="34" charset="0"/>
                <a:ea typeface="Calibri" pitchFamily="34" charset="-122"/>
                <a:cs typeface="Calibri" pitchFamily="34" charset="-120"/>
              </a:rPr>
              <a:t>“How many I-765 forms were filed in June, and how does that compare to May?”</a:t>
            </a:r>
            <a:endParaRPr lang="en-US" sz="1300" dirty="0"/>
          </a:p>
        </p:txBody>
      </p:sp>
      <p:sp>
        <p:nvSpPr>
          <p:cNvPr id="4" name="Shape 2"/>
          <p:cNvSpPr/>
          <p:nvPr/>
        </p:nvSpPr>
        <p:spPr>
          <a:xfrm>
            <a:off x="457200" y="1783080"/>
            <a:ext cx="1920240" cy="1600200"/>
          </a:xfrm>
          <a:prstGeom prst="roundRect">
            <a:avLst>
              <a:gd name="adj" fmla="val 3429"/>
            </a:avLst>
          </a:prstGeom>
          <a:solidFill>
            <a:srgbClr val="EEF3FA"/>
          </a:solidFill>
          <a:ln w="9525">
            <a:solidFill>
              <a:srgbClr val="4F81BD"/>
            </a:solidFill>
            <a:prstDash val="solid"/>
          </a:ln>
        </p:spPr>
        <p:txBody>
          <a:bodyPr/>
          <a:lstStyle/>
          <a:p>
            <a:endParaRPr lang="en-US"/>
          </a:p>
        </p:txBody>
      </p:sp>
      <p:sp>
        <p:nvSpPr>
          <p:cNvPr id="5" name="Text 3"/>
          <p:cNvSpPr/>
          <p:nvPr/>
        </p:nvSpPr>
        <p:spPr>
          <a:xfrm>
            <a:off x="566928" y="1856232"/>
            <a:ext cx="1737360" cy="274320"/>
          </a:xfrm>
          <a:prstGeom prst="rect">
            <a:avLst/>
          </a:prstGeom>
          <a:noFill/>
          <a:ln/>
        </p:spPr>
        <p:txBody>
          <a:bodyPr wrap="square" lIns="0" tIns="0" rIns="0" bIns="0" rtlCol="0" anchor="ctr"/>
          <a:lstStyle/>
          <a:p>
            <a:pPr marL="0" indent="0">
              <a:buNone/>
            </a:pPr>
            <a:r>
              <a:rPr lang="en-US" sz="1250" b="1" dirty="0">
                <a:solidFill>
                  <a:srgbClr val="1F497D"/>
                </a:solidFill>
                <a:latin typeface="Calibri" pitchFamily="34" charset="0"/>
                <a:ea typeface="Calibri" pitchFamily="34" charset="-122"/>
                <a:cs typeface="Calibri" pitchFamily="34" charset="-120"/>
              </a:rPr>
              <a:t>1. Question</a:t>
            </a:r>
            <a:endParaRPr lang="en-US" sz="1250" dirty="0"/>
          </a:p>
        </p:txBody>
      </p:sp>
      <p:sp>
        <p:nvSpPr>
          <p:cNvPr id="6" name="Text 4"/>
          <p:cNvSpPr/>
          <p:nvPr/>
        </p:nvSpPr>
        <p:spPr>
          <a:xfrm>
            <a:off x="566928" y="2157984"/>
            <a:ext cx="1700784" cy="11430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Plain English from an analyst or program office</a:t>
            </a:r>
            <a:endParaRPr lang="en-US" sz="1000" dirty="0"/>
          </a:p>
        </p:txBody>
      </p:sp>
      <p:sp>
        <p:nvSpPr>
          <p:cNvPr id="7" name="Shape 5"/>
          <p:cNvSpPr/>
          <p:nvPr/>
        </p:nvSpPr>
        <p:spPr>
          <a:xfrm>
            <a:off x="2395728" y="2487168"/>
            <a:ext cx="182880" cy="201168"/>
          </a:xfrm>
          <a:prstGeom prst="rightArrow">
            <a:avLst/>
          </a:prstGeom>
          <a:solidFill>
            <a:srgbClr val="4F81BD"/>
          </a:solidFill>
          <a:ln/>
        </p:spPr>
        <p:txBody>
          <a:bodyPr/>
          <a:lstStyle/>
          <a:p>
            <a:endParaRPr lang="en-US"/>
          </a:p>
        </p:txBody>
      </p:sp>
      <p:sp>
        <p:nvSpPr>
          <p:cNvPr id="8" name="Shape 6"/>
          <p:cNvSpPr/>
          <p:nvPr/>
        </p:nvSpPr>
        <p:spPr>
          <a:xfrm>
            <a:off x="2587752" y="1783080"/>
            <a:ext cx="1920240" cy="1600200"/>
          </a:xfrm>
          <a:prstGeom prst="roundRect">
            <a:avLst>
              <a:gd name="adj" fmla="val 3429"/>
            </a:avLst>
          </a:prstGeom>
          <a:solidFill>
            <a:srgbClr val="EEF3FA"/>
          </a:solidFill>
          <a:ln w="9525">
            <a:solidFill>
              <a:srgbClr val="4F81BD"/>
            </a:solidFill>
            <a:prstDash val="solid"/>
          </a:ln>
        </p:spPr>
        <p:txBody>
          <a:bodyPr/>
          <a:lstStyle/>
          <a:p>
            <a:endParaRPr lang="en-US"/>
          </a:p>
        </p:txBody>
      </p:sp>
      <p:sp>
        <p:nvSpPr>
          <p:cNvPr id="9" name="Text 7"/>
          <p:cNvSpPr/>
          <p:nvPr/>
        </p:nvSpPr>
        <p:spPr>
          <a:xfrm>
            <a:off x="2697480" y="1856232"/>
            <a:ext cx="1737360" cy="274320"/>
          </a:xfrm>
          <a:prstGeom prst="rect">
            <a:avLst/>
          </a:prstGeom>
          <a:noFill/>
          <a:ln/>
        </p:spPr>
        <p:txBody>
          <a:bodyPr wrap="square" lIns="0" tIns="0" rIns="0" bIns="0" rtlCol="0" anchor="ctr"/>
          <a:lstStyle/>
          <a:p>
            <a:pPr marL="0" indent="0">
              <a:buNone/>
            </a:pPr>
            <a:r>
              <a:rPr lang="en-US" sz="1250" b="1" dirty="0">
                <a:solidFill>
                  <a:srgbClr val="1F497D"/>
                </a:solidFill>
                <a:latin typeface="Calibri" pitchFamily="34" charset="0"/>
                <a:ea typeface="Calibri" pitchFamily="34" charset="-122"/>
                <a:cs typeface="Calibri" pitchFamily="34" charset="-120"/>
              </a:rPr>
              <a:t>2. Context</a:t>
            </a:r>
            <a:endParaRPr lang="en-US" sz="1250" dirty="0"/>
          </a:p>
        </p:txBody>
      </p:sp>
      <p:sp>
        <p:nvSpPr>
          <p:cNvPr id="10" name="Text 8"/>
          <p:cNvSpPr/>
          <p:nvPr/>
        </p:nvSpPr>
        <p:spPr>
          <a:xfrm>
            <a:off x="2697480" y="2157984"/>
            <a:ext cx="1700784" cy="11430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Reads USCIS definitions: what </a:t>
            </a:r>
          </a:p>
          <a:p>
            <a:pPr marL="0" indent="0">
              <a:buNone/>
            </a:pPr>
            <a:r>
              <a:rPr lang="en-US" sz="1000" dirty="0">
                <a:solidFill>
                  <a:srgbClr val="1A1A1A"/>
                </a:solidFill>
                <a:latin typeface="Calibri" pitchFamily="34" charset="0"/>
                <a:ea typeface="Calibri" pitchFamily="34" charset="-122"/>
                <a:cs typeface="Calibri" pitchFamily="34" charset="-120"/>
              </a:rPr>
              <a:t>I-765 is (Application for Employment Authorization), which table is certified, how “filed” is counted</a:t>
            </a:r>
            <a:endParaRPr lang="en-US" sz="1000" dirty="0"/>
          </a:p>
        </p:txBody>
      </p:sp>
      <p:sp>
        <p:nvSpPr>
          <p:cNvPr id="11" name="Shape 9"/>
          <p:cNvSpPr/>
          <p:nvPr/>
        </p:nvSpPr>
        <p:spPr>
          <a:xfrm>
            <a:off x="4526280" y="2487168"/>
            <a:ext cx="182880" cy="201168"/>
          </a:xfrm>
          <a:prstGeom prst="rightArrow">
            <a:avLst/>
          </a:prstGeom>
          <a:solidFill>
            <a:srgbClr val="4F81BD"/>
          </a:solidFill>
          <a:ln/>
        </p:spPr>
        <p:txBody>
          <a:bodyPr/>
          <a:lstStyle/>
          <a:p>
            <a:endParaRPr lang="en-US"/>
          </a:p>
        </p:txBody>
      </p:sp>
      <p:sp>
        <p:nvSpPr>
          <p:cNvPr id="12" name="Shape 10"/>
          <p:cNvSpPr/>
          <p:nvPr/>
        </p:nvSpPr>
        <p:spPr>
          <a:xfrm>
            <a:off x="4718304" y="1783080"/>
            <a:ext cx="1920240" cy="1600200"/>
          </a:xfrm>
          <a:prstGeom prst="roundRect">
            <a:avLst>
              <a:gd name="adj" fmla="val 3429"/>
            </a:avLst>
          </a:prstGeom>
          <a:solidFill>
            <a:srgbClr val="EEF3FA"/>
          </a:solidFill>
          <a:ln w="9525">
            <a:solidFill>
              <a:srgbClr val="4F81BD"/>
            </a:solidFill>
            <a:prstDash val="solid"/>
          </a:ln>
        </p:spPr>
        <p:txBody>
          <a:bodyPr/>
          <a:lstStyle/>
          <a:p>
            <a:endParaRPr lang="en-US"/>
          </a:p>
        </p:txBody>
      </p:sp>
      <p:sp>
        <p:nvSpPr>
          <p:cNvPr id="13" name="Text 11"/>
          <p:cNvSpPr/>
          <p:nvPr/>
        </p:nvSpPr>
        <p:spPr>
          <a:xfrm>
            <a:off x="4828032" y="1856232"/>
            <a:ext cx="1737360" cy="274320"/>
          </a:xfrm>
          <a:prstGeom prst="rect">
            <a:avLst/>
          </a:prstGeom>
          <a:noFill/>
          <a:ln/>
        </p:spPr>
        <p:txBody>
          <a:bodyPr wrap="square" lIns="0" tIns="0" rIns="0" bIns="0" rtlCol="0" anchor="ctr"/>
          <a:lstStyle/>
          <a:p>
            <a:pPr marL="0" indent="0">
              <a:buNone/>
            </a:pPr>
            <a:r>
              <a:rPr lang="en-US" sz="1250" b="1" dirty="0">
                <a:solidFill>
                  <a:srgbClr val="1F497D"/>
                </a:solidFill>
                <a:latin typeface="Calibri" pitchFamily="34" charset="0"/>
                <a:ea typeface="Calibri" pitchFamily="34" charset="-122"/>
                <a:cs typeface="Calibri" pitchFamily="34" charset="-120"/>
              </a:rPr>
              <a:t>3. SQL</a:t>
            </a:r>
            <a:endParaRPr lang="en-US" sz="1250" dirty="0"/>
          </a:p>
        </p:txBody>
      </p:sp>
      <p:sp>
        <p:nvSpPr>
          <p:cNvPr id="14" name="Text 12"/>
          <p:cNvSpPr/>
          <p:nvPr/>
        </p:nvSpPr>
        <p:spPr>
          <a:xfrm>
            <a:off x="4828032" y="2157984"/>
            <a:ext cx="1700784" cy="11430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Writes a query against governed Unity Catalog tables — only data the user may see</a:t>
            </a:r>
            <a:endParaRPr lang="en-US" sz="1000" dirty="0"/>
          </a:p>
        </p:txBody>
      </p:sp>
      <p:sp>
        <p:nvSpPr>
          <p:cNvPr id="15" name="Shape 13"/>
          <p:cNvSpPr/>
          <p:nvPr/>
        </p:nvSpPr>
        <p:spPr>
          <a:xfrm>
            <a:off x="6656832" y="2487168"/>
            <a:ext cx="182880" cy="201168"/>
          </a:xfrm>
          <a:prstGeom prst="rightArrow">
            <a:avLst/>
          </a:prstGeom>
          <a:solidFill>
            <a:srgbClr val="4F81BD"/>
          </a:solidFill>
          <a:ln/>
        </p:spPr>
        <p:txBody>
          <a:bodyPr/>
          <a:lstStyle/>
          <a:p>
            <a:endParaRPr lang="en-US"/>
          </a:p>
        </p:txBody>
      </p:sp>
      <p:sp>
        <p:nvSpPr>
          <p:cNvPr id="16" name="Shape 14"/>
          <p:cNvSpPr/>
          <p:nvPr/>
        </p:nvSpPr>
        <p:spPr>
          <a:xfrm>
            <a:off x="6848856" y="1783080"/>
            <a:ext cx="1920240" cy="1600200"/>
          </a:xfrm>
          <a:prstGeom prst="roundRect">
            <a:avLst>
              <a:gd name="adj" fmla="val 3429"/>
            </a:avLst>
          </a:prstGeom>
          <a:solidFill>
            <a:srgbClr val="DCE6F1"/>
          </a:solidFill>
          <a:ln w="9525">
            <a:solidFill>
              <a:srgbClr val="4F81BD"/>
            </a:solidFill>
            <a:prstDash val="solid"/>
          </a:ln>
        </p:spPr>
        <p:txBody>
          <a:bodyPr/>
          <a:lstStyle/>
          <a:p>
            <a:endParaRPr lang="en-US"/>
          </a:p>
        </p:txBody>
      </p:sp>
      <p:sp>
        <p:nvSpPr>
          <p:cNvPr id="17" name="Text 15"/>
          <p:cNvSpPr/>
          <p:nvPr/>
        </p:nvSpPr>
        <p:spPr>
          <a:xfrm>
            <a:off x="6958584" y="1856232"/>
            <a:ext cx="1737360" cy="274320"/>
          </a:xfrm>
          <a:prstGeom prst="rect">
            <a:avLst/>
          </a:prstGeom>
          <a:noFill/>
          <a:ln/>
        </p:spPr>
        <p:txBody>
          <a:bodyPr wrap="square" lIns="0" tIns="0" rIns="0" bIns="0" rtlCol="0" anchor="ctr"/>
          <a:lstStyle/>
          <a:p>
            <a:pPr marL="0" indent="0">
              <a:buNone/>
            </a:pPr>
            <a:r>
              <a:rPr lang="en-US" sz="1250" b="1" dirty="0">
                <a:solidFill>
                  <a:srgbClr val="1F497D"/>
                </a:solidFill>
                <a:latin typeface="Calibri" pitchFamily="34" charset="0"/>
                <a:ea typeface="Calibri" pitchFamily="34" charset="-122"/>
                <a:cs typeface="Calibri" pitchFamily="34" charset="-120"/>
              </a:rPr>
              <a:t>4. Answer + proof</a:t>
            </a:r>
            <a:endParaRPr lang="en-US" sz="1250" dirty="0"/>
          </a:p>
        </p:txBody>
      </p:sp>
      <p:sp>
        <p:nvSpPr>
          <p:cNvPr id="18" name="Text 16"/>
          <p:cNvSpPr/>
          <p:nvPr/>
        </p:nvSpPr>
        <p:spPr>
          <a:xfrm>
            <a:off x="6958584" y="2157984"/>
            <a:ext cx="1700784" cy="11430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Result, chart, the SQL it ran, and the source tables — every number traceable</a:t>
            </a:r>
            <a:endParaRPr lang="en-US" sz="1000" dirty="0"/>
          </a:p>
        </p:txBody>
      </p:sp>
      <p:sp>
        <p:nvSpPr>
          <p:cNvPr id="19" name="Shape 17"/>
          <p:cNvSpPr/>
          <p:nvPr/>
        </p:nvSpPr>
        <p:spPr>
          <a:xfrm>
            <a:off x="457200" y="3657600"/>
            <a:ext cx="8229600" cy="960120"/>
          </a:xfrm>
          <a:prstGeom prst="roundRect">
            <a:avLst>
              <a:gd name="adj" fmla="val 5714"/>
            </a:avLst>
          </a:prstGeom>
          <a:solidFill>
            <a:srgbClr val="16365C"/>
          </a:solidFill>
          <a:ln/>
        </p:spPr>
        <p:txBody>
          <a:bodyPr/>
          <a:lstStyle/>
          <a:p>
            <a:endParaRPr lang="en-US"/>
          </a:p>
        </p:txBody>
      </p:sp>
      <p:sp>
        <p:nvSpPr>
          <p:cNvPr id="20" name="Text 18"/>
          <p:cNvSpPr/>
          <p:nvPr/>
        </p:nvSpPr>
        <p:spPr>
          <a:xfrm>
            <a:off x="640080" y="3657600"/>
            <a:ext cx="7863840" cy="960120"/>
          </a:xfrm>
          <a:prstGeom prst="rect">
            <a:avLst/>
          </a:prstGeom>
          <a:noFill/>
          <a:ln/>
        </p:spPr>
        <p:txBody>
          <a:bodyPr wrap="square" lIns="0" tIns="0" rIns="0" bIns="0" rtlCol="0" anchor="ctr"/>
          <a:lstStyle/>
          <a:p>
            <a:pPr marL="0" indent="0">
              <a:buNone/>
            </a:pPr>
            <a:r>
              <a:rPr lang="en-US" sz="1150" b="1" dirty="0">
                <a:solidFill>
                  <a:srgbClr val="9FD09F"/>
                </a:solidFill>
                <a:latin typeface="Calibri" pitchFamily="34" charset="0"/>
                <a:ea typeface="Calibri" pitchFamily="34" charset="-122"/>
                <a:cs typeface="Calibri" pitchFamily="34" charset="-120"/>
              </a:rPr>
              <a:t>Answered with a verified query ✓   </a:t>
            </a:r>
            <a:r>
              <a:rPr lang="en-US" sz="1150" dirty="0">
                <a:solidFill>
                  <a:srgbClr val="FFFFFF"/>
                </a:solidFill>
                <a:latin typeface="Calibri" pitchFamily="34" charset="0"/>
                <a:ea typeface="Calibri" pitchFamily="34" charset="-122"/>
                <a:cs typeface="Calibri" pitchFamily="34" charset="-120"/>
              </a:rPr>
              <a:t>We could even set it up to where when an answer comes from a query our team pre-approved (a “trusted asset”), Genie labels it verified. Generated answers are labeled, too. Therefore, users would always know which kind of answer they got.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Genie Code: the AI Assistant for Our Engineers</a:t>
            </a:r>
            <a:endParaRPr lang="en-US" sz="2500" dirty="0"/>
          </a:p>
        </p:txBody>
      </p:sp>
      <p:sp>
        <p:nvSpPr>
          <p:cNvPr id="3" name="Shape 1"/>
          <p:cNvSpPr/>
          <p:nvPr/>
        </p:nvSpPr>
        <p:spPr>
          <a:xfrm>
            <a:off x="457200" y="1298448"/>
            <a:ext cx="4846320" cy="3291840"/>
          </a:xfrm>
          <a:prstGeom prst="roundRect">
            <a:avLst>
              <a:gd name="adj" fmla="val 1667"/>
            </a:avLst>
          </a:prstGeom>
          <a:solidFill>
            <a:srgbClr val="F4F6F9"/>
          </a:solidFill>
          <a:ln w="9525">
            <a:solidFill>
              <a:srgbClr val="4F81BD"/>
            </a:solidFill>
            <a:prstDash val="solid"/>
          </a:ln>
        </p:spPr>
        <p:txBody>
          <a:bodyPr/>
          <a:lstStyle/>
          <a:p>
            <a:endParaRPr lang="en-US"/>
          </a:p>
        </p:txBody>
      </p:sp>
      <p:sp>
        <p:nvSpPr>
          <p:cNvPr id="4" name="Shape 2"/>
          <p:cNvSpPr/>
          <p:nvPr/>
        </p:nvSpPr>
        <p:spPr>
          <a:xfrm>
            <a:off x="457200" y="1298448"/>
            <a:ext cx="4846320" cy="310896"/>
          </a:xfrm>
          <a:prstGeom prst="roundRect">
            <a:avLst>
              <a:gd name="adj" fmla="val 17647"/>
            </a:avLst>
          </a:prstGeom>
          <a:solidFill>
            <a:srgbClr val="16365C"/>
          </a:solidFill>
          <a:ln/>
        </p:spPr>
        <p:txBody>
          <a:bodyPr/>
          <a:lstStyle/>
          <a:p>
            <a:endParaRPr lang="en-US"/>
          </a:p>
        </p:txBody>
      </p:sp>
      <p:sp>
        <p:nvSpPr>
          <p:cNvPr id="5" name="Text 3"/>
          <p:cNvSpPr/>
          <p:nvPr/>
        </p:nvSpPr>
        <p:spPr>
          <a:xfrm>
            <a:off x="566928" y="1298448"/>
            <a:ext cx="4572000" cy="310896"/>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Databricks Notebook — pipeline_i765_monthly</a:t>
            </a:r>
            <a:endParaRPr lang="en-US" sz="950" dirty="0"/>
          </a:p>
        </p:txBody>
      </p:sp>
      <p:sp>
        <p:nvSpPr>
          <p:cNvPr id="6" name="Text 4"/>
          <p:cNvSpPr/>
          <p:nvPr/>
        </p:nvSpPr>
        <p:spPr>
          <a:xfrm>
            <a:off x="621792" y="1737360"/>
            <a:ext cx="4526280" cy="1554480"/>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You:  </a:t>
            </a:r>
            <a:r>
              <a:rPr lang="en-US" sz="1100" dirty="0">
                <a:solidFill>
                  <a:srgbClr val="1A1A1A"/>
                </a:solidFill>
                <a:latin typeface="Calibri" pitchFamily="34" charset="0"/>
                <a:ea typeface="Calibri" pitchFamily="34" charset="-122"/>
                <a:cs typeface="Calibri" pitchFamily="34" charset="-120"/>
              </a:rPr>
              <a:t>“Why did last night’s </a:t>
            </a:r>
            <a:r>
              <a:rPr lang="en-US" sz="1100" dirty="0" err="1">
                <a:solidFill>
                  <a:srgbClr val="1A1A1A"/>
                </a:solidFill>
                <a:latin typeface="Calibri" pitchFamily="34" charset="0"/>
                <a:ea typeface="Calibri" pitchFamily="34" charset="-122"/>
                <a:cs typeface="Calibri" pitchFamily="34" charset="-120"/>
              </a:rPr>
              <a:t>completions_data</a:t>
            </a:r>
            <a:r>
              <a:rPr lang="en-US" sz="1100" dirty="0">
                <a:solidFill>
                  <a:srgbClr val="1A1A1A"/>
                </a:solidFill>
                <a:latin typeface="Calibri" pitchFamily="34" charset="0"/>
                <a:ea typeface="Calibri" pitchFamily="34" charset="-122"/>
                <a:cs typeface="Calibri" pitchFamily="34" charset="-120"/>
              </a:rPr>
              <a:t> load fail?”</a:t>
            </a:r>
            <a:endParaRPr lang="en-US" sz="1100" dirty="0"/>
          </a:p>
          <a:p>
            <a:pPr marL="0" indent="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4E7B3A"/>
                </a:solidFill>
                <a:latin typeface="Calibri" pitchFamily="34" charset="0"/>
                <a:ea typeface="Calibri" pitchFamily="34" charset="-122"/>
                <a:cs typeface="Calibri" pitchFamily="34" charset="-120"/>
              </a:rPr>
              <a:t>Genie Code:  </a:t>
            </a:r>
            <a:r>
              <a:rPr lang="en-US" sz="1100" dirty="0">
                <a:solidFill>
                  <a:srgbClr val="1A1A1A"/>
                </a:solidFill>
                <a:latin typeface="Calibri" pitchFamily="34" charset="0"/>
                <a:ea typeface="Calibri" pitchFamily="34" charset="-122"/>
                <a:cs typeface="Calibri" pitchFamily="34" charset="-120"/>
              </a:rPr>
              <a:t>The join on receipt_number failed — the source added a new NULL-heavy column on 7/28. Here is the one-line fix, and a test to catch it next time.</a:t>
            </a:r>
            <a:endParaRPr lang="en-US" sz="1100" dirty="0"/>
          </a:p>
        </p:txBody>
      </p:sp>
      <p:sp>
        <p:nvSpPr>
          <p:cNvPr id="7" name="Shape 5"/>
          <p:cNvSpPr/>
          <p:nvPr/>
        </p:nvSpPr>
        <p:spPr>
          <a:xfrm>
            <a:off x="621792" y="3291840"/>
            <a:ext cx="4480560" cy="1097280"/>
          </a:xfrm>
          <a:prstGeom prst="rect">
            <a:avLst/>
          </a:prstGeom>
          <a:solidFill>
            <a:srgbClr val="2B2B2B"/>
          </a:solidFill>
          <a:ln/>
        </p:spPr>
        <p:txBody>
          <a:bodyPr/>
          <a:lstStyle/>
          <a:p>
            <a:endParaRPr lang="en-US"/>
          </a:p>
        </p:txBody>
      </p:sp>
      <p:sp>
        <p:nvSpPr>
          <p:cNvPr id="8" name="Text 6"/>
          <p:cNvSpPr/>
          <p:nvPr/>
        </p:nvSpPr>
        <p:spPr>
          <a:xfrm>
            <a:off x="731520" y="3346704"/>
            <a:ext cx="4297680" cy="1005840"/>
          </a:xfrm>
          <a:prstGeom prst="rect">
            <a:avLst/>
          </a:prstGeom>
          <a:noFill/>
          <a:ln/>
        </p:spPr>
        <p:txBody>
          <a:bodyPr wrap="square" lIns="0" tIns="0" rIns="0" bIns="0" rtlCol="0" anchor="ctr"/>
          <a:lstStyle/>
          <a:p>
            <a:pPr marL="0" indent="0">
              <a:buNone/>
            </a:pPr>
            <a:r>
              <a:rPr lang="en-US" sz="950" dirty="0">
                <a:solidFill>
                  <a:srgbClr val="9FD09F"/>
                </a:solidFill>
                <a:latin typeface="Courier New" pitchFamily="34" charset="0"/>
                <a:ea typeface="Courier New" pitchFamily="34" charset="-122"/>
                <a:cs typeface="Courier New" pitchFamily="34" charset="-120"/>
              </a:rPr>
              <a:t>df = df.withColumn("receipt_number",</a:t>
            </a:r>
            <a:endParaRPr lang="en-US" sz="950" dirty="0"/>
          </a:p>
          <a:p>
            <a:pPr marL="0" indent="0">
              <a:buNone/>
            </a:pPr>
            <a:r>
              <a:rPr lang="en-US" sz="950" dirty="0">
                <a:solidFill>
                  <a:srgbClr val="9FD09F"/>
                </a:solidFill>
                <a:latin typeface="Courier New" pitchFamily="34" charset="0"/>
                <a:ea typeface="Courier New" pitchFamily="34" charset="-122"/>
                <a:cs typeface="Courier New" pitchFamily="34" charset="-120"/>
              </a:rPr>
              <a:t>     trim(col("receipt_number")))</a:t>
            </a:r>
            <a:endParaRPr lang="en-US" sz="950" dirty="0"/>
          </a:p>
          <a:p>
            <a:pPr marL="0" indent="0">
              <a:buNone/>
            </a:pPr>
            <a:r>
              <a:rPr lang="en-US" sz="950" dirty="0">
                <a:solidFill>
                  <a:srgbClr val="9FD09F"/>
                </a:solidFill>
                <a:latin typeface="Courier New" pitchFamily="34" charset="0"/>
                <a:ea typeface="Courier New" pitchFamily="34" charset="-122"/>
                <a:cs typeface="Courier New" pitchFamily="34" charset="-120"/>
              </a:rPr>
              <a:t># suggested fix + unit test generated</a:t>
            </a:r>
            <a:endParaRPr lang="en-US" sz="950" dirty="0"/>
          </a:p>
        </p:txBody>
      </p:sp>
      <p:sp>
        <p:nvSpPr>
          <p:cNvPr id="9" name="Text 7"/>
          <p:cNvSpPr/>
          <p:nvPr/>
        </p:nvSpPr>
        <p:spPr>
          <a:xfrm>
            <a:off x="5577840" y="1371600"/>
            <a:ext cx="3017520" cy="292608"/>
          </a:xfrm>
          <a:prstGeom prst="rect">
            <a:avLst/>
          </a:prstGeom>
          <a:noFill/>
          <a:ln/>
        </p:spPr>
        <p:txBody>
          <a:bodyPr wrap="square" lIns="0" tIns="0" rIns="0" bIns="0" rtlCol="0" anchor="ctr"/>
          <a:lstStyle/>
          <a:p>
            <a:pPr marL="0" indent="0">
              <a:buNone/>
            </a:pPr>
            <a:r>
              <a:rPr lang="en-US" sz="1300" b="1" dirty="0">
                <a:solidFill>
                  <a:srgbClr val="1F497D"/>
                </a:solidFill>
                <a:latin typeface="Calibri" pitchFamily="34" charset="0"/>
                <a:ea typeface="Calibri" pitchFamily="34" charset="-122"/>
                <a:cs typeface="Calibri" pitchFamily="34" charset="-120"/>
              </a:rPr>
              <a:t>What engineers will use it for</a:t>
            </a:r>
            <a:endParaRPr lang="en-US" sz="1300" dirty="0"/>
          </a:p>
        </p:txBody>
      </p:sp>
      <p:sp>
        <p:nvSpPr>
          <p:cNvPr id="10" name="Text 8"/>
          <p:cNvSpPr/>
          <p:nvPr/>
        </p:nvSpPr>
        <p:spPr>
          <a:xfrm>
            <a:off x="5577840" y="1700784"/>
            <a:ext cx="3063240" cy="3017520"/>
          </a:xfrm>
          <a:prstGeom prst="rect">
            <a:avLst/>
          </a:prstGeom>
          <a:noFill/>
          <a:ln/>
        </p:spPr>
        <p:txBody>
          <a:bodyPr wrap="square" lIns="0" tIns="0" rIns="0" bIns="0" rtlCol="0" anchor="t"/>
          <a:lstStyle/>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Write &amp; explain SQL and Python in place</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Diagnose failed jobs and error messages</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One-click “Quick Fix” for broken code</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Build pipelines, dashboards and other products at a faster rate</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Review code written by the engineers with recommendations</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Respects Unity Catalog permissions — it sees only what the engineer can see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Why Our Data Science &amp; Engineering Teams Need These Tools</a:t>
            </a:r>
            <a:endParaRPr lang="en-US" sz="2500" dirty="0"/>
          </a:p>
        </p:txBody>
      </p:sp>
      <p:sp>
        <p:nvSpPr>
          <p:cNvPr id="3" name="Shape 1"/>
          <p:cNvSpPr/>
          <p:nvPr/>
        </p:nvSpPr>
        <p:spPr>
          <a:xfrm>
            <a:off x="457200" y="1371600"/>
            <a:ext cx="4023360" cy="402336"/>
          </a:xfrm>
          <a:prstGeom prst="roundRect">
            <a:avLst>
              <a:gd name="adj" fmla="val 13636"/>
            </a:avLst>
          </a:prstGeom>
          <a:solidFill>
            <a:srgbClr val="595959"/>
          </a:solidFill>
          <a:ln/>
        </p:spPr>
        <p:txBody>
          <a:bodyPr/>
          <a:lstStyle/>
          <a:p>
            <a:endParaRPr lang="en-US"/>
          </a:p>
        </p:txBody>
      </p:sp>
      <p:sp>
        <p:nvSpPr>
          <p:cNvPr id="4" name="Text 2"/>
          <p:cNvSpPr/>
          <p:nvPr/>
        </p:nvSpPr>
        <p:spPr>
          <a:xfrm>
            <a:off x="594360" y="1371600"/>
            <a:ext cx="374904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Today, without them</a:t>
            </a:r>
            <a:endParaRPr lang="en-US" sz="1300" dirty="0"/>
          </a:p>
        </p:txBody>
      </p:sp>
      <p:sp>
        <p:nvSpPr>
          <p:cNvPr id="5" name="Shape 3"/>
          <p:cNvSpPr/>
          <p:nvPr/>
        </p:nvSpPr>
        <p:spPr>
          <a:xfrm>
            <a:off x="457200" y="1773936"/>
            <a:ext cx="4023360" cy="2286000"/>
          </a:xfrm>
          <a:prstGeom prst="roundRect">
            <a:avLst>
              <a:gd name="adj" fmla="val 2400"/>
            </a:avLst>
          </a:prstGeom>
          <a:solidFill>
            <a:srgbClr val="EEF3FA"/>
          </a:solidFill>
          <a:ln w="9525">
            <a:solidFill>
              <a:srgbClr val="DCE6F1"/>
            </a:solidFill>
            <a:prstDash val="solid"/>
          </a:ln>
        </p:spPr>
        <p:txBody>
          <a:bodyPr/>
          <a:lstStyle/>
          <a:p>
            <a:endParaRPr lang="en-US"/>
          </a:p>
        </p:txBody>
      </p:sp>
      <p:sp>
        <p:nvSpPr>
          <p:cNvPr id="6" name="Text 4"/>
          <p:cNvSpPr/>
          <p:nvPr/>
        </p:nvSpPr>
        <p:spPr>
          <a:xfrm>
            <a:off x="621792" y="1920240"/>
            <a:ext cx="3703320" cy="2103120"/>
          </a:xfrm>
          <a:prstGeom prst="rect">
            <a:avLst/>
          </a:prstGeom>
          <a:noFill/>
          <a:ln/>
        </p:spPr>
        <p:txBody>
          <a:bodyPr wrap="square" lIns="0" tIns="0" rIns="0" bIns="0" rtlCol="0" anchor="t"/>
          <a:lstStyle/>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Every leadership question becomes a ticket</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Answers take too long; context lives in a few experts' heads</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Engineers spend hours on boilerplate SQL and debugging</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Data issues found after a dashboard breaks or a job run fails</a:t>
            </a:r>
            <a:endParaRPr lang="en-US" sz="1100" dirty="0"/>
          </a:p>
        </p:txBody>
      </p:sp>
      <p:sp>
        <p:nvSpPr>
          <p:cNvPr id="7" name="Shape 5"/>
          <p:cNvSpPr/>
          <p:nvPr/>
        </p:nvSpPr>
        <p:spPr>
          <a:xfrm>
            <a:off x="4709160" y="1371600"/>
            <a:ext cx="4023360" cy="402336"/>
          </a:xfrm>
          <a:prstGeom prst="roundRect">
            <a:avLst>
              <a:gd name="adj" fmla="val 13636"/>
            </a:avLst>
          </a:prstGeom>
          <a:solidFill>
            <a:srgbClr val="1F497D"/>
          </a:solidFill>
          <a:ln/>
        </p:spPr>
        <p:txBody>
          <a:bodyPr/>
          <a:lstStyle/>
          <a:p>
            <a:endParaRPr lang="en-US"/>
          </a:p>
        </p:txBody>
      </p:sp>
      <p:sp>
        <p:nvSpPr>
          <p:cNvPr id="8" name="Text 6"/>
          <p:cNvSpPr/>
          <p:nvPr/>
        </p:nvSpPr>
        <p:spPr>
          <a:xfrm>
            <a:off x="4846320" y="1371600"/>
            <a:ext cx="374904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With Genie Agents + Genie Code</a:t>
            </a:r>
            <a:endParaRPr lang="en-US" sz="1300" dirty="0"/>
          </a:p>
        </p:txBody>
      </p:sp>
      <p:sp>
        <p:nvSpPr>
          <p:cNvPr id="9" name="Shape 7"/>
          <p:cNvSpPr/>
          <p:nvPr/>
        </p:nvSpPr>
        <p:spPr>
          <a:xfrm>
            <a:off x="4709160" y="1773936"/>
            <a:ext cx="4023360" cy="2286000"/>
          </a:xfrm>
          <a:prstGeom prst="roundRect">
            <a:avLst>
              <a:gd name="adj" fmla="val 2400"/>
            </a:avLst>
          </a:prstGeom>
          <a:solidFill>
            <a:srgbClr val="EEF3FA"/>
          </a:solidFill>
          <a:ln w="9525">
            <a:solidFill>
              <a:srgbClr val="DCE6F1"/>
            </a:solidFill>
            <a:prstDash val="solid"/>
          </a:ln>
        </p:spPr>
        <p:txBody>
          <a:bodyPr/>
          <a:lstStyle/>
          <a:p>
            <a:endParaRPr lang="en-US"/>
          </a:p>
        </p:txBody>
      </p:sp>
      <p:sp>
        <p:nvSpPr>
          <p:cNvPr id="10" name="Text 8"/>
          <p:cNvSpPr/>
          <p:nvPr/>
        </p:nvSpPr>
        <p:spPr>
          <a:xfrm>
            <a:off x="4873752" y="1920240"/>
            <a:ext cx="3703320" cy="2103120"/>
          </a:xfrm>
          <a:prstGeom prst="rect">
            <a:avLst/>
          </a:prstGeom>
          <a:noFill/>
          <a:ln/>
        </p:spPr>
        <p:txBody>
          <a:bodyPr wrap="square" lIns="0" tIns="0" rIns="0" bIns="0" rtlCol="0" anchor="t"/>
          <a:lstStyle/>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Program offices self-serve routine metric questions in seconds</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Engineers focus on pipelines and models, not ad-hoc lookup requests</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Debugging and code review accelerated in place</a:t>
            </a:r>
            <a:endParaRPr lang="en-US" sz="1100" dirty="0"/>
          </a:p>
          <a:p>
            <a:pPr marL="127000" indent="-127000" algn="l">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Alerts and checks catch issues before downstream breakage</a:t>
            </a:r>
            <a:endParaRPr lang="en-US" sz="1100" dirty="0"/>
          </a:p>
        </p:txBody>
      </p:sp>
      <p:sp>
        <p:nvSpPr>
          <p:cNvPr id="11" name="Shape 9"/>
          <p:cNvSpPr/>
          <p:nvPr/>
        </p:nvSpPr>
        <p:spPr>
          <a:xfrm>
            <a:off x="457200" y="4224528"/>
            <a:ext cx="8229600" cy="502920"/>
          </a:xfrm>
          <a:prstGeom prst="roundRect">
            <a:avLst>
              <a:gd name="adj" fmla="val 10909"/>
            </a:avLst>
          </a:prstGeom>
          <a:solidFill>
            <a:srgbClr val="DCE6F1"/>
          </a:solidFill>
          <a:ln/>
        </p:spPr>
        <p:txBody>
          <a:bodyPr/>
          <a:lstStyle/>
          <a:p>
            <a:endParaRPr lang="en-US"/>
          </a:p>
        </p:txBody>
      </p:sp>
      <p:sp>
        <p:nvSpPr>
          <p:cNvPr id="12" name="Text 10"/>
          <p:cNvSpPr/>
          <p:nvPr/>
        </p:nvSpPr>
        <p:spPr>
          <a:xfrm>
            <a:off x="621792" y="4224528"/>
            <a:ext cx="7900416" cy="502920"/>
          </a:xfrm>
          <a:prstGeom prst="rect">
            <a:avLst/>
          </a:prstGeom>
          <a:noFill/>
          <a:ln/>
        </p:spPr>
        <p:txBody>
          <a:bodyPr wrap="square" lIns="0" tIns="0" rIns="0" bIns="0" rtlCol="0" anchor="ctr"/>
          <a:lstStyle/>
          <a:p>
            <a:pPr marL="0" indent="0">
              <a:buNone/>
            </a:pPr>
            <a:r>
              <a:rPr lang="en-US" sz="1050" b="1" dirty="0">
                <a:solidFill>
                  <a:srgbClr val="1F497D"/>
                </a:solidFill>
                <a:latin typeface="Calibri" pitchFamily="34" charset="0"/>
                <a:ea typeface="Calibri" pitchFamily="34" charset="-122"/>
                <a:cs typeface="Calibri" pitchFamily="34" charset="-120"/>
              </a:rPr>
              <a:t>Databricks own benchmark: </a:t>
            </a:r>
            <a:r>
              <a:rPr lang="en-US" sz="1050" dirty="0">
                <a:solidFill>
                  <a:srgbClr val="1A1A1A"/>
                </a:solidFill>
                <a:latin typeface="Calibri" pitchFamily="34" charset="0"/>
                <a:ea typeface="Calibri" pitchFamily="34" charset="-122"/>
                <a:cs typeface="Calibri" pitchFamily="34" charset="-120"/>
              </a:rPr>
              <a:t>Genie answered 84.5% of real-world data questions correctly on the first attempt vs 52.4% for the strongest general-purpose coding agent (vendor-internal, 28-question suite).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Guaranteeing Accuracy With the Context Layer</a:t>
            </a:r>
            <a:endParaRPr lang="en-US" sz="2500" dirty="0"/>
          </a:p>
        </p:txBody>
      </p:sp>
      <p:sp>
        <p:nvSpPr>
          <p:cNvPr id="3" name="Text 1"/>
          <p:cNvSpPr/>
          <p:nvPr/>
        </p:nvSpPr>
        <p:spPr>
          <a:xfrm>
            <a:off x="457200" y="1243584"/>
            <a:ext cx="8229600" cy="292608"/>
          </a:xfrm>
          <a:prstGeom prst="rect">
            <a:avLst/>
          </a:prstGeom>
          <a:noFill/>
          <a:ln/>
        </p:spPr>
        <p:txBody>
          <a:bodyPr wrap="square" lIns="0" tIns="0" rIns="0" bIns="0"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The agent already speaks English and SQL. It does not know USCIS-specific language, acronyms &amp; calculations. </a:t>
            </a:r>
          </a:p>
          <a:p>
            <a:pPr marL="0" indent="0">
              <a:buNone/>
            </a:pPr>
            <a:r>
              <a:rPr lang="en-US" sz="1200" i="1" dirty="0">
                <a:solidFill>
                  <a:srgbClr val="595959"/>
                </a:solidFill>
                <a:latin typeface="Calibri" pitchFamily="34" charset="0"/>
                <a:ea typeface="Calibri" pitchFamily="34" charset="-122"/>
                <a:cs typeface="Calibri" pitchFamily="34" charset="-120"/>
              </a:rPr>
              <a:t>The context layer teaches it from the sources we already govern.</a:t>
            </a:r>
            <a:endParaRPr lang="en-US" sz="1200" dirty="0"/>
          </a:p>
        </p:txBody>
      </p:sp>
      <p:sp>
        <p:nvSpPr>
          <p:cNvPr id="4" name="Shape 2"/>
          <p:cNvSpPr/>
          <p:nvPr/>
        </p:nvSpPr>
        <p:spPr>
          <a:xfrm>
            <a:off x="457200" y="1645920"/>
            <a:ext cx="2514600" cy="3017520"/>
          </a:xfrm>
          <a:prstGeom prst="roundRect">
            <a:avLst>
              <a:gd name="adj" fmla="val 2182"/>
            </a:avLst>
          </a:prstGeom>
          <a:solidFill>
            <a:srgbClr val="EEF3FA"/>
          </a:solidFill>
          <a:ln w="9525">
            <a:solidFill>
              <a:srgbClr val="4F81BD"/>
            </a:solidFill>
            <a:prstDash val="solid"/>
          </a:ln>
        </p:spPr>
        <p:txBody>
          <a:bodyPr/>
          <a:lstStyle/>
          <a:p>
            <a:endParaRPr lang="en-US"/>
          </a:p>
        </p:txBody>
      </p:sp>
      <p:sp>
        <p:nvSpPr>
          <p:cNvPr id="5" name="Text 3"/>
          <p:cNvSpPr/>
          <p:nvPr/>
        </p:nvSpPr>
        <p:spPr>
          <a:xfrm>
            <a:off x="594360" y="1737360"/>
            <a:ext cx="2286000" cy="292608"/>
          </a:xfrm>
          <a:prstGeom prst="rect">
            <a:avLst/>
          </a:prstGeom>
          <a:noFill/>
          <a:ln/>
        </p:spPr>
        <p:txBody>
          <a:bodyPr wrap="square" lIns="0" tIns="0" rIns="0" bIns="0" rtlCol="0" anchor="ctr"/>
          <a:lstStyle/>
          <a:p>
            <a:pPr marL="0" indent="0">
              <a:buNone/>
            </a:pPr>
            <a:r>
              <a:rPr lang="en-US" sz="1250" b="1" dirty="0">
                <a:solidFill>
                  <a:srgbClr val="1F497D"/>
                </a:solidFill>
                <a:latin typeface="Calibri" pitchFamily="34" charset="0"/>
                <a:ea typeface="Calibri" pitchFamily="34" charset="-122"/>
                <a:cs typeface="Calibri" pitchFamily="34" charset="-120"/>
              </a:rPr>
              <a:t>What we already have</a:t>
            </a:r>
            <a:endParaRPr lang="en-US" sz="1250" dirty="0"/>
          </a:p>
        </p:txBody>
      </p:sp>
      <p:sp>
        <p:nvSpPr>
          <p:cNvPr id="6" name="Text 4"/>
          <p:cNvSpPr/>
          <p:nvPr/>
        </p:nvSpPr>
        <p:spPr>
          <a:xfrm>
            <a:off x="594360" y="2066544"/>
            <a:ext cx="2286000" cy="2468880"/>
          </a:xfrm>
          <a:prstGeom prst="rect">
            <a:avLst/>
          </a:prstGeom>
          <a:noFill/>
          <a:ln/>
        </p:spPr>
        <p:txBody>
          <a:bodyPr wrap="square" lIns="0" tIns="0" rIns="0" bIns="0" rtlCol="0" anchor="t"/>
          <a:lstStyle/>
          <a:p>
            <a:pPr marL="127000" indent="-127000" algn="l">
              <a:spcAft>
                <a:spcPts val="600"/>
              </a:spcAft>
              <a:buSzPct val="100000"/>
              <a:buChar char="•"/>
            </a:pPr>
            <a:r>
              <a:rPr lang="en-US" sz="1000" dirty="0">
                <a:solidFill>
                  <a:srgbClr val="1A1A1A"/>
                </a:solidFill>
                <a:latin typeface="Calibri" pitchFamily="34" charset="0"/>
                <a:ea typeface="Calibri" pitchFamily="34" charset="-122"/>
                <a:cs typeface="Calibri" pitchFamily="34" charset="-120"/>
              </a:rPr>
              <a:t>Collibra: acronyms, form types (I-765 = Employment Authorization), system info</a:t>
            </a:r>
            <a:endParaRPr lang="en-US" sz="1000" dirty="0"/>
          </a:p>
          <a:p>
            <a:pPr marL="127000" indent="-127000" algn="l">
              <a:spcAft>
                <a:spcPts val="600"/>
              </a:spcAft>
              <a:buSzPct val="100000"/>
              <a:buChar char="•"/>
            </a:pPr>
            <a:r>
              <a:rPr lang="en-US" sz="1000" dirty="0">
                <a:solidFill>
                  <a:srgbClr val="1A1A1A"/>
                </a:solidFill>
                <a:latin typeface="Calibri" pitchFamily="34" charset="0"/>
                <a:ea typeface="Calibri" pitchFamily="34" charset="-122"/>
                <a:cs typeface="Calibri" pitchFamily="34" charset="-120"/>
              </a:rPr>
              <a:t>Metric formulas: cycle time, processing time, completions calculations</a:t>
            </a:r>
            <a:endParaRPr lang="en-US" sz="1000" dirty="0"/>
          </a:p>
          <a:p>
            <a:pPr marL="127000" indent="-127000" algn="l">
              <a:spcAft>
                <a:spcPts val="600"/>
              </a:spcAft>
              <a:buSzPct val="100000"/>
              <a:buChar char="•"/>
            </a:pPr>
            <a:r>
              <a:rPr lang="en-US" sz="1000" dirty="0">
                <a:solidFill>
                  <a:srgbClr val="1A1A1A"/>
                </a:solidFill>
                <a:latin typeface="Calibri" pitchFamily="34" charset="0"/>
                <a:ea typeface="Calibri" pitchFamily="34" charset="-122"/>
                <a:cs typeface="Calibri" pitchFamily="34" charset="-120"/>
              </a:rPr>
              <a:t>Certified tables &amp; ERDs</a:t>
            </a:r>
            <a:endParaRPr lang="en-US" sz="1000" dirty="0"/>
          </a:p>
          <a:p>
            <a:pPr marL="127000" indent="-127000" algn="l">
              <a:spcAft>
                <a:spcPts val="600"/>
              </a:spcAft>
              <a:buSzPct val="100000"/>
              <a:buChar char="•"/>
            </a:pPr>
            <a:r>
              <a:rPr lang="en-US" sz="1000" dirty="0">
                <a:solidFill>
                  <a:srgbClr val="1A1A1A"/>
                </a:solidFill>
                <a:latin typeface="Calibri" pitchFamily="34" charset="0"/>
                <a:ea typeface="Calibri" pitchFamily="34" charset="-122"/>
                <a:cs typeface="Calibri" pitchFamily="34" charset="-120"/>
              </a:rPr>
              <a:t>SME knowledge of table joins</a:t>
            </a:r>
            <a:endParaRPr lang="en-US" sz="1000" dirty="0"/>
          </a:p>
        </p:txBody>
      </p:sp>
      <p:sp>
        <p:nvSpPr>
          <p:cNvPr id="7" name="Shape 5"/>
          <p:cNvSpPr/>
          <p:nvPr/>
        </p:nvSpPr>
        <p:spPr>
          <a:xfrm>
            <a:off x="3063240" y="3017520"/>
            <a:ext cx="457200" cy="201168"/>
          </a:xfrm>
          <a:prstGeom prst="rightArrow">
            <a:avLst/>
          </a:prstGeom>
          <a:solidFill>
            <a:srgbClr val="4F81BD"/>
          </a:solidFill>
          <a:ln/>
        </p:spPr>
        <p:txBody>
          <a:bodyPr/>
          <a:lstStyle/>
          <a:p>
            <a:endParaRPr lang="en-US"/>
          </a:p>
        </p:txBody>
      </p:sp>
      <p:sp>
        <p:nvSpPr>
          <p:cNvPr id="8" name="Shape 6"/>
          <p:cNvSpPr/>
          <p:nvPr/>
        </p:nvSpPr>
        <p:spPr>
          <a:xfrm>
            <a:off x="3611880" y="1645920"/>
            <a:ext cx="2834640" cy="3017520"/>
          </a:xfrm>
          <a:prstGeom prst="roundRect">
            <a:avLst>
              <a:gd name="adj" fmla="val 1935"/>
            </a:avLst>
          </a:prstGeom>
          <a:solidFill>
            <a:srgbClr val="DCE6F1"/>
          </a:solidFill>
          <a:ln w="9525">
            <a:solidFill>
              <a:srgbClr val="4F81BD"/>
            </a:solidFill>
            <a:prstDash val="solid"/>
          </a:ln>
        </p:spPr>
        <p:txBody>
          <a:bodyPr/>
          <a:lstStyle/>
          <a:p>
            <a:endParaRPr lang="en-US"/>
          </a:p>
        </p:txBody>
      </p:sp>
      <p:sp>
        <p:nvSpPr>
          <p:cNvPr id="9" name="Text 7"/>
          <p:cNvSpPr/>
          <p:nvPr/>
        </p:nvSpPr>
        <p:spPr>
          <a:xfrm>
            <a:off x="3749040" y="1737360"/>
            <a:ext cx="2560320" cy="292608"/>
          </a:xfrm>
          <a:prstGeom prst="rect">
            <a:avLst/>
          </a:prstGeom>
          <a:noFill/>
          <a:ln/>
        </p:spPr>
        <p:txBody>
          <a:bodyPr wrap="square" lIns="0" tIns="0" rIns="0" bIns="0" rtlCol="0" anchor="ctr"/>
          <a:lstStyle/>
          <a:p>
            <a:pPr marL="0" indent="0">
              <a:buNone/>
            </a:pPr>
            <a:r>
              <a:rPr lang="en-US" sz="1250" b="1" dirty="0">
                <a:solidFill>
                  <a:srgbClr val="1F497D"/>
                </a:solidFill>
                <a:latin typeface="Calibri" pitchFamily="34" charset="0"/>
                <a:ea typeface="Calibri" pitchFamily="34" charset="-122"/>
                <a:cs typeface="Calibri" pitchFamily="34" charset="-120"/>
              </a:rPr>
              <a:t>Where it goes</a:t>
            </a:r>
            <a:endParaRPr lang="en-US" sz="1250" dirty="0"/>
          </a:p>
        </p:txBody>
      </p:sp>
      <p:sp>
        <p:nvSpPr>
          <p:cNvPr id="10" name="Shape 8"/>
          <p:cNvSpPr/>
          <p:nvPr/>
        </p:nvSpPr>
        <p:spPr>
          <a:xfrm>
            <a:off x="3749040" y="2139696"/>
            <a:ext cx="274320" cy="274320"/>
          </a:xfrm>
          <a:prstGeom prst="ellipse">
            <a:avLst/>
          </a:prstGeom>
          <a:solidFill>
            <a:srgbClr val="1F497D"/>
          </a:solidFill>
          <a:ln/>
        </p:spPr>
        <p:txBody>
          <a:bodyPr/>
          <a:lstStyle/>
          <a:p>
            <a:endParaRPr lang="en-US"/>
          </a:p>
        </p:txBody>
      </p:sp>
      <p:sp>
        <p:nvSpPr>
          <p:cNvPr id="11" name="Text 9"/>
          <p:cNvSpPr/>
          <p:nvPr/>
        </p:nvSpPr>
        <p:spPr>
          <a:xfrm>
            <a:off x="3749040" y="213969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4114800" y="2060248"/>
            <a:ext cx="2240280" cy="603504"/>
          </a:xfrm>
          <a:prstGeom prst="rect">
            <a:avLst/>
          </a:prstGeom>
          <a:noFill/>
          <a:ln/>
        </p:spPr>
        <p:txBody>
          <a:bodyPr wrap="square" lIns="0" tIns="0" rIns="0" bIns="0" rtlCol="0" anchor="t"/>
          <a:lstStyle/>
          <a:p>
            <a:pPr marL="0" indent="0">
              <a:buNone/>
            </a:pPr>
            <a:endParaRPr lang="en-US" sz="950" dirty="0">
              <a:solidFill>
                <a:srgbClr val="1A1A1A"/>
              </a:solidFill>
              <a:latin typeface="Calibri" pitchFamily="34" charset="0"/>
              <a:ea typeface="Calibri" pitchFamily="34" charset="-122"/>
              <a:cs typeface="Calibri" pitchFamily="34" charset="-120"/>
            </a:endParaRPr>
          </a:p>
          <a:p>
            <a:pPr marL="0" indent="0">
              <a:buNone/>
            </a:pPr>
            <a:r>
              <a:rPr lang="en-US" sz="950" dirty="0">
                <a:solidFill>
                  <a:srgbClr val="1A1A1A"/>
                </a:solidFill>
                <a:latin typeface="Calibri" pitchFamily="34" charset="0"/>
                <a:ea typeface="Calibri" pitchFamily="34" charset="-122"/>
                <a:cs typeface="Calibri" pitchFamily="34" charset="-120"/>
              </a:rPr>
              <a:t>Table &amp; column descriptions in Unity Catalog</a:t>
            </a:r>
            <a:endParaRPr lang="en-US" sz="950" dirty="0"/>
          </a:p>
        </p:txBody>
      </p:sp>
      <p:sp>
        <p:nvSpPr>
          <p:cNvPr id="13" name="Shape 11"/>
          <p:cNvSpPr/>
          <p:nvPr/>
        </p:nvSpPr>
        <p:spPr>
          <a:xfrm>
            <a:off x="3749040" y="2761488"/>
            <a:ext cx="274320" cy="274320"/>
          </a:xfrm>
          <a:prstGeom prst="ellipse">
            <a:avLst/>
          </a:prstGeom>
          <a:solidFill>
            <a:srgbClr val="1F497D"/>
          </a:solidFill>
          <a:ln/>
        </p:spPr>
        <p:txBody>
          <a:bodyPr/>
          <a:lstStyle/>
          <a:p>
            <a:endParaRPr lang="en-US"/>
          </a:p>
        </p:txBody>
      </p:sp>
      <p:sp>
        <p:nvSpPr>
          <p:cNvPr id="14" name="Text 12"/>
          <p:cNvSpPr/>
          <p:nvPr/>
        </p:nvSpPr>
        <p:spPr>
          <a:xfrm>
            <a:off x="3749040" y="27614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4114800" y="2638944"/>
            <a:ext cx="2240280" cy="603504"/>
          </a:xfrm>
          <a:prstGeom prst="rect">
            <a:avLst/>
          </a:prstGeom>
          <a:noFill/>
          <a:ln/>
        </p:spPr>
        <p:txBody>
          <a:bodyPr wrap="square" lIns="0" tIns="0" rIns="0" bIns="0" rtlCol="0" anchor="t"/>
          <a:lstStyle/>
          <a:p>
            <a:pPr marL="0" indent="0">
              <a:buNone/>
            </a:pPr>
            <a:endParaRPr lang="en-US" sz="950" dirty="0">
              <a:solidFill>
                <a:srgbClr val="1A1A1A"/>
              </a:solidFill>
              <a:latin typeface="Calibri" pitchFamily="34" charset="0"/>
              <a:ea typeface="Calibri" pitchFamily="34" charset="-122"/>
              <a:cs typeface="Calibri" pitchFamily="34" charset="-120"/>
            </a:endParaRPr>
          </a:p>
          <a:p>
            <a:pPr marL="0" indent="0">
              <a:buNone/>
            </a:pPr>
            <a:r>
              <a:rPr lang="en-US" sz="950" dirty="0">
                <a:solidFill>
                  <a:srgbClr val="1A1A1A"/>
                </a:solidFill>
                <a:latin typeface="Calibri" pitchFamily="34" charset="0"/>
                <a:ea typeface="Calibri" pitchFamily="34" charset="-122"/>
                <a:cs typeface="Calibri" pitchFamily="34" charset="-120"/>
              </a:rPr>
              <a:t>SQL-defined metrics &amp; filters (exact formulas, executed not interpreted)</a:t>
            </a:r>
            <a:endParaRPr lang="en-US" sz="950" dirty="0"/>
          </a:p>
        </p:txBody>
      </p:sp>
      <p:sp>
        <p:nvSpPr>
          <p:cNvPr id="16" name="Shape 14"/>
          <p:cNvSpPr/>
          <p:nvPr/>
        </p:nvSpPr>
        <p:spPr>
          <a:xfrm>
            <a:off x="3749040" y="3383280"/>
            <a:ext cx="274320" cy="274320"/>
          </a:xfrm>
          <a:prstGeom prst="ellipse">
            <a:avLst/>
          </a:prstGeom>
          <a:solidFill>
            <a:srgbClr val="1F497D"/>
          </a:solidFill>
          <a:ln/>
        </p:spPr>
        <p:txBody>
          <a:bodyPr/>
          <a:lstStyle/>
          <a:p>
            <a:endParaRPr lang="en-US"/>
          </a:p>
        </p:txBody>
      </p:sp>
      <p:sp>
        <p:nvSpPr>
          <p:cNvPr id="17" name="Text 15"/>
          <p:cNvSpPr/>
          <p:nvPr/>
        </p:nvSpPr>
        <p:spPr>
          <a:xfrm>
            <a:off x="3749040" y="33832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4114800" y="3217639"/>
            <a:ext cx="2240280" cy="603504"/>
          </a:xfrm>
          <a:prstGeom prst="rect">
            <a:avLst/>
          </a:prstGeom>
          <a:noFill/>
          <a:ln/>
        </p:spPr>
        <p:txBody>
          <a:bodyPr wrap="square" lIns="0" tIns="0" rIns="0" bIns="0" rtlCol="0" anchor="t"/>
          <a:lstStyle/>
          <a:p>
            <a:pPr marL="0" indent="0">
              <a:buNone/>
            </a:pPr>
            <a:endParaRPr lang="en-US" sz="950" dirty="0">
              <a:solidFill>
                <a:srgbClr val="1A1A1A"/>
              </a:solidFill>
              <a:latin typeface="Calibri" pitchFamily="34" charset="0"/>
              <a:ea typeface="Calibri" pitchFamily="34" charset="-122"/>
              <a:cs typeface="Calibri" pitchFamily="34" charset="-120"/>
            </a:endParaRPr>
          </a:p>
          <a:p>
            <a:pPr marL="0" indent="0">
              <a:buNone/>
            </a:pPr>
            <a:r>
              <a:rPr lang="en-US" sz="950" dirty="0">
                <a:solidFill>
                  <a:srgbClr val="1A1A1A"/>
                </a:solidFill>
                <a:latin typeface="Calibri" pitchFamily="34" charset="0"/>
                <a:ea typeface="Calibri" pitchFamily="34" charset="-122"/>
                <a:cs typeface="Calibri" pitchFamily="34" charset="-120"/>
              </a:rPr>
              <a:t>Example queries &amp; trusted assets (pre-verified answers)</a:t>
            </a:r>
            <a:endParaRPr lang="en-US" sz="950" dirty="0"/>
          </a:p>
        </p:txBody>
      </p:sp>
      <p:sp>
        <p:nvSpPr>
          <p:cNvPr id="19" name="Shape 17"/>
          <p:cNvSpPr/>
          <p:nvPr/>
        </p:nvSpPr>
        <p:spPr>
          <a:xfrm>
            <a:off x="3749040" y="4005072"/>
            <a:ext cx="274320" cy="274320"/>
          </a:xfrm>
          <a:prstGeom prst="ellipse">
            <a:avLst/>
          </a:prstGeom>
          <a:solidFill>
            <a:srgbClr val="1F497D"/>
          </a:solidFill>
          <a:ln/>
        </p:spPr>
        <p:txBody>
          <a:bodyPr/>
          <a:lstStyle/>
          <a:p>
            <a:endParaRPr lang="en-US"/>
          </a:p>
        </p:txBody>
      </p:sp>
      <p:sp>
        <p:nvSpPr>
          <p:cNvPr id="20" name="Text 18"/>
          <p:cNvSpPr/>
          <p:nvPr/>
        </p:nvSpPr>
        <p:spPr>
          <a:xfrm>
            <a:off x="3749040" y="400507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4114800" y="4077175"/>
            <a:ext cx="2240280" cy="603504"/>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Plain-text instructions — last resort only</a:t>
            </a:r>
            <a:endParaRPr lang="en-US" sz="950" dirty="0"/>
          </a:p>
        </p:txBody>
      </p:sp>
      <p:sp>
        <p:nvSpPr>
          <p:cNvPr id="22" name="Shape 20"/>
          <p:cNvSpPr/>
          <p:nvPr/>
        </p:nvSpPr>
        <p:spPr>
          <a:xfrm>
            <a:off x="6537960" y="3017520"/>
            <a:ext cx="457200" cy="201168"/>
          </a:xfrm>
          <a:prstGeom prst="rightArrow">
            <a:avLst/>
          </a:prstGeom>
          <a:solidFill>
            <a:srgbClr val="4F81BD"/>
          </a:solidFill>
          <a:ln/>
        </p:spPr>
        <p:txBody>
          <a:bodyPr/>
          <a:lstStyle/>
          <a:p>
            <a:endParaRPr lang="en-US"/>
          </a:p>
        </p:txBody>
      </p:sp>
      <p:sp>
        <p:nvSpPr>
          <p:cNvPr id="23" name="Shape 21"/>
          <p:cNvSpPr/>
          <p:nvPr/>
        </p:nvSpPr>
        <p:spPr>
          <a:xfrm>
            <a:off x="7086600" y="1645920"/>
            <a:ext cx="1627632" cy="3017520"/>
          </a:xfrm>
          <a:prstGeom prst="roundRect">
            <a:avLst>
              <a:gd name="adj" fmla="val 3371"/>
            </a:avLst>
          </a:prstGeom>
          <a:solidFill>
            <a:srgbClr val="1F497D"/>
          </a:solidFill>
          <a:ln/>
        </p:spPr>
        <p:txBody>
          <a:bodyPr/>
          <a:lstStyle/>
          <a:p>
            <a:endParaRPr lang="en-US"/>
          </a:p>
        </p:txBody>
      </p:sp>
      <p:sp>
        <p:nvSpPr>
          <p:cNvPr id="24" name="Text 22"/>
          <p:cNvSpPr/>
          <p:nvPr/>
        </p:nvSpPr>
        <p:spPr>
          <a:xfrm>
            <a:off x="7223760" y="1755648"/>
            <a:ext cx="13716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p>
        </p:txBody>
      </p:sp>
      <p:sp>
        <p:nvSpPr>
          <p:cNvPr id="25" name="Text 23"/>
          <p:cNvSpPr/>
          <p:nvPr/>
        </p:nvSpPr>
        <p:spPr>
          <a:xfrm>
            <a:off x="7223760" y="2084832"/>
            <a:ext cx="1371600" cy="1663313"/>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One definition of every metric.</a:t>
            </a:r>
            <a:endParaRPr lang="en-US" sz="950" dirty="0"/>
          </a:p>
          <a:p>
            <a:pPr marL="0" indent="0">
              <a:buNone/>
            </a:pP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Formulas run exactly as written.</a:t>
            </a:r>
            <a:endParaRPr lang="en-US" sz="950" dirty="0"/>
          </a:p>
          <a:p>
            <a:pPr marL="0" indent="0">
              <a:buNone/>
            </a:pP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Answers grounded in USCIS meaning, not guesses.</a:t>
            </a:r>
            <a:endParaRPr lang="en-US" sz="950" dirty="0"/>
          </a:p>
        </p:txBody>
      </p:sp>
      <p:sp>
        <p:nvSpPr>
          <p:cNvPr id="26" name="Text 24"/>
          <p:cNvSpPr/>
          <p:nvPr/>
        </p:nvSpPr>
        <p:spPr>
          <a:xfrm>
            <a:off x="457200" y="4700016"/>
            <a:ext cx="8229600" cy="365760"/>
          </a:xfrm>
          <a:prstGeom prst="rect">
            <a:avLst/>
          </a:prstGeom>
          <a:noFill/>
          <a:ln/>
        </p:spPr>
        <p:txBody>
          <a:bodyPr wrap="square" lIns="0" tIns="0" rIns="0" bIns="0" rtlCol="0" anchor="ctr"/>
          <a:lstStyle/>
          <a:p>
            <a:pPr marL="0" indent="0">
              <a:buNone/>
            </a:pPr>
            <a:br>
              <a:rPr lang="en-US" sz="1000" i="1" dirty="0">
                <a:solidFill>
                  <a:srgbClr val="595959"/>
                </a:solidFill>
                <a:latin typeface="Calibri" pitchFamily="34" charset="0"/>
                <a:ea typeface="Calibri" pitchFamily="34" charset="-122"/>
                <a:cs typeface="Calibri" pitchFamily="34" charset="-120"/>
              </a:rPr>
            </a:br>
            <a:r>
              <a:rPr lang="en-US" sz="1000" i="1" dirty="0">
                <a:solidFill>
                  <a:srgbClr val="595959"/>
                </a:solidFill>
                <a:latin typeface="Calibri" pitchFamily="34" charset="0"/>
                <a:ea typeface="Calibri" pitchFamily="34" charset="-122"/>
                <a:cs typeface="Calibri" pitchFamily="34" charset="-120"/>
              </a:rPr>
              <a:t>The build item is a governed pipeline that projects Collibra definitions into Databricks — a data engineering task that we have already scoped.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Trust, But Verify: Every Answer Shows Its Sources</a:t>
            </a:r>
            <a:endParaRPr lang="en-US" sz="2500" dirty="0"/>
          </a:p>
        </p:txBody>
      </p:sp>
      <p:sp>
        <p:nvSpPr>
          <p:cNvPr id="3" name="Shape 1"/>
          <p:cNvSpPr/>
          <p:nvPr/>
        </p:nvSpPr>
        <p:spPr>
          <a:xfrm>
            <a:off x="457200" y="1417320"/>
            <a:ext cx="1536192" cy="960120"/>
          </a:xfrm>
          <a:prstGeom prst="roundRect">
            <a:avLst>
              <a:gd name="adj" fmla="val 5714"/>
            </a:avLst>
          </a:prstGeom>
          <a:solidFill>
            <a:srgbClr val="1F497D"/>
          </a:solidFill>
          <a:ln w="9525">
            <a:solidFill>
              <a:srgbClr val="4F81BD"/>
            </a:solidFill>
            <a:prstDash val="solid"/>
          </a:ln>
        </p:spPr>
        <p:txBody>
          <a:bodyPr/>
          <a:lstStyle/>
          <a:p>
            <a:endParaRPr lang="en-US"/>
          </a:p>
        </p:txBody>
      </p:sp>
      <p:sp>
        <p:nvSpPr>
          <p:cNvPr id="4" name="Text 2"/>
          <p:cNvSpPr/>
          <p:nvPr/>
        </p:nvSpPr>
        <p:spPr>
          <a:xfrm>
            <a:off x="530352" y="1481328"/>
            <a:ext cx="1371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Answer</a:t>
            </a:r>
            <a:endParaRPr lang="en-US" sz="1100" dirty="0"/>
          </a:p>
        </p:txBody>
      </p:sp>
      <p:sp>
        <p:nvSpPr>
          <p:cNvPr id="5" name="Text 3"/>
          <p:cNvSpPr/>
          <p:nvPr/>
        </p:nvSpPr>
        <p:spPr>
          <a:xfrm>
            <a:off x="530352" y="1755648"/>
            <a:ext cx="1389888" cy="566928"/>
          </a:xfrm>
          <a:prstGeom prst="rect">
            <a:avLst/>
          </a:prstGeom>
          <a:noFill/>
          <a:ln/>
        </p:spPr>
        <p:txBody>
          <a:bodyPr wrap="square" lIns="0" tIns="0" rIns="0" bIns="0" rtlCol="0" anchor="ctr"/>
          <a:lstStyle/>
          <a:p>
            <a:pPr marL="0" indent="0">
              <a:buNone/>
            </a:pPr>
            <a:r>
              <a:rPr lang="en-US" sz="850" dirty="0">
                <a:solidFill>
                  <a:srgbClr val="DCE6F1"/>
                </a:solidFill>
                <a:latin typeface="Calibri" pitchFamily="34" charset="0"/>
                <a:ea typeface="Calibri" pitchFamily="34" charset="-122"/>
                <a:cs typeface="Calibri" pitchFamily="34" charset="-120"/>
              </a:rPr>
              <a:t>“41,238 I-765 receipts in June”</a:t>
            </a:r>
            <a:endParaRPr lang="en-US" sz="850" dirty="0"/>
          </a:p>
        </p:txBody>
      </p:sp>
      <p:sp>
        <p:nvSpPr>
          <p:cNvPr id="6" name="Shape 4"/>
          <p:cNvSpPr/>
          <p:nvPr/>
        </p:nvSpPr>
        <p:spPr>
          <a:xfrm>
            <a:off x="1947672" y="1801368"/>
            <a:ext cx="164592" cy="201168"/>
          </a:xfrm>
          <a:prstGeom prst="rightArrow">
            <a:avLst/>
          </a:prstGeom>
          <a:solidFill>
            <a:srgbClr val="4F81BD"/>
          </a:solidFill>
          <a:ln/>
        </p:spPr>
        <p:txBody>
          <a:bodyPr/>
          <a:lstStyle/>
          <a:p>
            <a:endParaRPr lang="en-US"/>
          </a:p>
        </p:txBody>
      </p:sp>
      <p:sp>
        <p:nvSpPr>
          <p:cNvPr id="7" name="Shape 5"/>
          <p:cNvSpPr/>
          <p:nvPr/>
        </p:nvSpPr>
        <p:spPr>
          <a:xfrm>
            <a:off x="2148840" y="1417320"/>
            <a:ext cx="1536192" cy="960120"/>
          </a:xfrm>
          <a:prstGeom prst="roundRect">
            <a:avLst>
              <a:gd name="adj" fmla="val 5714"/>
            </a:avLst>
          </a:prstGeom>
          <a:solidFill>
            <a:srgbClr val="EEF3FA"/>
          </a:solidFill>
          <a:ln w="9525">
            <a:solidFill>
              <a:srgbClr val="4F81BD"/>
            </a:solidFill>
            <a:prstDash val="solid"/>
          </a:ln>
        </p:spPr>
        <p:txBody>
          <a:bodyPr/>
          <a:lstStyle/>
          <a:p>
            <a:endParaRPr lang="en-US"/>
          </a:p>
        </p:txBody>
      </p:sp>
      <p:sp>
        <p:nvSpPr>
          <p:cNvPr id="8" name="Text 6"/>
          <p:cNvSpPr/>
          <p:nvPr/>
        </p:nvSpPr>
        <p:spPr>
          <a:xfrm>
            <a:off x="2221992" y="1481328"/>
            <a:ext cx="1371600" cy="256032"/>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SQL shown</a:t>
            </a:r>
            <a:endParaRPr lang="en-US" sz="1100" dirty="0"/>
          </a:p>
        </p:txBody>
      </p:sp>
      <p:sp>
        <p:nvSpPr>
          <p:cNvPr id="9" name="Text 7"/>
          <p:cNvSpPr/>
          <p:nvPr/>
        </p:nvSpPr>
        <p:spPr>
          <a:xfrm>
            <a:off x="2221992" y="1755648"/>
            <a:ext cx="1389888" cy="566928"/>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The exact query Genie ran</a:t>
            </a:r>
            <a:endParaRPr lang="en-US" sz="850" dirty="0"/>
          </a:p>
        </p:txBody>
      </p:sp>
      <p:sp>
        <p:nvSpPr>
          <p:cNvPr id="10" name="Shape 8"/>
          <p:cNvSpPr/>
          <p:nvPr/>
        </p:nvSpPr>
        <p:spPr>
          <a:xfrm>
            <a:off x="3639312" y="1801368"/>
            <a:ext cx="164592" cy="201168"/>
          </a:xfrm>
          <a:prstGeom prst="rightArrow">
            <a:avLst/>
          </a:prstGeom>
          <a:solidFill>
            <a:srgbClr val="4F81BD"/>
          </a:solidFill>
          <a:ln/>
        </p:spPr>
        <p:txBody>
          <a:bodyPr/>
          <a:lstStyle/>
          <a:p>
            <a:endParaRPr lang="en-US"/>
          </a:p>
        </p:txBody>
      </p:sp>
      <p:sp>
        <p:nvSpPr>
          <p:cNvPr id="11" name="Shape 9"/>
          <p:cNvSpPr/>
          <p:nvPr/>
        </p:nvSpPr>
        <p:spPr>
          <a:xfrm>
            <a:off x="3840480" y="1417320"/>
            <a:ext cx="1536192" cy="960120"/>
          </a:xfrm>
          <a:prstGeom prst="roundRect">
            <a:avLst>
              <a:gd name="adj" fmla="val 5714"/>
            </a:avLst>
          </a:prstGeom>
          <a:solidFill>
            <a:srgbClr val="EEF3FA"/>
          </a:solidFill>
          <a:ln w="9525">
            <a:solidFill>
              <a:srgbClr val="4F81BD"/>
            </a:solidFill>
            <a:prstDash val="solid"/>
          </a:ln>
        </p:spPr>
        <p:txBody>
          <a:bodyPr/>
          <a:lstStyle/>
          <a:p>
            <a:endParaRPr lang="en-US"/>
          </a:p>
        </p:txBody>
      </p:sp>
      <p:sp>
        <p:nvSpPr>
          <p:cNvPr id="12" name="Text 10"/>
          <p:cNvSpPr/>
          <p:nvPr/>
        </p:nvSpPr>
        <p:spPr>
          <a:xfrm>
            <a:off x="3913632" y="1481328"/>
            <a:ext cx="1371600" cy="256032"/>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Tables &amp; columns</a:t>
            </a:r>
            <a:endParaRPr lang="en-US" sz="1100" dirty="0"/>
          </a:p>
        </p:txBody>
      </p:sp>
      <p:sp>
        <p:nvSpPr>
          <p:cNvPr id="13" name="Text 11"/>
          <p:cNvSpPr/>
          <p:nvPr/>
        </p:nvSpPr>
        <p:spPr>
          <a:xfrm>
            <a:off x="3863340" y="1737360"/>
            <a:ext cx="1490472" cy="566928"/>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 </a:t>
            </a:r>
            <a:r>
              <a:rPr lang="en-US" sz="850" dirty="0" err="1">
                <a:solidFill>
                  <a:srgbClr val="1A1A1A"/>
                </a:solidFill>
                <a:latin typeface="Calibri" pitchFamily="34" charset="0"/>
                <a:ea typeface="Calibri" pitchFamily="34" charset="-122"/>
                <a:cs typeface="Calibri" pitchFamily="34" charset="-120"/>
              </a:rPr>
              <a:t>npdataset.npd_current_pending.receipt_number</a:t>
            </a:r>
            <a:endParaRPr lang="en-US" sz="850" dirty="0"/>
          </a:p>
        </p:txBody>
      </p:sp>
      <p:sp>
        <p:nvSpPr>
          <p:cNvPr id="14" name="Shape 12"/>
          <p:cNvSpPr/>
          <p:nvPr/>
        </p:nvSpPr>
        <p:spPr>
          <a:xfrm>
            <a:off x="5330952" y="1801368"/>
            <a:ext cx="164592" cy="201168"/>
          </a:xfrm>
          <a:prstGeom prst="rightArrow">
            <a:avLst/>
          </a:prstGeom>
          <a:solidFill>
            <a:srgbClr val="4F81BD"/>
          </a:solidFill>
          <a:ln/>
        </p:spPr>
        <p:txBody>
          <a:bodyPr/>
          <a:lstStyle/>
          <a:p>
            <a:endParaRPr lang="en-US"/>
          </a:p>
        </p:txBody>
      </p:sp>
      <p:sp>
        <p:nvSpPr>
          <p:cNvPr id="15" name="Shape 13"/>
          <p:cNvSpPr/>
          <p:nvPr/>
        </p:nvSpPr>
        <p:spPr>
          <a:xfrm>
            <a:off x="5532120" y="1417320"/>
            <a:ext cx="1536192" cy="960120"/>
          </a:xfrm>
          <a:prstGeom prst="roundRect">
            <a:avLst>
              <a:gd name="adj" fmla="val 5714"/>
            </a:avLst>
          </a:prstGeom>
          <a:solidFill>
            <a:srgbClr val="EEF3FA"/>
          </a:solidFill>
          <a:ln w="9525">
            <a:solidFill>
              <a:srgbClr val="4F81BD"/>
            </a:solidFill>
            <a:prstDash val="solid"/>
          </a:ln>
        </p:spPr>
        <p:txBody>
          <a:bodyPr/>
          <a:lstStyle/>
          <a:p>
            <a:endParaRPr lang="en-US"/>
          </a:p>
        </p:txBody>
      </p:sp>
      <p:sp>
        <p:nvSpPr>
          <p:cNvPr id="16" name="Text 14"/>
          <p:cNvSpPr/>
          <p:nvPr/>
        </p:nvSpPr>
        <p:spPr>
          <a:xfrm>
            <a:off x="5605272" y="1481328"/>
            <a:ext cx="1371600" cy="256032"/>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Lineage</a:t>
            </a:r>
            <a:endParaRPr lang="en-US" sz="1100" dirty="0"/>
          </a:p>
        </p:txBody>
      </p:sp>
      <p:sp>
        <p:nvSpPr>
          <p:cNvPr id="17" name="Text 15"/>
          <p:cNvSpPr/>
          <p:nvPr/>
        </p:nvSpPr>
        <p:spPr>
          <a:xfrm>
            <a:off x="5605272" y="1755648"/>
            <a:ext cx="1389888" cy="566928"/>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Unity Catalog traces upstream</a:t>
            </a:r>
            <a:endParaRPr lang="en-US" sz="850" dirty="0"/>
          </a:p>
        </p:txBody>
      </p:sp>
      <p:sp>
        <p:nvSpPr>
          <p:cNvPr id="18" name="Shape 16"/>
          <p:cNvSpPr/>
          <p:nvPr/>
        </p:nvSpPr>
        <p:spPr>
          <a:xfrm>
            <a:off x="7022592" y="1801368"/>
            <a:ext cx="164592" cy="201168"/>
          </a:xfrm>
          <a:prstGeom prst="rightArrow">
            <a:avLst/>
          </a:prstGeom>
          <a:solidFill>
            <a:srgbClr val="4F81BD"/>
          </a:solidFill>
          <a:ln/>
        </p:spPr>
        <p:txBody>
          <a:bodyPr/>
          <a:lstStyle/>
          <a:p>
            <a:endParaRPr lang="en-US"/>
          </a:p>
        </p:txBody>
      </p:sp>
      <p:sp>
        <p:nvSpPr>
          <p:cNvPr id="19" name="Shape 17"/>
          <p:cNvSpPr/>
          <p:nvPr/>
        </p:nvSpPr>
        <p:spPr>
          <a:xfrm>
            <a:off x="7223760" y="1417320"/>
            <a:ext cx="1536192" cy="960120"/>
          </a:xfrm>
          <a:prstGeom prst="roundRect">
            <a:avLst>
              <a:gd name="adj" fmla="val 5714"/>
            </a:avLst>
          </a:prstGeom>
          <a:solidFill>
            <a:srgbClr val="EEF3FA"/>
          </a:solidFill>
          <a:ln w="9525">
            <a:solidFill>
              <a:srgbClr val="4F81BD"/>
            </a:solidFill>
            <a:prstDash val="solid"/>
          </a:ln>
        </p:spPr>
        <p:txBody>
          <a:bodyPr/>
          <a:lstStyle/>
          <a:p>
            <a:endParaRPr lang="en-US"/>
          </a:p>
        </p:txBody>
      </p:sp>
      <p:sp>
        <p:nvSpPr>
          <p:cNvPr id="20" name="Text 18"/>
          <p:cNvSpPr/>
          <p:nvPr/>
        </p:nvSpPr>
        <p:spPr>
          <a:xfrm>
            <a:off x="7296912" y="1481328"/>
            <a:ext cx="1371600" cy="256032"/>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Source system</a:t>
            </a:r>
            <a:endParaRPr lang="en-US" sz="1100" dirty="0"/>
          </a:p>
        </p:txBody>
      </p:sp>
      <p:sp>
        <p:nvSpPr>
          <p:cNvPr id="21" name="Text 19"/>
          <p:cNvSpPr/>
          <p:nvPr/>
        </p:nvSpPr>
        <p:spPr>
          <a:xfrm>
            <a:off x="7296912" y="1755648"/>
            <a:ext cx="1389888" cy="566928"/>
          </a:xfrm>
          <a:prstGeom prst="rect">
            <a:avLst/>
          </a:prstGeom>
          <a:noFill/>
          <a:ln/>
        </p:spPr>
        <p:txBody>
          <a:bodyPr wrap="square" lIns="0" tIns="0" rIns="0" bIns="0" rtlCol="0" anchor="ctr"/>
          <a:lstStyle/>
          <a:p>
            <a:pPr marL="0" indent="0">
              <a:buNone/>
            </a:pPr>
            <a:r>
              <a:rPr lang="en-US" sz="850" dirty="0">
                <a:solidFill>
                  <a:srgbClr val="1A1A1A"/>
                </a:solidFill>
                <a:latin typeface="Calibri" pitchFamily="34" charset="0"/>
                <a:ea typeface="Calibri" pitchFamily="34" charset="-122"/>
                <a:cs typeface="Calibri" pitchFamily="34" charset="-120"/>
              </a:rPr>
              <a:t>eCISCOR → C3 / ELIS / GLOBAL</a:t>
            </a:r>
            <a:endParaRPr lang="en-US" sz="850" dirty="0"/>
          </a:p>
        </p:txBody>
      </p:sp>
      <p:sp>
        <p:nvSpPr>
          <p:cNvPr id="22" name="Text 20"/>
          <p:cNvSpPr/>
          <p:nvPr/>
        </p:nvSpPr>
        <p:spPr>
          <a:xfrm>
            <a:off x="457200" y="2487168"/>
            <a:ext cx="8229600" cy="274320"/>
          </a:xfrm>
          <a:prstGeom prst="rect">
            <a:avLst/>
          </a:prstGeom>
          <a:noFill/>
          <a:ln/>
        </p:spPr>
        <p:txBody>
          <a:bodyPr wrap="square" lIns="0" tIns="0" rIns="0" bIns="0" rtlCol="0" anchor="ctr"/>
          <a:lstStyle/>
          <a:p>
            <a:pPr marL="0" indent="0" algn="ctr">
              <a:buNone/>
            </a:pPr>
            <a:r>
              <a:rPr lang="en-US" sz="1200" b="1" i="1" dirty="0">
                <a:solidFill>
                  <a:srgbClr val="16365C"/>
                </a:solidFill>
                <a:latin typeface="Calibri" pitchFamily="34" charset="0"/>
                <a:ea typeface="Calibri" pitchFamily="34" charset="-122"/>
                <a:cs typeface="Calibri" pitchFamily="34" charset="-120"/>
              </a:rPr>
              <a:t>Anyone can fact-check any number back to its root — no black box.</a:t>
            </a:r>
            <a:endParaRPr lang="en-US" sz="1200" dirty="0"/>
          </a:p>
        </p:txBody>
      </p:sp>
      <p:sp>
        <p:nvSpPr>
          <p:cNvPr id="23" name="Shape 21"/>
          <p:cNvSpPr/>
          <p:nvPr/>
        </p:nvSpPr>
        <p:spPr>
          <a:xfrm>
            <a:off x="457200" y="2880360"/>
            <a:ext cx="4023360" cy="868680"/>
          </a:xfrm>
          <a:prstGeom prst="roundRect">
            <a:avLst>
              <a:gd name="adj" fmla="val 6316"/>
            </a:avLst>
          </a:prstGeom>
          <a:solidFill>
            <a:srgbClr val="EEF3FA"/>
          </a:solidFill>
          <a:ln w="9525">
            <a:solidFill>
              <a:srgbClr val="DCE6F1"/>
            </a:solidFill>
            <a:prstDash val="solid"/>
          </a:ln>
        </p:spPr>
        <p:txBody>
          <a:bodyPr/>
          <a:lstStyle/>
          <a:p>
            <a:endParaRPr lang="en-US"/>
          </a:p>
        </p:txBody>
      </p:sp>
      <p:sp>
        <p:nvSpPr>
          <p:cNvPr id="24" name="Text 22"/>
          <p:cNvSpPr/>
          <p:nvPr/>
        </p:nvSpPr>
        <p:spPr>
          <a:xfrm>
            <a:off x="585216" y="2935224"/>
            <a:ext cx="3749040" cy="256032"/>
          </a:xfrm>
          <a:prstGeom prst="rect">
            <a:avLst/>
          </a:prstGeom>
          <a:noFill/>
          <a:ln/>
        </p:spPr>
        <p:txBody>
          <a:bodyPr wrap="square" lIns="0" tIns="0" rIns="0" bIns="0" rtlCol="0" anchor="ctr"/>
          <a:lstStyle/>
          <a:p>
            <a:pPr marL="0" indent="0">
              <a:buNone/>
            </a:pPr>
            <a:r>
              <a:rPr lang="en-US" sz="1150" b="1" dirty="0">
                <a:solidFill>
                  <a:srgbClr val="1F497D"/>
                </a:solidFill>
                <a:latin typeface="Calibri" pitchFamily="34" charset="0"/>
                <a:ea typeface="Calibri" pitchFamily="34" charset="-122"/>
                <a:cs typeface="Calibri" pitchFamily="34" charset="-120"/>
              </a:rPr>
              <a:t>Verified vs. generated badges</a:t>
            </a:r>
            <a:endParaRPr lang="en-US" sz="1150" dirty="0"/>
          </a:p>
        </p:txBody>
      </p:sp>
      <p:sp>
        <p:nvSpPr>
          <p:cNvPr id="25" name="Text 23"/>
          <p:cNvSpPr/>
          <p:nvPr/>
        </p:nvSpPr>
        <p:spPr>
          <a:xfrm>
            <a:off x="585216" y="3191256"/>
            <a:ext cx="3794760" cy="530352"/>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Answers from pre-approved queries are flagged verified; novel answers are labeled generated. Users always know the difference.</a:t>
            </a:r>
            <a:endParaRPr lang="en-US" sz="950" dirty="0"/>
          </a:p>
        </p:txBody>
      </p:sp>
      <p:sp>
        <p:nvSpPr>
          <p:cNvPr id="26" name="Shape 24"/>
          <p:cNvSpPr/>
          <p:nvPr/>
        </p:nvSpPr>
        <p:spPr>
          <a:xfrm>
            <a:off x="4709160" y="2880360"/>
            <a:ext cx="4023360" cy="868680"/>
          </a:xfrm>
          <a:prstGeom prst="roundRect">
            <a:avLst>
              <a:gd name="adj" fmla="val 6316"/>
            </a:avLst>
          </a:prstGeom>
          <a:solidFill>
            <a:srgbClr val="EEF3FA"/>
          </a:solidFill>
          <a:ln w="9525">
            <a:solidFill>
              <a:srgbClr val="DCE6F1"/>
            </a:solidFill>
            <a:prstDash val="solid"/>
          </a:ln>
        </p:spPr>
        <p:txBody>
          <a:bodyPr/>
          <a:lstStyle/>
          <a:p>
            <a:endParaRPr lang="en-US"/>
          </a:p>
        </p:txBody>
      </p:sp>
      <p:sp>
        <p:nvSpPr>
          <p:cNvPr id="27" name="Text 25"/>
          <p:cNvSpPr/>
          <p:nvPr/>
        </p:nvSpPr>
        <p:spPr>
          <a:xfrm>
            <a:off x="4837176" y="2935224"/>
            <a:ext cx="3749040" cy="256032"/>
          </a:xfrm>
          <a:prstGeom prst="rect">
            <a:avLst/>
          </a:prstGeom>
          <a:noFill/>
          <a:ln/>
        </p:spPr>
        <p:txBody>
          <a:bodyPr wrap="square" lIns="0" tIns="0" rIns="0" bIns="0" rtlCol="0" anchor="ctr"/>
          <a:lstStyle/>
          <a:p>
            <a:pPr marL="0" indent="0">
              <a:buNone/>
            </a:pPr>
            <a:r>
              <a:rPr lang="en-US" sz="1150" b="1" dirty="0">
                <a:solidFill>
                  <a:srgbClr val="1F497D"/>
                </a:solidFill>
                <a:latin typeface="Calibri" pitchFamily="34" charset="0"/>
                <a:ea typeface="Calibri" pitchFamily="34" charset="-122"/>
                <a:cs typeface="Calibri" pitchFamily="34" charset="-120"/>
              </a:rPr>
              <a:t>Benchmark testing before launch</a:t>
            </a:r>
            <a:endParaRPr lang="en-US" sz="1150" dirty="0"/>
          </a:p>
        </p:txBody>
      </p:sp>
      <p:sp>
        <p:nvSpPr>
          <p:cNvPr id="28" name="Text 26"/>
          <p:cNvSpPr/>
          <p:nvPr/>
        </p:nvSpPr>
        <p:spPr>
          <a:xfrm>
            <a:off x="4837176" y="3191256"/>
            <a:ext cx="3794760" cy="530352"/>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We maintain a golden set of real USCIS questions with known-correct SQL; every agent change is scored against it before users see it.</a:t>
            </a:r>
            <a:endParaRPr lang="en-US" sz="950" dirty="0"/>
          </a:p>
        </p:txBody>
      </p:sp>
      <p:sp>
        <p:nvSpPr>
          <p:cNvPr id="29" name="Shape 27"/>
          <p:cNvSpPr/>
          <p:nvPr/>
        </p:nvSpPr>
        <p:spPr>
          <a:xfrm>
            <a:off x="457200" y="3849624"/>
            <a:ext cx="4023360" cy="868680"/>
          </a:xfrm>
          <a:prstGeom prst="roundRect">
            <a:avLst>
              <a:gd name="adj" fmla="val 6316"/>
            </a:avLst>
          </a:prstGeom>
          <a:solidFill>
            <a:srgbClr val="EEF3FA"/>
          </a:solidFill>
          <a:ln w="9525">
            <a:solidFill>
              <a:srgbClr val="DCE6F1"/>
            </a:solidFill>
            <a:prstDash val="solid"/>
          </a:ln>
        </p:spPr>
        <p:txBody>
          <a:bodyPr/>
          <a:lstStyle/>
          <a:p>
            <a:endParaRPr lang="en-US"/>
          </a:p>
        </p:txBody>
      </p:sp>
      <p:sp>
        <p:nvSpPr>
          <p:cNvPr id="30" name="Text 28"/>
          <p:cNvSpPr/>
          <p:nvPr/>
        </p:nvSpPr>
        <p:spPr>
          <a:xfrm>
            <a:off x="585216" y="3904488"/>
            <a:ext cx="3749040" cy="256032"/>
          </a:xfrm>
          <a:prstGeom prst="rect">
            <a:avLst/>
          </a:prstGeom>
          <a:noFill/>
          <a:ln/>
        </p:spPr>
        <p:txBody>
          <a:bodyPr wrap="square" lIns="0" tIns="0" rIns="0" bIns="0" rtlCol="0" anchor="ctr"/>
          <a:lstStyle/>
          <a:p>
            <a:pPr marL="0" indent="0">
              <a:buNone/>
            </a:pPr>
            <a:r>
              <a:rPr lang="en-US" sz="1150" b="1" dirty="0">
                <a:solidFill>
                  <a:srgbClr val="1F497D"/>
                </a:solidFill>
                <a:latin typeface="Calibri" pitchFamily="34" charset="0"/>
                <a:ea typeface="Calibri" pitchFamily="34" charset="-122"/>
                <a:cs typeface="Calibri" pitchFamily="34" charset="-120"/>
              </a:rPr>
              <a:t>Monitoring &amp; feedback</a:t>
            </a:r>
            <a:endParaRPr lang="en-US" sz="1150" dirty="0"/>
          </a:p>
        </p:txBody>
      </p:sp>
      <p:sp>
        <p:nvSpPr>
          <p:cNvPr id="31" name="Text 29"/>
          <p:cNvSpPr/>
          <p:nvPr/>
        </p:nvSpPr>
        <p:spPr>
          <a:xfrm>
            <a:off x="585216" y="4160520"/>
            <a:ext cx="3794760" cy="530352"/>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Every question, answer, and thumbs-up/down is logged. SMEs review flagged answers; audit logs cover the rest.</a:t>
            </a:r>
            <a:endParaRPr lang="en-US" sz="950" dirty="0"/>
          </a:p>
        </p:txBody>
      </p:sp>
      <p:sp>
        <p:nvSpPr>
          <p:cNvPr id="32" name="Shape 30"/>
          <p:cNvSpPr/>
          <p:nvPr/>
        </p:nvSpPr>
        <p:spPr>
          <a:xfrm>
            <a:off x="4709160" y="3849624"/>
            <a:ext cx="4023360" cy="868680"/>
          </a:xfrm>
          <a:prstGeom prst="roundRect">
            <a:avLst>
              <a:gd name="adj" fmla="val 6316"/>
            </a:avLst>
          </a:prstGeom>
          <a:solidFill>
            <a:srgbClr val="EEF3FA"/>
          </a:solidFill>
          <a:ln w="9525">
            <a:solidFill>
              <a:srgbClr val="DCE6F1"/>
            </a:solidFill>
            <a:prstDash val="solid"/>
          </a:ln>
        </p:spPr>
        <p:txBody>
          <a:bodyPr/>
          <a:lstStyle/>
          <a:p>
            <a:endParaRPr lang="en-US"/>
          </a:p>
        </p:txBody>
      </p:sp>
      <p:sp>
        <p:nvSpPr>
          <p:cNvPr id="33" name="Text 31"/>
          <p:cNvSpPr/>
          <p:nvPr/>
        </p:nvSpPr>
        <p:spPr>
          <a:xfrm>
            <a:off x="4837176" y="3904488"/>
            <a:ext cx="3749040" cy="256032"/>
          </a:xfrm>
          <a:prstGeom prst="rect">
            <a:avLst/>
          </a:prstGeom>
          <a:noFill/>
          <a:ln/>
        </p:spPr>
        <p:txBody>
          <a:bodyPr wrap="square" lIns="0" tIns="0" rIns="0" bIns="0" rtlCol="0" anchor="ctr"/>
          <a:lstStyle/>
          <a:p>
            <a:pPr marL="0" indent="0">
              <a:buNone/>
            </a:pPr>
            <a:r>
              <a:rPr lang="en-US" sz="1150" b="1" dirty="0">
                <a:solidFill>
                  <a:srgbClr val="1F497D"/>
                </a:solidFill>
                <a:latin typeface="Calibri" pitchFamily="34" charset="0"/>
                <a:ea typeface="Calibri" pitchFamily="34" charset="-122"/>
                <a:cs typeface="Calibri" pitchFamily="34" charset="-120"/>
              </a:rPr>
              <a:t>Same permissions as the user</a:t>
            </a:r>
            <a:endParaRPr lang="en-US" sz="1150" dirty="0"/>
          </a:p>
        </p:txBody>
      </p:sp>
      <p:sp>
        <p:nvSpPr>
          <p:cNvPr id="34" name="Text 32"/>
          <p:cNvSpPr/>
          <p:nvPr/>
        </p:nvSpPr>
        <p:spPr>
          <a:xfrm>
            <a:off x="4837176" y="4160520"/>
            <a:ext cx="3794760" cy="530352"/>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Unity Catalog row filters and column masks apply inside the agent — it can never show data the user couldn't already query.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Tracking Spend Without the Pricing Tables</a:t>
            </a:r>
            <a:endParaRPr lang="en-US" sz="2500" dirty="0"/>
          </a:p>
        </p:txBody>
      </p:sp>
      <p:sp>
        <p:nvSpPr>
          <p:cNvPr id="3" name="Text 1"/>
          <p:cNvSpPr/>
          <p:nvPr/>
        </p:nvSpPr>
        <p:spPr>
          <a:xfrm>
            <a:off x="457200" y="1243584"/>
            <a:ext cx="8229600" cy="310896"/>
          </a:xfrm>
          <a:prstGeom prst="rect">
            <a:avLst/>
          </a:prstGeom>
          <a:noFill/>
          <a:ln/>
        </p:spPr>
        <p:txBody>
          <a:bodyPr wrap="square" lIns="0" tIns="0" rIns="0" bIns="0"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OIT-DBIS controls the cost tables — and we don't need them to manage our burn. Usage is metered in DBUs, and the meter is ours to read.</a:t>
            </a:r>
            <a:endParaRPr lang="en-US" sz="1200" dirty="0"/>
          </a:p>
        </p:txBody>
      </p:sp>
      <p:sp>
        <p:nvSpPr>
          <p:cNvPr id="4" name="Shape 2"/>
          <p:cNvSpPr/>
          <p:nvPr/>
        </p:nvSpPr>
        <p:spPr>
          <a:xfrm>
            <a:off x="457200" y="1627632"/>
            <a:ext cx="4023360" cy="1042416"/>
          </a:xfrm>
          <a:prstGeom prst="roundRect">
            <a:avLst>
              <a:gd name="adj" fmla="val 5263"/>
            </a:avLst>
          </a:prstGeom>
          <a:solidFill>
            <a:srgbClr val="EEF3FA"/>
          </a:solidFill>
          <a:ln w="9525">
            <a:solidFill>
              <a:srgbClr val="4F81BD"/>
            </a:solidFill>
            <a:prstDash val="solid"/>
          </a:ln>
        </p:spPr>
        <p:txBody>
          <a:bodyPr/>
          <a:lstStyle/>
          <a:p>
            <a:endParaRPr lang="en-US"/>
          </a:p>
        </p:txBody>
      </p:sp>
      <p:sp>
        <p:nvSpPr>
          <p:cNvPr id="5" name="Text 3"/>
          <p:cNvSpPr/>
          <p:nvPr/>
        </p:nvSpPr>
        <p:spPr>
          <a:xfrm>
            <a:off x="594360" y="1691640"/>
            <a:ext cx="3749040" cy="27432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Bucket 1 — AI usage (Genie LLM)</a:t>
            </a:r>
            <a:endParaRPr lang="en-US" sz="1200" dirty="0"/>
          </a:p>
        </p:txBody>
      </p:sp>
      <p:sp>
        <p:nvSpPr>
          <p:cNvPr id="6" name="Text 4"/>
          <p:cNvSpPr/>
          <p:nvPr/>
        </p:nvSpPr>
        <p:spPr>
          <a:xfrm>
            <a:off x="594360" y="1975104"/>
            <a:ext cx="376732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Billed in DBUs through the AI Gateway</a:t>
            </a:r>
            <a:endParaRPr lang="en-US" sz="1000" dirty="0"/>
          </a:p>
        </p:txBody>
      </p:sp>
      <p:sp>
        <p:nvSpPr>
          <p:cNvPr id="7" name="Shape 5"/>
          <p:cNvSpPr/>
          <p:nvPr/>
        </p:nvSpPr>
        <p:spPr>
          <a:xfrm>
            <a:off x="4709160" y="1627632"/>
            <a:ext cx="4023360" cy="1042416"/>
          </a:xfrm>
          <a:prstGeom prst="roundRect">
            <a:avLst>
              <a:gd name="adj" fmla="val 5263"/>
            </a:avLst>
          </a:prstGeom>
          <a:solidFill>
            <a:srgbClr val="DCE6F1"/>
          </a:solidFill>
          <a:ln w="9525">
            <a:solidFill>
              <a:srgbClr val="4F81BD"/>
            </a:solidFill>
            <a:prstDash val="solid"/>
          </a:ln>
        </p:spPr>
        <p:txBody>
          <a:bodyPr/>
          <a:lstStyle/>
          <a:p>
            <a:endParaRPr lang="en-US"/>
          </a:p>
        </p:txBody>
      </p:sp>
      <p:sp>
        <p:nvSpPr>
          <p:cNvPr id="8" name="Text 6"/>
          <p:cNvSpPr/>
          <p:nvPr/>
        </p:nvSpPr>
        <p:spPr>
          <a:xfrm>
            <a:off x="4846320" y="1691640"/>
            <a:ext cx="3749040" cy="27432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Bucket 2 — Compute (SQL warehouse)</a:t>
            </a:r>
            <a:endParaRPr lang="en-US" sz="1200" dirty="0"/>
          </a:p>
        </p:txBody>
      </p:sp>
      <p:sp>
        <p:nvSpPr>
          <p:cNvPr id="9" name="Text 7"/>
          <p:cNvSpPr/>
          <p:nvPr/>
        </p:nvSpPr>
        <p:spPr>
          <a:xfrm>
            <a:off x="4846320" y="1975104"/>
            <a:ext cx="376732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The warehouse that runs each generated query bills as standard serverless SQL DBUs — usually the larger number. Not covered by Genie budgets.</a:t>
            </a:r>
            <a:endParaRPr lang="en-US" sz="1000" dirty="0"/>
          </a:p>
        </p:txBody>
      </p:sp>
      <p:sp>
        <p:nvSpPr>
          <p:cNvPr id="10" name="Text 8"/>
          <p:cNvSpPr/>
          <p:nvPr/>
        </p:nvSpPr>
        <p:spPr>
          <a:xfrm>
            <a:off x="457200" y="2834640"/>
            <a:ext cx="5486400" cy="292608"/>
          </a:xfrm>
          <a:prstGeom prst="rect">
            <a:avLst/>
          </a:prstGeom>
          <a:noFill/>
          <a:ln/>
        </p:spPr>
        <p:txBody>
          <a:bodyPr wrap="square" lIns="0" tIns="0" rIns="0" bIns="0" rtlCol="0" anchor="ctr"/>
          <a:lstStyle/>
          <a:p>
            <a:pPr marL="0" indent="0">
              <a:buNone/>
            </a:pPr>
            <a:r>
              <a:rPr lang="en-US" sz="1300" b="1" dirty="0">
                <a:solidFill>
                  <a:srgbClr val="1F497D"/>
                </a:solidFill>
                <a:latin typeface="Calibri" pitchFamily="34" charset="0"/>
                <a:ea typeface="Calibri" pitchFamily="34" charset="-122"/>
                <a:cs typeface="Calibri" pitchFamily="34" charset="-120"/>
              </a:rPr>
              <a:t>How we watch it — built into Databricks, no price access needed</a:t>
            </a:r>
            <a:endParaRPr lang="en-US" sz="1300" dirty="0"/>
          </a:p>
        </p:txBody>
      </p:sp>
      <p:sp>
        <p:nvSpPr>
          <p:cNvPr id="11" name="Shape 9"/>
          <p:cNvSpPr/>
          <p:nvPr/>
        </p:nvSpPr>
        <p:spPr>
          <a:xfrm>
            <a:off x="457200" y="3218688"/>
            <a:ext cx="1417320" cy="310896"/>
          </a:xfrm>
          <a:prstGeom prst="roundRect">
            <a:avLst>
              <a:gd name="adj" fmla="val 14706"/>
            </a:avLst>
          </a:prstGeom>
          <a:solidFill>
            <a:srgbClr val="1F497D"/>
          </a:solidFill>
          <a:ln/>
        </p:spPr>
        <p:txBody>
          <a:bodyPr/>
          <a:lstStyle/>
          <a:p>
            <a:endParaRPr lang="en-US"/>
          </a:p>
        </p:txBody>
      </p:sp>
      <p:sp>
        <p:nvSpPr>
          <p:cNvPr id="12" name="Text 10"/>
          <p:cNvSpPr/>
          <p:nvPr/>
        </p:nvSpPr>
        <p:spPr>
          <a:xfrm>
            <a:off x="457200" y="3218688"/>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System tables</a:t>
            </a:r>
            <a:endParaRPr lang="en-US" sz="950" dirty="0"/>
          </a:p>
        </p:txBody>
      </p:sp>
      <p:sp>
        <p:nvSpPr>
          <p:cNvPr id="13" name="Text 11"/>
          <p:cNvSpPr/>
          <p:nvPr/>
        </p:nvSpPr>
        <p:spPr>
          <a:xfrm>
            <a:off x="2011680" y="3200400"/>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system.billing.usage records every DBU hourly, attributed to user, product, and tag — our burn-rate dashboard reads straight from it.</a:t>
            </a:r>
            <a:endParaRPr lang="en-US" sz="1000" dirty="0"/>
          </a:p>
        </p:txBody>
      </p:sp>
      <p:sp>
        <p:nvSpPr>
          <p:cNvPr id="14" name="Shape 12"/>
          <p:cNvSpPr/>
          <p:nvPr/>
        </p:nvSpPr>
        <p:spPr>
          <a:xfrm>
            <a:off x="457200" y="3621024"/>
            <a:ext cx="1417320" cy="310896"/>
          </a:xfrm>
          <a:prstGeom prst="roundRect">
            <a:avLst>
              <a:gd name="adj" fmla="val 14706"/>
            </a:avLst>
          </a:prstGeom>
          <a:solidFill>
            <a:srgbClr val="1F497D"/>
          </a:solidFill>
          <a:ln/>
        </p:spPr>
        <p:txBody>
          <a:bodyPr/>
          <a:lstStyle/>
          <a:p>
            <a:endParaRPr lang="en-US"/>
          </a:p>
        </p:txBody>
      </p:sp>
      <p:sp>
        <p:nvSpPr>
          <p:cNvPr id="15" name="Text 13"/>
          <p:cNvSpPr/>
          <p:nvPr/>
        </p:nvSpPr>
        <p:spPr>
          <a:xfrm>
            <a:off x="457200" y="3621024"/>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Tags &amp; policies</a:t>
            </a:r>
            <a:endParaRPr lang="en-US" sz="950" dirty="0"/>
          </a:p>
        </p:txBody>
      </p:sp>
      <p:sp>
        <p:nvSpPr>
          <p:cNvPr id="16" name="Text 14"/>
          <p:cNvSpPr/>
          <p:nvPr/>
        </p:nvSpPr>
        <p:spPr>
          <a:xfrm>
            <a:off x="2011680" y="3602736"/>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Serverless budget policies auto-tag each team's usage, so spend rolls up by branch, project, or contract line.</a:t>
            </a:r>
            <a:endParaRPr lang="en-US" sz="1000" dirty="0"/>
          </a:p>
        </p:txBody>
      </p:sp>
      <p:sp>
        <p:nvSpPr>
          <p:cNvPr id="17" name="Shape 15"/>
          <p:cNvSpPr/>
          <p:nvPr/>
        </p:nvSpPr>
        <p:spPr>
          <a:xfrm>
            <a:off x="457200" y="4023360"/>
            <a:ext cx="1417320" cy="310896"/>
          </a:xfrm>
          <a:prstGeom prst="roundRect">
            <a:avLst>
              <a:gd name="adj" fmla="val 14706"/>
            </a:avLst>
          </a:prstGeom>
          <a:solidFill>
            <a:srgbClr val="1F497D"/>
          </a:solidFill>
          <a:ln/>
        </p:spPr>
        <p:txBody>
          <a:bodyPr/>
          <a:lstStyle/>
          <a:p>
            <a:endParaRPr lang="en-US"/>
          </a:p>
        </p:txBody>
      </p:sp>
      <p:sp>
        <p:nvSpPr>
          <p:cNvPr id="18" name="Text 16"/>
          <p:cNvSpPr/>
          <p:nvPr/>
        </p:nvSpPr>
        <p:spPr>
          <a:xfrm>
            <a:off x="457200" y="4023360"/>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Budgets &amp; alerts</a:t>
            </a:r>
            <a:endParaRPr lang="en-US" sz="950" dirty="0"/>
          </a:p>
        </p:txBody>
      </p:sp>
      <p:sp>
        <p:nvSpPr>
          <p:cNvPr id="19" name="Text 17"/>
          <p:cNvSpPr/>
          <p:nvPr/>
        </p:nvSpPr>
        <p:spPr>
          <a:xfrm>
            <a:off x="2011680" y="4005072"/>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Shared thresholds alert by e-mail as spend happens; per-user thresholds can hard-block an individual’s Genie AI usage — so one runaway user can never drain the pool.</a:t>
            </a:r>
            <a:endParaRPr lang="en-US" sz="1000" dirty="0"/>
          </a:p>
        </p:txBody>
      </p:sp>
      <p:sp>
        <p:nvSpPr>
          <p:cNvPr id="20" name="Shape 18"/>
          <p:cNvSpPr/>
          <p:nvPr/>
        </p:nvSpPr>
        <p:spPr>
          <a:xfrm>
            <a:off x="457200" y="4425696"/>
            <a:ext cx="1417320" cy="310896"/>
          </a:xfrm>
          <a:prstGeom prst="roundRect">
            <a:avLst>
              <a:gd name="adj" fmla="val 14706"/>
            </a:avLst>
          </a:prstGeom>
          <a:solidFill>
            <a:srgbClr val="1F497D"/>
          </a:solidFill>
          <a:ln/>
        </p:spPr>
        <p:txBody>
          <a:bodyPr/>
          <a:lstStyle/>
          <a:p>
            <a:endParaRPr lang="en-US"/>
          </a:p>
        </p:txBody>
      </p:sp>
      <p:sp>
        <p:nvSpPr>
          <p:cNvPr id="21" name="Text 19"/>
          <p:cNvSpPr/>
          <p:nvPr/>
        </p:nvSpPr>
        <p:spPr>
          <a:xfrm>
            <a:off x="457200" y="4425696"/>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Dollars when needed</a:t>
            </a:r>
            <a:endParaRPr lang="en-US" sz="950" dirty="0"/>
          </a:p>
        </p:txBody>
      </p:sp>
      <p:sp>
        <p:nvSpPr>
          <p:cNvPr id="22" name="Text 20"/>
          <p:cNvSpPr/>
          <p:nvPr/>
        </p:nvSpPr>
        <p:spPr>
          <a:xfrm>
            <a:off x="2011680" y="4407408"/>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OIT-DBIS applies rates to the same records — one number, two views, no dispute about the underlying usage.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Context Layer in Databrick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s11"/>
          <p:cNvSpPr/>
          <p:nvPr/>
        </p:nvSpPr>
        <p:spPr>
          <a:xfrm>
            <a:off x="457200" y="384048"/>
            <a:ext cx="8229600" cy="457200"/>
          </a:xfrm>
          <a:prstGeom prst="rect">
            <a:avLst/>
          </a:prstGeom>
          <a:noFill/>
          <a:ln>
            <a:noFill/>
          </a:ln>
        </p:spPr>
        <p:txBody>
          <a:bodyPr wrap="square" lIns="54000" tIns="45720" rIns="54000" bIns="36000" rtlCol="0" anchor="t"/>
          <a:lstStyle/>
          <a:p>
            <a:pPr marL="0" indent="0" algn="l">
              <a:buNone/>
            </a:pPr>
            <a:r>
              <a:rPr lang="en-US" sz="2500" b="1" dirty="0">
                <a:solidFill>
                  <a:srgbClr val="1F497D"/>
                </a:solidFill>
                <a:latin typeface="Calibri"/>
              </a:rPr>
              <a:t xml:space="preserve">The Context Layer Inside Databricks</a:t>
            </a:r>
          </a:p>
        </p:txBody>
      </p:sp>
      <p:sp>
        <p:nvSpPr>
          <p:cNvPr id="12" name="s12"/>
          <p:cNvSpPr/>
          <p:nvPr/>
        </p:nvSpPr>
        <p:spPr>
          <a:xfrm>
            <a:off x="457200" y="850392"/>
            <a:ext cx="8229600" cy="292608"/>
          </a:xfrm>
          <a:prstGeom prst="rect">
            <a:avLst/>
          </a:prstGeom>
          <a:noFill/>
          <a:ln>
            <a:noFill/>
          </a:ln>
        </p:spPr>
        <p:txBody>
          <a:bodyPr wrap="square" lIns="54000" tIns="45720" rIns="54000" bIns="36000" rtlCol="0" anchor="t"/>
          <a:lstStyle/>
          <a:p>
            <a:pPr marL="0" indent="0" algn="l">
              <a:buNone/>
            </a:pPr>
            <a:r>
              <a:rPr lang="en-US" sz="1150" dirty="0">
                <a:solidFill>
                  <a:srgbClr val="595959"/>
                </a:solidFill>
                <a:latin typeface="Calibri"/>
              </a:rPr>
              <a:t xml:space="preserve">Four governed assets — all catalog metadata and SQL, versioned as code. No new platform, no new procurement.</a:t>
            </a:r>
          </a:p>
        </p:txBody>
      </p:sp>
      <p:sp>
        <p:nvSpPr>
          <p:cNvPr id="13" name="s13"/>
          <p:cNvSpPr/>
          <p:nvPr/>
        </p:nvSpPr>
        <p:spPr>
          <a:xfrm>
            <a:off x="457200" y="1481328"/>
            <a:ext cx="1371600" cy="2377440"/>
          </a:xfrm>
          <a:prstGeom prst="roundRect">
            <a:avLst>
              <a:gd name="adj" fmla="val 8000"/>
            </a:avLst>
          </a:prstGeom>
          <a:solidFill>
            <a:srgbClr val="FFFFFF"/>
          </a:solidFill>
          <a:ln w="9525">
            <a:solidFill>
              <a:srgbClr val="D9D9D9"/>
            </a:solidFill>
          </a:ln>
        </p:spPr>
        <p:txBody>
          <a:bodyPr wrap="square" lIns="54000" tIns="45720" rIns="54000" bIns="36000" rtlCol="0" anchor="t"/>
          <a:lstStyle/>
          <a:p>
            <a:pPr marL="0" indent="0" algn="l">
              <a:buNone/>
            </a:pPr>
            <a:r>
              <a:rPr lang="en-US" sz="1200" b="1" dirty="0">
                <a:solidFill>
                  <a:srgbClr val="1F497D"/>
                </a:solidFill>
                <a:latin typeface="Calibri"/>
              </a:rPr>
              <a:t xml:space="preserve">COLLIBRA</a:t>
            </a:r>
          </a:p>
          <a:p>
            <a:pPr marL="0" indent="0" algn="l">
              <a:buNone/>
            </a:pPr>
            <a:r>
              <a:rPr lang="en-US" sz="900" b="1" dirty="0">
                <a:solidFill>
                  <a:srgbClr val="BF9000"/>
                </a:solidFill>
                <a:latin typeface="Calibri"/>
              </a:rPr>
              <a:t xml:space="preserve">System of record</a:t>
            </a:r>
          </a:p>
          <a:p>
            <a:pPr marL="0" indent="0" algn="l">
              <a:buNone/>
            </a:pPr>
            <a:r>
              <a:rPr lang="en-US" sz="900" dirty="0">
                <a:solidFill>
                  <a:srgbClr val="595959"/>
                </a:solidFill>
                <a:latin typeface="Calibri"/>
              </a:rPr>
              <a:t xml:space="preserve">Acronyms, form types, metric definitions (cycle time, processing time)</a:t>
            </a:r>
          </a:p>
        </p:txBody>
      </p:sp>
      <p:sp>
        <p:nvSpPr>
          <p:cNvPr id="14" name="s14"/>
          <p:cNvSpPr/>
          <p:nvPr/>
        </p:nvSpPr>
        <p:spPr>
          <a:xfrm>
            <a:off x="384048" y="3913632"/>
            <a:ext cx="1572768" cy="384048"/>
          </a:xfrm>
          <a:prstGeom prst="rect">
            <a:avLst/>
          </a:prstGeom>
          <a:noFill/>
          <a:ln>
            <a:noFill/>
          </a:ln>
        </p:spPr>
        <p:txBody>
          <a:bodyPr wrap="square" lIns="54000" tIns="45720" rIns="54000" bIns="36000" rtlCol="0" anchor="t"/>
          <a:lstStyle/>
          <a:p>
            <a:pPr marL="0" indent="0" algn="ctr">
              <a:buNone/>
            </a:pPr>
            <a:r>
              <a:rPr lang="en-US" sz="800" b="1" dirty="0">
                <a:solidFill>
                  <a:srgbClr val="BF9000"/>
                </a:solidFill>
                <a:latin typeface="Calibri"/>
              </a:rPr>
              <a:t xml:space="preserve">governed pipeline — the build item</a:t>
            </a:r>
          </a:p>
        </p:txBody>
      </p:sp>
      <p:sp>
        <p:nvSpPr>
          <p:cNvPr id="15" name="a15"/>
          <p:cNvSpPr/>
          <p:nvPr/>
        </p:nvSpPr>
        <p:spPr>
          <a:xfrm>
            <a:off x="1883664" y="2578608"/>
            <a:ext cx="384048" cy="146304"/>
          </a:xfrm>
          <a:prstGeom prst="rightArrow">
            <a:avLst/>
          </a:prstGeom>
          <a:solidFill>
            <a:srgbClr val="BF9000"/>
          </a:solidFill>
          <a:ln>
            <a:noFill/>
          </a:ln>
        </p:spPr>
        <p:txBody>
          <a:bodyPr/>
          <a:lstStyle/>
          <a:p>
            <a:endParaRPr lang="en-US"/>
          </a:p>
        </p:txBody>
      </p:sp>
      <p:sp>
        <p:nvSpPr>
          <p:cNvPr id="16" name="s16"/>
          <p:cNvSpPr/>
          <p:nvPr/>
        </p:nvSpPr>
        <p:spPr>
          <a:xfrm>
            <a:off x="2304288" y="1298448"/>
            <a:ext cx="4370832" cy="2999232"/>
          </a:xfrm>
          <a:prstGeom prst="roundRect">
            <a:avLst>
              <a:gd name="adj" fmla="val 8000"/>
            </a:avLst>
          </a:prstGeom>
          <a:solidFill>
            <a:srgbClr val="EEF2F8"/>
          </a:solidFill>
          <a:ln w="9525">
            <a:solidFill>
              <a:srgbClr val="1F497D"/>
            </a:solidFill>
          </a:ln>
        </p:spPr>
        <p:txBody>
          <a:bodyPr wrap="square" lIns="54000" tIns="45720" rIns="54000" bIns="36000" rtlCol="0" anchor="t"/>
          <a:lstStyle/>
          <a:p>
            <a:endParaRPr lang="en-US"/>
          </a:p>
        </p:txBody>
      </p:sp>
      <p:sp>
        <p:nvSpPr>
          <p:cNvPr id="17" name="s17"/>
          <p:cNvSpPr/>
          <p:nvPr/>
        </p:nvSpPr>
        <p:spPr>
          <a:xfrm>
            <a:off x="2395728" y="1344168"/>
            <a:ext cx="2743200" cy="274320"/>
          </a:xfrm>
          <a:prstGeom prst="rect">
            <a:avLst/>
          </a:prstGeom>
          <a:noFill/>
          <a:ln>
            <a:noFill/>
          </a:ln>
        </p:spPr>
        <p:txBody>
          <a:bodyPr wrap="square" lIns="54000" tIns="45720" rIns="54000" bIns="36000" rtlCol="0" anchor="t"/>
          <a:lstStyle/>
          <a:p>
            <a:pPr marL="0" indent="0" algn="l">
              <a:buNone/>
            </a:pPr>
            <a:r>
              <a:rPr lang="en-US" sz="1000" b="1" dirty="0">
                <a:solidFill>
                  <a:srgbClr val="1F497D"/>
                </a:solidFill>
                <a:latin typeface="Calibri"/>
              </a:rPr>
              <a:t xml:space="preserve">DATABRICKS</a:t>
            </a:r>
          </a:p>
        </p:txBody>
      </p:sp>
      <p:sp>
        <p:nvSpPr>
          <p:cNvPr id="18" name="s18"/>
          <p:cNvSpPr/>
          <p:nvPr/>
        </p:nvSpPr>
        <p:spPr>
          <a:xfrm>
            <a:off x="2450592" y="1682496"/>
            <a:ext cx="2011680" cy="1207008"/>
          </a:xfrm>
          <a:prstGeom prst="roundRect">
            <a:avLst>
              <a:gd name="adj" fmla="val 8000"/>
            </a:avLst>
          </a:prstGeom>
          <a:solidFill>
            <a:srgbClr val="FFFFFF"/>
          </a:solidFill>
          <a:ln w="9525">
            <a:solidFill>
              <a:srgbClr val="D9D9D9"/>
            </a:solidFill>
          </a:ln>
        </p:spPr>
        <p:txBody>
          <a:bodyPr wrap="square" lIns="54000" tIns="45720" rIns="54000" bIns="36000" rtlCol="0" anchor="t"/>
          <a:lstStyle/>
          <a:p>
            <a:pPr marL="0" indent="0" algn="l">
              <a:buNone/>
            </a:pPr>
            <a:r>
              <a:rPr lang="en-US" sz="1000" b="1" dirty="0">
                <a:solidFill>
                  <a:srgbClr val="1F497D"/>
                </a:solidFill>
                <a:latin typeface="Calibri"/>
              </a:rPr>
              <a:t xml:space="preserve">1 · Unity Catalog metadata</a:t>
            </a:r>
          </a:p>
          <a:p>
            <a:pPr marL="0" indent="0" algn="l">
              <a:buNone/>
            </a:pPr>
            <a:r>
              <a:rPr lang="en-US" sz="850" dirty="0">
                <a:solidFill>
                  <a:srgbClr val="595959"/>
                </a:solidFill>
                <a:latin typeface="Calibri"/>
              </a:rPr>
              <a:t xml:space="preserve">Table &amp; column comments and synonyms — “I-765 = Employment Authorization”</a:t>
            </a:r>
          </a:p>
        </p:txBody>
      </p:sp>
      <p:sp>
        <p:nvSpPr>
          <p:cNvPr id="19" name="s19"/>
          <p:cNvSpPr/>
          <p:nvPr/>
        </p:nvSpPr>
        <p:spPr>
          <a:xfrm>
            <a:off x="4590288" y="1682496"/>
            <a:ext cx="2011680" cy="1207008"/>
          </a:xfrm>
          <a:prstGeom prst="roundRect">
            <a:avLst>
              <a:gd name="adj" fmla="val 8000"/>
            </a:avLst>
          </a:prstGeom>
          <a:solidFill>
            <a:srgbClr val="FFFFFF"/>
          </a:solidFill>
          <a:ln w="9525">
            <a:solidFill>
              <a:srgbClr val="D9D9D9"/>
            </a:solidFill>
          </a:ln>
        </p:spPr>
        <p:txBody>
          <a:bodyPr wrap="square" lIns="54000" tIns="45720" rIns="54000" bIns="36000" rtlCol="0" anchor="t"/>
          <a:lstStyle/>
          <a:p>
            <a:pPr marL="0" indent="0" algn="l">
              <a:buNone/>
            </a:pPr>
            <a:r>
              <a:rPr lang="en-US" sz="1000" b="1" dirty="0">
                <a:solidFill>
                  <a:srgbClr val="1F497D"/>
                </a:solidFill>
                <a:latin typeface="Calibri"/>
              </a:rPr>
              <a:t xml:space="preserve">2 · Metric views + SQL expressions</a:t>
            </a:r>
          </a:p>
          <a:p>
            <a:pPr marL="0" indent="0" algn="l">
              <a:buNone/>
            </a:pPr>
            <a:r>
              <a:rPr lang="en-US" sz="850" dirty="0">
                <a:solidFill>
                  <a:srgbClr val="595959"/>
                </a:solidFill>
                <a:latin typeface="Calibri"/>
              </a:rPr>
              <a:t xml:space="preserve">Cycle time, processing time, completions as exact formulas — executed, not interpreted</a:t>
            </a:r>
          </a:p>
        </p:txBody>
      </p:sp>
      <p:sp>
        <p:nvSpPr>
          <p:cNvPr id="20" name="s20"/>
          <p:cNvSpPr/>
          <p:nvPr/>
        </p:nvSpPr>
        <p:spPr>
          <a:xfrm>
            <a:off x="2450592" y="2962656"/>
            <a:ext cx="2011680" cy="1207008"/>
          </a:xfrm>
          <a:prstGeom prst="roundRect">
            <a:avLst>
              <a:gd name="adj" fmla="val 8000"/>
            </a:avLst>
          </a:prstGeom>
          <a:solidFill>
            <a:srgbClr val="FFFFFF"/>
          </a:solidFill>
          <a:ln w="9525">
            <a:solidFill>
              <a:srgbClr val="D9D9D9"/>
            </a:solidFill>
          </a:ln>
        </p:spPr>
        <p:txBody>
          <a:bodyPr wrap="square" lIns="54000" tIns="45720" rIns="54000" bIns="36000" rtlCol="0" anchor="t"/>
          <a:lstStyle/>
          <a:p>
            <a:pPr marL="0" indent="0" algn="l">
              <a:buNone/>
            </a:pPr>
            <a:r>
              <a:rPr lang="en-US" sz="1000" b="1" dirty="0">
                <a:solidFill>
                  <a:srgbClr val="1F497D"/>
                </a:solidFill>
                <a:latin typeface="Calibri"/>
              </a:rPr>
              <a:t xml:space="preserve">3 · Agent knowledge store</a:t>
            </a:r>
          </a:p>
          <a:p>
            <a:pPr marL="0" indent="0" algn="l">
              <a:buNone/>
            </a:pPr>
            <a:r>
              <a:rPr lang="en-US" sz="850" dirty="0">
                <a:solidFill>
                  <a:srgbClr val="595959"/>
                </a:solidFill>
                <a:latin typeface="Calibri"/>
              </a:rPr>
              <a:t xml:space="preserve">Join relationships · entity matching for service-center codes · trusted example queries</a:t>
            </a:r>
          </a:p>
        </p:txBody>
      </p:sp>
      <p:sp>
        <p:nvSpPr>
          <p:cNvPr id="21" name="s21"/>
          <p:cNvSpPr/>
          <p:nvPr/>
        </p:nvSpPr>
        <p:spPr>
          <a:xfrm>
            <a:off x="4590288" y="2962656"/>
            <a:ext cx="2011680" cy="1207008"/>
          </a:xfrm>
          <a:prstGeom prst="roundRect">
            <a:avLst>
              <a:gd name="adj" fmla="val 8000"/>
            </a:avLst>
          </a:prstGeom>
          <a:solidFill>
            <a:srgbClr val="FFFFFF"/>
          </a:solidFill>
          <a:ln w="9525">
            <a:solidFill>
              <a:srgbClr val="D9D9D9"/>
            </a:solidFill>
          </a:ln>
        </p:spPr>
        <p:txBody>
          <a:bodyPr wrap="square" lIns="54000" tIns="45720" rIns="54000" bIns="36000" rtlCol="0" anchor="t"/>
          <a:lstStyle/>
          <a:p>
            <a:pPr marL="0" indent="0" algn="l">
              <a:buNone/>
            </a:pPr>
            <a:r>
              <a:rPr lang="en-US" sz="1000" b="1" dirty="0">
                <a:solidFill>
                  <a:srgbClr val="1F497D"/>
                </a:solidFill>
                <a:latin typeface="Calibri"/>
              </a:rPr>
              <a:t xml:space="preserve">4 · Benchmarks</a:t>
            </a:r>
          </a:p>
          <a:p>
            <a:pPr marL="0" indent="0" algn="l">
              <a:buNone/>
            </a:pPr>
            <a:r>
              <a:rPr lang="en-US" sz="850" dirty="0">
                <a:solidFill>
                  <a:srgbClr val="595959"/>
                </a:solidFill>
                <a:latin typeface="Calibri"/>
              </a:rPr>
              <a:t xml:space="preserve">Golden set of real USCIS questions with known-correct SQL — scored before changes ship</a:t>
            </a:r>
          </a:p>
        </p:txBody>
      </p:sp>
      <p:sp>
        <p:nvSpPr>
          <p:cNvPr id="22" name="a22"/>
          <p:cNvSpPr/>
          <p:nvPr/>
        </p:nvSpPr>
        <p:spPr>
          <a:xfrm>
            <a:off x="6711696" y="2578608"/>
            <a:ext cx="347472" cy="146304"/>
          </a:xfrm>
          <a:prstGeom prst="rightArrow">
            <a:avLst/>
          </a:prstGeom>
          <a:solidFill>
            <a:srgbClr val="BF9000"/>
          </a:solidFill>
          <a:ln>
            <a:noFill/>
          </a:ln>
        </p:spPr>
        <p:txBody>
          <a:bodyPr/>
          <a:lstStyle/>
          <a:p>
            <a:endParaRPr lang="en-US"/>
          </a:p>
        </p:txBody>
      </p:sp>
      <p:sp>
        <p:nvSpPr>
          <p:cNvPr id="23" name="s23"/>
          <p:cNvSpPr/>
          <p:nvPr/>
        </p:nvSpPr>
        <p:spPr>
          <a:xfrm>
            <a:off x="7095744" y="1938528"/>
            <a:ext cx="1572768" cy="1426464"/>
          </a:xfrm>
          <a:prstGeom prst="roundRect">
            <a:avLst>
              <a:gd name="adj" fmla="val 8000"/>
            </a:avLst>
          </a:prstGeom>
          <a:solidFill>
            <a:srgbClr val="1F497D"/>
          </a:solidFill>
          <a:ln w="9525">
            <a:solidFill>
              <a:srgbClr val="1F497D"/>
            </a:solidFill>
          </a:ln>
        </p:spPr>
        <p:txBody>
          <a:bodyPr wrap="square" lIns="54000" tIns="45720" rIns="54000" bIns="36000" rtlCol="0" anchor="ctr"/>
          <a:lstStyle/>
          <a:p>
            <a:pPr marL="0" indent="0" algn="ctr">
              <a:buNone/>
            </a:pPr>
            <a:r>
              <a:rPr lang="en-US" sz="1150" b="1" dirty="0">
                <a:solidFill>
                  <a:srgbClr val="FFFFFF"/>
                </a:solidFill>
                <a:latin typeface="Calibri"/>
              </a:rPr>
              <a:t xml:space="preserve">GENIE AGENT</a:t>
            </a:r>
          </a:p>
          <a:p>
            <a:pPr marL="0" indent="0" algn="ctr">
              <a:buNone/>
            </a:pPr>
            <a:r>
              <a:rPr lang="en-US" sz="900" dirty="0">
                <a:solidFill>
                  <a:srgbClr val="DCE6F2"/>
                </a:solidFill>
                <a:latin typeface="Calibri"/>
              </a:rPr>
              <a:t xml:space="preserve">reads all four at question time</a:t>
            </a:r>
          </a:p>
        </p:txBody>
      </p:sp>
      <p:sp>
        <p:nvSpPr>
          <p:cNvPr id="24" name="s24"/>
          <p:cNvSpPr/>
          <p:nvPr/>
        </p:nvSpPr>
        <p:spPr>
          <a:xfrm>
            <a:off x="457200" y="4443984"/>
            <a:ext cx="8229600" cy="475488"/>
          </a:xfrm>
          <a:prstGeom prst="roundRect">
            <a:avLst>
              <a:gd name="adj" fmla="val 8000"/>
            </a:avLst>
          </a:prstGeom>
          <a:solidFill>
            <a:srgbClr val="FFFFFF"/>
          </a:solidFill>
          <a:ln w="9525">
            <a:solidFill>
              <a:srgbClr val="D9D9D9"/>
            </a:solidFill>
          </a:ln>
        </p:spPr>
        <p:txBody>
          <a:bodyPr wrap="square" lIns="54000" tIns="45720" rIns="54000" bIns="36000" rtlCol="0" anchor="ctr"/>
          <a:lstStyle/>
          <a:p>
            <a:pPr marL="0" indent="0" algn="l">
              <a:buNone/>
            </a:pPr>
            <a:r>
              <a:rPr lang="en-US" sz="900" dirty="0">
                <a:solidFill>
                  <a:srgbClr val="595959"/>
                </a:solidFill>
                <a:latin typeface="Calibri"/>
              </a:rPr>
              <a:t xml:space="preserve">Runs on the flow we already operate:  </a:t>
            </a:r>
            <a:r>
              <a:rPr lang="en-US" sz="900" b="1" dirty="0">
                <a:solidFill>
                  <a:srgbClr val="1F497D"/>
                </a:solidFill>
                <a:latin typeface="Calibri"/>
              </a:rPr>
              <a:t xml:space="preserve">C3 · ELIS · GLOBAL  →  eCISCOR  →  NPD  →  data products</a:t>
            </a:r>
            <a:r>
              <a:rPr lang="en-US" sz="900" dirty="0">
                <a:solidFill>
                  <a:srgbClr val="595959"/>
                </a:solidFill>
                <a:latin typeface="Calibri"/>
              </a:rPr>
              <a:t xml:space="preserve">   — Unity Catalog lineage traces every answer back down this same path (data diagram, slide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Small, Focused Agents Beat One Big Agent</a:t>
            </a:r>
            <a:endParaRPr lang="en-US" sz="2500" dirty="0"/>
          </a:p>
        </p:txBody>
      </p:sp>
      <p:sp>
        <p:nvSpPr>
          <p:cNvPr id="3" name="Shape 1"/>
          <p:cNvSpPr/>
          <p:nvPr/>
        </p:nvSpPr>
        <p:spPr>
          <a:xfrm>
            <a:off x="457200" y="1298448"/>
            <a:ext cx="2331720" cy="749808"/>
          </a:xfrm>
          <a:prstGeom prst="roundRect">
            <a:avLst>
              <a:gd name="adj" fmla="val 7317"/>
            </a:avLst>
          </a:prstGeom>
          <a:solidFill>
            <a:srgbClr val="1F497D"/>
          </a:solidFill>
          <a:ln/>
        </p:spPr>
        <p:txBody>
          <a:bodyPr/>
          <a:lstStyle/>
          <a:p>
            <a:endParaRPr lang="en-US"/>
          </a:p>
        </p:txBody>
      </p:sp>
      <p:sp>
        <p:nvSpPr>
          <p:cNvPr id="4" name="Text 2"/>
          <p:cNvSpPr/>
          <p:nvPr/>
        </p:nvSpPr>
        <p:spPr>
          <a:xfrm>
            <a:off x="566928" y="129844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Five sources or fewer</a:t>
            </a:r>
            <a:endParaRPr lang="en-US" sz="1200" dirty="0"/>
          </a:p>
        </p:txBody>
      </p:sp>
      <p:sp>
        <p:nvSpPr>
          <p:cNvPr id="5" name="Shape 3"/>
          <p:cNvSpPr/>
          <p:nvPr/>
        </p:nvSpPr>
        <p:spPr>
          <a:xfrm>
            <a:off x="2926080" y="129844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6" name="Text 4"/>
          <p:cNvSpPr/>
          <p:nvPr/>
        </p:nvSpPr>
        <p:spPr>
          <a:xfrm>
            <a:off x="3063240" y="129844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Databricks’ own guidance: start each agent with five or fewer curated tables or metric views (30 is the ceiling). We would stand up separate agents for forms, workload, staffing, and case processing — not one “ask USCIS anything” agent.</a:t>
            </a:r>
            <a:endParaRPr lang="en-US" sz="1150" dirty="0"/>
          </a:p>
        </p:txBody>
      </p:sp>
      <p:sp>
        <p:nvSpPr>
          <p:cNvPr id="7" name="Shape 5"/>
          <p:cNvSpPr/>
          <p:nvPr/>
        </p:nvSpPr>
        <p:spPr>
          <a:xfrm>
            <a:off x="457200" y="2167128"/>
            <a:ext cx="2331720" cy="749808"/>
          </a:xfrm>
          <a:prstGeom prst="roundRect">
            <a:avLst>
              <a:gd name="adj" fmla="val 7317"/>
            </a:avLst>
          </a:prstGeom>
          <a:solidFill>
            <a:srgbClr val="1F497D"/>
          </a:solidFill>
          <a:ln/>
        </p:spPr>
        <p:txBody>
          <a:bodyPr/>
          <a:lstStyle/>
          <a:p>
            <a:endParaRPr lang="en-US"/>
          </a:p>
        </p:txBody>
      </p:sp>
      <p:sp>
        <p:nvSpPr>
          <p:cNvPr id="8" name="Text 6"/>
          <p:cNvSpPr/>
          <p:nvPr/>
        </p:nvSpPr>
        <p:spPr>
          <a:xfrm>
            <a:off x="566928" y="216712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written charter per agent</a:t>
            </a:r>
            <a:endParaRPr lang="en-US" sz="1200" dirty="0"/>
          </a:p>
        </p:txBody>
      </p:sp>
      <p:sp>
        <p:nvSpPr>
          <p:cNvPr id="9" name="Shape 7"/>
          <p:cNvSpPr/>
          <p:nvPr/>
        </p:nvSpPr>
        <p:spPr>
          <a:xfrm>
            <a:off x="2926080" y="216712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0" name="Text 8"/>
          <p:cNvSpPr/>
          <p:nvPr/>
        </p:nvSpPr>
        <p:spPr>
          <a:xfrm>
            <a:off x="3063240" y="216712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Every agent lists the questions it answers, the questions it refuses or redirects, its certified sources, its business SME, and its review cadence. Example: the Forms agent answers I-765 receipt and completion questions; staffing questions get redirected.</a:t>
            </a:r>
            <a:endParaRPr lang="en-US" sz="1150" dirty="0"/>
          </a:p>
        </p:txBody>
      </p:sp>
      <p:sp>
        <p:nvSpPr>
          <p:cNvPr id="11" name="Shape 9"/>
          <p:cNvSpPr/>
          <p:nvPr/>
        </p:nvSpPr>
        <p:spPr>
          <a:xfrm>
            <a:off x="457200" y="3035808"/>
            <a:ext cx="2331720" cy="749808"/>
          </a:xfrm>
          <a:prstGeom prst="roundRect">
            <a:avLst>
              <a:gd name="adj" fmla="val 7317"/>
            </a:avLst>
          </a:prstGeom>
          <a:solidFill>
            <a:srgbClr val="1F497D"/>
          </a:solidFill>
          <a:ln/>
        </p:spPr>
        <p:txBody>
          <a:bodyPr/>
          <a:lstStyle/>
          <a:p>
            <a:endParaRPr lang="en-US"/>
          </a:p>
        </p:txBody>
      </p:sp>
      <p:sp>
        <p:nvSpPr>
          <p:cNvPr id="12" name="Text 10"/>
          <p:cNvSpPr/>
          <p:nvPr/>
        </p:nvSpPr>
        <p:spPr>
          <a:xfrm>
            <a:off x="566928" y="303580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Sources curated aggressively</a:t>
            </a:r>
            <a:endParaRPr lang="en-US" sz="1200" dirty="0"/>
          </a:p>
        </p:txBody>
      </p:sp>
      <p:sp>
        <p:nvSpPr>
          <p:cNvPr id="13" name="Shape 11"/>
          <p:cNvSpPr/>
          <p:nvPr/>
        </p:nvSpPr>
        <p:spPr>
          <a:xfrm>
            <a:off x="2926080" y="303580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4" name="Text 12"/>
          <p:cNvSpPr/>
          <p:nvPr/>
        </p:nvSpPr>
        <p:spPr>
          <a:xfrm>
            <a:off x="3063240" y="303580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Hide unused columns, retire duplicate or deprecated versions of the same metric, and never give an agent both the raw and curated copy of one concept. This is the single strongest defense against wrong-table answers.</a:t>
            </a:r>
            <a:endParaRPr lang="en-US" sz="1150" dirty="0"/>
          </a:p>
        </p:txBody>
      </p:sp>
      <p:sp>
        <p:nvSpPr>
          <p:cNvPr id="15" name="Shape 13"/>
          <p:cNvSpPr/>
          <p:nvPr/>
        </p:nvSpPr>
        <p:spPr>
          <a:xfrm>
            <a:off x="457200" y="3904488"/>
            <a:ext cx="2331720" cy="749808"/>
          </a:xfrm>
          <a:prstGeom prst="roundRect">
            <a:avLst>
              <a:gd name="adj" fmla="val 7317"/>
            </a:avLst>
          </a:prstGeom>
          <a:solidFill>
            <a:srgbClr val="1F497D"/>
          </a:solidFill>
          <a:ln/>
        </p:spPr>
        <p:txBody>
          <a:bodyPr/>
          <a:lstStyle/>
          <a:p>
            <a:endParaRPr lang="en-US"/>
          </a:p>
        </p:txBody>
      </p:sp>
      <p:sp>
        <p:nvSpPr>
          <p:cNvPr id="16" name="Text 14"/>
          <p:cNvSpPr/>
          <p:nvPr/>
        </p:nvSpPr>
        <p:spPr>
          <a:xfrm>
            <a:off x="566928" y="390448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Access is the real guardrail</a:t>
            </a:r>
            <a:endParaRPr lang="en-US" sz="1200" dirty="0"/>
          </a:p>
        </p:txBody>
      </p:sp>
      <p:sp>
        <p:nvSpPr>
          <p:cNvPr id="17" name="Shape 15"/>
          <p:cNvSpPr/>
          <p:nvPr/>
        </p:nvSpPr>
        <p:spPr>
          <a:xfrm>
            <a:off x="2926080" y="390448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8" name="Text 16"/>
          <p:cNvSpPr/>
          <p:nvPr/>
        </p:nvSpPr>
        <p:spPr>
          <a:xfrm>
            <a:off x="3063240" y="390448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An agent’s table list is not a hard boundary — Unity Catalog permissions are. Each agent’s approved views live in a dedicated governed schema, and its users are granted access to only that schema.</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Teach the Agent Our Data — Explicitly</a:t>
            </a:r>
            <a:endParaRPr lang="en-US" sz="2500" dirty="0"/>
          </a:p>
        </p:txBody>
      </p:sp>
      <p:sp>
        <p:nvSpPr>
          <p:cNvPr id="3" name="Shape 1"/>
          <p:cNvSpPr/>
          <p:nvPr/>
        </p:nvSpPr>
        <p:spPr>
          <a:xfrm>
            <a:off x="457200" y="1298448"/>
            <a:ext cx="2331720" cy="749808"/>
          </a:xfrm>
          <a:prstGeom prst="roundRect">
            <a:avLst>
              <a:gd name="adj" fmla="val 7317"/>
            </a:avLst>
          </a:prstGeom>
          <a:solidFill>
            <a:srgbClr val="1F497D"/>
          </a:solidFill>
          <a:ln/>
        </p:spPr>
        <p:txBody>
          <a:bodyPr/>
          <a:lstStyle/>
          <a:p>
            <a:endParaRPr lang="en-US"/>
          </a:p>
        </p:txBody>
      </p:sp>
      <p:sp>
        <p:nvSpPr>
          <p:cNvPr id="4" name="Text 2"/>
          <p:cNvSpPr/>
          <p:nvPr/>
        </p:nvSpPr>
        <p:spPr>
          <a:xfrm>
            <a:off x="566928" y="129844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Business-ready Gold data</a:t>
            </a:r>
            <a:endParaRPr lang="en-US" sz="1200" dirty="0"/>
          </a:p>
        </p:txBody>
      </p:sp>
      <p:sp>
        <p:nvSpPr>
          <p:cNvPr id="5" name="Shape 3"/>
          <p:cNvSpPr/>
          <p:nvPr/>
        </p:nvSpPr>
        <p:spPr>
          <a:xfrm>
            <a:off x="2926080" y="129844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6" name="Text 4"/>
          <p:cNvSpPr/>
          <p:nvPr/>
        </p:nvSpPr>
        <p:spPr>
          <a:xfrm>
            <a:off x="3063240" y="129844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Agents read curated Gold views, never raw tables. Every source documents what one row means, its refresh time, and its limits — e.g., “receipt_date is the date USCIS accepted the filing; it is not the adjudication completion date.”</a:t>
            </a:r>
            <a:endParaRPr lang="en-US" sz="1150" dirty="0"/>
          </a:p>
        </p:txBody>
      </p:sp>
      <p:sp>
        <p:nvSpPr>
          <p:cNvPr id="7" name="Shape 5"/>
          <p:cNvSpPr/>
          <p:nvPr/>
        </p:nvSpPr>
        <p:spPr>
          <a:xfrm>
            <a:off x="457200" y="2167128"/>
            <a:ext cx="2331720" cy="749808"/>
          </a:xfrm>
          <a:prstGeom prst="roundRect">
            <a:avLst>
              <a:gd name="adj" fmla="val 7317"/>
            </a:avLst>
          </a:prstGeom>
          <a:solidFill>
            <a:srgbClr val="1F497D"/>
          </a:solidFill>
          <a:ln/>
        </p:spPr>
        <p:txBody>
          <a:bodyPr/>
          <a:lstStyle/>
          <a:p>
            <a:endParaRPr lang="en-US"/>
          </a:p>
        </p:txBody>
      </p:sp>
      <p:sp>
        <p:nvSpPr>
          <p:cNvPr id="8" name="Text 6"/>
          <p:cNvSpPr/>
          <p:nvPr/>
        </p:nvSpPr>
        <p:spPr>
          <a:xfrm>
            <a:off x="566928" y="216712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Metric views: one formula, everywhere</a:t>
            </a:r>
            <a:endParaRPr lang="en-US" sz="1200" dirty="0"/>
          </a:p>
        </p:txBody>
      </p:sp>
      <p:sp>
        <p:nvSpPr>
          <p:cNvPr id="9" name="Shape 7"/>
          <p:cNvSpPr/>
          <p:nvPr/>
        </p:nvSpPr>
        <p:spPr>
          <a:xfrm>
            <a:off x="2926080" y="216712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0" name="Text 8"/>
          <p:cNvSpPr/>
          <p:nvPr/>
        </p:nvSpPr>
        <p:spPr>
          <a:xfrm>
            <a:off x="3063240" y="216712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Cycle time, processing time, and completions are defined once as governed metric views — numerator, denominator, population, fiscal rules. Genie executes the formula exactly as written instead of re-deriving it per question.</a:t>
            </a:r>
            <a:endParaRPr lang="en-US" sz="1150" dirty="0"/>
          </a:p>
        </p:txBody>
      </p:sp>
      <p:sp>
        <p:nvSpPr>
          <p:cNvPr id="11" name="Shape 9"/>
          <p:cNvSpPr/>
          <p:nvPr/>
        </p:nvSpPr>
        <p:spPr>
          <a:xfrm>
            <a:off x="457200" y="3035808"/>
            <a:ext cx="2331720" cy="749808"/>
          </a:xfrm>
          <a:prstGeom prst="roundRect">
            <a:avLst>
              <a:gd name="adj" fmla="val 7317"/>
            </a:avLst>
          </a:prstGeom>
          <a:solidFill>
            <a:srgbClr val="1F497D"/>
          </a:solidFill>
          <a:ln/>
        </p:spPr>
        <p:txBody>
          <a:bodyPr/>
          <a:lstStyle/>
          <a:p>
            <a:endParaRPr lang="en-US"/>
          </a:p>
        </p:txBody>
      </p:sp>
      <p:sp>
        <p:nvSpPr>
          <p:cNvPr id="12" name="Text 10"/>
          <p:cNvSpPr/>
          <p:nvPr/>
        </p:nvSpPr>
        <p:spPr>
          <a:xfrm>
            <a:off x="566928" y="303580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Joins declared, never guessed</a:t>
            </a:r>
            <a:endParaRPr lang="en-US" sz="1200" dirty="0"/>
          </a:p>
        </p:txBody>
      </p:sp>
      <p:sp>
        <p:nvSpPr>
          <p:cNvPr id="13" name="Shape 11"/>
          <p:cNvSpPr/>
          <p:nvPr/>
        </p:nvSpPr>
        <p:spPr>
          <a:xfrm>
            <a:off x="2926080" y="303580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4" name="Text 12"/>
          <p:cNvSpPr/>
          <p:nvPr/>
        </p:nvSpPr>
        <p:spPr>
          <a:xfrm>
            <a:off x="3063240" y="303580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We declare primary/foreign keys and join direction so the agent never infers relationships from similar column names. Where a join is complicated or unsafe, we ship a pre-joined view instead.</a:t>
            </a:r>
            <a:endParaRPr lang="en-US" sz="1150" dirty="0"/>
          </a:p>
        </p:txBody>
      </p:sp>
      <p:sp>
        <p:nvSpPr>
          <p:cNvPr id="15" name="Shape 13"/>
          <p:cNvSpPr/>
          <p:nvPr/>
        </p:nvSpPr>
        <p:spPr>
          <a:xfrm>
            <a:off x="457200" y="3904488"/>
            <a:ext cx="2331720" cy="749808"/>
          </a:xfrm>
          <a:prstGeom prst="roundRect">
            <a:avLst>
              <a:gd name="adj" fmla="val 7317"/>
            </a:avLst>
          </a:prstGeom>
          <a:solidFill>
            <a:srgbClr val="1F497D"/>
          </a:solidFill>
          <a:ln/>
        </p:spPr>
        <p:txBody>
          <a:bodyPr/>
          <a:lstStyle/>
          <a:p>
            <a:endParaRPr lang="en-US"/>
          </a:p>
        </p:txBody>
      </p:sp>
      <p:sp>
        <p:nvSpPr>
          <p:cNvPr id="16" name="Text 14"/>
          <p:cNvSpPr/>
          <p:nvPr/>
        </p:nvSpPr>
        <p:spPr>
          <a:xfrm>
            <a:off x="566928" y="390448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Value dictionaries — used carefully</a:t>
            </a:r>
            <a:endParaRPr lang="en-US" sz="1200" dirty="0"/>
          </a:p>
        </p:txBody>
      </p:sp>
      <p:sp>
        <p:nvSpPr>
          <p:cNvPr id="17" name="Shape 15"/>
          <p:cNvSpPr/>
          <p:nvPr/>
        </p:nvSpPr>
        <p:spPr>
          <a:xfrm>
            <a:off x="2926080" y="390448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8" name="Text 16"/>
          <p:cNvSpPr/>
          <p:nvPr/>
        </p:nvSpPr>
        <p:spPr>
          <a:xfrm>
            <a:off x="3063240" y="390448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Entity matching maps “Florida” to FL and office nicknames to codes — a major real-world accuracy win. We enable it only for controlled categories (office, form type, status) and never for names, receipt numbers, or other PII.</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Trusted Assets — How an Answer Earns Its Checkmark</a:t>
            </a:r>
            <a:endParaRPr lang="en-US" sz="2500" dirty="0"/>
          </a:p>
        </p:txBody>
      </p:sp>
      <p:sp>
        <p:nvSpPr>
          <p:cNvPr id="3" name="Text 1"/>
          <p:cNvSpPr/>
          <p:nvPr/>
        </p:nvSpPr>
        <p:spPr>
          <a:xfrm>
            <a:off x="457200" y="1243584"/>
            <a:ext cx="8229600" cy="310896"/>
          </a:xfrm>
          <a:prstGeom prst="rect">
            <a:avLst/>
          </a:prstGeom>
          <a:noFill/>
          <a:ln/>
        </p:spPr>
        <p:txBody>
          <a:bodyPr wrap="square" lIns="0" tIns="0" rIns="0" bIns="0"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Recurring, high-value questions never rely on free-form generation — they run pre-approved logic, and users can see the difference.</a:t>
            </a:r>
            <a:endParaRPr lang="en-US" sz="1200" dirty="0"/>
          </a:p>
        </p:txBody>
      </p:sp>
      <p:sp>
        <p:nvSpPr>
          <p:cNvPr id="4" name="Shape 2"/>
          <p:cNvSpPr/>
          <p:nvPr/>
        </p:nvSpPr>
        <p:spPr>
          <a:xfrm>
            <a:off x="457200" y="1627632"/>
            <a:ext cx="4023360" cy="1042416"/>
          </a:xfrm>
          <a:prstGeom prst="roundRect">
            <a:avLst>
              <a:gd name="adj" fmla="val 5263"/>
            </a:avLst>
          </a:prstGeom>
          <a:solidFill>
            <a:srgbClr val="EEF3FA"/>
          </a:solidFill>
          <a:ln w="9525">
            <a:solidFill>
              <a:srgbClr val="4F81BD"/>
            </a:solidFill>
            <a:prstDash val="solid"/>
          </a:ln>
        </p:spPr>
        <p:txBody>
          <a:bodyPr/>
          <a:lstStyle/>
          <a:p>
            <a:endParaRPr lang="en-US"/>
          </a:p>
        </p:txBody>
      </p:sp>
      <p:sp>
        <p:nvSpPr>
          <p:cNvPr id="5" name="Text 3"/>
          <p:cNvSpPr/>
          <p:nvPr/>
        </p:nvSpPr>
        <p:spPr>
          <a:xfrm>
            <a:off x="594360" y="1691640"/>
            <a:ext cx="3749040" cy="27432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Path 1 — Approved parameterized queries</a:t>
            </a:r>
            <a:endParaRPr lang="en-US" sz="1200" dirty="0"/>
          </a:p>
        </p:txBody>
      </p:sp>
      <p:sp>
        <p:nvSpPr>
          <p:cNvPr id="6" name="Text 4"/>
          <p:cNvSpPr/>
          <p:nvPr/>
        </p:nvSpPr>
        <p:spPr>
          <a:xfrm>
            <a:off x="594360" y="1975104"/>
            <a:ext cx="376732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For stable questions where only the date, office, or form changes — “I-765 completions by service center for any month.” Users adjust parameters; the SQL never changes.</a:t>
            </a:r>
            <a:endParaRPr lang="en-US" sz="1000" dirty="0"/>
          </a:p>
        </p:txBody>
      </p:sp>
      <p:sp>
        <p:nvSpPr>
          <p:cNvPr id="7" name="Shape 5"/>
          <p:cNvSpPr/>
          <p:nvPr/>
        </p:nvSpPr>
        <p:spPr>
          <a:xfrm>
            <a:off x="4709160" y="1627632"/>
            <a:ext cx="4023360" cy="1042416"/>
          </a:xfrm>
          <a:prstGeom prst="roundRect">
            <a:avLst>
              <a:gd name="adj" fmla="val 5263"/>
            </a:avLst>
          </a:prstGeom>
          <a:solidFill>
            <a:srgbClr val="DCE6F1"/>
          </a:solidFill>
          <a:ln w="9525">
            <a:solidFill>
              <a:srgbClr val="4F81BD"/>
            </a:solidFill>
            <a:prstDash val="solid"/>
          </a:ln>
        </p:spPr>
        <p:txBody>
          <a:bodyPr/>
          <a:lstStyle/>
          <a:p>
            <a:endParaRPr lang="en-US"/>
          </a:p>
        </p:txBody>
      </p:sp>
      <p:sp>
        <p:nvSpPr>
          <p:cNvPr id="8" name="Text 6"/>
          <p:cNvSpPr/>
          <p:nvPr/>
        </p:nvSpPr>
        <p:spPr>
          <a:xfrm>
            <a:off x="4846320" y="1691640"/>
            <a:ext cx="3749040" cy="27432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Path 2 — Unity Catalog SQL functions</a:t>
            </a:r>
            <a:endParaRPr lang="en-US" sz="1200" dirty="0"/>
          </a:p>
        </p:txBody>
      </p:sp>
      <p:sp>
        <p:nvSpPr>
          <p:cNvPr id="9" name="Text 7"/>
          <p:cNvSpPr/>
          <p:nvPr/>
        </p:nvSpPr>
        <p:spPr>
          <a:xfrm>
            <a:off x="4846320" y="1975104"/>
            <a:ext cx="376732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For complex logic that must be identical everywhere: one approved cycle-time function reused by every agent and dashboard — deterministic, centrally maintained, not editable by users.</a:t>
            </a:r>
            <a:endParaRPr lang="en-US" sz="1000" dirty="0"/>
          </a:p>
        </p:txBody>
      </p:sp>
      <p:sp>
        <p:nvSpPr>
          <p:cNvPr id="10" name="Text 8"/>
          <p:cNvSpPr/>
          <p:nvPr/>
        </p:nvSpPr>
        <p:spPr>
          <a:xfrm>
            <a:off x="457200" y="2834640"/>
            <a:ext cx="5486400" cy="292608"/>
          </a:xfrm>
          <a:prstGeom prst="rect">
            <a:avLst/>
          </a:prstGeom>
          <a:noFill/>
          <a:ln/>
        </p:spPr>
        <p:txBody>
          <a:bodyPr wrap="square" lIns="0" tIns="0" rIns="0" bIns="0" rtlCol="0" anchor="ctr"/>
          <a:lstStyle/>
          <a:p>
            <a:pPr marL="0" indent="0">
              <a:buNone/>
            </a:pPr>
            <a:r>
              <a:rPr lang="en-US" sz="1300" b="1" dirty="0">
                <a:solidFill>
                  <a:srgbClr val="1F497D"/>
                </a:solidFill>
                <a:latin typeface="Calibri" pitchFamily="34" charset="0"/>
                <a:ea typeface="Calibri" pitchFamily="34" charset="-122"/>
                <a:cs typeface="Calibri" pitchFamily="34" charset="-120"/>
              </a:rPr>
              <a:t>How we govern them — every trusted answer has an owner and a paper trail</a:t>
            </a:r>
            <a:endParaRPr lang="en-US" sz="1300" dirty="0"/>
          </a:p>
        </p:txBody>
      </p:sp>
      <p:sp>
        <p:nvSpPr>
          <p:cNvPr id="11" name="Shape 9"/>
          <p:cNvSpPr/>
          <p:nvPr/>
        </p:nvSpPr>
        <p:spPr>
          <a:xfrm>
            <a:off x="457200" y="3218688"/>
            <a:ext cx="1417320" cy="310896"/>
          </a:xfrm>
          <a:prstGeom prst="roundRect">
            <a:avLst>
              <a:gd name="adj" fmla="val 14706"/>
            </a:avLst>
          </a:prstGeom>
          <a:solidFill>
            <a:srgbClr val="1F497D"/>
          </a:solidFill>
          <a:ln/>
        </p:spPr>
        <p:txBody>
          <a:bodyPr/>
          <a:lstStyle/>
          <a:p>
            <a:endParaRPr lang="en-US"/>
          </a:p>
        </p:txBody>
      </p:sp>
      <p:sp>
        <p:nvSpPr>
          <p:cNvPr id="12" name="Text 10"/>
          <p:cNvSpPr/>
          <p:nvPr/>
        </p:nvSpPr>
        <p:spPr>
          <a:xfrm>
            <a:off x="457200" y="3218688"/>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Verification register</a:t>
            </a:r>
            <a:endParaRPr lang="en-US" sz="950" dirty="0"/>
          </a:p>
        </p:txBody>
      </p:sp>
      <p:sp>
        <p:nvSpPr>
          <p:cNvPr id="13" name="Text 11"/>
          <p:cNvSpPr/>
          <p:nvPr/>
        </p:nvSpPr>
        <p:spPr>
          <a:xfrm>
            <a:off x="2011680" y="3200400"/>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Each trusted answer is logged: question family, approved phrasings, source assets, business owner, approval date, review date, and last benchmark result.</a:t>
            </a:r>
            <a:endParaRPr lang="en-US" sz="1000" dirty="0"/>
          </a:p>
        </p:txBody>
      </p:sp>
      <p:sp>
        <p:nvSpPr>
          <p:cNvPr id="14" name="Shape 12"/>
          <p:cNvSpPr/>
          <p:nvPr/>
        </p:nvSpPr>
        <p:spPr>
          <a:xfrm>
            <a:off x="457200" y="3621024"/>
            <a:ext cx="1417320" cy="310896"/>
          </a:xfrm>
          <a:prstGeom prst="roundRect">
            <a:avLst>
              <a:gd name="adj" fmla="val 14706"/>
            </a:avLst>
          </a:prstGeom>
          <a:solidFill>
            <a:srgbClr val="1F497D"/>
          </a:solidFill>
          <a:ln/>
        </p:spPr>
        <p:txBody>
          <a:bodyPr/>
          <a:lstStyle/>
          <a:p>
            <a:endParaRPr lang="en-US"/>
          </a:p>
        </p:txBody>
      </p:sp>
      <p:sp>
        <p:nvSpPr>
          <p:cNvPr id="15" name="Text 13"/>
          <p:cNvSpPr/>
          <p:nvPr/>
        </p:nvSpPr>
        <p:spPr>
          <a:xfrm>
            <a:off x="457200" y="3621024"/>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What the checkmark means</a:t>
            </a:r>
            <a:endParaRPr lang="en-US" sz="950" dirty="0"/>
          </a:p>
        </p:txBody>
      </p:sp>
      <p:sp>
        <p:nvSpPr>
          <p:cNvPr id="16" name="Text 14"/>
          <p:cNvSpPr/>
          <p:nvPr/>
        </p:nvSpPr>
        <p:spPr>
          <a:xfrm>
            <a:off x="2011680" y="3602736"/>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Verified = approved logic ran. It does not guarantee the user asked the intended question — so phrasing review stays part of the workflow.</a:t>
            </a:r>
            <a:endParaRPr lang="en-US" sz="1000" dirty="0"/>
          </a:p>
        </p:txBody>
      </p:sp>
      <p:sp>
        <p:nvSpPr>
          <p:cNvPr id="17" name="Shape 15"/>
          <p:cNvSpPr/>
          <p:nvPr/>
        </p:nvSpPr>
        <p:spPr>
          <a:xfrm>
            <a:off x="457200" y="4023360"/>
            <a:ext cx="1417320" cy="310896"/>
          </a:xfrm>
          <a:prstGeom prst="roundRect">
            <a:avLst>
              <a:gd name="adj" fmla="val 14706"/>
            </a:avLst>
          </a:prstGeom>
          <a:solidFill>
            <a:srgbClr val="1F497D"/>
          </a:solidFill>
          <a:ln/>
        </p:spPr>
        <p:txBody>
          <a:bodyPr/>
          <a:lstStyle/>
          <a:p>
            <a:endParaRPr lang="en-US"/>
          </a:p>
        </p:txBody>
      </p:sp>
      <p:sp>
        <p:nvSpPr>
          <p:cNvPr id="18" name="Text 16"/>
          <p:cNvSpPr/>
          <p:nvPr/>
        </p:nvSpPr>
        <p:spPr>
          <a:xfrm>
            <a:off x="457200" y="4023360"/>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Owned &amp; re-approved</a:t>
            </a:r>
            <a:endParaRPr lang="en-US" sz="950" dirty="0"/>
          </a:p>
        </p:txBody>
      </p:sp>
      <p:sp>
        <p:nvSpPr>
          <p:cNvPr id="19" name="Text 17"/>
          <p:cNvSpPr/>
          <p:nvPr/>
        </p:nvSpPr>
        <p:spPr>
          <a:xfrm>
            <a:off x="2011680" y="4005072"/>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Every asset has a business SME and a technical owner, with a scheduled review date — trusted answers cannot quietly go stale.</a:t>
            </a:r>
            <a:endParaRPr lang="en-US" sz="1000" dirty="0"/>
          </a:p>
        </p:txBody>
      </p:sp>
      <p:sp>
        <p:nvSpPr>
          <p:cNvPr id="20" name="Shape 18"/>
          <p:cNvSpPr/>
          <p:nvPr/>
        </p:nvSpPr>
        <p:spPr>
          <a:xfrm>
            <a:off x="457200" y="4425696"/>
            <a:ext cx="1417320" cy="310896"/>
          </a:xfrm>
          <a:prstGeom prst="roundRect">
            <a:avLst>
              <a:gd name="adj" fmla="val 14706"/>
            </a:avLst>
          </a:prstGeom>
          <a:solidFill>
            <a:srgbClr val="1F497D"/>
          </a:solidFill>
          <a:ln/>
        </p:spPr>
        <p:txBody>
          <a:bodyPr/>
          <a:lstStyle/>
          <a:p>
            <a:endParaRPr lang="en-US"/>
          </a:p>
        </p:txBody>
      </p:sp>
      <p:sp>
        <p:nvSpPr>
          <p:cNvPr id="21" name="Text 19"/>
          <p:cNvSpPr/>
          <p:nvPr/>
        </p:nvSpPr>
        <p:spPr>
          <a:xfrm>
            <a:off x="457200" y="4425696"/>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Deterministic by design</a:t>
            </a:r>
            <a:endParaRPr lang="en-US" sz="950" dirty="0"/>
          </a:p>
        </p:txBody>
      </p:sp>
      <p:sp>
        <p:nvSpPr>
          <p:cNvPr id="22" name="Text 20"/>
          <p:cNvSpPr/>
          <p:nvPr/>
        </p:nvSpPr>
        <p:spPr>
          <a:xfrm>
            <a:off x="2011680" y="4407408"/>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For leadership’s recurring numbers, the same question always runs the same governed calculation — no model variance in the answer.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Benchmarks — the Release Gate Before Users See Anything</a:t>
            </a:r>
            <a:endParaRPr lang="en-US" sz="2500" dirty="0"/>
          </a:p>
        </p:txBody>
      </p:sp>
      <p:sp>
        <p:nvSpPr>
          <p:cNvPr id="3" name="Shape 1"/>
          <p:cNvSpPr/>
          <p:nvPr/>
        </p:nvSpPr>
        <p:spPr>
          <a:xfrm>
            <a:off x="457200" y="1371600"/>
            <a:ext cx="2651760" cy="1417320"/>
          </a:xfrm>
          <a:prstGeom prst="roundRect">
            <a:avLst>
              <a:gd name="adj" fmla="val 3871"/>
            </a:avLst>
          </a:prstGeom>
          <a:solidFill>
            <a:srgbClr val="EEF3FA"/>
          </a:solidFill>
          <a:ln w="9525">
            <a:solidFill>
              <a:srgbClr val="4F81BD"/>
            </a:solidFill>
            <a:prstDash val="solid"/>
          </a:ln>
        </p:spPr>
        <p:txBody>
          <a:bodyPr/>
          <a:lstStyle/>
          <a:p>
            <a:endParaRPr lang="en-US"/>
          </a:p>
        </p:txBody>
      </p:sp>
      <p:sp>
        <p:nvSpPr>
          <p:cNvPr id="4" name="Text 2"/>
          <p:cNvSpPr/>
          <p:nvPr/>
        </p:nvSpPr>
        <p:spPr>
          <a:xfrm>
            <a:off x="548640" y="1463040"/>
            <a:ext cx="2468880" cy="502920"/>
          </a:xfrm>
          <a:prstGeom prst="rect">
            <a:avLst/>
          </a:prstGeom>
          <a:noFill/>
          <a:ln/>
        </p:spPr>
        <p:txBody>
          <a:bodyPr wrap="square" lIns="0" tIns="0" rIns="0" bIns="0" rtlCol="0" anchor="ctr"/>
          <a:lstStyle/>
          <a:p>
            <a:pPr marL="0" indent="0" algn="ctr">
              <a:buNone/>
            </a:pPr>
            <a:r>
              <a:rPr lang="en-US" sz="2200" b="1" dirty="0">
                <a:solidFill>
                  <a:srgbClr val="1F497D"/>
                </a:solidFill>
                <a:latin typeface="Calibri" pitchFamily="34" charset="0"/>
                <a:ea typeface="Calibri" pitchFamily="34" charset="-122"/>
                <a:cs typeface="Calibri" pitchFamily="34" charset="-120"/>
              </a:rPr>
              <a:t>0 → 100%</a:t>
            </a:r>
            <a:endParaRPr lang="en-US" sz="2200" dirty="0"/>
          </a:p>
        </p:txBody>
      </p:sp>
      <p:sp>
        <p:nvSpPr>
          <p:cNvPr id="5" name="Text 3"/>
          <p:cNvSpPr/>
          <p:nvPr/>
        </p:nvSpPr>
        <p:spPr>
          <a:xfrm>
            <a:off x="594360" y="1993392"/>
            <a:ext cx="2377440" cy="731520"/>
          </a:xfrm>
          <a:prstGeom prst="rect">
            <a:avLst/>
          </a:prstGeom>
          <a:noFill/>
          <a:ln/>
        </p:spPr>
        <p:txBody>
          <a:bodyPr wrap="square" lIns="0" tIns="0" rIns="0" bIns="0" rtlCol="0" anchor="ctr"/>
          <a:lstStyle/>
          <a:p>
            <a:pPr marL="0" indent="0" algn="ctr">
              <a:buNone/>
            </a:pPr>
            <a:r>
              <a:rPr lang="en-US" sz="950" dirty="0">
                <a:solidFill>
                  <a:srgbClr val="1A1A1A"/>
                </a:solidFill>
                <a:latin typeface="Calibri" pitchFamily="34" charset="0"/>
                <a:ea typeface="Calibri" pitchFamily="34" charset="-122"/>
                <a:cs typeface="Calibri" pitchFamily="34" charset="-120"/>
              </a:rPr>
              <a:t>Databricks’ production case study went from 0-of-13 correct to 100% by fixing metadata, joins, and metric logic — the tuning loop works</a:t>
            </a:r>
            <a:endParaRPr lang="en-US" sz="950" dirty="0"/>
          </a:p>
        </p:txBody>
      </p:sp>
      <p:sp>
        <p:nvSpPr>
          <p:cNvPr id="6" name="Shape 4"/>
          <p:cNvSpPr/>
          <p:nvPr/>
        </p:nvSpPr>
        <p:spPr>
          <a:xfrm>
            <a:off x="3264408" y="1371600"/>
            <a:ext cx="2651760" cy="1417320"/>
          </a:xfrm>
          <a:prstGeom prst="roundRect">
            <a:avLst>
              <a:gd name="adj" fmla="val 3871"/>
            </a:avLst>
          </a:prstGeom>
          <a:solidFill>
            <a:srgbClr val="1F497D"/>
          </a:solidFill>
          <a:ln w="9525">
            <a:solidFill>
              <a:srgbClr val="4F81BD"/>
            </a:solidFill>
            <a:prstDash val="solid"/>
          </a:ln>
        </p:spPr>
        <p:txBody>
          <a:bodyPr/>
          <a:lstStyle/>
          <a:p>
            <a:endParaRPr lang="en-US"/>
          </a:p>
        </p:txBody>
      </p:sp>
      <p:sp>
        <p:nvSpPr>
          <p:cNvPr id="7" name="Text 5"/>
          <p:cNvSpPr/>
          <p:nvPr/>
        </p:nvSpPr>
        <p:spPr>
          <a:xfrm>
            <a:off x="3355848" y="1463040"/>
            <a:ext cx="24688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100% pass</a:t>
            </a:r>
            <a:endParaRPr lang="en-US" sz="2200" dirty="0"/>
          </a:p>
        </p:txBody>
      </p:sp>
      <p:sp>
        <p:nvSpPr>
          <p:cNvPr id="8" name="Text 6"/>
          <p:cNvSpPr/>
          <p:nvPr/>
        </p:nvSpPr>
        <p:spPr>
          <a:xfrm>
            <a:off x="3401568" y="1993392"/>
            <a:ext cx="2377440" cy="731520"/>
          </a:xfrm>
          <a:prstGeom prst="rect">
            <a:avLst/>
          </a:prstGeom>
          <a:noFill/>
          <a:ln/>
        </p:spPr>
        <p:txBody>
          <a:bodyPr wrap="square" lIns="0" tIns="0" rIns="0" bIns="0" rtlCol="0" anchor="ctr"/>
          <a:lstStyle/>
          <a:p>
            <a:pPr marL="0" indent="0" algn="ctr">
              <a:buNone/>
            </a:pPr>
            <a:r>
              <a:rPr lang="en-US" sz="950" dirty="0">
                <a:solidFill>
                  <a:srgbClr val="DCE6F1"/>
                </a:solidFill>
                <a:latin typeface="Calibri" pitchFamily="34" charset="0"/>
                <a:ea typeface="Calibri" pitchFamily="34" charset="-122"/>
                <a:cs typeface="Calibri" pitchFamily="34" charset="-120"/>
              </a:rPr>
              <a:t>Our launch gate for Tier-1 recurring leadership questions — every one must pass on its trusted asset before rollout</a:t>
            </a:r>
            <a:endParaRPr lang="en-US" sz="950" dirty="0"/>
          </a:p>
        </p:txBody>
      </p:sp>
      <p:sp>
        <p:nvSpPr>
          <p:cNvPr id="9" name="Shape 7"/>
          <p:cNvSpPr/>
          <p:nvPr/>
        </p:nvSpPr>
        <p:spPr>
          <a:xfrm>
            <a:off x="6071616" y="1371600"/>
            <a:ext cx="2651760" cy="1417320"/>
          </a:xfrm>
          <a:prstGeom prst="roundRect">
            <a:avLst>
              <a:gd name="adj" fmla="val 3871"/>
            </a:avLst>
          </a:prstGeom>
          <a:solidFill>
            <a:srgbClr val="EEF3FA"/>
          </a:solidFill>
          <a:ln w="9525">
            <a:solidFill>
              <a:srgbClr val="4F81BD"/>
            </a:solidFill>
            <a:prstDash val="solid"/>
          </a:ln>
        </p:spPr>
        <p:txBody>
          <a:bodyPr/>
          <a:lstStyle/>
          <a:p>
            <a:endParaRPr lang="en-US"/>
          </a:p>
        </p:txBody>
      </p:sp>
      <p:sp>
        <p:nvSpPr>
          <p:cNvPr id="10" name="Text 8"/>
          <p:cNvSpPr/>
          <p:nvPr/>
        </p:nvSpPr>
        <p:spPr>
          <a:xfrm>
            <a:off x="6163056" y="1463040"/>
            <a:ext cx="2468880" cy="502920"/>
          </a:xfrm>
          <a:prstGeom prst="rect">
            <a:avLst/>
          </a:prstGeom>
          <a:noFill/>
          <a:ln/>
        </p:spPr>
        <p:txBody>
          <a:bodyPr wrap="square" lIns="0" tIns="0" rIns="0" bIns="0" rtlCol="0" anchor="ctr"/>
          <a:lstStyle/>
          <a:p>
            <a:pPr marL="0" indent="0" algn="ctr">
              <a:buNone/>
            </a:pPr>
            <a:r>
              <a:rPr lang="en-US" sz="2200" b="1" dirty="0">
                <a:solidFill>
                  <a:srgbClr val="1F497D"/>
                </a:solidFill>
                <a:latin typeface="Calibri" pitchFamily="34" charset="0"/>
                <a:ea typeface="Calibri" pitchFamily="34" charset="-122"/>
                <a:cs typeface="Calibri" pitchFamily="34" charset="-120"/>
              </a:rPr>
              <a:t>90–95% pass</a:t>
            </a:r>
            <a:endParaRPr lang="en-US" sz="2200" dirty="0"/>
          </a:p>
        </p:txBody>
      </p:sp>
      <p:sp>
        <p:nvSpPr>
          <p:cNvPr id="11" name="Text 9"/>
          <p:cNvSpPr/>
          <p:nvPr/>
        </p:nvSpPr>
        <p:spPr>
          <a:xfrm>
            <a:off x="6208776" y="1993392"/>
            <a:ext cx="2377440" cy="731520"/>
          </a:xfrm>
          <a:prstGeom prst="rect">
            <a:avLst/>
          </a:prstGeom>
          <a:noFill/>
          <a:ln/>
        </p:spPr>
        <p:txBody>
          <a:bodyPr wrap="square" lIns="0" tIns="0" rIns="0" bIns="0" rtlCol="0" anchor="ctr"/>
          <a:lstStyle/>
          <a:p>
            <a:pPr marL="0" indent="0" algn="ctr">
              <a:buNone/>
            </a:pPr>
            <a:r>
              <a:rPr lang="en-US" sz="950" dirty="0">
                <a:solidFill>
                  <a:srgbClr val="1A1A1A"/>
                </a:solidFill>
                <a:latin typeface="Calibri" pitchFamily="34" charset="0"/>
                <a:ea typeface="Calibri" pitchFamily="34" charset="-122"/>
                <a:cs typeface="Calibri" pitchFamily="34" charset="-120"/>
              </a:rPr>
              <a:t>Our gate for the broader approved benchmark suite — re-scored after every change, not once at launch</a:t>
            </a:r>
            <a:endParaRPr lang="en-US" sz="950" dirty="0"/>
          </a:p>
        </p:txBody>
      </p:sp>
      <p:sp>
        <p:nvSpPr>
          <p:cNvPr id="12" name="Shape 10"/>
          <p:cNvSpPr/>
          <p:nvPr/>
        </p:nvSpPr>
        <p:spPr>
          <a:xfrm>
            <a:off x="457200" y="3017520"/>
            <a:ext cx="4023360" cy="731520"/>
          </a:xfrm>
          <a:prstGeom prst="roundRect">
            <a:avLst>
              <a:gd name="adj" fmla="val 7500"/>
            </a:avLst>
          </a:prstGeom>
          <a:solidFill>
            <a:srgbClr val="EEF3FA"/>
          </a:solidFill>
          <a:ln w="9525">
            <a:solidFill>
              <a:srgbClr val="DCE6F1"/>
            </a:solidFill>
            <a:prstDash val="solid"/>
          </a:ln>
        </p:spPr>
        <p:txBody>
          <a:bodyPr/>
          <a:lstStyle/>
          <a:p>
            <a:endParaRPr lang="en-US"/>
          </a:p>
        </p:txBody>
      </p:sp>
      <p:sp>
        <p:nvSpPr>
          <p:cNvPr id="13" name="Text 11"/>
          <p:cNvSpPr/>
          <p:nvPr/>
        </p:nvSpPr>
        <p:spPr>
          <a:xfrm>
            <a:off x="585216" y="3063240"/>
            <a:ext cx="3749040" cy="237744"/>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What a benchmark is</a:t>
            </a:r>
            <a:endParaRPr lang="en-US" sz="1100" dirty="0"/>
          </a:p>
        </p:txBody>
      </p:sp>
      <p:sp>
        <p:nvSpPr>
          <p:cNvPr id="14" name="Text 12"/>
          <p:cNvSpPr/>
          <p:nvPr/>
        </p:nvSpPr>
        <p:spPr>
          <a:xfrm>
            <a:off x="585216" y="3300984"/>
            <a:ext cx="3794760" cy="420624"/>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10–20 real USCIS questions with known-correct SQL, each written in 2–4 natural phrasings (Databricks supports up to 500 per agent).</a:t>
            </a:r>
            <a:endParaRPr lang="en-US" sz="950" dirty="0"/>
          </a:p>
        </p:txBody>
      </p:sp>
      <p:sp>
        <p:nvSpPr>
          <p:cNvPr id="15" name="Shape 13"/>
          <p:cNvSpPr/>
          <p:nvPr/>
        </p:nvSpPr>
        <p:spPr>
          <a:xfrm>
            <a:off x="4709160" y="3017520"/>
            <a:ext cx="4023360" cy="731520"/>
          </a:xfrm>
          <a:prstGeom prst="roundRect">
            <a:avLst>
              <a:gd name="adj" fmla="val 7500"/>
            </a:avLst>
          </a:prstGeom>
          <a:solidFill>
            <a:srgbClr val="EEF3FA"/>
          </a:solidFill>
          <a:ln w="9525">
            <a:solidFill>
              <a:srgbClr val="DCE6F1"/>
            </a:solidFill>
            <a:prstDash val="solid"/>
          </a:ln>
        </p:spPr>
        <p:txBody>
          <a:bodyPr/>
          <a:lstStyle/>
          <a:p>
            <a:endParaRPr lang="en-US"/>
          </a:p>
        </p:txBody>
      </p:sp>
      <p:sp>
        <p:nvSpPr>
          <p:cNvPr id="16" name="Text 14"/>
          <p:cNvSpPr/>
          <p:nvPr/>
        </p:nvSpPr>
        <p:spPr>
          <a:xfrm>
            <a:off x="4837176" y="3063240"/>
            <a:ext cx="3749040" cy="237744"/>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What we test</a:t>
            </a:r>
            <a:endParaRPr lang="en-US" sz="1100" dirty="0"/>
          </a:p>
        </p:txBody>
      </p:sp>
      <p:sp>
        <p:nvSpPr>
          <p:cNvPr id="17" name="Text 15"/>
          <p:cNvSpPr/>
          <p:nvPr/>
        </p:nvSpPr>
        <p:spPr>
          <a:xfrm>
            <a:off x="4837176" y="3300984"/>
            <a:ext cx="3794760" cy="420624"/>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Joins, fiscal periods, acronyms and misspellings, empty results, ambiguous questions — and out-of-scope questions the agent must refuse.</a:t>
            </a:r>
            <a:endParaRPr lang="en-US" sz="950" dirty="0"/>
          </a:p>
        </p:txBody>
      </p:sp>
      <p:sp>
        <p:nvSpPr>
          <p:cNvPr id="18" name="Shape 16"/>
          <p:cNvSpPr/>
          <p:nvPr/>
        </p:nvSpPr>
        <p:spPr>
          <a:xfrm>
            <a:off x="457200" y="3858768"/>
            <a:ext cx="4023360" cy="731520"/>
          </a:xfrm>
          <a:prstGeom prst="roundRect">
            <a:avLst>
              <a:gd name="adj" fmla="val 7500"/>
            </a:avLst>
          </a:prstGeom>
          <a:solidFill>
            <a:srgbClr val="EEF3FA"/>
          </a:solidFill>
          <a:ln w="9525">
            <a:solidFill>
              <a:srgbClr val="DCE6F1"/>
            </a:solidFill>
            <a:prstDash val="solid"/>
          </a:ln>
        </p:spPr>
        <p:txBody>
          <a:bodyPr/>
          <a:lstStyle/>
          <a:p>
            <a:endParaRPr lang="en-US"/>
          </a:p>
        </p:txBody>
      </p:sp>
      <p:sp>
        <p:nvSpPr>
          <p:cNvPr id="19" name="Text 17"/>
          <p:cNvSpPr/>
          <p:nvPr/>
        </p:nvSpPr>
        <p:spPr>
          <a:xfrm>
            <a:off x="585216" y="3904488"/>
            <a:ext cx="3749040" cy="237744"/>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Release checklist</a:t>
            </a:r>
            <a:endParaRPr lang="en-US" sz="1100" dirty="0"/>
          </a:p>
        </p:txBody>
      </p:sp>
      <p:sp>
        <p:nvSpPr>
          <p:cNvPr id="20" name="Text 18"/>
          <p:cNvSpPr/>
          <p:nvPr/>
        </p:nvSpPr>
        <p:spPr>
          <a:xfrm>
            <a:off x="585216" y="4142232"/>
            <a:ext cx="3794760" cy="420624"/>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No critical question uses an unapproved source, no metric has two active definitions, freshness checks pass, SME sign-off recorded, rollback ready.</a:t>
            </a:r>
            <a:endParaRPr lang="en-US" sz="950" dirty="0"/>
          </a:p>
        </p:txBody>
      </p:sp>
      <p:sp>
        <p:nvSpPr>
          <p:cNvPr id="21" name="Shape 19"/>
          <p:cNvSpPr/>
          <p:nvPr/>
        </p:nvSpPr>
        <p:spPr>
          <a:xfrm>
            <a:off x="4709160" y="3858768"/>
            <a:ext cx="4023360" cy="731520"/>
          </a:xfrm>
          <a:prstGeom prst="roundRect">
            <a:avLst>
              <a:gd name="adj" fmla="val 7500"/>
            </a:avLst>
          </a:prstGeom>
          <a:solidFill>
            <a:srgbClr val="EEF3FA"/>
          </a:solidFill>
          <a:ln w="9525">
            <a:solidFill>
              <a:srgbClr val="DCE6F1"/>
            </a:solidFill>
            <a:prstDash val="solid"/>
          </a:ln>
        </p:spPr>
        <p:txBody>
          <a:bodyPr/>
          <a:lstStyle/>
          <a:p>
            <a:endParaRPr lang="en-US"/>
          </a:p>
        </p:txBody>
      </p:sp>
      <p:sp>
        <p:nvSpPr>
          <p:cNvPr id="22" name="Text 20"/>
          <p:cNvSpPr/>
          <p:nvPr/>
        </p:nvSpPr>
        <p:spPr>
          <a:xfrm>
            <a:off x="4837176" y="3904488"/>
            <a:ext cx="3749040" cy="237744"/>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Re-tested on every change</a:t>
            </a:r>
            <a:endParaRPr lang="en-US" sz="1100" dirty="0"/>
          </a:p>
        </p:txBody>
      </p:sp>
      <p:sp>
        <p:nvSpPr>
          <p:cNvPr id="23" name="Text 21"/>
          <p:cNvSpPr/>
          <p:nvPr/>
        </p:nvSpPr>
        <p:spPr>
          <a:xfrm>
            <a:off x="4837176" y="4142232"/>
            <a:ext cx="3794760" cy="420624"/>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Any change to data, definitions, or instructions re-runs the full suite; an unexplained score regression blocks the release.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Catching Incorrect Answers</a:t>
            </a:r>
            <a:endParaRPr lang="en-US" sz="2500" dirty="0"/>
          </a:p>
        </p:txBody>
      </p:sp>
      <p:sp>
        <p:nvSpPr>
          <p:cNvPr id="3" name="Text 1"/>
          <p:cNvSpPr/>
          <p:nvPr/>
        </p:nvSpPr>
        <p:spPr>
          <a:xfrm>
            <a:off x="457200" y="1243584"/>
            <a:ext cx="8229600" cy="310896"/>
          </a:xfrm>
          <a:prstGeom prst="rect">
            <a:avLst/>
          </a:prstGeom>
          <a:noFill/>
          <a:ln/>
        </p:spPr>
        <p:txBody>
          <a:bodyPr wrap="square" lIns="0" tIns="0" rIns="0" bIns="0"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Every question, answer, and executed query is logged — so “the agent used the wrong table” becomes a measurable alert, not a suspicion.</a:t>
            </a:r>
            <a:endParaRPr lang="en-US" sz="1200" dirty="0"/>
          </a:p>
        </p:txBody>
      </p:sp>
      <p:sp>
        <p:nvSpPr>
          <p:cNvPr id="4" name="Shape 2"/>
          <p:cNvSpPr/>
          <p:nvPr/>
        </p:nvSpPr>
        <p:spPr>
          <a:xfrm>
            <a:off x="457200" y="1627632"/>
            <a:ext cx="4023360" cy="1042416"/>
          </a:xfrm>
          <a:prstGeom prst="roundRect">
            <a:avLst>
              <a:gd name="adj" fmla="val 5263"/>
            </a:avLst>
          </a:prstGeom>
          <a:solidFill>
            <a:srgbClr val="EEF3FA"/>
          </a:solidFill>
          <a:ln w="9525">
            <a:solidFill>
              <a:srgbClr val="4F81BD"/>
            </a:solidFill>
            <a:prstDash val="solid"/>
          </a:ln>
        </p:spPr>
        <p:txBody>
          <a:bodyPr/>
          <a:lstStyle/>
          <a:p>
            <a:endParaRPr lang="en-US"/>
          </a:p>
        </p:txBody>
      </p:sp>
      <p:sp>
        <p:nvSpPr>
          <p:cNvPr id="5" name="Text 3"/>
          <p:cNvSpPr/>
          <p:nvPr/>
        </p:nvSpPr>
        <p:spPr>
          <a:xfrm>
            <a:off x="594360" y="1691640"/>
            <a:ext cx="3749040" cy="27432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Layer 1 — Built-in monitoring &amp; human review</a:t>
            </a:r>
            <a:endParaRPr lang="en-US" sz="1200" dirty="0"/>
          </a:p>
        </p:txBody>
      </p:sp>
      <p:sp>
        <p:nvSpPr>
          <p:cNvPr id="6" name="Text 4"/>
          <p:cNvSpPr/>
          <p:nvPr/>
        </p:nvSpPr>
        <p:spPr>
          <a:xfrm>
            <a:off x="594360" y="1975104"/>
            <a:ext cx="376732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The Monitor tab shows every question, answer, thumbs-up/down, and review request. SMEs review flags — feedback never silently retrains the agent; an editor makes each fix.</a:t>
            </a:r>
            <a:endParaRPr lang="en-US" sz="1000" dirty="0"/>
          </a:p>
        </p:txBody>
      </p:sp>
      <p:sp>
        <p:nvSpPr>
          <p:cNvPr id="7" name="Shape 5"/>
          <p:cNvSpPr/>
          <p:nvPr/>
        </p:nvSpPr>
        <p:spPr>
          <a:xfrm>
            <a:off x="4709160" y="1627632"/>
            <a:ext cx="4023360" cy="1042416"/>
          </a:xfrm>
          <a:prstGeom prst="roundRect">
            <a:avLst>
              <a:gd name="adj" fmla="val 5263"/>
            </a:avLst>
          </a:prstGeom>
          <a:solidFill>
            <a:srgbClr val="DCE6F1"/>
          </a:solidFill>
          <a:ln w="9525">
            <a:solidFill>
              <a:srgbClr val="4F81BD"/>
            </a:solidFill>
            <a:prstDash val="solid"/>
          </a:ln>
        </p:spPr>
        <p:txBody>
          <a:bodyPr/>
          <a:lstStyle/>
          <a:p>
            <a:endParaRPr lang="en-US"/>
          </a:p>
        </p:txBody>
      </p:sp>
      <p:sp>
        <p:nvSpPr>
          <p:cNvPr id="8" name="Text 6"/>
          <p:cNvSpPr/>
          <p:nvPr/>
        </p:nvSpPr>
        <p:spPr>
          <a:xfrm>
            <a:off x="4846320" y="1691640"/>
            <a:ext cx="3749040" cy="27432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Layer 2 — The wrong-table alarm</a:t>
            </a:r>
            <a:endParaRPr lang="en-US" sz="1200" dirty="0"/>
          </a:p>
        </p:txBody>
      </p:sp>
      <p:sp>
        <p:nvSpPr>
          <p:cNvPr id="9" name="Text 7"/>
          <p:cNvSpPr/>
          <p:nvPr/>
        </p:nvSpPr>
        <p:spPr>
          <a:xfrm>
            <a:off x="4846320" y="1975104"/>
            <a:ext cx="3767328" cy="6583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Query history + Unity Catalog lineage record exactly which tables each answer read. We keep an approved-source allowlist per agent and alert the moment an answer touches a deprecated or unapproved table.</a:t>
            </a:r>
            <a:endParaRPr lang="en-US" sz="1000" dirty="0"/>
          </a:p>
        </p:txBody>
      </p:sp>
      <p:sp>
        <p:nvSpPr>
          <p:cNvPr id="10" name="Text 8"/>
          <p:cNvSpPr/>
          <p:nvPr/>
        </p:nvSpPr>
        <p:spPr>
          <a:xfrm>
            <a:off x="457200" y="2834640"/>
            <a:ext cx="5486400" cy="292608"/>
          </a:xfrm>
          <a:prstGeom prst="rect">
            <a:avLst/>
          </a:prstGeom>
          <a:noFill/>
          <a:ln/>
        </p:spPr>
        <p:txBody>
          <a:bodyPr wrap="square" lIns="0" tIns="0" rIns="0" bIns="0" rtlCol="0" anchor="ctr"/>
          <a:lstStyle/>
          <a:p>
            <a:pPr marL="0" indent="0">
              <a:buNone/>
            </a:pPr>
            <a:r>
              <a:rPr lang="en-US" sz="1300" b="1" dirty="0">
                <a:solidFill>
                  <a:srgbClr val="1F497D"/>
                </a:solidFill>
                <a:latin typeface="Calibri" pitchFamily="34" charset="0"/>
                <a:ea typeface="Calibri" pitchFamily="34" charset="-122"/>
                <a:cs typeface="Calibri" pitchFamily="34" charset="-120"/>
              </a:rPr>
              <a:t>The telemetry behind it — same system tables, no new platform</a:t>
            </a:r>
            <a:endParaRPr lang="en-US" sz="1300" dirty="0"/>
          </a:p>
        </p:txBody>
      </p:sp>
      <p:sp>
        <p:nvSpPr>
          <p:cNvPr id="11" name="Shape 9"/>
          <p:cNvSpPr/>
          <p:nvPr/>
        </p:nvSpPr>
        <p:spPr>
          <a:xfrm>
            <a:off x="457200" y="3218688"/>
            <a:ext cx="1417320" cy="310896"/>
          </a:xfrm>
          <a:prstGeom prst="roundRect">
            <a:avLst>
              <a:gd name="adj" fmla="val 14706"/>
            </a:avLst>
          </a:prstGeom>
          <a:solidFill>
            <a:srgbClr val="1F497D"/>
          </a:solidFill>
          <a:ln/>
        </p:spPr>
        <p:txBody>
          <a:bodyPr/>
          <a:lstStyle/>
          <a:p>
            <a:endParaRPr lang="en-US"/>
          </a:p>
        </p:txBody>
      </p:sp>
      <p:sp>
        <p:nvSpPr>
          <p:cNvPr id="12" name="Text 10"/>
          <p:cNvSpPr/>
          <p:nvPr/>
        </p:nvSpPr>
        <p:spPr>
          <a:xfrm>
            <a:off x="457200" y="3218688"/>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Telemetry pipeline</a:t>
            </a:r>
            <a:endParaRPr lang="en-US" sz="950" dirty="0"/>
          </a:p>
        </p:txBody>
      </p:sp>
      <p:sp>
        <p:nvSpPr>
          <p:cNvPr id="13" name="Text 11"/>
          <p:cNvSpPr/>
          <p:nvPr/>
        </p:nvSpPr>
        <p:spPr>
          <a:xfrm>
            <a:off x="2011680" y="3200400"/>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The Conversation API captures each question, generated SQL, sources used, and whether a trusted asset fired — stored secured, anonymized for analysts.</a:t>
            </a:r>
            <a:endParaRPr lang="en-US" sz="1000" dirty="0"/>
          </a:p>
        </p:txBody>
      </p:sp>
      <p:sp>
        <p:nvSpPr>
          <p:cNvPr id="14" name="Shape 12"/>
          <p:cNvSpPr/>
          <p:nvPr/>
        </p:nvSpPr>
        <p:spPr>
          <a:xfrm>
            <a:off x="457200" y="3621024"/>
            <a:ext cx="1417320" cy="310896"/>
          </a:xfrm>
          <a:prstGeom prst="roundRect">
            <a:avLst>
              <a:gd name="adj" fmla="val 14706"/>
            </a:avLst>
          </a:prstGeom>
          <a:solidFill>
            <a:srgbClr val="1F497D"/>
          </a:solidFill>
          <a:ln/>
        </p:spPr>
        <p:txBody>
          <a:bodyPr/>
          <a:lstStyle/>
          <a:p>
            <a:endParaRPr lang="en-US"/>
          </a:p>
        </p:txBody>
      </p:sp>
      <p:sp>
        <p:nvSpPr>
          <p:cNvPr id="15" name="Text 13"/>
          <p:cNvSpPr/>
          <p:nvPr/>
        </p:nvSpPr>
        <p:spPr>
          <a:xfrm>
            <a:off x="457200" y="3621024"/>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Audit logs</a:t>
            </a:r>
            <a:endParaRPr lang="en-US" sz="950" dirty="0"/>
          </a:p>
        </p:txBody>
      </p:sp>
      <p:sp>
        <p:nvSpPr>
          <p:cNvPr id="16" name="Text 14"/>
          <p:cNvSpPr/>
          <p:nvPr/>
        </p:nvSpPr>
        <p:spPr>
          <a:xfrm>
            <a:off x="2011680" y="3602736"/>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system.access.audit records who asked what — and every change to agent instructions and sources — for full accountability.</a:t>
            </a:r>
            <a:endParaRPr lang="en-US" sz="1000" dirty="0"/>
          </a:p>
        </p:txBody>
      </p:sp>
      <p:sp>
        <p:nvSpPr>
          <p:cNvPr id="17" name="Shape 15"/>
          <p:cNvSpPr/>
          <p:nvPr/>
        </p:nvSpPr>
        <p:spPr>
          <a:xfrm>
            <a:off x="457200" y="4023360"/>
            <a:ext cx="1417320" cy="310896"/>
          </a:xfrm>
          <a:prstGeom prst="roundRect">
            <a:avLst>
              <a:gd name="adj" fmla="val 14706"/>
            </a:avLst>
          </a:prstGeom>
          <a:solidFill>
            <a:srgbClr val="1F497D"/>
          </a:solidFill>
          <a:ln/>
        </p:spPr>
        <p:txBody>
          <a:bodyPr/>
          <a:lstStyle/>
          <a:p>
            <a:endParaRPr lang="en-US"/>
          </a:p>
        </p:txBody>
      </p:sp>
      <p:sp>
        <p:nvSpPr>
          <p:cNvPr id="18" name="Text 16"/>
          <p:cNvSpPr/>
          <p:nvPr/>
        </p:nvSpPr>
        <p:spPr>
          <a:xfrm>
            <a:off x="457200" y="4023360"/>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Quality dashboard</a:t>
            </a:r>
            <a:endParaRPr lang="en-US" sz="950" dirty="0"/>
          </a:p>
        </p:txBody>
      </p:sp>
      <p:sp>
        <p:nvSpPr>
          <p:cNvPr id="19" name="Text 17"/>
          <p:cNvSpPr/>
          <p:nvPr/>
        </p:nvSpPr>
        <p:spPr>
          <a:xfrm>
            <a:off x="2011680" y="4005072"/>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Benchmark accuracy, verified-answer rate, wrong-table rate, no-answer rate, latency, and cost per successful answer — reviewed weekly.</a:t>
            </a:r>
            <a:endParaRPr lang="en-US" sz="1000" dirty="0"/>
          </a:p>
        </p:txBody>
      </p:sp>
      <p:sp>
        <p:nvSpPr>
          <p:cNvPr id="20" name="Shape 18"/>
          <p:cNvSpPr/>
          <p:nvPr/>
        </p:nvSpPr>
        <p:spPr>
          <a:xfrm>
            <a:off x="457200" y="4425696"/>
            <a:ext cx="1417320" cy="310896"/>
          </a:xfrm>
          <a:prstGeom prst="roundRect">
            <a:avLst>
              <a:gd name="adj" fmla="val 14706"/>
            </a:avLst>
          </a:prstGeom>
          <a:solidFill>
            <a:srgbClr val="1F497D"/>
          </a:solidFill>
          <a:ln/>
        </p:spPr>
        <p:txBody>
          <a:bodyPr/>
          <a:lstStyle/>
          <a:p>
            <a:endParaRPr lang="en-US"/>
          </a:p>
        </p:txBody>
      </p:sp>
      <p:sp>
        <p:nvSpPr>
          <p:cNvPr id="21" name="Text 19"/>
          <p:cNvSpPr/>
          <p:nvPr/>
        </p:nvSpPr>
        <p:spPr>
          <a:xfrm>
            <a:off x="457200" y="4425696"/>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Feedback → fix loop</a:t>
            </a:r>
            <a:endParaRPr lang="en-US" sz="950" dirty="0"/>
          </a:p>
        </p:txBody>
      </p:sp>
      <p:sp>
        <p:nvSpPr>
          <p:cNvPr id="22" name="Text 20"/>
          <p:cNvSpPr/>
          <p:nvPr/>
        </p:nvSpPr>
        <p:spPr>
          <a:xfrm>
            <a:off x="2011680" y="4407408"/>
            <a:ext cx="6675120" cy="40233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A weekly automated usage analysis flags recurring issues with cited conversations; fixes become new trusted assets and benchmark questions.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84048"/>
            <a:ext cx="6675120" cy="548640"/>
          </a:xfrm>
          <a:prstGeom prst="rect">
            <a:avLst/>
          </a:prstGeom>
          <a:noFill/>
          <a:ln/>
        </p:spPr>
        <p:txBody>
          <a:bodyPr wrap="square" lIns="0" tIns="0" rIns="0" bIns="0" rtlCol="0" anchor="ctr"/>
          <a:lstStyle/>
          <a:p>
            <a:pPr marL="0" indent="0" algn="l">
              <a:buNone/>
            </a:pPr>
            <a:r>
              <a:rPr lang="en-US" sz="2500" b="1" dirty="0">
                <a:solidFill>
                  <a:srgbClr val="1F497D"/>
                </a:solidFill>
                <a:latin typeface="Calibri" pitchFamily="34" charset="0"/>
                <a:ea typeface="Calibri" pitchFamily="34" charset="-122"/>
                <a:cs typeface="Calibri" pitchFamily="34" charset="-120"/>
              </a:rPr>
              <a:t>Running It Like a Product — Owners, Versioning, Readiness</a:t>
            </a:r>
            <a:endParaRPr lang="en-US" sz="2500" dirty="0"/>
          </a:p>
        </p:txBody>
      </p:sp>
      <p:sp>
        <p:nvSpPr>
          <p:cNvPr id="3" name="Shape 1"/>
          <p:cNvSpPr/>
          <p:nvPr/>
        </p:nvSpPr>
        <p:spPr>
          <a:xfrm>
            <a:off x="457200" y="1298448"/>
            <a:ext cx="2331720" cy="749808"/>
          </a:xfrm>
          <a:prstGeom prst="roundRect">
            <a:avLst>
              <a:gd name="adj" fmla="val 7317"/>
            </a:avLst>
          </a:prstGeom>
          <a:solidFill>
            <a:srgbClr val="1F497D"/>
          </a:solidFill>
          <a:ln/>
        </p:spPr>
        <p:txBody>
          <a:bodyPr/>
          <a:lstStyle/>
          <a:p>
            <a:endParaRPr lang="en-US"/>
          </a:p>
        </p:txBody>
      </p:sp>
      <p:sp>
        <p:nvSpPr>
          <p:cNvPr id="4" name="Text 2"/>
          <p:cNvSpPr/>
          <p:nvPr/>
        </p:nvSpPr>
        <p:spPr>
          <a:xfrm>
            <a:off x="566928" y="129844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Named owners for every layer</a:t>
            </a:r>
            <a:endParaRPr lang="en-US" sz="1200" dirty="0"/>
          </a:p>
        </p:txBody>
      </p:sp>
      <p:sp>
        <p:nvSpPr>
          <p:cNvPr id="5" name="Shape 3"/>
          <p:cNvSpPr/>
          <p:nvPr/>
        </p:nvSpPr>
        <p:spPr>
          <a:xfrm>
            <a:off x="2926080" y="129844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6" name="Text 4"/>
          <p:cNvSpPr/>
          <p:nvPr/>
        </p:nvSpPr>
        <p:spPr>
          <a:xfrm>
            <a:off x="3063240" y="129844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Platform admin, Unity Catalog admin, domain data owner, semantic modeler, Genie curator, business SME, and FinOps — each layer of the system has a named owner before launch, plus a release approver with rollback authority.</a:t>
            </a:r>
            <a:endParaRPr lang="en-US" sz="1150" dirty="0"/>
          </a:p>
        </p:txBody>
      </p:sp>
      <p:sp>
        <p:nvSpPr>
          <p:cNvPr id="7" name="Shape 5"/>
          <p:cNvSpPr/>
          <p:nvPr/>
        </p:nvSpPr>
        <p:spPr>
          <a:xfrm>
            <a:off x="457200" y="2167128"/>
            <a:ext cx="2331720" cy="749808"/>
          </a:xfrm>
          <a:prstGeom prst="roundRect">
            <a:avLst>
              <a:gd name="adj" fmla="val 7317"/>
            </a:avLst>
          </a:prstGeom>
          <a:solidFill>
            <a:srgbClr val="1F497D"/>
          </a:solidFill>
          <a:ln/>
        </p:spPr>
        <p:txBody>
          <a:bodyPr/>
          <a:lstStyle/>
          <a:p>
            <a:endParaRPr lang="en-US"/>
          </a:p>
        </p:txBody>
      </p:sp>
      <p:sp>
        <p:nvSpPr>
          <p:cNvPr id="8" name="Text 6"/>
          <p:cNvSpPr/>
          <p:nvPr/>
        </p:nvSpPr>
        <p:spPr>
          <a:xfrm>
            <a:off x="566928" y="216712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Version control, not UI-only</a:t>
            </a:r>
            <a:endParaRPr lang="en-US" sz="1200" dirty="0"/>
          </a:p>
        </p:txBody>
      </p:sp>
      <p:sp>
        <p:nvSpPr>
          <p:cNvPr id="9" name="Shape 7"/>
          <p:cNvSpPr/>
          <p:nvPr/>
        </p:nvSpPr>
        <p:spPr>
          <a:xfrm>
            <a:off x="2926080" y="216712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0" name="Text 8"/>
          <p:cNvSpPr/>
          <p:nvPr/>
        </p:nvSpPr>
        <p:spPr>
          <a:xfrm>
            <a:off x="3063240" y="216712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Agent configuration — sources, instructions, examples, joins, benchmarks — is exported through the Management API and versioned as code, promoted dev → test → production. No production agent exists only as an unrecoverable UI object.</a:t>
            </a:r>
            <a:endParaRPr lang="en-US" sz="1150" dirty="0"/>
          </a:p>
        </p:txBody>
      </p:sp>
      <p:sp>
        <p:nvSpPr>
          <p:cNvPr id="11" name="Shape 9"/>
          <p:cNvSpPr/>
          <p:nvPr/>
        </p:nvSpPr>
        <p:spPr>
          <a:xfrm>
            <a:off x="457200" y="3035808"/>
            <a:ext cx="2331720" cy="749808"/>
          </a:xfrm>
          <a:prstGeom prst="roundRect">
            <a:avLst>
              <a:gd name="adj" fmla="val 7317"/>
            </a:avLst>
          </a:prstGeom>
          <a:solidFill>
            <a:srgbClr val="1F497D"/>
          </a:solidFill>
          <a:ln/>
        </p:spPr>
        <p:txBody>
          <a:bodyPr/>
          <a:lstStyle/>
          <a:p>
            <a:endParaRPr lang="en-US"/>
          </a:p>
        </p:txBody>
      </p:sp>
      <p:sp>
        <p:nvSpPr>
          <p:cNvPr id="12" name="Text 10"/>
          <p:cNvSpPr/>
          <p:nvPr/>
        </p:nvSpPr>
        <p:spPr>
          <a:xfrm>
            <a:off x="566928" y="303580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Verify in our USCIS Databricks environment first</a:t>
            </a:r>
            <a:endParaRPr lang="en-US" sz="1200" dirty="0"/>
          </a:p>
        </p:txBody>
      </p:sp>
      <p:sp>
        <p:nvSpPr>
          <p:cNvPr id="13" name="Shape 11"/>
          <p:cNvSpPr/>
          <p:nvPr/>
        </p:nvSpPr>
        <p:spPr>
          <a:xfrm>
            <a:off x="2926080" y="303580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4" name="Text 12"/>
          <p:cNvSpPr/>
          <p:nvPr/>
        </p:nvSpPr>
        <p:spPr>
          <a:xfrm>
            <a:off x="3063240" y="303580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Genie is generally available to us, but before design we confirm availability of the query-history and lineage system tables, Agent mode, prompt matching, and Conversation APIs in our exact USCIS Databricks environment — with audit logs as the fallback telemetry path.</a:t>
            </a:r>
            <a:endParaRPr lang="en-US" sz="1150" dirty="0"/>
          </a:p>
        </p:txBody>
      </p:sp>
      <p:sp>
        <p:nvSpPr>
          <p:cNvPr id="15" name="Shape 13"/>
          <p:cNvSpPr/>
          <p:nvPr/>
        </p:nvSpPr>
        <p:spPr>
          <a:xfrm>
            <a:off x="457200" y="3904488"/>
            <a:ext cx="2331720" cy="749808"/>
          </a:xfrm>
          <a:prstGeom prst="roundRect">
            <a:avLst>
              <a:gd name="adj" fmla="val 7317"/>
            </a:avLst>
          </a:prstGeom>
          <a:solidFill>
            <a:srgbClr val="1F497D"/>
          </a:solidFill>
          <a:ln/>
        </p:spPr>
        <p:txBody>
          <a:bodyPr/>
          <a:lstStyle/>
          <a:p>
            <a:endParaRPr lang="en-US"/>
          </a:p>
        </p:txBody>
      </p:sp>
      <p:sp>
        <p:nvSpPr>
          <p:cNvPr id="16" name="Text 14"/>
          <p:cNvSpPr/>
          <p:nvPr/>
        </p:nvSpPr>
        <p:spPr>
          <a:xfrm>
            <a:off x="566928" y="3904488"/>
            <a:ext cx="2148840" cy="7498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Genie Ontology helps — it doesn’t replace</a:t>
            </a:r>
            <a:endParaRPr lang="en-US" sz="1200" dirty="0"/>
          </a:p>
        </p:txBody>
      </p:sp>
      <p:sp>
        <p:nvSpPr>
          <p:cNvPr id="17" name="Shape 15"/>
          <p:cNvSpPr/>
          <p:nvPr/>
        </p:nvSpPr>
        <p:spPr>
          <a:xfrm>
            <a:off x="2926080" y="3904488"/>
            <a:ext cx="5806440" cy="749808"/>
          </a:xfrm>
          <a:prstGeom prst="roundRect">
            <a:avLst>
              <a:gd name="adj" fmla="val 7317"/>
            </a:avLst>
          </a:prstGeom>
          <a:solidFill>
            <a:srgbClr val="EEF3FA"/>
          </a:solidFill>
          <a:ln w="9525">
            <a:solidFill>
              <a:srgbClr val="DCE6F1"/>
            </a:solidFill>
            <a:prstDash val="solid"/>
          </a:ln>
        </p:spPr>
        <p:txBody>
          <a:bodyPr/>
          <a:lstStyle/>
          <a:p>
            <a:endParaRPr lang="en-US"/>
          </a:p>
        </p:txBody>
      </p:sp>
      <p:sp>
        <p:nvSpPr>
          <p:cNvPr id="18" name="Text 16"/>
          <p:cNvSpPr/>
          <p:nvPr/>
        </p:nvSpPr>
        <p:spPr>
          <a:xfrm>
            <a:off x="3063240" y="3904488"/>
            <a:ext cx="5532120" cy="749808"/>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The ontology ranks our sources by authority, freshness, and use — and certifying tables and metric views in Unity Catalog raises their weight, steering answers to approved data. It cannot resolve conflicting definitions for us; our semantic layer remains the foundation.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2158</Words>
  <Application>Microsoft Macintosh PowerPoint</Application>
  <PresentationFormat>On-screen Show (16:9)</PresentationFormat>
  <Paragraphs>189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Jake Hobbs</cp:lastModifiedBy>
  <cp:revision>2</cp:revision>
  <dcterms:created xsi:type="dcterms:W3CDTF">2026-08-02T19:46:05Z</dcterms:created>
  <dcterms:modified xsi:type="dcterms:W3CDTF">2026-08-02T21:04:13Z</dcterms:modified>
</cp:coreProperties>
</file>